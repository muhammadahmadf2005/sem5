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embeddedFontLst>
    <p:embeddedFont>
      <p:font typeface="IBM Plex Sans" panose="020B0503050203000203" pitchFamily="34" charset="0"/>
      <p:regular r:id="rId21"/>
      <p:bold r:id="rId22"/>
    </p:embeddedFont>
    <p:embeddedFont>
      <p:font typeface="JetBrains Mono" panose="020B0604020202020204" charset="0"/>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7612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Today’s question is simple to state: the database lives on disk, but queries need it in memory. How does the DBMS move pages back and forth efficiently? We will see the buffer pool, how it decides what to keep, and why the DBMS usually does this better than the operating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today. First the buffer pool manager itself, then the optimizations that tailor it to a workload, then the policies that decide which page to evict, and finally the supporting pieces: dirty pages, the operating system’s own cache, and disk scheduling.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previous lecture covered how the DBMS represents the database as files on disk. Today is the second problem: moving data between disk and memory. Spatial control is about layout on disk. Temporal control is about timing: when to fetch and when to flush. The buffer pool is the main tool for temporal control.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buffer pool is a large region of memory inside the database, organized as an array of fixed-size slots called frames. When the DBMS asks for a page, an exact copy is placed in a frame. The amber frame has just been loaded. Writes go to the in-memory copy first and reach disk later, which is why this is called a write-back cache.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page table is the lookup structure: given a page id, which frame holds it, if any. Each entry also carries a dirty flag and a pin counter. A pin counter above zero means some thread is using the page right now, so the manager must not evict it. Pinning does not stop other transactions from reading the page at the same time. Stress the difference with the page directory, which the DBMS needs after a restart to find pages in the files.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mix these up. A lock is a logical, high-level primitive: it protects tuples, tables or databases from other transactions and is held for the transaction’s lifetime. A latch is a low-level primitive, like a mutex, protecting the DBMS’s own data structures for just one operation. That is what guards the buffer pool’s page table.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big pool means one set of latches that every thread fights over. Several pools split that contention and let each pool apply a policy suited to the data inside it. The open question is routing: which pool does a given page belong to? Either carry an object id in the record id, or hash the page id.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DBMS has the query plan, it knows what the query will read next. For a sequential scan the order is obvious. For an index range scan it can follow the leaf pages of the tree. While the engine works on one batch of pages, the buffer pool manager loads the next batch, hiding disk latency. The operating system cannot do this for index leaves because it does not know the tree structure.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Scan sharing is not result caching: the queries can be different, they just read the same table. If Q2 arrives while Q1 is halfway through table A, Q2 hops onto Q1’s cursor, then picks up the first half later. Buffer pool bypass is the opposite instinct: a big sequential scan would flush useful pages out of the pool, so it uses private memory instead.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replacement policy is the algorithm that chooses a victim. Four goals: correctness, accuracy, speed, and low metadata overhead. LRU is the textbook answer: evict whatever was touched longest ago. In the diagram, page 2 is the next victim. The weakness is the bookkeeping, which leads to CLOCK next.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CLOCK approximates LRU with one bit per page. A page that is touched gets its bit set. When the pool needs a frame, the hand walks around the circle: a set bit earns the page a second chance (the bit is cleared), and a clear bit means the page has not been used since the last sweep, so it is evicted. The hand keeps its position between evictions. Walk through the diagram: page 1 survives the first pass, page 2 is the first clear bit the hand meets.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weakness. Suppose Q1 and Q3 look up the same row repeatedly, and Q2 scans the entire table once. To LRU, every page Q2 touches looks brand new, so the pool fills with scan pages and the hot page is evicted. Ask the class what the best page to evict would be here: the one Q2 just finished with.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ways to fix sequential flooding. LRU-K looks at history, not just the latest access, so a page touched once by a scan looks less valuable than one touched repeatedly. It also keeps a small cache of recently evicted pages so they are not evicted forever. MySQL approximates this with a two-entry-point list. Localization limits the damage per query. Priority hints let the engine say which pages are important. Project 1 in the source course has students implement LRU-K.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Evicting a clean page is free. Evicting a dirty page costs a disk write. That is the trade-off between fast evictions and wasted writes. Background writing smooths it out by flushing dirty pages ahead of time. The caution about logging foreshadows the recovery lectures: the write-ahead rule says the log record describing a change must reach disk before the changed page does.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Unless told otherwise, the OS caches file data in its own page cache. If the DBMS also caches pages, the same page can sit in memory twice, and two caches run two eviction policies that know nothing about each other. So most systems ask the OS to skip its cache. The fsync issue shows how risky it is to depend on OS behavior for durability: after a failed flush, a retry can falsely report success.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OS and the disk hardware reorder and batch I/O to maximize bandwidth, but they do not know which requests are urgent. The DBMS does: a read on a query’s critical path should beat a background flush. That is why several systems recommend a simple deadline or FIFO scheduler at the OS level. On the right, remind students that the buffer pool is not the only memory the DBMS manages.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sentence: the DBMS knows what the query will do next, so it should own the caching decisions instead of leaving them to the operating system.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Possible answers. Q1: latches protect short critical sections of internal structures and need no rollback; locks protect logical database contents for a whole transaction. Q2: a pinned page cannot be evicted, so the pool must pick another victim, and if every page is pinned the request has to wait or fail. Q3: the scan pushes out hot pages with pages read only once; LRU-K uses access history so single-touch pages look less valuable. Q4: a dirty page must be written to disk first, after its log records are written.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02233"/>
            <a:ext cx="10566466" cy="446980"/>
          </a:xfrm>
          <a:prstGeom prst="rect">
            <a:avLst/>
          </a:prstGeom>
          <a:noFill/>
          <a:ln/>
        </p:spPr>
        <p:txBody>
          <a:bodyPr wrap="square" lIns="0" tIns="0" rIns="0" bIns="0" rtlCol="0" anchor="t"/>
          <a:lstStyle>
            <a:lvl1pPr marL="0" indent="0" algn="l">
              <a:lnSpc>
                <a:spcPct val="115000"/>
              </a:lnSpc>
              <a:buNone/>
              <a:defRPr lang="en-US" sz="3200" dirty="0">
                <a:solidFill>
                  <a:srgbClr val="12202F"/>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67" y="1854014"/>
            <a:ext cx="10566433" cy="4191186"/>
          </a:xfrm>
          <a:prstGeom prst="rect">
            <a:avLst/>
          </a:prstGeom>
          <a:noFill/>
          <a:ln/>
        </p:spPr>
        <p:txBody>
          <a:bodyPr wrap="square" lIns="0" tIns="0" rIns="0" bIns="0" rtlCol="0" anchor="t"/>
          <a:lstStyle>
            <a:lvl1pPr marL="0" indent="0" algn="l">
              <a:lnSpc>
                <a:spcPct val="140000"/>
              </a:lnSpc>
              <a:buNone/>
              <a:defRPr lang="en-US" sz="1600" dirty="0">
                <a:solidFill>
                  <a:srgbClr val="12202F"/>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02233"/>
            <a:ext cx="10566466" cy="446980"/>
          </a:xfrm>
          <a:prstGeom prst="rect">
            <a:avLst/>
          </a:prstGeom>
          <a:noFill/>
          <a:ln/>
        </p:spPr>
        <p:txBody>
          <a:bodyPr wrap="square" lIns="0" tIns="0" rIns="0" bIns="0" rtlCol="0" anchor="t"/>
          <a:lstStyle>
            <a:lvl1pPr marL="0" indent="0" algn="l">
              <a:lnSpc>
                <a:spcPct val="115000"/>
              </a:lnSpc>
              <a:buNone/>
              <a:defRPr lang="en-US" sz="3200" dirty="0">
                <a:solidFill>
                  <a:srgbClr val="12202F"/>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67" y="1854014"/>
            <a:ext cx="10566433" cy="4191186"/>
          </a:xfrm>
          <a:prstGeom prst="rect">
            <a:avLst/>
          </a:prstGeom>
          <a:noFill/>
          <a:ln/>
        </p:spPr>
        <p:txBody>
          <a:bodyPr wrap="square" lIns="0" tIns="0" rIns="0" bIns="0" rtlCol="0" anchor="t"/>
          <a:lstStyle>
            <a:lvl1pPr marL="0" indent="0" algn="l">
              <a:lnSpc>
                <a:spcPct val="140000"/>
              </a:lnSpc>
              <a:buNone/>
              <a:defRPr lang="en-US" sz="1600" dirty="0">
                <a:solidFill>
                  <a:srgbClr val="12202F"/>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2F"/>
        </a:solidFill>
        <a:effectLst/>
      </p:bgPr>
    </p:bg>
    <p:spTree>
      <p:nvGrpSpPr>
        <p:cNvPr id="1" name=""/>
        <p:cNvGrpSpPr/>
        <p:nvPr/>
      </p:nvGrpSpPr>
      <p:grpSpPr>
        <a:xfrm>
          <a:off x="0" y="0"/>
          <a:ext cx="0" cy="0"/>
          <a:chOff x="0" y="0"/>
          <a:chExt cx="0" cy="0"/>
        </a:xfrm>
      </p:grpSpPr>
      <p:sp>
        <p:nvSpPr>
          <p:cNvPr id="2" name="Shape 0"/>
          <p:cNvSpPr/>
          <p:nvPr/>
        </p:nvSpPr>
        <p:spPr>
          <a:xfrm>
            <a:off x="9353500" y="1149350"/>
            <a:ext cx="2019300" cy="749300"/>
          </a:xfrm>
          <a:prstGeom prst="roundRect">
            <a:avLst>
              <a:gd name="adj" fmla="val 12712"/>
            </a:avLst>
          </a:prstGeom>
          <a:solidFill>
            <a:srgbClr val="1E3A4F"/>
          </a:solidFill>
          <a:ln w="12700">
            <a:solidFill>
              <a:srgbClr val="2F5870"/>
            </a:solidFill>
            <a:prstDash val="solid"/>
          </a:ln>
        </p:spPr>
        <p:txBody>
          <a:bodyPr/>
          <a:lstStyle/>
          <a:p>
            <a:endParaRPr lang="en-US"/>
          </a:p>
        </p:txBody>
      </p:sp>
      <p:sp>
        <p:nvSpPr>
          <p:cNvPr id="3" name="Text 1"/>
          <p:cNvSpPr/>
          <p:nvPr/>
        </p:nvSpPr>
        <p:spPr>
          <a:xfrm>
            <a:off x="9560884" y="1297947"/>
            <a:ext cx="16553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frame 0</a:t>
            </a:r>
            <a:endParaRPr lang="en-US" sz="1200" dirty="0"/>
          </a:p>
        </p:txBody>
      </p:sp>
      <p:sp>
        <p:nvSpPr>
          <p:cNvPr id="4" name="Text 2"/>
          <p:cNvSpPr/>
          <p:nvPr/>
        </p:nvSpPr>
        <p:spPr>
          <a:xfrm>
            <a:off x="9560884" y="1536650"/>
            <a:ext cx="16553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C9CF"/>
                </a:solidFill>
                <a:latin typeface="JetBrains Mono" pitchFamily="49" charset="0"/>
                <a:ea typeface="JetBrains Mono" pitchFamily="49" charset="-122"/>
                <a:cs typeface="JetBrains Mono" pitchFamily="49" charset="-120"/>
              </a:rPr>
              <a:t>page 7</a:t>
            </a:r>
            <a:endParaRPr lang="en-US" sz="1200" dirty="0"/>
          </a:p>
        </p:txBody>
      </p:sp>
      <p:sp>
        <p:nvSpPr>
          <p:cNvPr id="5" name="Shape 3"/>
          <p:cNvSpPr/>
          <p:nvPr/>
        </p:nvSpPr>
        <p:spPr>
          <a:xfrm>
            <a:off x="9353500" y="2038350"/>
            <a:ext cx="2019300" cy="749300"/>
          </a:xfrm>
          <a:prstGeom prst="roundRect">
            <a:avLst>
              <a:gd name="adj" fmla="val 12712"/>
            </a:avLst>
          </a:prstGeom>
          <a:solidFill>
            <a:srgbClr val="1E3A4F"/>
          </a:solidFill>
          <a:ln w="12700">
            <a:solidFill>
              <a:srgbClr val="2F5870"/>
            </a:solidFill>
            <a:prstDash val="solid"/>
          </a:ln>
        </p:spPr>
        <p:txBody>
          <a:bodyPr/>
          <a:lstStyle/>
          <a:p>
            <a:endParaRPr lang="en-US"/>
          </a:p>
        </p:txBody>
      </p:sp>
      <p:sp>
        <p:nvSpPr>
          <p:cNvPr id="6" name="Text 4"/>
          <p:cNvSpPr/>
          <p:nvPr/>
        </p:nvSpPr>
        <p:spPr>
          <a:xfrm>
            <a:off x="9560884" y="2186947"/>
            <a:ext cx="16553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frame 1</a:t>
            </a:r>
            <a:endParaRPr lang="en-US" sz="1200" dirty="0"/>
          </a:p>
        </p:txBody>
      </p:sp>
      <p:sp>
        <p:nvSpPr>
          <p:cNvPr id="7" name="Text 5"/>
          <p:cNvSpPr/>
          <p:nvPr/>
        </p:nvSpPr>
        <p:spPr>
          <a:xfrm>
            <a:off x="9560884" y="2425650"/>
            <a:ext cx="16553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C9CF"/>
                </a:solidFill>
                <a:latin typeface="JetBrains Mono" pitchFamily="49" charset="0"/>
                <a:ea typeface="JetBrains Mono" pitchFamily="49" charset="-122"/>
                <a:cs typeface="JetBrains Mono" pitchFamily="49" charset="-120"/>
              </a:rPr>
              <a:t>page 2</a:t>
            </a:r>
            <a:endParaRPr lang="en-US" sz="1200" dirty="0"/>
          </a:p>
        </p:txBody>
      </p:sp>
      <p:sp>
        <p:nvSpPr>
          <p:cNvPr id="8" name="Shape 6"/>
          <p:cNvSpPr/>
          <p:nvPr/>
        </p:nvSpPr>
        <p:spPr>
          <a:xfrm>
            <a:off x="9347150" y="2921000"/>
            <a:ext cx="2032000" cy="762000"/>
          </a:xfrm>
          <a:prstGeom prst="roundRect">
            <a:avLst>
              <a:gd name="adj" fmla="val 13333"/>
            </a:avLst>
          </a:prstGeom>
          <a:solidFill>
            <a:srgbClr val="E8A33D"/>
          </a:solidFill>
          <a:ln/>
        </p:spPr>
        <p:txBody>
          <a:bodyPr/>
          <a:lstStyle/>
          <a:p>
            <a:endParaRPr lang="en-US"/>
          </a:p>
        </p:txBody>
      </p:sp>
      <p:sp>
        <p:nvSpPr>
          <p:cNvPr id="9" name="Text 7"/>
          <p:cNvSpPr/>
          <p:nvPr/>
        </p:nvSpPr>
        <p:spPr>
          <a:xfrm>
            <a:off x="9550301" y="3075947"/>
            <a:ext cx="167649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2202F"/>
                </a:solidFill>
                <a:latin typeface="JetBrains Mono" pitchFamily="49" charset="0"/>
                <a:ea typeface="JetBrains Mono" pitchFamily="49" charset="-122"/>
                <a:cs typeface="JetBrains Mono" pitchFamily="49" charset="-120"/>
              </a:rPr>
              <a:t>frame 2</a:t>
            </a:r>
            <a:endParaRPr lang="en-US" sz="1200" dirty="0"/>
          </a:p>
        </p:txBody>
      </p:sp>
      <p:sp>
        <p:nvSpPr>
          <p:cNvPr id="10" name="Text 8"/>
          <p:cNvSpPr/>
          <p:nvPr/>
        </p:nvSpPr>
        <p:spPr>
          <a:xfrm>
            <a:off x="9550301" y="3314650"/>
            <a:ext cx="167649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2202F"/>
                </a:solidFill>
                <a:latin typeface="JetBrains Mono" pitchFamily="49" charset="0"/>
                <a:ea typeface="JetBrains Mono" pitchFamily="49" charset="-122"/>
                <a:cs typeface="JetBrains Mono" pitchFamily="49" charset="-120"/>
              </a:rPr>
              <a:t>page 4 · dirty</a:t>
            </a:r>
            <a:endParaRPr lang="en-US" sz="1200" dirty="0"/>
          </a:p>
        </p:txBody>
      </p:sp>
      <p:sp>
        <p:nvSpPr>
          <p:cNvPr id="11" name="Shape 9"/>
          <p:cNvSpPr/>
          <p:nvPr/>
        </p:nvSpPr>
        <p:spPr>
          <a:xfrm>
            <a:off x="9353500" y="3816350"/>
            <a:ext cx="2019300" cy="749300"/>
          </a:xfrm>
          <a:prstGeom prst="roundRect">
            <a:avLst>
              <a:gd name="adj" fmla="val 12712"/>
            </a:avLst>
          </a:prstGeom>
          <a:solidFill>
            <a:srgbClr val="1E3A4F"/>
          </a:solidFill>
          <a:ln w="12700">
            <a:solidFill>
              <a:srgbClr val="2F5870"/>
            </a:solidFill>
            <a:prstDash val="solid"/>
          </a:ln>
        </p:spPr>
        <p:txBody>
          <a:bodyPr/>
          <a:lstStyle/>
          <a:p>
            <a:endParaRPr lang="en-US"/>
          </a:p>
        </p:txBody>
      </p:sp>
      <p:sp>
        <p:nvSpPr>
          <p:cNvPr id="12" name="Text 10"/>
          <p:cNvSpPr/>
          <p:nvPr/>
        </p:nvSpPr>
        <p:spPr>
          <a:xfrm>
            <a:off x="9560884" y="3964946"/>
            <a:ext cx="16553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frame 3</a:t>
            </a:r>
            <a:endParaRPr lang="en-US" sz="1200" dirty="0"/>
          </a:p>
        </p:txBody>
      </p:sp>
      <p:sp>
        <p:nvSpPr>
          <p:cNvPr id="13" name="Text 11"/>
          <p:cNvSpPr/>
          <p:nvPr/>
        </p:nvSpPr>
        <p:spPr>
          <a:xfrm>
            <a:off x="9560884" y="4203650"/>
            <a:ext cx="16553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C9CF"/>
                </a:solidFill>
                <a:latin typeface="JetBrains Mono" pitchFamily="49" charset="0"/>
                <a:ea typeface="JetBrains Mono" pitchFamily="49" charset="-122"/>
                <a:cs typeface="JetBrains Mono" pitchFamily="49" charset="-120"/>
              </a:rPr>
              <a:t>page 9</a:t>
            </a:r>
            <a:endParaRPr lang="en-US" sz="1200" dirty="0"/>
          </a:p>
        </p:txBody>
      </p:sp>
      <p:sp>
        <p:nvSpPr>
          <p:cNvPr id="14" name="Text 12"/>
          <p:cNvSpPr/>
          <p:nvPr/>
        </p:nvSpPr>
        <p:spPr>
          <a:xfrm>
            <a:off x="812767" y="812767"/>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A33D"/>
                </a:solidFill>
                <a:latin typeface="IBM Plex Sans" pitchFamily="34" charset="0"/>
                <a:ea typeface="IBM Plex Sans" pitchFamily="34" charset="-122"/>
                <a:cs typeface="IBM Plex Sans" pitchFamily="34" charset="-120"/>
              </a:rPr>
              <a:t>DATABASE SYSTEMS · LECTURE 6</a:t>
            </a:r>
            <a:endParaRPr lang="en-US" sz="1200" dirty="0"/>
          </a:p>
        </p:txBody>
      </p:sp>
      <p:sp>
        <p:nvSpPr>
          <p:cNvPr id="15" name="Text 13"/>
          <p:cNvSpPr>
            <a:spLocks noGrp="1"/>
          </p:cNvSpPr>
          <p:nvPr>
            <p:ph type="title"/>
          </p:nvPr>
        </p:nvSpPr>
        <p:spPr>
          <a:xfrm>
            <a:off x="812767" y="1178471"/>
            <a:ext cx="7717790" cy="1412147"/>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6F4EE"/>
                </a:solidFill>
                <a:latin typeface="IBM Plex Sans" pitchFamily="34" charset="0"/>
                <a:ea typeface="IBM Plex Sans" pitchFamily="34" charset="-122"/>
                <a:cs typeface="IBM Plex Sans" pitchFamily="34" charset="-120"/>
              </a:rPr>
              <a:t>Buffer Pools &amp; Memory Management</a:t>
            </a:r>
            <a:endParaRPr lang="en-US" sz="5200" dirty="0"/>
          </a:p>
        </p:txBody>
      </p:sp>
      <p:sp>
        <p:nvSpPr>
          <p:cNvPr id="16" name="Text 14"/>
          <p:cNvSpPr/>
          <p:nvPr/>
        </p:nvSpPr>
        <p:spPr>
          <a:xfrm>
            <a:off x="812767" y="2717602"/>
            <a:ext cx="8382000"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C5CED8"/>
                </a:solidFill>
                <a:latin typeface="IBM Plex Sans" pitchFamily="34" charset="0"/>
                <a:ea typeface="IBM Plex Sans" pitchFamily="34" charset="-122"/>
                <a:cs typeface="IBM Plex Sans" pitchFamily="34" charset="-120"/>
              </a:rPr>
              <a:t>How a disk-oriented DBMS keeps frequently used pages in memory</a:t>
            </a:r>
            <a:endParaRPr lang="en-US" sz="1800" dirty="0"/>
          </a:p>
        </p:txBody>
      </p:sp>
      <p:sp>
        <p:nvSpPr>
          <p:cNvPr id="17" name="Text 15"/>
          <p:cNvSpPr/>
          <p:nvPr/>
        </p:nvSpPr>
        <p:spPr>
          <a:xfrm>
            <a:off x="812767" y="5496636"/>
            <a:ext cx="10883460" cy="30991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E"/>
                </a:solidFill>
                <a:latin typeface="IBM Plex Sans" pitchFamily="34" charset="0"/>
                <a:ea typeface="IBM Plex Sans" pitchFamily="34" charset="-122"/>
                <a:cs typeface="IBM Plex Sans" pitchFamily="34" charset="-120"/>
              </a:rPr>
              <a:t>Ahsan Shah · Faculty of Computer Science and Engineering, GIKI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7" y="812767"/>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7A"/>
                </a:solidFill>
                <a:latin typeface="IBM Plex Sans" pitchFamily="34" charset="0"/>
                <a:ea typeface="IBM Plex Sans" pitchFamily="34" charset="-122"/>
                <a:cs typeface="IBM Plex Sans" pitchFamily="34" charset="-120"/>
              </a:rPr>
              <a:t>OVERVIEW</a:t>
            </a:r>
            <a:endParaRPr lang="en-US" sz="1200" dirty="0"/>
          </a:p>
        </p:txBody>
      </p:sp>
      <p:sp>
        <p:nvSpPr>
          <p:cNvPr id="3" name="Text 1"/>
          <p:cNvSpPr>
            <a:spLocks noGrp="1"/>
          </p:cNvSpPr>
          <p:nvPr>
            <p:ph type="title"/>
          </p:nvPr>
        </p:nvSpPr>
        <p:spPr>
          <a:xfrm>
            <a:off x="812767" y="1102237"/>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Today’s agenda</a:t>
            </a:r>
            <a:endParaRPr lang="en-US" sz="3200" dirty="0"/>
          </a:p>
        </p:txBody>
      </p:sp>
      <p:sp>
        <p:nvSpPr>
          <p:cNvPr id="4" name="Shape 2"/>
          <p:cNvSpPr/>
          <p:nvPr/>
        </p:nvSpPr>
        <p:spPr>
          <a:xfrm>
            <a:off x="815942" y="1907927"/>
            <a:ext cx="2482883" cy="2206145"/>
          </a:xfrm>
          <a:prstGeom prst="roundRect">
            <a:avLst>
              <a:gd name="adj" fmla="val 4461"/>
            </a:avLst>
          </a:prstGeom>
          <a:solidFill>
            <a:srgbClr val="FFFDF8"/>
          </a:solidFill>
          <a:ln w="6350">
            <a:solidFill>
              <a:srgbClr val="DAD5C6"/>
            </a:solidFill>
            <a:prstDash val="solid"/>
          </a:ln>
        </p:spPr>
        <p:txBody>
          <a:bodyPr/>
          <a:lstStyle/>
          <a:p>
            <a:endParaRPr lang="en-US"/>
          </a:p>
        </p:txBody>
      </p:sp>
      <p:sp>
        <p:nvSpPr>
          <p:cNvPr id="5" name="Text 3"/>
          <p:cNvSpPr/>
          <p:nvPr/>
        </p:nvSpPr>
        <p:spPr>
          <a:xfrm>
            <a:off x="1021209" y="2113193"/>
            <a:ext cx="213451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707A"/>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1021209" y="2428048"/>
            <a:ext cx="2134519" cy="551094"/>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Buffer pool manager</a:t>
            </a:r>
            <a:endParaRPr lang="en-US" sz="1800" dirty="0"/>
          </a:p>
        </p:txBody>
      </p:sp>
      <p:sp>
        <p:nvSpPr>
          <p:cNvPr id="7" name="Text 5"/>
          <p:cNvSpPr/>
          <p:nvPr/>
        </p:nvSpPr>
        <p:spPr>
          <a:xfrm>
            <a:off x="1021209" y="3055276"/>
            <a:ext cx="2134519" cy="87892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How pages move between disk and memory</a:t>
            </a:r>
            <a:endParaRPr lang="en-US" sz="1600" dirty="0"/>
          </a:p>
        </p:txBody>
      </p:sp>
      <p:sp>
        <p:nvSpPr>
          <p:cNvPr id="8" name="Shape 6"/>
          <p:cNvSpPr/>
          <p:nvPr/>
        </p:nvSpPr>
        <p:spPr>
          <a:xfrm>
            <a:off x="3508325" y="1907927"/>
            <a:ext cx="2482883" cy="2206145"/>
          </a:xfrm>
          <a:prstGeom prst="roundRect">
            <a:avLst>
              <a:gd name="adj" fmla="val 4461"/>
            </a:avLst>
          </a:prstGeom>
          <a:solidFill>
            <a:srgbClr val="FFFDF8"/>
          </a:solidFill>
          <a:ln w="6350">
            <a:solidFill>
              <a:srgbClr val="DAD5C6"/>
            </a:solidFill>
            <a:prstDash val="solid"/>
          </a:ln>
        </p:spPr>
        <p:txBody>
          <a:bodyPr/>
          <a:lstStyle/>
          <a:p>
            <a:endParaRPr lang="en-US"/>
          </a:p>
        </p:txBody>
      </p:sp>
      <p:sp>
        <p:nvSpPr>
          <p:cNvPr id="9" name="Text 7"/>
          <p:cNvSpPr/>
          <p:nvPr/>
        </p:nvSpPr>
        <p:spPr>
          <a:xfrm>
            <a:off x="3713592" y="2113193"/>
            <a:ext cx="213451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707A"/>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3713592" y="2428048"/>
            <a:ext cx="2134519"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Optimizations</a:t>
            </a:r>
            <a:endParaRPr lang="en-US" sz="1800" dirty="0"/>
          </a:p>
        </p:txBody>
      </p:sp>
      <p:sp>
        <p:nvSpPr>
          <p:cNvPr id="11" name="Text 9"/>
          <p:cNvSpPr/>
          <p:nvPr/>
        </p:nvSpPr>
        <p:spPr>
          <a:xfrm>
            <a:off x="3713592" y="2792429"/>
            <a:ext cx="2134519" cy="87892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Multiple pools, pre-fetching, scan sharing, bypass</a:t>
            </a:r>
            <a:endParaRPr lang="en-US" sz="1600" dirty="0"/>
          </a:p>
        </p:txBody>
      </p:sp>
      <p:sp>
        <p:nvSpPr>
          <p:cNvPr id="12" name="Shape 10"/>
          <p:cNvSpPr/>
          <p:nvPr/>
        </p:nvSpPr>
        <p:spPr>
          <a:xfrm>
            <a:off x="6200709" y="1907927"/>
            <a:ext cx="2482883" cy="2206145"/>
          </a:xfrm>
          <a:prstGeom prst="roundRect">
            <a:avLst>
              <a:gd name="adj" fmla="val 4461"/>
            </a:avLst>
          </a:prstGeom>
          <a:solidFill>
            <a:srgbClr val="FFFDF8"/>
          </a:solidFill>
          <a:ln w="6350">
            <a:solidFill>
              <a:srgbClr val="DAD5C6"/>
            </a:solidFill>
            <a:prstDash val="solid"/>
          </a:ln>
        </p:spPr>
        <p:txBody>
          <a:bodyPr/>
          <a:lstStyle/>
          <a:p>
            <a:endParaRPr lang="en-US"/>
          </a:p>
        </p:txBody>
      </p:sp>
      <p:sp>
        <p:nvSpPr>
          <p:cNvPr id="13" name="Text 11"/>
          <p:cNvSpPr/>
          <p:nvPr/>
        </p:nvSpPr>
        <p:spPr>
          <a:xfrm>
            <a:off x="6405976" y="2113193"/>
            <a:ext cx="213451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707A"/>
                </a:solidFill>
                <a:latin typeface="JetBrains Mono" pitchFamily="49" charset="0"/>
                <a:ea typeface="JetBrains Mono" pitchFamily="49" charset="-122"/>
                <a:cs typeface="JetBrains Mono" pitchFamily="49" charset="-120"/>
              </a:rPr>
              <a:t>03</a:t>
            </a:r>
            <a:endParaRPr lang="en-US" sz="1200" dirty="0"/>
          </a:p>
        </p:txBody>
      </p:sp>
      <p:sp>
        <p:nvSpPr>
          <p:cNvPr id="14" name="Text 12"/>
          <p:cNvSpPr/>
          <p:nvPr/>
        </p:nvSpPr>
        <p:spPr>
          <a:xfrm>
            <a:off x="6405976" y="2428048"/>
            <a:ext cx="2134519" cy="551094"/>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Replacement policies</a:t>
            </a:r>
            <a:endParaRPr lang="en-US" sz="1800" dirty="0"/>
          </a:p>
        </p:txBody>
      </p:sp>
      <p:sp>
        <p:nvSpPr>
          <p:cNvPr id="15" name="Text 13"/>
          <p:cNvSpPr/>
          <p:nvPr/>
        </p:nvSpPr>
        <p:spPr>
          <a:xfrm>
            <a:off x="6405976" y="3055276"/>
            <a:ext cx="2134519" cy="5944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LRU, CLOCK</a:t>
            </a:r>
            <a:r>
              <a:rPr lang="en-US" sz="1600">
                <a:solidFill>
                  <a:srgbClr val="4A5563"/>
                </a:solidFill>
                <a:latin typeface="IBM Plex Sans" pitchFamily="34" charset="0"/>
                <a:ea typeface="IBM Plex Sans" pitchFamily="34" charset="-122"/>
                <a:cs typeface="IBM Plex Sans" pitchFamily="34" charset="-120"/>
              </a:rPr>
              <a:t>, and LRU-K </a:t>
            </a:r>
            <a:endParaRPr lang="en-US" sz="1600" dirty="0"/>
          </a:p>
        </p:txBody>
      </p:sp>
      <p:sp>
        <p:nvSpPr>
          <p:cNvPr id="16" name="Shape 14"/>
          <p:cNvSpPr/>
          <p:nvPr/>
        </p:nvSpPr>
        <p:spPr>
          <a:xfrm>
            <a:off x="8893092" y="1907927"/>
            <a:ext cx="2482966" cy="2206145"/>
          </a:xfrm>
          <a:prstGeom prst="roundRect">
            <a:avLst>
              <a:gd name="adj" fmla="val 4461"/>
            </a:avLst>
          </a:prstGeom>
          <a:solidFill>
            <a:srgbClr val="FFFDF8"/>
          </a:solidFill>
          <a:ln w="6350">
            <a:solidFill>
              <a:srgbClr val="DAD5C6"/>
            </a:solidFill>
            <a:prstDash val="solid"/>
          </a:ln>
        </p:spPr>
        <p:txBody>
          <a:bodyPr/>
          <a:lstStyle/>
          <a:p>
            <a:endParaRPr lang="en-US"/>
          </a:p>
        </p:txBody>
      </p:sp>
      <p:sp>
        <p:nvSpPr>
          <p:cNvPr id="17" name="Text 15"/>
          <p:cNvSpPr/>
          <p:nvPr/>
        </p:nvSpPr>
        <p:spPr>
          <a:xfrm>
            <a:off x="9098359" y="2113193"/>
            <a:ext cx="2134605"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707A"/>
                </a:solidFill>
                <a:latin typeface="JetBrains Mono" pitchFamily="49" charset="0"/>
                <a:ea typeface="JetBrains Mono" pitchFamily="49" charset="-122"/>
                <a:cs typeface="JetBrains Mono" pitchFamily="49" charset="-120"/>
              </a:rPr>
              <a:t>04</a:t>
            </a:r>
            <a:endParaRPr lang="en-US" sz="1200" dirty="0"/>
          </a:p>
        </p:txBody>
      </p:sp>
      <p:sp>
        <p:nvSpPr>
          <p:cNvPr id="18" name="Text 16"/>
          <p:cNvSpPr/>
          <p:nvPr/>
        </p:nvSpPr>
        <p:spPr>
          <a:xfrm>
            <a:off x="9098359" y="2428048"/>
            <a:ext cx="2134605"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Beyond the pool</a:t>
            </a:r>
            <a:endParaRPr lang="en-US" sz="1800" dirty="0"/>
          </a:p>
        </p:txBody>
      </p:sp>
      <p:sp>
        <p:nvSpPr>
          <p:cNvPr id="19" name="Text 17"/>
          <p:cNvSpPr/>
          <p:nvPr/>
        </p:nvSpPr>
        <p:spPr>
          <a:xfrm>
            <a:off x="9098359" y="2792429"/>
            <a:ext cx="2134605" cy="87892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Dirty pages, the OS page cache, disk I/O scheduling</a:t>
            </a:r>
            <a:endParaRPr lang="en-US" sz="1600" dirty="0"/>
          </a:p>
        </p:txBody>
      </p:sp>
      <p:sp>
        <p:nvSpPr>
          <p:cNvPr id="20" name="Text 18"/>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2"/>
                </a:solidFill>
                <a:latin typeface="IBM Plex Sans" pitchFamily="34" charset="0"/>
                <a:ea typeface="IBM Plex Sans" pitchFamily="34" charset="-122"/>
                <a:cs typeface="IBM Plex Sans" pitchFamily="34" charset="-120"/>
              </a:rPr>
              <a:t>Buffer Pools &amp; Memory Management</a:t>
            </a:r>
            <a:endParaRPr lang="en-US" sz="1200" dirty="0"/>
          </a:p>
        </p:txBody>
      </p:sp>
      <p:sp>
        <p:nvSpPr>
          <p:cNvPr id="21" name="Text 19"/>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2"/>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7A"/>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a:spLocks noGrp="1"/>
          </p:cNvSpPr>
          <p:nvPr>
            <p:ph type="title"/>
          </p:nvPr>
        </p:nvSpPr>
        <p:spPr>
          <a:xfrm>
            <a:off x="812767" y="1102237"/>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Why the DBMS manages its own memory</a:t>
            </a:r>
            <a:endParaRPr lang="en-US" sz="3200" dirty="0"/>
          </a:p>
        </p:txBody>
      </p:sp>
      <p:sp>
        <p:nvSpPr>
          <p:cNvPr id="4" name="Text 2"/>
          <p:cNvSpPr/>
          <p:nvPr/>
        </p:nvSpPr>
        <p:spPr>
          <a:xfrm>
            <a:off x="812767" y="1853985"/>
            <a:ext cx="9810750" cy="642541"/>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1B2430"/>
                </a:solidFill>
                <a:latin typeface="IBM Plex Sans" pitchFamily="34" charset="0"/>
                <a:ea typeface="IBM Plex Sans" pitchFamily="34" charset="-122"/>
                <a:cs typeface="IBM Plex Sans" pitchFamily="34" charset="-120"/>
              </a:rPr>
              <a:t>Data lives on disk, but operators can only work on it in memory. The execution engine should see a database that appears to be fully in memory.</a:t>
            </a:r>
            <a:endParaRPr lang="en-US" sz="1800" dirty="0"/>
          </a:p>
        </p:txBody>
      </p:sp>
      <p:sp>
        <p:nvSpPr>
          <p:cNvPr id="5" name="Shape 3"/>
          <p:cNvSpPr/>
          <p:nvPr/>
        </p:nvSpPr>
        <p:spPr>
          <a:xfrm>
            <a:off x="815942" y="2779068"/>
            <a:ext cx="5175266" cy="2044998"/>
          </a:xfrm>
          <a:prstGeom prst="roundRect">
            <a:avLst>
              <a:gd name="adj" fmla="val 4813"/>
            </a:avLst>
          </a:prstGeom>
          <a:solidFill>
            <a:srgbClr val="FFFDF8"/>
          </a:solidFill>
          <a:ln w="6350">
            <a:solidFill>
              <a:srgbClr val="DAD5C6"/>
            </a:solidFill>
            <a:prstDash val="solid"/>
          </a:ln>
        </p:spPr>
        <p:txBody>
          <a:bodyPr/>
          <a:lstStyle/>
          <a:p>
            <a:endParaRPr lang="en-US"/>
          </a:p>
        </p:txBody>
      </p:sp>
      <p:sp>
        <p:nvSpPr>
          <p:cNvPr id="6" name="Text 4"/>
          <p:cNvSpPr/>
          <p:nvPr/>
        </p:nvSpPr>
        <p:spPr>
          <a:xfrm>
            <a:off x="1072059" y="3035184"/>
            <a:ext cx="480292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707A"/>
                </a:solidFill>
                <a:latin typeface="JetBrains Mono" pitchFamily="49" charset="0"/>
                <a:ea typeface="JetBrains Mono" pitchFamily="49" charset="-122"/>
                <a:cs typeface="JetBrains Mono" pitchFamily="49" charset="-120"/>
              </a:rPr>
              <a:t>WHERE</a:t>
            </a:r>
            <a:endParaRPr lang="en-US" sz="1200" dirty="0"/>
          </a:p>
        </p:txBody>
      </p:sp>
      <p:sp>
        <p:nvSpPr>
          <p:cNvPr id="7" name="Text 5"/>
          <p:cNvSpPr/>
          <p:nvPr/>
        </p:nvSpPr>
        <p:spPr>
          <a:xfrm>
            <a:off x="1072059" y="3350037"/>
            <a:ext cx="4802924"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Spatial control</a:t>
            </a:r>
            <a:endParaRPr lang="en-US" sz="1800" dirty="0"/>
          </a:p>
        </p:txBody>
      </p:sp>
      <p:sp>
        <p:nvSpPr>
          <p:cNvPr id="8" name="Text 6"/>
          <p:cNvSpPr/>
          <p:nvPr/>
        </p:nvSpPr>
        <p:spPr>
          <a:xfrm>
            <a:off x="1072059" y="3714418"/>
            <a:ext cx="4802924" cy="5944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Decide where pages are written on disk, keeping pages that are used together physically close.</a:t>
            </a:r>
            <a:endParaRPr lang="en-US" sz="1600" dirty="0"/>
          </a:p>
        </p:txBody>
      </p:sp>
      <p:sp>
        <p:nvSpPr>
          <p:cNvPr id="9" name="Shape 7"/>
          <p:cNvSpPr/>
          <p:nvPr/>
        </p:nvSpPr>
        <p:spPr>
          <a:xfrm>
            <a:off x="6200709" y="2779068"/>
            <a:ext cx="5175349" cy="2044998"/>
          </a:xfrm>
          <a:prstGeom prst="roundRect">
            <a:avLst>
              <a:gd name="adj" fmla="val 4813"/>
            </a:avLst>
          </a:prstGeom>
          <a:solidFill>
            <a:srgbClr val="FFFDF8"/>
          </a:solidFill>
          <a:ln w="6350">
            <a:solidFill>
              <a:srgbClr val="DAD5C6"/>
            </a:solidFill>
            <a:prstDash val="solid"/>
          </a:ln>
        </p:spPr>
        <p:txBody>
          <a:bodyPr/>
          <a:lstStyle/>
          <a:p>
            <a:endParaRPr lang="en-US"/>
          </a:p>
        </p:txBody>
      </p:sp>
      <p:sp>
        <p:nvSpPr>
          <p:cNvPr id="10" name="Text 8"/>
          <p:cNvSpPr/>
          <p:nvPr/>
        </p:nvSpPr>
        <p:spPr>
          <a:xfrm>
            <a:off x="6456825" y="3035184"/>
            <a:ext cx="480300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707A"/>
                </a:solidFill>
                <a:latin typeface="JetBrains Mono" pitchFamily="49" charset="0"/>
                <a:ea typeface="JetBrains Mono" pitchFamily="49" charset="-122"/>
                <a:cs typeface="JetBrains Mono" pitchFamily="49" charset="-120"/>
              </a:rPr>
              <a:t>WHEN</a:t>
            </a:r>
            <a:endParaRPr lang="en-US" sz="1200" dirty="0"/>
          </a:p>
        </p:txBody>
      </p:sp>
      <p:sp>
        <p:nvSpPr>
          <p:cNvPr id="11" name="Text 9"/>
          <p:cNvSpPr/>
          <p:nvPr/>
        </p:nvSpPr>
        <p:spPr>
          <a:xfrm>
            <a:off x="6456825" y="3350037"/>
            <a:ext cx="4803009"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Temporal control</a:t>
            </a:r>
            <a:endParaRPr lang="en-US" sz="1800" dirty="0"/>
          </a:p>
        </p:txBody>
      </p:sp>
      <p:sp>
        <p:nvSpPr>
          <p:cNvPr id="12" name="Text 10"/>
          <p:cNvSpPr/>
          <p:nvPr/>
        </p:nvSpPr>
        <p:spPr>
          <a:xfrm>
            <a:off x="6456825" y="3714418"/>
            <a:ext cx="4803009" cy="87892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Decide when to read pages into memory and when to write them back, to minimize stalls on disk reads.</a:t>
            </a:r>
            <a:endParaRPr lang="en-US" sz="1600" dirty="0"/>
          </a:p>
        </p:txBody>
      </p:sp>
      <p:sp>
        <p:nvSpPr>
          <p:cNvPr id="13" name="Text 11"/>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2"/>
                </a:solidFill>
                <a:latin typeface="IBM Plex Sans" pitchFamily="34" charset="0"/>
                <a:ea typeface="IBM Plex Sans" pitchFamily="34" charset="-122"/>
                <a:cs typeface="IBM Plex Sans" pitchFamily="34" charset="-120"/>
              </a:rPr>
              <a:t>Buffer Pools &amp; Memory Management</a:t>
            </a:r>
            <a:endParaRPr lang="en-US" sz="1200" dirty="0"/>
          </a:p>
        </p:txBody>
      </p:sp>
      <p:sp>
        <p:nvSpPr>
          <p:cNvPr id="14" name="Text 12"/>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2"/>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7A"/>
                </a:solidFill>
                <a:latin typeface="IBM Plex Sans" pitchFamily="34" charset="0"/>
                <a:ea typeface="IBM Plex Sans" pitchFamily="34" charset="-122"/>
                <a:cs typeface="IBM Plex Sans" pitchFamily="34" charset="-120"/>
              </a:rPr>
              <a:t>BUFFER POOL MANAGER</a:t>
            </a:r>
            <a:endParaRPr lang="en-US" sz="1200" dirty="0"/>
          </a:p>
        </p:txBody>
      </p:sp>
      <p:sp>
        <p:nvSpPr>
          <p:cNvPr id="3" name="Text 1"/>
          <p:cNvSpPr>
            <a:spLocks noGrp="1"/>
          </p:cNvSpPr>
          <p:nvPr>
            <p:ph type="title"/>
          </p:nvPr>
        </p:nvSpPr>
        <p:spPr>
          <a:xfrm>
            <a:off x="812767" y="1102237"/>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Buffer pool organization</a:t>
            </a:r>
            <a:endParaRPr lang="en-US" sz="3200" dirty="0"/>
          </a:p>
        </p:txBody>
      </p:sp>
      <p:sp>
        <p:nvSpPr>
          <p:cNvPr id="4" name="Text 2"/>
          <p:cNvSpPr/>
          <p:nvPr/>
        </p:nvSpPr>
        <p:spPr>
          <a:xfrm>
            <a:off x="812767" y="1853985"/>
            <a:ext cx="562483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672"/>
                </a:solidFill>
                <a:latin typeface="IBM Plex Sans" pitchFamily="34" charset="0"/>
                <a:ea typeface="IBM Plex Sans" pitchFamily="34" charset="-122"/>
                <a:cs typeface="IBM Plex Sans" pitchFamily="34" charset="-120"/>
              </a:rPr>
              <a:t>On-disk database file</a:t>
            </a:r>
            <a:endParaRPr lang="en-US" sz="1200" dirty="0"/>
          </a:p>
        </p:txBody>
      </p:sp>
      <p:sp>
        <p:nvSpPr>
          <p:cNvPr id="5" name="Text 3"/>
          <p:cNvSpPr/>
          <p:nvPr/>
        </p:nvSpPr>
        <p:spPr>
          <a:xfrm>
            <a:off x="812767" y="2194305"/>
            <a:ext cx="1289100" cy="518087"/>
          </a:xfrm>
          <a:custGeom>
            <a:avLst/>
            <a:gdLst/>
            <a:ahLst/>
            <a:cxnLst/>
            <a:rect l="l" t="t" r="r" b="b"/>
            <a:pathLst>
              <a:path w="1289100" h="518087">
                <a:moveTo>
                  <a:pt x="76200" y="0"/>
                </a:moveTo>
                <a:lnTo>
                  <a:pt x="1212900" y="0"/>
                </a:lnTo>
                <a:arcTo wR="76200" hR="76200" stAng="16200000" swAng="5400000"/>
                <a:lnTo>
                  <a:pt x="1289100" y="441887"/>
                </a:lnTo>
                <a:arcTo wR="76200" hR="76200" stAng="0" swAng="5400000"/>
                <a:lnTo>
                  <a:pt x="76200" y="518087"/>
                </a:lnTo>
                <a:arcTo wR="76200" hR="76200" stAng="5400000" swAng="5400000"/>
                <a:lnTo>
                  <a:pt x="0" y="76200"/>
                </a:lnTo>
                <a:arcTo wR="76200" hR="76200" stAng="10800000" swAng="5400000"/>
                <a:close/>
              </a:path>
            </a:pathLst>
          </a:custGeom>
          <a:solidFill>
            <a:srgbClr val="12202F"/>
          </a:solidFill>
          <a:ln/>
        </p:spPr>
        <p:txBody>
          <a:bodyPr wrap="square" lIns="0" tIns="152400" rIns="0" bIns="126967" rtlCol="0" anchor="t">
            <a:normAutofit/>
          </a:bodyPr>
          <a:lstStyle/>
          <a:p>
            <a:pPr marL="0" indent="0" algn="ctr">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page 1</a:t>
            </a:r>
            <a:endParaRPr lang="en-US" sz="1200" dirty="0"/>
          </a:p>
        </p:txBody>
      </p:sp>
      <p:sp>
        <p:nvSpPr>
          <p:cNvPr id="6" name="Text 4"/>
          <p:cNvSpPr/>
          <p:nvPr/>
        </p:nvSpPr>
        <p:spPr>
          <a:xfrm>
            <a:off x="2203400" y="2194305"/>
            <a:ext cx="1289100" cy="518087"/>
          </a:xfrm>
          <a:custGeom>
            <a:avLst/>
            <a:gdLst/>
            <a:ahLst/>
            <a:cxnLst/>
            <a:rect l="l" t="t" r="r" b="b"/>
            <a:pathLst>
              <a:path w="1289100" h="518087">
                <a:moveTo>
                  <a:pt x="76200" y="0"/>
                </a:moveTo>
                <a:lnTo>
                  <a:pt x="1212900" y="0"/>
                </a:lnTo>
                <a:arcTo wR="76200" hR="76200" stAng="16200000" swAng="5400000"/>
                <a:lnTo>
                  <a:pt x="1289100" y="441887"/>
                </a:lnTo>
                <a:arcTo wR="76200" hR="76200" stAng="0" swAng="5400000"/>
                <a:lnTo>
                  <a:pt x="76200" y="518087"/>
                </a:lnTo>
                <a:arcTo wR="76200" hR="76200" stAng="5400000" swAng="5400000"/>
                <a:lnTo>
                  <a:pt x="0" y="76200"/>
                </a:lnTo>
                <a:arcTo wR="76200" hR="76200" stAng="10800000" swAng="5400000"/>
                <a:close/>
              </a:path>
            </a:pathLst>
          </a:custGeom>
          <a:solidFill>
            <a:srgbClr val="12202F"/>
          </a:solidFill>
          <a:ln/>
        </p:spPr>
        <p:txBody>
          <a:bodyPr wrap="square" lIns="0" tIns="152400" rIns="0" bIns="126967" rtlCol="0" anchor="t">
            <a:normAutofit/>
          </a:bodyPr>
          <a:lstStyle/>
          <a:p>
            <a:pPr marL="0" indent="0" algn="ctr">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page 2</a:t>
            </a:r>
            <a:endParaRPr lang="en-US" sz="1200" dirty="0"/>
          </a:p>
        </p:txBody>
      </p:sp>
      <p:sp>
        <p:nvSpPr>
          <p:cNvPr id="7" name="Text 5"/>
          <p:cNvSpPr/>
          <p:nvPr/>
        </p:nvSpPr>
        <p:spPr>
          <a:xfrm>
            <a:off x="3594034" y="2194305"/>
            <a:ext cx="1289100" cy="518087"/>
          </a:xfrm>
          <a:custGeom>
            <a:avLst/>
            <a:gdLst/>
            <a:ahLst/>
            <a:cxnLst/>
            <a:rect l="l" t="t" r="r" b="b"/>
            <a:pathLst>
              <a:path w="1289100" h="518087">
                <a:moveTo>
                  <a:pt x="76200" y="0"/>
                </a:moveTo>
                <a:lnTo>
                  <a:pt x="1212900" y="0"/>
                </a:lnTo>
                <a:arcTo wR="76200" hR="76200" stAng="16200000" swAng="5400000"/>
                <a:lnTo>
                  <a:pt x="1289100" y="441887"/>
                </a:lnTo>
                <a:arcTo wR="76200" hR="76200" stAng="0" swAng="5400000"/>
                <a:lnTo>
                  <a:pt x="76200" y="518087"/>
                </a:lnTo>
                <a:arcTo wR="76200" hR="76200" stAng="5400000" swAng="5400000"/>
                <a:lnTo>
                  <a:pt x="0" y="76200"/>
                </a:lnTo>
                <a:arcTo wR="76200" hR="76200" stAng="10800000" swAng="5400000"/>
                <a:close/>
              </a:path>
            </a:pathLst>
          </a:custGeom>
          <a:solidFill>
            <a:srgbClr val="12202F"/>
          </a:solidFill>
          <a:ln/>
        </p:spPr>
        <p:txBody>
          <a:bodyPr wrap="square" lIns="0" tIns="152400" rIns="0" bIns="126967" rtlCol="0" anchor="t">
            <a:normAutofit/>
          </a:bodyPr>
          <a:lstStyle/>
          <a:p>
            <a:pPr marL="0" indent="0" algn="ctr">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page 3</a:t>
            </a:r>
            <a:endParaRPr lang="en-US" sz="1200" dirty="0"/>
          </a:p>
        </p:txBody>
      </p:sp>
      <p:sp>
        <p:nvSpPr>
          <p:cNvPr id="8" name="Text 6"/>
          <p:cNvSpPr/>
          <p:nvPr/>
        </p:nvSpPr>
        <p:spPr>
          <a:xfrm>
            <a:off x="4984667" y="2194305"/>
            <a:ext cx="1289100" cy="518087"/>
          </a:xfrm>
          <a:custGeom>
            <a:avLst/>
            <a:gdLst/>
            <a:ahLst/>
            <a:cxnLst/>
            <a:rect l="l" t="t" r="r" b="b"/>
            <a:pathLst>
              <a:path w="1289100" h="518087">
                <a:moveTo>
                  <a:pt x="76200" y="0"/>
                </a:moveTo>
                <a:lnTo>
                  <a:pt x="1212900" y="0"/>
                </a:lnTo>
                <a:arcTo wR="76200" hR="76200" stAng="16200000" swAng="5400000"/>
                <a:lnTo>
                  <a:pt x="1289100" y="441887"/>
                </a:lnTo>
                <a:arcTo wR="76200" hR="76200" stAng="0" swAng="5400000"/>
                <a:lnTo>
                  <a:pt x="76200" y="518087"/>
                </a:lnTo>
                <a:arcTo wR="76200" hR="76200" stAng="5400000" swAng="5400000"/>
                <a:lnTo>
                  <a:pt x="0" y="76200"/>
                </a:lnTo>
                <a:arcTo wR="76200" hR="76200" stAng="10800000" swAng="5400000"/>
                <a:close/>
              </a:path>
            </a:pathLst>
          </a:custGeom>
          <a:solidFill>
            <a:srgbClr val="12202F"/>
          </a:solidFill>
          <a:ln/>
        </p:spPr>
        <p:txBody>
          <a:bodyPr wrap="square" lIns="0" tIns="152400" rIns="0" bIns="126967" rtlCol="0" anchor="t">
            <a:normAutofit/>
          </a:bodyPr>
          <a:lstStyle/>
          <a:p>
            <a:pPr marL="0" indent="0" algn="ctr">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page 4</a:t>
            </a:r>
            <a:endParaRPr lang="en-US" sz="1200" dirty="0"/>
          </a:p>
        </p:txBody>
      </p:sp>
      <p:pic>
        <p:nvPicPr>
          <p:cNvPr id="9" name="Image 0" descr="arrow-down"/>
          <p:cNvPicPr>
            <a:picLocks noChangeAspect="1"/>
          </p:cNvPicPr>
          <p:nvPr/>
        </p:nvPicPr>
        <p:blipFill>
          <a:blip r:embed="rId3"/>
          <a:srcRect/>
          <a:stretch/>
        </p:blipFill>
        <p:spPr>
          <a:xfrm>
            <a:off x="965150" y="2839393"/>
            <a:ext cx="304767" cy="457150"/>
          </a:xfrm>
          <a:prstGeom prst="rect">
            <a:avLst/>
          </a:prstGeom>
        </p:spPr>
      </p:pic>
      <p:sp>
        <p:nvSpPr>
          <p:cNvPr id="10" name="Text 7"/>
          <p:cNvSpPr/>
          <p:nvPr/>
        </p:nvSpPr>
        <p:spPr>
          <a:xfrm>
            <a:off x="1371451" y="2961266"/>
            <a:ext cx="329019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copy a page into a free frame on request</a:t>
            </a:r>
            <a:endParaRPr lang="en-US" sz="1200" dirty="0"/>
          </a:p>
        </p:txBody>
      </p:sp>
      <p:sp>
        <p:nvSpPr>
          <p:cNvPr id="11" name="Text 8"/>
          <p:cNvSpPr/>
          <p:nvPr/>
        </p:nvSpPr>
        <p:spPr>
          <a:xfrm>
            <a:off x="812767" y="3423543"/>
            <a:ext cx="562483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672"/>
                </a:solidFill>
                <a:latin typeface="IBM Plex Sans" pitchFamily="34" charset="0"/>
                <a:ea typeface="IBM Plex Sans" pitchFamily="34" charset="-122"/>
                <a:cs typeface="IBM Plex Sans" pitchFamily="34" charset="-120"/>
              </a:rPr>
              <a:t>Buffer pool in memory: an array of fixed-size frames</a:t>
            </a:r>
            <a:endParaRPr lang="en-US" sz="1200" dirty="0"/>
          </a:p>
        </p:txBody>
      </p:sp>
      <p:sp>
        <p:nvSpPr>
          <p:cNvPr id="12" name="Shape 9"/>
          <p:cNvSpPr/>
          <p:nvPr/>
        </p:nvSpPr>
        <p:spPr>
          <a:xfrm>
            <a:off x="819117" y="3770213"/>
            <a:ext cx="1281691" cy="714491"/>
          </a:xfrm>
          <a:prstGeom prst="roundRect">
            <a:avLst>
              <a:gd name="adj" fmla="val 9776"/>
            </a:avLst>
          </a:prstGeom>
          <a:solidFill>
            <a:srgbClr val="FFFDF8"/>
          </a:solidFill>
          <a:ln w="12700">
            <a:solidFill>
              <a:srgbClr val="17707A"/>
            </a:solidFill>
            <a:prstDash val="solid"/>
          </a:ln>
        </p:spPr>
        <p:txBody>
          <a:bodyPr/>
          <a:lstStyle/>
          <a:p>
            <a:endParaRPr lang="en-US"/>
          </a:p>
        </p:txBody>
      </p:sp>
      <p:sp>
        <p:nvSpPr>
          <p:cNvPr id="13" name="Text 10"/>
          <p:cNvSpPr/>
          <p:nvPr/>
        </p:nvSpPr>
        <p:spPr>
          <a:xfrm>
            <a:off x="797950" y="3901446"/>
            <a:ext cx="132402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2202F"/>
                </a:solidFill>
                <a:latin typeface="JetBrains Mono" pitchFamily="49" charset="0"/>
                <a:ea typeface="JetBrains Mono" pitchFamily="49" charset="-122"/>
                <a:cs typeface="JetBrains Mono" pitchFamily="49" charset="-120"/>
              </a:rPr>
              <a:t>page 1</a:t>
            </a:r>
            <a:endParaRPr lang="en-US" sz="1200" dirty="0"/>
          </a:p>
        </p:txBody>
      </p:sp>
      <p:sp>
        <p:nvSpPr>
          <p:cNvPr id="14" name="Text 11"/>
          <p:cNvSpPr/>
          <p:nvPr/>
        </p:nvSpPr>
        <p:spPr>
          <a:xfrm>
            <a:off x="797950" y="4140150"/>
            <a:ext cx="132402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672"/>
                </a:solidFill>
                <a:latin typeface="IBM Plex Sans" pitchFamily="34" charset="0"/>
                <a:ea typeface="IBM Plex Sans" pitchFamily="34" charset="-122"/>
                <a:cs typeface="IBM Plex Sans" pitchFamily="34" charset="-120"/>
              </a:rPr>
              <a:t>frame 1</a:t>
            </a:r>
            <a:endParaRPr lang="en-US" sz="1200" dirty="0"/>
          </a:p>
        </p:txBody>
      </p:sp>
      <p:sp>
        <p:nvSpPr>
          <p:cNvPr id="15" name="Shape 12"/>
          <p:cNvSpPr/>
          <p:nvPr/>
        </p:nvSpPr>
        <p:spPr>
          <a:xfrm>
            <a:off x="2215042" y="3770213"/>
            <a:ext cx="1281691" cy="714491"/>
          </a:xfrm>
          <a:prstGeom prst="roundRect">
            <a:avLst>
              <a:gd name="adj" fmla="val 9776"/>
            </a:avLst>
          </a:prstGeom>
          <a:solidFill>
            <a:srgbClr val="FFFDF8"/>
          </a:solidFill>
          <a:ln w="12700">
            <a:solidFill>
              <a:srgbClr val="17707A"/>
            </a:solidFill>
            <a:prstDash val="solid"/>
          </a:ln>
        </p:spPr>
        <p:txBody>
          <a:bodyPr/>
          <a:lstStyle/>
          <a:p>
            <a:endParaRPr lang="en-US"/>
          </a:p>
        </p:txBody>
      </p:sp>
      <p:sp>
        <p:nvSpPr>
          <p:cNvPr id="16" name="Text 13"/>
          <p:cNvSpPr/>
          <p:nvPr/>
        </p:nvSpPr>
        <p:spPr>
          <a:xfrm>
            <a:off x="2193875" y="3901446"/>
            <a:ext cx="132402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2202F"/>
                </a:solidFill>
                <a:latin typeface="JetBrains Mono" pitchFamily="49" charset="0"/>
                <a:ea typeface="JetBrains Mono" pitchFamily="49" charset="-122"/>
                <a:cs typeface="JetBrains Mono" pitchFamily="49" charset="-120"/>
              </a:rPr>
              <a:t>page 3</a:t>
            </a:r>
            <a:endParaRPr lang="en-US" sz="1200" dirty="0"/>
          </a:p>
        </p:txBody>
      </p:sp>
      <p:sp>
        <p:nvSpPr>
          <p:cNvPr id="17" name="Text 14"/>
          <p:cNvSpPr/>
          <p:nvPr/>
        </p:nvSpPr>
        <p:spPr>
          <a:xfrm>
            <a:off x="2193875" y="4140150"/>
            <a:ext cx="132402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672"/>
                </a:solidFill>
                <a:latin typeface="IBM Plex Sans" pitchFamily="34" charset="0"/>
                <a:ea typeface="IBM Plex Sans" pitchFamily="34" charset="-122"/>
                <a:cs typeface="IBM Plex Sans" pitchFamily="34" charset="-120"/>
              </a:rPr>
              <a:t>frame 2</a:t>
            </a:r>
            <a:endParaRPr lang="en-US" sz="1200" dirty="0"/>
          </a:p>
        </p:txBody>
      </p:sp>
      <p:sp>
        <p:nvSpPr>
          <p:cNvPr id="18" name="Shape 15"/>
          <p:cNvSpPr/>
          <p:nvPr/>
        </p:nvSpPr>
        <p:spPr>
          <a:xfrm>
            <a:off x="3604617" y="3763863"/>
            <a:ext cx="1273225" cy="727191"/>
          </a:xfrm>
          <a:prstGeom prst="roundRect">
            <a:avLst>
              <a:gd name="adj" fmla="val 10479"/>
            </a:avLst>
          </a:prstGeom>
          <a:solidFill>
            <a:srgbClr val="E8A33D"/>
          </a:solidFill>
          <a:ln/>
        </p:spPr>
        <p:txBody>
          <a:bodyPr/>
          <a:lstStyle/>
          <a:p>
            <a:endParaRPr lang="en-US"/>
          </a:p>
        </p:txBody>
      </p:sp>
      <p:sp>
        <p:nvSpPr>
          <p:cNvPr id="19" name="Text 16"/>
          <p:cNvSpPr/>
          <p:nvPr/>
        </p:nvSpPr>
        <p:spPr>
          <a:xfrm>
            <a:off x="3579217" y="3890863"/>
            <a:ext cx="132402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2202F"/>
                </a:solidFill>
                <a:latin typeface="JetBrains Mono" pitchFamily="49" charset="0"/>
                <a:ea typeface="JetBrains Mono" pitchFamily="49" charset="-122"/>
                <a:cs typeface="JetBrains Mono" pitchFamily="49" charset="-120"/>
              </a:rPr>
              <a:t>page 2</a:t>
            </a:r>
            <a:endParaRPr lang="en-US" sz="1200" dirty="0"/>
          </a:p>
        </p:txBody>
      </p:sp>
      <p:sp>
        <p:nvSpPr>
          <p:cNvPr id="20" name="Text 17"/>
          <p:cNvSpPr/>
          <p:nvPr/>
        </p:nvSpPr>
        <p:spPr>
          <a:xfrm>
            <a:off x="3579217" y="4129567"/>
            <a:ext cx="132402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2202F"/>
                </a:solidFill>
                <a:latin typeface="IBM Plex Sans" pitchFamily="34" charset="0"/>
                <a:ea typeface="IBM Plex Sans" pitchFamily="34" charset="-122"/>
                <a:cs typeface="IBM Plex Sans" pitchFamily="34" charset="-120"/>
              </a:rPr>
              <a:t>frame 3</a:t>
            </a:r>
            <a:endParaRPr lang="en-US" sz="1200" dirty="0"/>
          </a:p>
        </p:txBody>
      </p:sp>
      <p:sp>
        <p:nvSpPr>
          <p:cNvPr id="21" name="Shape 18"/>
          <p:cNvSpPr/>
          <p:nvPr/>
        </p:nvSpPr>
        <p:spPr>
          <a:xfrm>
            <a:off x="4985726" y="3770213"/>
            <a:ext cx="1281691" cy="714491"/>
          </a:xfrm>
          <a:prstGeom prst="roundRect">
            <a:avLst>
              <a:gd name="adj" fmla="val 9776"/>
            </a:avLst>
          </a:prstGeom>
          <a:solidFill>
            <a:srgbClr val="ECE8DB"/>
          </a:solidFill>
          <a:ln w="12700">
            <a:solidFill>
              <a:srgbClr val="9AA3A8"/>
            </a:solidFill>
            <a:prstDash val="dash"/>
          </a:ln>
        </p:spPr>
        <p:txBody>
          <a:bodyPr/>
          <a:lstStyle/>
          <a:p>
            <a:endParaRPr lang="en-US"/>
          </a:p>
        </p:txBody>
      </p:sp>
      <p:sp>
        <p:nvSpPr>
          <p:cNvPr id="22" name="Text 19"/>
          <p:cNvSpPr/>
          <p:nvPr/>
        </p:nvSpPr>
        <p:spPr>
          <a:xfrm>
            <a:off x="4964559" y="3901446"/>
            <a:ext cx="132402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3"/>
                </a:solidFill>
                <a:latin typeface="JetBrains Mono" pitchFamily="49" charset="0"/>
                <a:ea typeface="JetBrains Mono" pitchFamily="49" charset="-122"/>
                <a:cs typeface="JetBrains Mono" pitchFamily="49" charset="-120"/>
              </a:rPr>
              <a:t>free</a:t>
            </a:r>
            <a:endParaRPr lang="en-US" sz="1200" dirty="0"/>
          </a:p>
        </p:txBody>
      </p:sp>
      <p:sp>
        <p:nvSpPr>
          <p:cNvPr id="23" name="Text 20"/>
          <p:cNvSpPr/>
          <p:nvPr/>
        </p:nvSpPr>
        <p:spPr>
          <a:xfrm>
            <a:off x="4964559" y="4140150"/>
            <a:ext cx="132402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B6672"/>
                </a:solidFill>
                <a:latin typeface="IBM Plex Sans" pitchFamily="34" charset="0"/>
                <a:ea typeface="IBM Plex Sans" pitchFamily="34" charset="-122"/>
                <a:cs typeface="IBM Plex Sans" pitchFamily="34" charset="-120"/>
              </a:rPr>
              <a:t>frame 4</a:t>
            </a:r>
            <a:endParaRPr lang="en-US" sz="1200" dirty="0"/>
          </a:p>
        </p:txBody>
      </p:sp>
      <p:sp>
        <p:nvSpPr>
          <p:cNvPr id="24" name="Text 21"/>
          <p:cNvSpPr/>
          <p:nvPr/>
        </p:nvSpPr>
        <p:spPr>
          <a:xfrm>
            <a:off x="6737808" y="2562820"/>
            <a:ext cx="4774692" cy="1244798"/>
          </a:xfrm>
          <a:prstGeom prst="rect">
            <a:avLst/>
          </a:prstGeom>
          <a:noFill/>
          <a:ln/>
        </p:spPr>
        <p:txBody>
          <a:bodyPr wrap="square" lIns="0" tIns="0" rIns="0" bIns="0" rtlCol="0" anchor="t">
            <a:normAutofit/>
          </a:bodyPr>
          <a:lstStyle/>
          <a:p>
            <a:pPr marL="196342" indent="-196342" algn="l">
              <a:lnSpc>
                <a:spcPts val="2400"/>
              </a:lnSpc>
              <a:buSzPct val="100000"/>
              <a:buChar char="•"/>
            </a:pPr>
            <a:r>
              <a:rPr lang="en-US" sz="1600" dirty="0">
                <a:solidFill>
                  <a:srgbClr val="1B2430"/>
                </a:solidFill>
                <a:latin typeface="IBM Plex Sans" pitchFamily="34" charset="0"/>
                <a:ea typeface="IBM Plex Sans" pitchFamily="34" charset="-122"/>
                <a:cs typeface="IBM Plex Sans" pitchFamily="34" charset="-120"/>
              </a:rPr>
              <a:t>The pool is memory split into fixed-size frames</a:t>
            </a:r>
            <a:endParaRPr lang="en-US" sz="1600" dirty="0"/>
          </a:p>
          <a:p>
            <a:pPr marL="196342" indent="-196342" algn="l">
              <a:lnSpc>
                <a:spcPts val="2400"/>
              </a:lnSpc>
              <a:buSzPct val="100000"/>
              <a:buChar char="•"/>
            </a:pPr>
            <a:r>
              <a:rPr lang="en-US" sz="1600" dirty="0">
                <a:solidFill>
                  <a:srgbClr val="1B2430"/>
                </a:solidFill>
                <a:latin typeface="IBM Plex Sans" pitchFamily="34" charset="0"/>
                <a:ea typeface="IBM Plex Sans" pitchFamily="34" charset="-122"/>
                <a:cs typeface="IBM Plex Sans" pitchFamily="34" charset="-120"/>
              </a:rPr>
              <a:t>Look in the pool first; go to disk only on a miss</a:t>
            </a:r>
            <a:endParaRPr lang="en-US" sz="1600" dirty="0"/>
          </a:p>
          <a:p>
            <a:pPr marL="196342" indent="-196342" algn="l">
              <a:lnSpc>
                <a:spcPts val="2400"/>
              </a:lnSpc>
              <a:buSzPct val="100000"/>
              <a:buChar char="•"/>
            </a:pPr>
            <a:r>
              <a:rPr lang="en-US" sz="1600" dirty="0">
                <a:solidFill>
                  <a:srgbClr val="1B2430"/>
                </a:solidFill>
                <a:latin typeface="IBM Plex Sans" pitchFamily="34" charset="0"/>
                <a:ea typeface="IBM Plex Sans" pitchFamily="34" charset="-122"/>
                <a:cs typeface="IBM Plex Sans" pitchFamily="34" charset="-120"/>
              </a:rPr>
              <a:t>Dirty pages are buffered, not written back at once: a write-back cache</a:t>
            </a:r>
            <a:endParaRPr lang="en-US" sz="1600" dirty="0"/>
          </a:p>
        </p:txBody>
      </p:sp>
      <p:sp>
        <p:nvSpPr>
          <p:cNvPr id="25" name="Text 22"/>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2"/>
                </a:solidFill>
                <a:latin typeface="IBM Plex Sans" pitchFamily="34" charset="0"/>
                <a:ea typeface="IBM Plex Sans" pitchFamily="34" charset="-122"/>
                <a:cs typeface="IBM Plex Sans" pitchFamily="34" charset="-120"/>
              </a:rPr>
              <a:t>Buffer Pools &amp; Memory Management</a:t>
            </a:r>
            <a:endParaRPr lang="en-US" sz="1200" dirty="0"/>
          </a:p>
        </p:txBody>
      </p:sp>
      <p:sp>
        <p:nvSpPr>
          <p:cNvPr id="26" name="Text 23"/>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2"/>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7A"/>
                </a:solidFill>
                <a:latin typeface="IBM Plex Sans" pitchFamily="34" charset="0"/>
                <a:ea typeface="IBM Plex Sans" pitchFamily="34" charset="-122"/>
                <a:cs typeface="IBM Plex Sans" pitchFamily="34" charset="-120"/>
              </a:rPr>
              <a:t>BUFFER POOL MANAGER</a:t>
            </a:r>
            <a:endParaRPr lang="en-US" sz="1200" dirty="0"/>
          </a:p>
        </p:txBody>
      </p:sp>
      <p:sp>
        <p:nvSpPr>
          <p:cNvPr id="3" name="Text 1"/>
          <p:cNvSpPr>
            <a:spLocks noGrp="1"/>
          </p:cNvSpPr>
          <p:nvPr>
            <p:ph type="title"/>
          </p:nvPr>
        </p:nvSpPr>
        <p:spPr>
          <a:xfrm>
            <a:off x="812767" y="1102237"/>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Buffer pool metadata</a:t>
            </a:r>
            <a:endParaRPr lang="en-US" sz="3200" dirty="0"/>
          </a:p>
        </p:txBody>
      </p:sp>
      <p:sp>
        <p:nvSpPr>
          <p:cNvPr id="4" name="Shape 2"/>
          <p:cNvSpPr/>
          <p:nvPr/>
        </p:nvSpPr>
        <p:spPr>
          <a:xfrm>
            <a:off x="815942" y="1806392"/>
            <a:ext cx="5175266" cy="1664080"/>
          </a:xfrm>
          <a:prstGeom prst="roundRect">
            <a:avLst>
              <a:gd name="adj" fmla="val 5915"/>
            </a:avLst>
          </a:prstGeom>
          <a:solidFill>
            <a:srgbClr val="FFFDF8"/>
          </a:solidFill>
          <a:ln w="6350">
            <a:solidFill>
              <a:srgbClr val="DAD5C6"/>
            </a:solidFill>
            <a:prstDash val="solid"/>
          </a:ln>
        </p:spPr>
        <p:txBody>
          <a:bodyPr/>
          <a:lstStyle/>
          <a:p>
            <a:endParaRPr lang="en-US"/>
          </a:p>
        </p:txBody>
      </p:sp>
      <p:sp>
        <p:nvSpPr>
          <p:cNvPr id="5" name="Text 3"/>
          <p:cNvSpPr/>
          <p:nvPr/>
        </p:nvSpPr>
        <p:spPr>
          <a:xfrm>
            <a:off x="1021209" y="2011660"/>
            <a:ext cx="4907674"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Page table</a:t>
            </a:r>
            <a:endParaRPr lang="en-US" sz="1800" dirty="0"/>
          </a:p>
        </p:txBody>
      </p:sp>
      <p:sp>
        <p:nvSpPr>
          <p:cNvPr id="6" name="Text 4"/>
          <p:cNvSpPr/>
          <p:nvPr/>
        </p:nvSpPr>
        <p:spPr>
          <a:xfrm>
            <a:off x="1021209" y="2350657"/>
            <a:ext cx="4907674" cy="5944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An in-memory hash table that maps each page id to the frame holding it. Latches keep it thread-safe.</a:t>
            </a:r>
            <a:endParaRPr lang="en-US" sz="1600" dirty="0"/>
          </a:p>
        </p:txBody>
      </p:sp>
      <p:sp>
        <p:nvSpPr>
          <p:cNvPr id="7" name="Shape 5"/>
          <p:cNvSpPr/>
          <p:nvPr/>
        </p:nvSpPr>
        <p:spPr>
          <a:xfrm>
            <a:off x="6200709" y="1806392"/>
            <a:ext cx="5175349" cy="1664080"/>
          </a:xfrm>
          <a:prstGeom prst="roundRect">
            <a:avLst>
              <a:gd name="adj" fmla="val 5915"/>
            </a:avLst>
          </a:prstGeom>
          <a:solidFill>
            <a:srgbClr val="FFFDF8"/>
          </a:solidFill>
          <a:ln w="6350">
            <a:solidFill>
              <a:srgbClr val="DAD5C6"/>
            </a:solidFill>
            <a:prstDash val="solid"/>
          </a:ln>
        </p:spPr>
        <p:txBody>
          <a:bodyPr/>
          <a:lstStyle/>
          <a:p>
            <a:endParaRPr lang="en-US"/>
          </a:p>
        </p:txBody>
      </p:sp>
      <p:sp>
        <p:nvSpPr>
          <p:cNvPr id="8" name="Text 6"/>
          <p:cNvSpPr/>
          <p:nvPr/>
        </p:nvSpPr>
        <p:spPr>
          <a:xfrm>
            <a:off x="6405976" y="2011660"/>
            <a:ext cx="4907759"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Per-page metadata</a:t>
            </a:r>
            <a:endParaRPr lang="en-US" sz="1800" dirty="0"/>
          </a:p>
        </p:txBody>
      </p:sp>
      <p:sp>
        <p:nvSpPr>
          <p:cNvPr id="9" name="Text 7"/>
          <p:cNvSpPr/>
          <p:nvPr/>
        </p:nvSpPr>
        <p:spPr>
          <a:xfrm>
            <a:off x="6463634" y="2350657"/>
            <a:ext cx="4842481" cy="939949"/>
          </a:xfrm>
          <a:prstGeom prst="rect">
            <a:avLst/>
          </a:prstGeom>
          <a:noFill/>
          <a:ln/>
        </p:spPr>
        <p:txBody>
          <a:bodyPr wrap="square" lIns="0" tIns="0" rIns="0" bIns="0" rtlCol="0" anchor="t">
            <a:normAutofit/>
          </a:bodyPr>
          <a:lstStyle/>
          <a:p>
            <a:pPr marL="196342" indent="-196342" algn="l">
              <a:lnSpc>
                <a:spcPts val="2400"/>
              </a:lnSpc>
              <a:buSzPct val="100000"/>
              <a:buChar char="•"/>
            </a:pPr>
            <a:r>
              <a:rPr lang="en-US" sz="1600" dirty="0">
                <a:solidFill>
                  <a:srgbClr val="4A5563"/>
                </a:solidFill>
                <a:latin typeface="IBM Plex Sans" pitchFamily="34" charset="0"/>
                <a:ea typeface="IBM Plex Sans" pitchFamily="34" charset="-122"/>
                <a:cs typeface="IBM Plex Sans" pitchFamily="34" charset="-120"/>
              </a:rPr>
              <a:t>Dirty flag: set when a page is modified</a:t>
            </a:r>
            <a:endParaRPr lang="en-US" sz="1600" dirty="0"/>
          </a:p>
          <a:p>
            <a:pPr marL="196342" indent="-196342" algn="l">
              <a:lnSpc>
                <a:spcPts val="2400"/>
              </a:lnSpc>
              <a:buSzPct val="100000"/>
              <a:buChar char="•"/>
            </a:pPr>
            <a:r>
              <a:rPr lang="en-US" sz="1600" dirty="0">
                <a:solidFill>
                  <a:srgbClr val="4A5563"/>
                </a:solidFill>
                <a:latin typeface="IBM Plex Sans" pitchFamily="34" charset="0"/>
                <a:ea typeface="IBM Plex Sans" pitchFamily="34" charset="-122"/>
                <a:cs typeface="IBM Plex Sans" pitchFamily="34" charset="-120"/>
              </a:rPr>
              <a:t>Pin count: pinned pages cannot be evicted</a:t>
            </a:r>
            <a:endParaRPr lang="en-US" sz="1600" dirty="0"/>
          </a:p>
          <a:p>
            <a:pPr marL="196342" indent="-196342" algn="l">
              <a:lnSpc>
                <a:spcPts val="2400"/>
              </a:lnSpc>
              <a:buSzPct val="100000"/>
              <a:buChar char="•"/>
            </a:pPr>
            <a:r>
              <a:rPr lang="en-US" sz="1600" dirty="0">
                <a:solidFill>
                  <a:srgbClr val="4A5563"/>
                </a:solidFill>
                <a:latin typeface="IBM Plex Sans" pitchFamily="34" charset="0"/>
                <a:ea typeface="IBM Plex Sans" pitchFamily="34" charset="-122"/>
                <a:cs typeface="IBM Plex Sans" pitchFamily="34" charset="-120"/>
              </a:rPr>
              <a:t>Access info: feeds the replacement policy</a:t>
            </a:r>
            <a:endParaRPr lang="en-US" sz="1600" dirty="0"/>
          </a:p>
        </p:txBody>
      </p:sp>
      <p:sp>
        <p:nvSpPr>
          <p:cNvPr id="10" name="Shape 8"/>
          <p:cNvSpPr/>
          <p:nvPr/>
        </p:nvSpPr>
        <p:spPr>
          <a:xfrm>
            <a:off x="812767" y="3727648"/>
            <a:ext cx="10566466" cy="1366490"/>
          </a:xfrm>
          <a:prstGeom prst="roundRect">
            <a:avLst>
              <a:gd name="adj" fmla="val 7435"/>
            </a:avLst>
          </a:prstGeom>
          <a:solidFill>
            <a:srgbClr val="12202F"/>
          </a:solidFill>
          <a:ln/>
        </p:spPr>
        <p:txBody>
          <a:bodyPr/>
          <a:lstStyle/>
          <a:p>
            <a:endParaRPr lang="en-US"/>
          </a:p>
        </p:txBody>
      </p:sp>
      <p:sp>
        <p:nvSpPr>
          <p:cNvPr id="11" name="Text 9"/>
          <p:cNvSpPr/>
          <p:nvPr/>
        </p:nvSpPr>
        <p:spPr>
          <a:xfrm>
            <a:off x="1066767" y="3981648"/>
            <a:ext cx="1036022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A33D"/>
                </a:solidFill>
                <a:latin typeface="IBM Plex Sans" pitchFamily="34" charset="0"/>
                <a:ea typeface="IBM Plex Sans" pitchFamily="34" charset="-122"/>
                <a:cs typeface="IBM Plex Sans" pitchFamily="34" charset="-120"/>
              </a:rPr>
              <a:t>NOT THE SAME THING</a:t>
            </a:r>
            <a:endParaRPr lang="en-US" sz="1200" dirty="0"/>
          </a:p>
        </p:txBody>
      </p:sp>
      <p:sp>
        <p:nvSpPr>
          <p:cNvPr id="12" name="Text 10"/>
          <p:cNvSpPr/>
          <p:nvPr/>
        </p:nvSpPr>
        <p:spPr>
          <a:xfrm>
            <a:off x="1066767" y="4271119"/>
            <a:ext cx="10360220" cy="5944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E"/>
                </a:solidFill>
                <a:latin typeface="IBM Plex Sans" pitchFamily="34" charset="0"/>
                <a:ea typeface="IBM Plex Sans" pitchFamily="34" charset="-122"/>
                <a:cs typeface="IBM Plex Sans" pitchFamily="34" charset="-120"/>
              </a:rPr>
              <a:t>The page directory maps page ids to locations in the database files and must be saved on disk. The page table only maps page ids to frames, so it lives in memory alone.</a:t>
            </a:r>
            <a:endParaRPr lang="en-US" sz="1600" dirty="0"/>
          </a:p>
        </p:txBody>
      </p:sp>
      <p:sp>
        <p:nvSpPr>
          <p:cNvPr id="13" name="Text 11"/>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2"/>
                </a:solidFill>
                <a:latin typeface="IBM Plex Sans" pitchFamily="34" charset="0"/>
                <a:ea typeface="IBM Plex Sans" pitchFamily="34" charset="-122"/>
                <a:cs typeface="IBM Plex Sans" pitchFamily="34" charset="-120"/>
              </a:rPr>
              <a:t>Buffer Pools &amp; Memory Management</a:t>
            </a:r>
            <a:endParaRPr lang="en-US" sz="1200" dirty="0"/>
          </a:p>
        </p:txBody>
      </p:sp>
      <p:sp>
        <p:nvSpPr>
          <p:cNvPr id="14" name="Text 12"/>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2"/>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7A"/>
                </a:solidFill>
                <a:latin typeface="IBM Plex Sans" pitchFamily="34" charset="0"/>
                <a:ea typeface="IBM Plex Sans" pitchFamily="34" charset="-122"/>
                <a:cs typeface="IBM Plex Sans" pitchFamily="34" charset="-120"/>
              </a:rPr>
              <a:t>BUFFER POOL MANAGER</a:t>
            </a:r>
            <a:endParaRPr lang="en-US" sz="1200" dirty="0"/>
          </a:p>
        </p:txBody>
      </p:sp>
      <p:sp>
        <p:nvSpPr>
          <p:cNvPr id="3" name="Text 1"/>
          <p:cNvSpPr>
            <a:spLocks noGrp="1"/>
          </p:cNvSpPr>
          <p:nvPr>
            <p:ph type="title"/>
          </p:nvPr>
        </p:nvSpPr>
        <p:spPr>
          <a:xfrm>
            <a:off x="812767" y="1102237"/>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Locks vs. latches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3350" y="1813800"/>
          <a:ext cx="10555883" cy="2033737"/>
        </p:xfrm>
        <a:graphic>
          <a:graphicData uri="http://schemas.openxmlformats.org/drawingml/2006/table">
            <a:tbl>
              <a:tblPr/>
              <a:tblGrid>
                <a:gridCol w="1900059">
                  <a:extLst>
                    <a:ext uri="{9D8B030D-6E8A-4147-A177-3AD203B41FA5}">
                      <a16:colId xmlns:a16="http://schemas.microsoft.com/office/drawing/2014/main" val="20000"/>
                    </a:ext>
                  </a:extLst>
                </a:gridCol>
                <a:gridCol w="4327912">
                  <a:extLst>
                    <a:ext uri="{9D8B030D-6E8A-4147-A177-3AD203B41FA5}">
                      <a16:colId xmlns:a16="http://schemas.microsoft.com/office/drawing/2014/main" val="20001"/>
                    </a:ext>
                  </a:extLst>
                </a:gridCol>
                <a:gridCol w="4327912">
                  <a:extLst>
                    <a:ext uri="{9D8B030D-6E8A-4147-A177-3AD203B41FA5}">
                      <a16:colId xmlns:a16="http://schemas.microsoft.com/office/drawing/2014/main" val="20002"/>
                    </a:ext>
                  </a:extLst>
                </a:gridCol>
              </a:tblGrid>
              <a:tr h="437307">
                <a:tc>
                  <a:txBody>
                    <a:bodyPr/>
                    <a:lstStyle/>
                    <a:p>
                      <a:pPr marL="0" indent="0">
                        <a:lnSpc>
                          <a:spcPts val="2240"/>
                        </a:lnSpc>
                        <a:buNone/>
                      </a:pP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121D29"/>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21D29"/>
                      </a:solidFill>
                      <a:prstDash val="solid"/>
                      <a:round/>
                      <a:headEnd type="none" w="med" len="med"/>
                      <a:tailEnd type="none" w="med" len="med"/>
                    </a:lnB>
                    <a:solidFill>
                      <a:srgbClr val="12202F"/>
                    </a:solidFill>
                  </a:tcPr>
                </a:tc>
                <a:tc>
                  <a:txBody>
                    <a:bodyPr/>
                    <a:lstStyle/>
                    <a:p>
                      <a:pPr marL="0" indent="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Lock</a:t>
                      </a:r>
                      <a:endParaRPr lang="en-US" sz="1600" dirty="0">
                        <a:latin typeface="IBM Plex Sans" charset="0"/>
                        <a:ea typeface="IBM Plex Sans" charset="0"/>
                        <a:cs typeface="IBM Plex Sans" charset="0"/>
                      </a:endParaRPr>
                    </a:p>
                  </a:txBody>
                  <a:tcPr marL="71120" marR="71120" marT="71120" marB="71120">
                    <a:lnL w="12700" cap="flat" cmpd="sng" algn="ctr">
                      <a:solidFill>
                        <a:srgbClr val="121D29"/>
                      </a:solidFill>
                      <a:prstDash val="solid"/>
                      <a:round/>
                      <a:headEnd type="none" w="med" len="med"/>
                      <a:tailEnd type="none" w="med" len="med"/>
                    </a:lnL>
                    <a:lnR w="12700" cap="flat" cmpd="sng" algn="ctr">
                      <a:solidFill>
                        <a:srgbClr val="121D29"/>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21D29"/>
                      </a:solidFill>
                      <a:prstDash val="solid"/>
                      <a:round/>
                      <a:headEnd type="none" w="med" len="med"/>
                      <a:tailEnd type="none" w="med" len="med"/>
                    </a:lnB>
                    <a:solidFill>
                      <a:srgbClr val="12202F"/>
                    </a:solidFill>
                  </a:tcPr>
                </a:tc>
                <a:tc>
                  <a:txBody>
                    <a:bodyPr/>
                    <a:lstStyle/>
                    <a:p>
                      <a:pPr marL="0" indent="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Latch</a:t>
                      </a:r>
                      <a:endParaRPr lang="en-US" sz="1600" dirty="0">
                        <a:latin typeface="IBM Plex Sans" charset="0"/>
                        <a:ea typeface="IBM Plex Sans" charset="0"/>
                        <a:cs typeface="IBM Plex Sans" charset="0"/>
                      </a:endParaRPr>
                    </a:p>
                  </a:txBody>
                  <a:tcPr marL="71120" marR="71120" marT="71120" marB="71120">
                    <a:lnL w="12700" cap="flat" cmpd="sng" algn="ctr">
                      <a:solidFill>
                        <a:srgbClr val="121D29"/>
                      </a:solidFill>
                      <a:prstDash val="solid"/>
                      <a:round/>
                      <a:headEnd type="none" w="med" len="med"/>
                      <a:tailEnd type="none" w="med" len="med"/>
                    </a:lnL>
                    <a:lnR w="12700" cap="flat" cmpd="sng" algn="ctr">
                      <a:solidFill>
                        <a:srgbClr val="121D29"/>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21D29"/>
                      </a:solidFill>
                      <a:prstDash val="solid"/>
                      <a:round/>
                      <a:headEnd type="none" w="med" len="med"/>
                      <a:tailEnd type="none" w="med" len="med"/>
                    </a:lnB>
                    <a:solidFill>
                      <a:srgbClr val="12202F"/>
                    </a:solidFill>
                  </a:tcPr>
                </a:tc>
                <a:extLst>
                  <a:ext uri="{0D108BD9-81ED-4DB2-BD59-A6C34878D82A}">
                    <a16:rowId xmlns:a16="http://schemas.microsoft.com/office/drawing/2014/main" val="10000"/>
                  </a:ext>
                </a:extLst>
              </a:tr>
              <a:tr h="721816">
                <a:tc>
                  <a:txBody>
                    <a:bodyPr/>
                    <a:lstStyle/>
                    <a:p>
                      <a:pPr marL="0" indent="0">
                        <a:lnSpc>
                          <a:spcPts val="2240"/>
                        </a:lnSpc>
                        <a:buNone/>
                      </a:pPr>
                      <a:r>
                        <a:rPr lang="en-US" sz="1600" dirty="0">
                          <a:solidFill>
                            <a:srgbClr val="1B2430"/>
                          </a:solidFill>
                          <a:latin typeface="IBM Plex Sans" pitchFamily="34" charset="0"/>
                          <a:ea typeface="IBM Plex Sans" pitchFamily="34" charset="-122"/>
                          <a:cs typeface="IBM Plex Sans" pitchFamily="34" charset="-120"/>
                        </a:rPr>
                        <a:t>Protects</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2240"/>
                        </a:lnSpc>
                        <a:buNone/>
                      </a:pPr>
                      <a:r>
                        <a:rPr lang="en-US" sz="1600" dirty="0">
                          <a:solidFill>
                            <a:srgbClr val="1B2430"/>
                          </a:solidFill>
                          <a:latin typeface="IBM Plex Sans" pitchFamily="34" charset="0"/>
                          <a:ea typeface="IBM Plex Sans" pitchFamily="34" charset="-122"/>
                          <a:cs typeface="IBM Plex Sans" pitchFamily="34" charset="-120"/>
                        </a:rPr>
                        <a:t>The logical contents of the database from other transactions</a:t>
                      </a:r>
                      <a:endParaRPr lang="en-US" sz="1600" dirty="0">
                        <a:latin typeface="IBM Plex Sans" charset="0"/>
                        <a:ea typeface="IBM Plex Sans" charset="0"/>
                        <a:cs typeface="IBM Plex Sans" charset="0"/>
                      </a:endParaRPr>
                    </a:p>
                  </a:txBody>
                  <a:tcPr marL="71120" marR="71120" marT="71120" marB="7112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2240"/>
                        </a:lnSpc>
                        <a:buNone/>
                      </a:pPr>
                      <a:r>
                        <a:rPr lang="en-US" sz="1600" dirty="0">
                          <a:solidFill>
                            <a:srgbClr val="1B2430"/>
                          </a:solidFill>
                          <a:latin typeface="IBM Plex Sans" pitchFamily="34" charset="0"/>
                          <a:ea typeface="IBM Plex Sans" pitchFamily="34" charset="-122"/>
                          <a:cs typeface="IBM Plex Sans" pitchFamily="34" charset="-120"/>
                        </a:rPr>
                        <a:t>Critical sections of internal data structures from other threads</a:t>
                      </a:r>
                      <a:endParaRPr lang="en-US" sz="1600" dirty="0">
                        <a:latin typeface="IBM Plex Sans" charset="0"/>
                        <a:ea typeface="IBM Plex Sans" charset="0"/>
                        <a:cs typeface="IBM Plex Sans" charset="0"/>
                      </a:endParaRPr>
                    </a:p>
                  </a:txBody>
                  <a:tcPr marL="71120" marR="71120" marT="71120" marB="7112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121D29"/>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437307">
                <a:tc>
                  <a:txBody>
                    <a:bodyPr/>
                    <a:lstStyle/>
                    <a:p>
                      <a:pPr marL="0" indent="0">
                        <a:lnSpc>
                          <a:spcPts val="2240"/>
                        </a:lnSpc>
                        <a:buNone/>
                      </a:pPr>
                      <a:r>
                        <a:rPr lang="en-US" sz="1600" dirty="0">
                          <a:solidFill>
                            <a:srgbClr val="1B2430"/>
                          </a:solidFill>
                          <a:latin typeface="IBM Plex Sans" pitchFamily="34" charset="0"/>
                          <a:ea typeface="IBM Plex Sans" pitchFamily="34" charset="-122"/>
                          <a:cs typeface="IBM Plex Sans" pitchFamily="34" charset="-120"/>
                        </a:rPr>
                        <a:t>Held for</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BCB9A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AF"/>
                      </a:solidFill>
                      <a:prstDash val="solid"/>
                      <a:round/>
                      <a:headEnd type="none" w="med" len="med"/>
                      <a:tailEnd type="none" w="med" len="med"/>
                    </a:lnB>
                    <a:solidFill>
                      <a:srgbClr val="ECE8DB"/>
                    </a:solidFill>
                  </a:tcPr>
                </a:tc>
                <a:tc>
                  <a:txBody>
                    <a:bodyPr/>
                    <a:lstStyle/>
                    <a:p>
                      <a:pPr marL="0" indent="0">
                        <a:lnSpc>
                          <a:spcPts val="2240"/>
                        </a:lnSpc>
                        <a:buNone/>
                      </a:pPr>
                      <a:r>
                        <a:rPr lang="en-US" sz="1600" dirty="0">
                          <a:solidFill>
                            <a:srgbClr val="1B2430"/>
                          </a:solidFill>
                          <a:latin typeface="IBM Plex Sans" pitchFamily="34" charset="0"/>
                          <a:ea typeface="IBM Plex Sans" pitchFamily="34" charset="-122"/>
                          <a:cs typeface="IBM Plex Sans" pitchFamily="34" charset="-120"/>
                        </a:rPr>
                        <a:t>The whole transaction</a:t>
                      </a:r>
                      <a:endParaRPr lang="en-US" sz="1600" dirty="0">
                        <a:latin typeface="IBM Plex Sans" charset="0"/>
                        <a:ea typeface="IBM Plex Sans" charset="0"/>
                        <a:cs typeface="IBM Plex Sans" charset="0"/>
                      </a:endParaRPr>
                    </a:p>
                  </a:txBody>
                  <a:tcPr marL="71120" marR="71120" marT="71120" marB="71120">
                    <a:lnL w="12700" cap="flat" cmpd="sng" algn="ctr">
                      <a:solidFill>
                        <a:srgbClr val="BCB9AF"/>
                      </a:solidFill>
                      <a:prstDash val="solid"/>
                      <a:round/>
                      <a:headEnd type="none" w="med" len="med"/>
                      <a:tailEnd type="none" w="med" len="med"/>
                    </a:lnL>
                    <a:lnR w="12700" cap="flat" cmpd="sng" algn="ctr">
                      <a:solidFill>
                        <a:srgbClr val="BCB9A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AF"/>
                      </a:solidFill>
                      <a:prstDash val="solid"/>
                      <a:round/>
                      <a:headEnd type="none" w="med" len="med"/>
                      <a:tailEnd type="none" w="med" len="med"/>
                    </a:lnB>
                    <a:solidFill>
                      <a:srgbClr val="ECE8DB"/>
                    </a:solidFill>
                  </a:tcPr>
                </a:tc>
                <a:tc>
                  <a:txBody>
                    <a:bodyPr/>
                    <a:lstStyle/>
                    <a:p>
                      <a:pPr marL="0" indent="0">
                        <a:lnSpc>
                          <a:spcPts val="2240"/>
                        </a:lnSpc>
                        <a:buNone/>
                      </a:pPr>
                      <a:r>
                        <a:rPr lang="en-US" sz="1600" dirty="0">
                          <a:solidFill>
                            <a:srgbClr val="1B2430"/>
                          </a:solidFill>
                          <a:latin typeface="IBM Plex Sans" pitchFamily="34" charset="0"/>
                          <a:ea typeface="IBM Plex Sans" pitchFamily="34" charset="-122"/>
                          <a:cs typeface="IBM Plex Sans" pitchFamily="34" charset="-120"/>
                        </a:rPr>
                        <a:t>Only the duration of the operation</a:t>
                      </a:r>
                      <a:endParaRPr lang="en-US" sz="1600" dirty="0">
                        <a:latin typeface="IBM Plex Sans" charset="0"/>
                        <a:ea typeface="IBM Plex Sans" charset="0"/>
                        <a:cs typeface="IBM Plex Sans" charset="0"/>
                      </a:endParaRPr>
                    </a:p>
                  </a:txBody>
                  <a:tcPr marL="71120" marR="71120" marT="71120" marB="71120">
                    <a:lnL w="12700" cap="flat" cmpd="sng" algn="ctr">
                      <a:solidFill>
                        <a:srgbClr val="BCB9AF"/>
                      </a:solidFill>
                      <a:prstDash val="solid"/>
                      <a:round/>
                      <a:headEnd type="none" w="med" len="med"/>
                      <a:tailEnd type="none" w="med" len="med"/>
                    </a:lnL>
                    <a:lnR w="12700" cap="flat" cmpd="sng" algn="ctr">
                      <a:solidFill>
                        <a:srgbClr val="BCB9AF"/>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CB9AF"/>
                      </a:solidFill>
                      <a:prstDash val="solid"/>
                      <a:round/>
                      <a:headEnd type="none" w="med" len="med"/>
                      <a:tailEnd type="none" w="med" len="med"/>
                    </a:lnB>
                    <a:solidFill>
                      <a:srgbClr val="ECE8DB"/>
                    </a:solidFill>
                  </a:tcPr>
                </a:tc>
                <a:extLst>
                  <a:ext uri="{0D108BD9-81ED-4DB2-BD59-A6C34878D82A}">
                    <a16:rowId xmlns:a16="http://schemas.microsoft.com/office/drawing/2014/main" val="10002"/>
                  </a:ext>
                </a:extLst>
              </a:tr>
              <a:tr h="437307">
                <a:tc>
                  <a:txBody>
                    <a:bodyPr/>
                    <a:lstStyle/>
                    <a:p>
                      <a:pPr marL="0" indent="0">
                        <a:lnSpc>
                          <a:spcPts val="2240"/>
                        </a:lnSpc>
                        <a:buNone/>
                      </a:pPr>
                      <a:r>
                        <a:rPr lang="en-US" sz="1600" dirty="0">
                          <a:solidFill>
                            <a:srgbClr val="1B2430"/>
                          </a:solidFill>
                          <a:latin typeface="IBM Plex Sans" pitchFamily="34" charset="0"/>
                          <a:ea typeface="IBM Plex Sans" pitchFamily="34" charset="-122"/>
                          <a:cs typeface="IBM Plex Sans" pitchFamily="34" charset="-120"/>
                        </a:rPr>
                        <a:t>Rollback</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9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2240"/>
                        </a:lnSpc>
                        <a:buNone/>
                      </a:pPr>
                      <a:r>
                        <a:rPr lang="en-US" sz="1600" dirty="0">
                          <a:solidFill>
                            <a:srgbClr val="1B2430"/>
                          </a:solidFill>
                          <a:latin typeface="IBM Plex Sans" pitchFamily="34" charset="0"/>
                          <a:ea typeface="IBM Plex Sans" pitchFamily="34" charset="-122"/>
                          <a:cs typeface="IBM Plex Sans" pitchFamily="34" charset="-120"/>
                        </a:rPr>
                        <a:t>Must be able to roll back changes</a:t>
                      </a:r>
                      <a:endParaRPr lang="en-US" sz="1600" dirty="0">
                        <a:latin typeface="IBM Plex Sans" charset="0"/>
                        <a:ea typeface="IBM Plex Sans" charset="0"/>
                        <a:cs typeface="IBM Plex Sans" charset="0"/>
                      </a:endParaRPr>
                    </a:p>
                  </a:txBody>
                  <a:tcPr marL="71120" marR="71120" marT="71120" marB="7112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9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tc>
                  <a:txBody>
                    <a:bodyPr/>
                    <a:lstStyle/>
                    <a:p>
                      <a:pPr marL="0" indent="0">
                        <a:lnSpc>
                          <a:spcPts val="2240"/>
                        </a:lnSpc>
                        <a:buNone/>
                      </a:pPr>
                      <a:r>
                        <a:rPr lang="en-US" sz="1600" dirty="0">
                          <a:solidFill>
                            <a:srgbClr val="1B2430"/>
                          </a:solidFill>
                          <a:latin typeface="IBM Plex Sans" pitchFamily="34" charset="0"/>
                          <a:ea typeface="IBM Plex Sans" pitchFamily="34" charset="-122"/>
                          <a:cs typeface="IBM Plex Sans" pitchFamily="34" charset="-120"/>
                        </a:rPr>
                        <a:t>No rollback needed</a:t>
                      </a:r>
                      <a:endParaRPr lang="en-US" sz="1600" dirty="0">
                        <a:latin typeface="IBM Plex Sans" charset="0"/>
                        <a:ea typeface="IBM Plex Sans" charset="0"/>
                        <a:cs typeface="IBM Plex Sans" charset="0"/>
                      </a:endParaRPr>
                    </a:p>
                  </a:txBody>
                  <a:tcPr marL="71120" marR="71120" marT="71120" marB="7112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CB9AF"/>
                      </a:solidFill>
                      <a:prstDash val="solid"/>
                      <a:round/>
                      <a:headEnd type="none" w="med" len="med"/>
                      <a:tailEnd type="none" w="med" len="med"/>
                    </a:lnT>
                    <a:lnB w="12700" cap="flat" cmpd="sng" algn="ctr">
                      <a:solidFill>
                        <a:srgbClr val="CBCAC6"/>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bl>
          </a:graphicData>
        </a:graphic>
      </p:graphicFrame>
      <p:sp>
        <p:nvSpPr>
          <p:cNvPr id="5" name="Text 2"/>
          <p:cNvSpPr/>
          <p:nvPr/>
        </p:nvSpPr>
        <p:spPr>
          <a:xfrm>
            <a:off x="812767" y="410153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The page table is guarded by latches. Locks come back later in the course, with concurrency control.</a:t>
            </a:r>
            <a:endParaRPr lang="en-US" sz="1200" dirty="0"/>
          </a:p>
        </p:txBody>
      </p:sp>
      <p:sp>
        <p:nvSpPr>
          <p:cNvPr id="6" name="Text 3"/>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2"/>
                </a:solidFill>
                <a:latin typeface="IBM Plex Sans" pitchFamily="34" charset="0"/>
                <a:ea typeface="IBM Plex Sans" pitchFamily="34" charset="-122"/>
                <a:cs typeface="IBM Plex Sans" pitchFamily="34" charset="-120"/>
              </a:rPr>
              <a:t>Buffer Pools &amp; Memory Management</a:t>
            </a:r>
            <a:endParaRPr lang="en-US" sz="1200" dirty="0"/>
          </a:p>
        </p:txBody>
      </p:sp>
      <p:sp>
        <p:nvSpPr>
          <p:cNvPr id="7" name="Text 4"/>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2"/>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7A"/>
                </a:solidFill>
                <a:latin typeface="IBM Plex Sans" pitchFamily="34" charset="0"/>
                <a:ea typeface="IBM Plex Sans" pitchFamily="34" charset="-122"/>
                <a:cs typeface="IBM Plex Sans" pitchFamily="34" charset="-120"/>
              </a:rPr>
              <a:t>OPTIMIZATION 1</a:t>
            </a:r>
            <a:endParaRPr lang="en-US" sz="1200" dirty="0"/>
          </a:p>
        </p:txBody>
      </p:sp>
      <p:sp>
        <p:nvSpPr>
          <p:cNvPr id="3" name="Text 1"/>
          <p:cNvSpPr>
            <a:spLocks noGrp="1"/>
          </p:cNvSpPr>
          <p:nvPr>
            <p:ph type="title"/>
          </p:nvPr>
        </p:nvSpPr>
        <p:spPr>
          <a:xfrm>
            <a:off x="812767" y="1102237"/>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Multiple buffer pools</a:t>
            </a:r>
            <a:endParaRPr lang="en-US" sz="3200" dirty="0"/>
          </a:p>
        </p:txBody>
      </p:sp>
      <p:sp>
        <p:nvSpPr>
          <p:cNvPr id="4" name="Text 2"/>
          <p:cNvSpPr/>
          <p:nvPr/>
        </p:nvSpPr>
        <p:spPr>
          <a:xfrm>
            <a:off x="812767" y="1853983"/>
            <a:ext cx="9810750" cy="951111"/>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1B2430"/>
                </a:solidFill>
                <a:latin typeface="IBM Plex Sans" pitchFamily="34" charset="0"/>
                <a:ea typeface="IBM Plex Sans" pitchFamily="34" charset="-122"/>
                <a:cs typeface="IBM Plex Sans" pitchFamily="34" charset="-120"/>
              </a:rPr>
              <a:t>A DBMS often runs several pools, for example one per database or one per page type. Each pool can use its own policy, and splitting memory reduces latch contention and improves locality.</a:t>
            </a:r>
            <a:endParaRPr lang="en-US" sz="1800" dirty="0"/>
          </a:p>
        </p:txBody>
      </p:sp>
      <p:sp>
        <p:nvSpPr>
          <p:cNvPr id="5" name="Shape 3"/>
          <p:cNvSpPr/>
          <p:nvPr/>
        </p:nvSpPr>
        <p:spPr>
          <a:xfrm>
            <a:off x="815942" y="3087638"/>
            <a:ext cx="5175266" cy="2227643"/>
          </a:xfrm>
          <a:prstGeom prst="roundRect">
            <a:avLst>
              <a:gd name="adj" fmla="val 4418"/>
            </a:avLst>
          </a:prstGeom>
          <a:solidFill>
            <a:srgbClr val="FFFDF8"/>
          </a:solidFill>
          <a:ln w="6350">
            <a:solidFill>
              <a:srgbClr val="DAD5C6"/>
            </a:solidFill>
            <a:prstDash val="solid"/>
          </a:ln>
        </p:spPr>
        <p:txBody>
          <a:bodyPr/>
          <a:lstStyle/>
          <a:p>
            <a:endParaRPr lang="en-US"/>
          </a:p>
        </p:txBody>
      </p:sp>
      <p:sp>
        <p:nvSpPr>
          <p:cNvPr id="6" name="Text 4"/>
          <p:cNvSpPr/>
          <p:nvPr/>
        </p:nvSpPr>
        <p:spPr>
          <a:xfrm>
            <a:off x="1072059" y="3343752"/>
            <a:ext cx="480292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707A"/>
                </a:solidFill>
                <a:latin typeface="JetBrains Mono" pitchFamily="49" charset="0"/>
                <a:ea typeface="JetBrains Mono" pitchFamily="49" charset="-122"/>
                <a:cs typeface="JetBrains Mono" pitchFamily="49" charset="-120"/>
              </a:rPr>
              <a:t>APPROACH 1</a:t>
            </a:r>
            <a:endParaRPr lang="en-US" sz="1200" dirty="0"/>
          </a:p>
        </p:txBody>
      </p:sp>
      <p:sp>
        <p:nvSpPr>
          <p:cNvPr id="7" name="Text 5"/>
          <p:cNvSpPr/>
          <p:nvPr/>
        </p:nvSpPr>
        <p:spPr>
          <a:xfrm>
            <a:off x="1072059" y="3658608"/>
            <a:ext cx="4802924"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Object id</a:t>
            </a:r>
            <a:endParaRPr lang="en-US" sz="1800" dirty="0"/>
          </a:p>
        </p:txBody>
      </p:sp>
      <p:sp>
        <p:nvSpPr>
          <p:cNvPr id="8" name="Text 6"/>
          <p:cNvSpPr/>
          <p:nvPr/>
        </p:nvSpPr>
        <p:spPr>
          <a:xfrm>
            <a:off x="1072059" y="4022989"/>
            <a:ext cx="4802924" cy="5944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Put an object id in the record id and keep a map from objects to pools.</a:t>
            </a:r>
            <a:endParaRPr lang="en-US" sz="1600" dirty="0"/>
          </a:p>
        </p:txBody>
      </p:sp>
      <p:sp>
        <p:nvSpPr>
          <p:cNvPr id="9" name="Text 7"/>
          <p:cNvSpPr/>
          <p:nvPr/>
        </p:nvSpPr>
        <p:spPr>
          <a:xfrm>
            <a:off x="1072059" y="4693543"/>
            <a:ext cx="4663033" cy="365621"/>
          </a:xfrm>
          <a:prstGeom prst="roundRect">
            <a:avLst>
              <a:gd name="adj" fmla="val 13894"/>
            </a:avLst>
          </a:prstGeom>
          <a:solidFill>
            <a:srgbClr val="ECE8DB"/>
          </a:solidFill>
          <a:ln/>
        </p:spPr>
        <p:txBody>
          <a:bodyPr wrap="square" lIns="86721" tIns="61321" rIns="0" bIns="35921" rtlCol="0" anchor="t">
            <a:normAutofit/>
          </a:bodyPr>
          <a:lstStyle/>
          <a:p>
            <a:pPr marL="0" indent="0" algn="l">
              <a:lnSpc>
                <a:spcPts val="1680"/>
              </a:lnSpc>
              <a:buNone/>
            </a:pPr>
            <a:r>
              <a:rPr lang="en-US" sz="1200" dirty="0">
                <a:solidFill>
                  <a:srgbClr val="12202F"/>
                </a:solidFill>
                <a:latin typeface="JetBrains Mono" pitchFamily="49" charset="0"/>
                <a:ea typeface="JetBrains Mono" pitchFamily="49" charset="-122"/>
                <a:cs typeface="JetBrains Mono" pitchFamily="49" charset="-120"/>
              </a:rPr>
              <a:t>&lt;ObjectId, PageId, SlotNum&gt;</a:t>
            </a:r>
            <a:endParaRPr lang="en-US" sz="1200" dirty="0"/>
          </a:p>
        </p:txBody>
      </p:sp>
      <p:sp>
        <p:nvSpPr>
          <p:cNvPr id="10" name="Shape 8"/>
          <p:cNvSpPr/>
          <p:nvPr/>
        </p:nvSpPr>
        <p:spPr>
          <a:xfrm>
            <a:off x="6200709" y="3087638"/>
            <a:ext cx="5175349" cy="2227643"/>
          </a:xfrm>
          <a:prstGeom prst="roundRect">
            <a:avLst>
              <a:gd name="adj" fmla="val 4418"/>
            </a:avLst>
          </a:prstGeom>
          <a:solidFill>
            <a:srgbClr val="FFFDF8"/>
          </a:solidFill>
          <a:ln w="6350">
            <a:solidFill>
              <a:srgbClr val="DAD5C6"/>
            </a:solidFill>
            <a:prstDash val="solid"/>
          </a:ln>
        </p:spPr>
        <p:txBody>
          <a:bodyPr/>
          <a:lstStyle/>
          <a:p>
            <a:endParaRPr lang="en-US"/>
          </a:p>
        </p:txBody>
      </p:sp>
      <p:sp>
        <p:nvSpPr>
          <p:cNvPr id="11" name="Text 9"/>
          <p:cNvSpPr/>
          <p:nvPr/>
        </p:nvSpPr>
        <p:spPr>
          <a:xfrm>
            <a:off x="6456825" y="3343752"/>
            <a:ext cx="480300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707A"/>
                </a:solidFill>
                <a:latin typeface="JetBrains Mono" pitchFamily="49" charset="0"/>
                <a:ea typeface="JetBrains Mono" pitchFamily="49" charset="-122"/>
                <a:cs typeface="JetBrains Mono" pitchFamily="49" charset="-120"/>
              </a:rPr>
              <a:t>APPROACH 2</a:t>
            </a:r>
            <a:endParaRPr lang="en-US" sz="1200" dirty="0"/>
          </a:p>
        </p:txBody>
      </p:sp>
      <p:sp>
        <p:nvSpPr>
          <p:cNvPr id="12" name="Text 10"/>
          <p:cNvSpPr/>
          <p:nvPr/>
        </p:nvSpPr>
        <p:spPr>
          <a:xfrm>
            <a:off x="6456825" y="3658608"/>
            <a:ext cx="4803009"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Hashing</a:t>
            </a:r>
            <a:endParaRPr lang="en-US" sz="1800" dirty="0"/>
          </a:p>
        </p:txBody>
      </p:sp>
      <p:sp>
        <p:nvSpPr>
          <p:cNvPr id="13" name="Text 11"/>
          <p:cNvSpPr/>
          <p:nvPr/>
        </p:nvSpPr>
        <p:spPr>
          <a:xfrm>
            <a:off x="6456825" y="4022989"/>
            <a:ext cx="4803009" cy="5944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Hash the page id to pick which of the n pools to use.</a:t>
            </a:r>
            <a:endParaRPr lang="en-US" sz="1600" dirty="0"/>
          </a:p>
        </p:txBody>
      </p:sp>
      <p:sp>
        <p:nvSpPr>
          <p:cNvPr id="14" name="Text 12"/>
          <p:cNvSpPr/>
          <p:nvPr/>
        </p:nvSpPr>
        <p:spPr>
          <a:xfrm>
            <a:off x="6456825" y="4693543"/>
            <a:ext cx="4663116" cy="365621"/>
          </a:xfrm>
          <a:prstGeom prst="roundRect">
            <a:avLst>
              <a:gd name="adj" fmla="val 13894"/>
            </a:avLst>
          </a:prstGeom>
          <a:solidFill>
            <a:srgbClr val="ECE8DB"/>
          </a:solidFill>
          <a:ln/>
        </p:spPr>
        <p:txBody>
          <a:bodyPr wrap="square" lIns="86721" tIns="61321" rIns="0" bIns="35921" rtlCol="0" anchor="t">
            <a:normAutofit/>
          </a:bodyPr>
          <a:lstStyle/>
          <a:p>
            <a:pPr marL="0" indent="0" algn="l">
              <a:lnSpc>
                <a:spcPts val="1680"/>
              </a:lnSpc>
              <a:buNone/>
            </a:pPr>
            <a:r>
              <a:rPr lang="en-US" sz="1200" dirty="0">
                <a:solidFill>
                  <a:srgbClr val="12202F"/>
                </a:solidFill>
                <a:latin typeface="JetBrains Mono" pitchFamily="49" charset="0"/>
                <a:ea typeface="JetBrains Mono" pitchFamily="49" charset="-122"/>
                <a:cs typeface="JetBrains Mono" pitchFamily="49" charset="-120"/>
              </a:rPr>
              <a:t>pool = hash(page_id) % n</a:t>
            </a:r>
            <a:endParaRPr lang="en-US" sz="1200" dirty="0"/>
          </a:p>
        </p:txBody>
      </p:sp>
      <p:sp>
        <p:nvSpPr>
          <p:cNvPr id="15" name="Text 13"/>
          <p:cNvSpPr/>
          <p:nvPr/>
        </p:nvSpPr>
        <p:spPr>
          <a:xfrm>
            <a:off x="812767" y="6238295"/>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2"/>
                </a:solidFill>
                <a:latin typeface="IBM Plex Sans" pitchFamily="34" charset="0"/>
                <a:ea typeface="IBM Plex Sans" pitchFamily="34" charset="-122"/>
                <a:cs typeface="IBM Plex Sans" pitchFamily="34" charset="-120"/>
              </a:rPr>
              <a:t>Buffer Pools &amp; Memory Management</a:t>
            </a:r>
            <a:endParaRPr lang="en-US" sz="1200" dirty="0"/>
          </a:p>
        </p:txBody>
      </p:sp>
      <p:sp>
        <p:nvSpPr>
          <p:cNvPr id="16" name="Text 14"/>
          <p:cNvSpPr/>
          <p:nvPr/>
        </p:nvSpPr>
        <p:spPr>
          <a:xfrm>
            <a:off x="10058433" y="6238295"/>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2"/>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7A"/>
                </a:solidFill>
                <a:latin typeface="IBM Plex Sans" pitchFamily="34" charset="0"/>
                <a:ea typeface="IBM Plex Sans" pitchFamily="34" charset="-122"/>
                <a:cs typeface="IBM Plex Sans" pitchFamily="34" charset="-120"/>
              </a:rPr>
              <a:t>OPTIMIZATION 2</a:t>
            </a:r>
            <a:endParaRPr lang="en-US" sz="1200" dirty="0"/>
          </a:p>
        </p:txBody>
      </p:sp>
      <p:sp>
        <p:nvSpPr>
          <p:cNvPr id="3" name="Text 1"/>
          <p:cNvSpPr>
            <a:spLocks noGrp="1"/>
          </p:cNvSpPr>
          <p:nvPr>
            <p:ph type="title"/>
          </p:nvPr>
        </p:nvSpPr>
        <p:spPr>
          <a:xfrm>
            <a:off x="812767" y="1102237"/>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Pre-fetching</a:t>
            </a:r>
            <a:endParaRPr lang="en-US" sz="3200" dirty="0"/>
          </a:p>
        </p:txBody>
      </p:sp>
      <p:sp>
        <p:nvSpPr>
          <p:cNvPr id="4" name="Text 2"/>
          <p:cNvSpPr/>
          <p:nvPr/>
        </p:nvSpPr>
        <p:spPr>
          <a:xfrm>
            <a:off x="812767" y="1803217"/>
            <a:ext cx="9810750" cy="5944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430"/>
                </a:solidFill>
                <a:latin typeface="IBM Plex Sans" pitchFamily="34" charset="0"/>
                <a:ea typeface="IBM Plex Sans" pitchFamily="34" charset="-122"/>
                <a:cs typeface="IBM Plex Sans" pitchFamily="34" charset="-120"/>
              </a:rPr>
              <a:t>The DBMS can read ahead using the query plan, loading the next pages while the current ones are still being processed.</a:t>
            </a:r>
            <a:endParaRPr lang="en-US" sz="1600" dirty="0"/>
          </a:p>
        </p:txBody>
      </p:sp>
      <p:sp>
        <p:nvSpPr>
          <p:cNvPr id="5" name="Shape 3"/>
          <p:cNvSpPr/>
          <p:nvPr/>
        </p:nvSpPr>
        <p:spPr>
          <a:xfrm>
            <a:off x="812767" y="2626237"/>
            <a:ext cx="1627022" cy="655092"/>
          </a:xfrm>
          <a:prstGeom prst="roundRect">
            <a:avLst>
              <a:gd name="adj" fmla="val 11632"/>
            </a:avLst>
          </a:prstGeom>
          <a:solidFill>
            <a:srgbClr val="12202F"/>
          </a:solidFill>
          <a:ln/>
        </p:spPr>
        <p:txBody>
          <a:bodyPr/>
          <a:lstStyle/>
          <a:p>
            <a:endParaRPr lang="en-US"/>
          </a:p>
        </p:txBody>
      </p:sp>
      <p:sp>
        <p:nvSpPr>
          <p:cNvPr id="6" name="Text 4"/>
          <p:cNvSpPr/>
          <p:nvPr/>
        </p:nvSpPr>
        <p:spPr>
          <a:xfrm>
            <a:off x="787367" y="2727771"/>
            <a:ext cx="1677822"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page 0</a:t>
            </a:r>
            <a:endParaRPr lang="en-US" sz="1200" dirty="0"/>
          </a:p>
        </p:txBody>
      </p:sp>
      <p:sp>
        <p:nvSpPr>
          <p:cNvPr id="7" name="Text 5"/>
          <p:cNvSpPr/>
          <p:nvPr/>
        </p:nvSpPr>
        <p:spPr>
          <a:xfrm>
            <a:off x="787367" y="2966473"/>
            <a:ext cx="1677822"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AA8B6"/>
                </a:solidFill>
                <a:latin typeface="IBM Plex Sans" pitchFamily="34" charset="0"/>
                <a:ea typeface="IBM Plex Sans" pitchFamily="34" charset="-122"/>
                <a:cs typeface="IBM Plex Sans" pitchFamily="34" charset="-120"/>
              </a:rPr>
              <a:t>done</a:t>
            </a:r>
            <a:endParaRPr lang="en-US" sz="1200" dirty="0"/>
          </a:p>
        </p:txBody>
      </p:sp>
      <p:sp>
        <p:nvSpPr>
          <p:cNvPr id="8" name="Shape 6"/>
          <p:cNvSpPr/>
          <p:nvPr/>
        </p:nvSpPr>
        <p:spPr>
          <a:xfrm>
            <a:off x="2592172" y="2626237"/>
            <a:ext cx="1627105" cy="655092"/>
          </a:xfrm>
          <a:prstGeom prst="roundRect">
            <a:avLst>
              <a:gd name="adj" fmla="val 11632"/>
            </a:avLst>
          </a:prstGeom>
          <a:solidFill>
            <a:srgbClr val="17707A"/>
          </a:solidFill>
          <a:ln/>
        </p:spPr>
        <p:txBody>
          <a:bodyPr/>
          <a:lstStyle/>
          <a:p>
            <a:endParaRPr lang="en-US"/>
          </a:p>
        </p:txBody>
      </p:sp>
      <p:sp>
        <p:nvSpPr>
          <p:cNvPr id="9" name="Text 7"/>
          <p:cNvSpPr/>
          <p:nvPr/>
        </p:nvSpPr>
        <p:spPr>
          <a:xfrm>
            <a:off x="2566772" y="2727771"/>
            <a:ext cx="167790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page 1</a:t>
            </a:r>
            <a:endParaRPr lang="en-US" sz="1200" dirty="0"/>
          </a:p>
        </p:txBody>
      </p:sp>
      <p:sp>
        <p:nvSpPr>
          <p:cNvPr id="10" name="Text 8"/>
          <p:cNvSpPr/>
          <p:nvPr/>
        </p:nvSpPr>
        <p:spPr>
          <a:xfrm>
            <a:off x="2566772" y="2966473"/>
            <a:ext cx="1677905"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6F4EE"/>
                </a:solidFill>
                <a:latin typeface="IBM Plex Sans" pitchFamily="34" charset="0"/>
                <a:ea typeface="IBM Plex Sans" pitchFamily="34" charset="-122"/>
                <a:cs typeface="IBM Plex Sans" pitchFamily="34" charset="-120"/>
              </a:rPr>
              <a:t>in use</a:t>
            </a:r>
            <a:endParaRPr lang="en-US" sz="1200" dirty="0"/>
          </a:p>
        </p:txBody>
      </p:sp>
      <p:sp>
        <p:nvSpPr>
          <p:cNvPr id="11" name="Shape 9"/>
          <p:cNvSpPr/>
          <p:nvPr/>
        </p:nvSpPr>
        <p:spPr>
          <a:xfrm>
            <a:off x="4371661" y="2626237"/>
            <a:ext cx="1627022" cy="655092"/>
          </a:xfrm>
          <a:prstGeom prst="roundRect">
            <a:avLst>
              <a:gd name="adj" fmla="val 11632"/>
            </a:avLst>
          </a:prstGeom>
          <a:solidFill>
            <a:srgbClr val="E8A33D"/>
          </a:solidFill>
          <a:ln/>
        </p:spPr>
        <p:txBody>
          <a:bodyPr/>
          <a:lstStyle/>
          <a:p>
            <a:endParaRPr lang="en-US"/>
          </a:p>
        </p:txBody>
      </p:sp>
      <p:sp>
        <p:nvSpPr>
          <p:cNvPr id="12" name="Text 10"/>
          <p:cNvSpPr/>
          <p:nvPr/>
        </p:nvSpPr>
        <p:spPr>
          <a:xfrm>
            <a:off x="4346261" y="2727771"/>
            <a:ext cx="1677822"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2202F"/>
                </a:solidFill>
                <a:latin typeface="JetBrains Mono" pitchFamily="49" charset="0"/>
                <a:ea typeface="JetBrains Mono" pitchFamily="49" charset="-122"/>
                <a:cs typeface="JetBrains Mono" pitchFamily="49" charset="-120"/>
              </a:rPr>
              <a:t>page 2</a:t>
            </a:r>
            <a:endParaRPr lang="en-US" sz="1200" dirty="0"/>
          </a:p>
        </p:txBody>
      </p:sp>
      <p:sp>
        <p:nvSpPr>
          <p:cNvPr id="13" name="Text 11"/>
          <p:cNvSpPr/>
          <p:nvPr/>
        </p:nvSpPr>
        <p:spPr>
          <a:xfrm>
            <a:off x="4346261" y="2966473"/>
            <a:ext cx="1677822"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2202F"/>
                </a:solidFill>
                <a:latin typeface="IBM Plex Sans" pitchFamily="34" charset="0"/>
                <a:ea typeface="IBM Plex Sans" pitchFamily="34" charset="-122"/>
                <a:cs typeface="IBM Plex Sans" pitchFamily="34" charset="-120"/>
              </a:rPr>
              <a:t>prefetch</a:t>
            </a:r>
            <a:endParaRPr lang="en-US" sz="1200" dirty="0"/>
          </a:p>
        </p:txBody>
      </p:sp>
      <p:sp>
        <p:nvSpPr>
          <p:cNvPr id="14" name="Shape 12"/>
          <p:cNvSpPr/>
          <p:nvPr/>
        </p:nvSpPr>
        <p:spPr>
          <a:xfrm>
            <a:off x="6151066" y="2626237"/>
            <a:ext cx="1627022" cy="655092"/>
          </a:xfrm>
          <a:prstGeom prst="roundRect">
            <a:avLst>
              <a:gd name="adj" fmla="val 11632"/>
            </a:avLst>
          </a:prstGeom>
          <a:solidFill>
            <a:srgbClr val="E8A33D"/>
          </a:solidFill>
          <a:ln/>
        </p:spPr>
        <p:txBody>
          <a:bodyPr/>
          <a:lstStyle/>
          <a:p>
            <a:endParaRPr lang="en-US"/>
          </a:p>
        </p:txBody>
      </p:sp>
      <p:sp>
        <p:nvSpPr>
          <p:cNvPr id="15" name="Text 13"/>
          <p:cNvSpPr/>
          <p:nvPr/>
        </p:nvSpPr>
        <p:spPr>
          <a:xfrm>
            <a:off x="6125666" y="2727771"/>
            <a:ext cx="1677822"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2202F"/>
                </a:solidFill>
                <a:latin typeface="JetBrains Mono" pitchFamily="49" charset="0"/>
                <a:ea typeface="JetBrains Mono" pitchFamily="49" charset="-122"/>
                <a:cs typeface="JetBrains Mono" pitchFamily="49" charset="-120"/>
              </a:rPr>
              <a:t>page 3</a:t>
            </a:r>
            <a:endParaRPr lang="en-US" sz="1200" dirty="0"/>
          </a:p>
        </p:txBody>
      </p:sp>
      <p:sp>
        <p:nvSpPr>
          <p:cNvPr id="16" name="Text 14"/>
          <p:cNvSpPr/>
          <p:nvPr/>
        </p:nvSpPr>
        <p:spPr>
          <a:xfrm>
            <a:off x="6125666" y="2966473"/>
            <a:ext cx="1677822"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2202F"/>
                </a:solidFill>
                <a:latin typeface="IBM Plex Sans" pitchFamily="34" charset="0"/>
                <a:ea typeface="IBM Plex Sans" pitchFamily="34" charset="-122"/>
                <a:cs typeface="IBM Plex Sans" pitchFamily="34" charset="-120"/>
              </a:rPr>
              <a:t>prefetch</a:t>
            </a:r>
            <a:endParaRPr lang="en-US" sz="1200" dirty="0"/>
          </a:p>
        </p:txBody>
      </p:sp>
      <p:sp>
        <p:nvSpPr>
          <p:cNvPr id="17" name="Shape 15"/>
          <p:cNvSpPr/>
          <p:nvPr/>
        </p:nvSpPr>
        <p:spPr>
          <a:xfrm>
            <a:off x="7936822" y="2632587"/>
            <a:ext cx="1635489" cy="642392"/>
          </a:xfrm>
          <a:prstGeom prst="roundRect">
            <a:avLst>
              <a:gd name="adj" fmla="val 10873"/>
            </a:avLst>
          </a:prstGeom>
          <a:solidFill>
            <a:srgbClr val="ECE8DB"/>
          </a:solidFill>
          <a:ln w="12700">
            <a:solidFill>
              <a:srgbClr val="9AA3A8"/>
            </a:solidFill>
            <a:prstDash val="dash"/>
          </a:ln>
        </p:spPr>
        <p:txBody>
          <a:bodyPr/>
          <a:lstStyle/>
          <a:p>
            <a:endParaRPr lang="en-US"/>
          </a:p>
        </p:txBody>
      </p:sp>
      <p:sp>
        <p:nvSpPr>
          <p:cNvPr id="18" name="Text 16"/>
          <p:cNvSpPr/>
          <p:nvPr/>
        </p:nvSpPr>
        <p:spPr>
          <a:xfrm>
            <a:off x="7915655" y="2725703"/>
            <a:ext cx="1677822"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3"/>
                </a:solidFill>
                <a:latin typeface="JetBrains Mono" pitchFamily="49" charset="0"/>
                <a:ea typeface="JetBrains Mono" pitchFamily="49" charset="-122"/>
                <a:cs typeface="JetBrains Mono" pitchFamily="49" charset="-120"/>
              </a:rPr>
              <a:t>page 4</a:t>
            </a:r>
            <a:endParaRPr lang="en-US" sz="1200" dirty="0"/>
          </a:p>
        </p:txBody>
      </p:sp>
      <p:sp>
        <p:nvSpPr>
          <p:cNvPr id="19" name="Text 17"/>
          <p:cNvSpPr/>
          <p:nvPr/>
        </p:nvSpPr>
        <p:spPr>
          <a:xfrm>
            <a:off x="7915655" y="2964408"/>
            <a:ext cx="1677822"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3"/>
                </a:solidFill>
                <a:latin typeface="IBM Plex Sans" pitchFamily="34" charset="0"/>
                <a:ea typeface="IBM Plex Sans" pitchFamily="34" charset="-122"/>
                <a:cs typeface="IBM Plex Sans" pitchFamily="34" charset="-120"/>
              </a:rPr>
              <a:t>later</a:t>
            </a:r>
            <a:endParaRPr lang="en-US" sz="1200" dirty="0"/>
          </a:p>
        </p:txBody>
      </p:sp>
      <p:sp>
        <p:nvSpPr>
          <p:cNvPr id="20" name="Shape 18"/>
          <p:cNvSpPr/>
          <p:nvPr/>
        </p:nvSpPr>
        <p:spPr>
          <a:xfrm>
            <a:off x="9737394" y="2632587"/>
            <a:ext cx="1635489" cy="642392"/>
          </a:xfrm>
          <a:prstGeom prst="roundRect">
            <a:avLst>
              <a:gd name="adj" fmla="val 10873"/>
            </a:avLst>
          </a:prstGeom>
          <a:solidFill>
            <a:srgbClr val="ECE8DB"/>
          </a:solidFill>
          <a:ln w="12700">
            <a:solidFill>
              <a:srgbClr val="9AA3A8"/>
            </a:solidFill>
            <a:prstDash val="dash"/>
          </a:ln>
        </p:spPr>
        <p:txBody>
          <a:bodyPr/>
          <a:lstStyle/>
          <a:p>
            <a:endParaRPr lang="en-US"/>
          </a:p>
        </p:txBody>
      </p:sp>
      <p:sp>
        <p:nvSpPr>
          <p:cNvPr id="21" name="Text 19"/>
          <p:cNvSpPr/>
          <p:nvPr/>
        </p:nvSpPr>
        <p:spPr>
          <a:xfrm>
            <a:off x="9716227" y="2725703"/>
            <a:ext cx="1677822"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3"/>
                </a:solidFill>
                <a:latin typeface="JetBrains Mono" pitchFamily="49" charset="0"/>
                <a:ea typeface="JetBrains Mono" pitchFamily="49" charset="-122"/>
                <a:cs typeface="JetBrains Mono" pitchFamily="49" charset="-120"/>
              </a:rPr>
              <a:t>page 5</a:t>
            </a:r>
            <a:endParaRPr lang="en-US" sz="1200" dirty="0"/>
          </a:p>
        </p:txBody>
      </p:sp>
      <p:sp>
        <p:nvSpPr>
          <p:cNvPr id="22" name="Text 20"/>
          <p:cNvSpPr/>
          <p:nvPr/>
        </p:nvSpPr>
        <p:spPr>
          <a:xfrm>
            <a:off x="9716227" y="2964408"/>
            <a:ext cx="1677822"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3"/>
                </a:solidFill>
                <a:latin typeface="IBM Plex Sans" pitchFamily="34" charset="0"/>
                <a:ea typeface="IBM Plex Sans" pitchFamily="34" charset="-122"/>
                <a:cs typeface="IBM Plex Sans" pitchFamily="34" charset="-120"/>
              </a:rPr>
              <a:t>later</a:t>
            </a:r>
            <a:endParaRPr lang="en-US" sz="1200" dirty="0"/>
          </a:p>
        </p:txBody>
      </p:sp>
      <p:sp>
        <p:nvSpPr>
          <p:cNvPr id="23" name="Shape 21"/>
          <p:cNvSpPr/>
          <p:nvPr/>
        </p:nvSpPr>
        <p:spPr>
          <a:xfrm>
            <a:off x="815942" y="3538503"/>
            <a:ext cx="5175266" cy="1760322"/>
          </a:xfrm>
          <a:prstGeom prst="roundRect">
            <a:avLst>
              <a:gd name="adj" fmla="val 5591"/>
            </a:avLst>
          </a:prstGeom>
          <a:solidFill>
            <a:srgbClr val="FFFDF8"/>
          </a:solidFill>
          <a:ln w="6350">
            <a:solidFill>
              <a:srgbClr val="DAD5C6"/>
            </a:solidFill>
            <a:prstDash val="solid"/>
          </a:ln>
        </p:spPr>
        <p:txBody>
          <a:bodyPr/>
          <a:lstStyle/>
          <a:p>
            <a:endParaRPr lang="en-US"/>
          </a:p>
        </p:txBody>
      </p:sp>
      <p:sp>
        <p:nvSpPr>
          <p:cNvPr id="24" name="Text 22"/>
          <p:cNvSpPr/>
          <p:nvPr/>
        </p:nvSpPr>
        <p:spPr>
          <a:xfrm>
            <a:off x="1021209" y="3743771"/>
            <a:ext cx="4907674"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Sequential scans</a:t>
            </a:r>
            <a:endParaRPr lang="en-US" sz="1800" dirty="0"/>
          </a:p>
        </p:txBody>
      </p:sp>
      <p:sp>
        <p:nvSpPr>
          <p:cNvPr id="25" name="Text 23"/>
          <p:cNvSpPr/>
          <p:nvPr/>
        </p:nvSpPr>
        <p:spPr>
          <a:xfrm>
            <a:off x="1021209" y="4082765"/>
            <a:ext cx="4907674" cy="5944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Pages are read in a predictable order, so the next ones can be fetched early.</a:t>
            </a:r>
            <a:endParaRPr lang="en-US" sz="1600" dirty="0"/>
          </a:p>
        </p:txBody>
      </p:sp>
      <p:sp>
        <p:nvSpPr>
          <p:cNvPr id="26" name="Shape 24"/>
          <p:cNvSpPr/>
          <p:nvPr/>
        </p:nvSpPr>
        <p:spPr>
          <a:xfrm>
            <a:off x="6200709" y="3538503"/>
            <a:ext cx="5175349" cy="1760322"/>
          </a:xfrm>
          <a:prstGeom prst="roundRect">
            <a:avLst>
              <a:gd name="adj" fmla="val 5591"/>
            </a:avLst>
          </a:prstGeom>
          <a:solidFill>
            <a:srgbClr val="FFFDF8"/>
          </a:solidFill>
          <a:ln w="6350">
            <a:solidFill>
              <a:srgbClr val="DAD5C6"/>
            </a:solidFill>
            <a:prstDash val="solid"/>
          </a:ln>
        </p:spPr>
        <p:txBody>
          <a:bodyPr/>
          <a:lstStyle/>
          <a:p>
            <a:endParaRPr lang="en-US"/>
          </a:p>
        </p:txBody>
      </p:sp>
      <p:sp>
        <p:nvSpPr>
          <p:cNvPr id="27" name="Text 25"/>
          <p:cNvSpPr/>
          <p:nvPr/>
        </p:nvSpPr>
        <p:spPr>
          <a:xfrm>
            <a:off x="6405976" y="3743771"/>
            <a:ext cx="4907759"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Index scans</a:t>
            </a:r>
            <a:endParaRPr lang="en-US" sz="1800" dirty="0"/>
          </a:p>
        </p:txBody>
      </p:sp>
      <p:sp>
        <p:nvSpPr>
          <p:cNvPr id="28" name="Text 26"/>
          <p:cNvSpPr/>
          <p:nvPr/>
        </p:nvSpPr>
        <p:spPr>
          <a:xfrm>
            <a:off x="6405976" y="4082765"/>
            <a:ext cx="4907759" cy="5944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A range query walks index leaf pages in key order, so upcoming leaves can be fetched early.</a:t>
            </a:r>
            <a:endParaRPr lang="en-US" sz="1600" dirty="0"/>
          </a:p>
        </p:txBody>
      </p:sp>
      <p:sp>
        <p:nvSpPr>
          <p:cNvPr id="29" name="Text 27"/>
          <p:cNvSpPr/>
          <p:nvPr/>
        </p:nvSpPr>
        <p:spPr>
          <a:xfrm>
            <a:off x="6405976" y="4727935"/>
            <a:ext cx="4764815" cy="365621"/>
          </a:xfrm>
          <a:prstGeom prst="roundRect">
            <a:avLst>
              <a:gd name="adj" fmla="val 13894"/>
            </a:avLst>
          </a:prstGeom>
          <a:solidFill>
            <a:srgbClr val="ECE8DB"/>
          </a:solidFill>
          <a:ln/>
        </p:spPr>
        <p:txBody>
          <a:bodyPr wrap="square" lIns="86721" tIns="61321" rIns="0" bIns="35921" rtlCol="0" anchor="t">
            <a:normAutofit/>
          </a:bodyPr>
          <a:lstStyle/>
          <a:p>
            <a:pPr marL="0" indent="0" algn="l">
              <a:lnSpc>
                <a:spcPts val="1680"/>
              </a:lnSpc>
              <a:buNone/>
            </a:pPr>
            <a:r>
              <a:rPr lang="en-US" sz="1200" dirty="0">
                <a:solidFill>
                  <a:srgbClr val="12202F"/>
                </a:solidFill>
                <a:latin typeface="JetBrains Mono" pitchFamily="49" charset="0"/>
                <a:ea typeface="JetBrains Mono" pitchFamily="49" charset="-122"/>
                <a:cs typeface="JetBrains Mono" pitchFamily="49" charset="-120"/>
              </a:rPr>
              <a:t>WHERE val BETWEEN 100 AND 250</a:t>
            </a:r>
            <a:endParaRPr lang="en-US" sz="1200" dirty="0"/>
          </a:p>
        </p:txBody>
      </p:sp>
      <p:sp>
        <p:nvSpPr>
          <p:cNvPr id="30" name="Text 28"/>
          <p:cNvSpPr/>
          <p:nvPr/>
        </p:nvSpPr>
        <p:spPr>
          <a:xfrm>
            <a:off x="812767" y="6238292"/>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2"/>
                </a:solidFill>
                <a:latin typeface="IBM Plex Sans" pitchFamily="34" charset="0"/>
                <a:ea typeface="IBM Plex Sans" pitchFamily="34" charset="-122"/>
                <a:cs typeface="IBM Plex Sans" pitchFamily="34" charset="-120"/>
              </a:rPr>
              <a:t>Buffer Pools &amp; Memory Management</a:t>
            </a:r>
            <a:endParaRPr lang="en-US" sz="1200" dirty="0"/>
          </a:p>
        </p:txBody>
      </p:sp>
      <p:sp>
        <p:nvSpPr>
          <p:cNvPr id="31" name="Text 29"/>
          <p:cNvSpPr/>
          <p:nvPr/>
        </p:nvSpPr>
        <p:spPr>
          <a:xfrm>
            <a:off x="10058433"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2"/>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7A"/>
                </a:solidFill>
                <a:latin typeface="IBM Plex Sans" pitchFamily="34" charset="0"/>
                <a:ea typeface="IBM Plex Sans" pitchFamily="34" charset="-122"/>
                <a:cs typeface="IBM Plex Sans" pitchFamily="34" charset="-120"/>
              </a:rPr>
              <a:t>OPTIMIZATIONS 3 AND 4</a:t>
            </a:r>
            <a:endParaRPr lang="en-US" sz="1200" dirty="0"/>
          </a:p>
        </p:txBody>
      </p:sp>
      <p:sp>
        <p:nvSpPr>
          <p:cNvPr id="3" name="Text 1"/>
          <p:cNvSpPr>
            <a:spLocks noGrp="1"/>
          </p:cNvSpPr>
          <p:nvPr>
            <p:ph type="title"/>
          </p:nvPr>
        </p:nvSpPr>
        <p:spPr>
          <a:xfrm>
            <a:off x="812767" y="1102233"/>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Scan sharing and buffer pool bypass</a:t>
            </a:r>
            <a:endParaRPr lang="en-US" sz="3200" dirty="0"/>
          </a:p>
        </p:txBody>
      </p:sp>
      <p:sp>
        <p:nvSpPr>
          <p:cNvPr id="4" name="Shape 2"/>
          <p:cNvSpPr/>
          <p:nvPr/>
        </p:nvSpPr>
        <p:spPr>
          <a:xfrm>
            <a:off x="815942" y="1857158"/>
            <a:ext cx="5175266" cy="3223303"/>
          </a:xfrm>
          <a:prstGeom prst="roundRect">
            <a:avLst>
              <a:gd name="adj" fmla="val 3054"/>
            </a:avLst>
          </a:prstGeom>
          <a:solidFill>
            <a:srgbClr val="FFFDF8"/>
          </a:solidFill>
          <a:ln w="6350">
            <a:solidFill>
              <a:srgbClr val="DAD5C6"/>
            </a:solidFill>
            <a:prstDash val="solid"/>
          </a:ln>
        </p:spPr>
        <p:txBody>
          <a:bodyPr/>
          <a:lstStyle/>
          <a:p>
            <a:endParaRPr lang="en-US"/>
          </a:p>
        </p:txBody>
      </p:sp>
      <p:sp>
        <p:nvSpPr>
          <p:cNvPr id="5" name="Text 3"/>
          <p:cNvSpPr/>
          <p:nvPr/>
        </p:nvSpPr>
        <p:spPr>
          <a:xfrm>
            <a:off x="1072059" y="2113273"/>
            <a:ext cx="4802924"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Scan sharing</a:t>
            </a:r>
            <a:endParaRPr lang="en-US" sz="1800" dirty="0"/>
          </a:p>
        </p:txBody>
      </p:sp>
      <p:sp>
        <p:nvSpPr>
          <p:cNvPr id="6" name="Text 4"/>
          <p:cNvSpPr/>
          <p:nvPr/>
        </p:nvSpPr>
        <p:spPr>
          <a:xfrm>
            <a:off x="1072059" y="2477653"/>
            <a:ext cx="4802924" cy="116343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A new query attaches to a cursor already scanning the table and reuses the pages it reads. The DBMS remembers where the new query joined so it can finish the pages it missed.</a:t>
            </a:r>
            <a:endParaRPr lang="en-US" sz="1600" dirty="0"/>
          </a:p>
        </p:txBody>
      </p:sp>
      <p:sp>
        <p:nvSpPr>
          <p:cNvPr id="7" name="Text 5"/>
          <p:cNvSpPr/>
          <p:nvPr/>
        </p:nvSpPr>
        <p:spPr>
          <a:xfrm>
            <a:off x="1072059" y="3717230"/>
            <a:ext cx="4663033" cy="578941"/>
          </a:xfrm>
          <a:prstGeom prst="roundRect">
            <a:avLst>
              <a:gd name="adj" fmla="val 8775"/>
            </a:avLst>
          </a:prstGeom>
          <a:solidFill>
            <a:srgbClr val="ECE8DB"/>
          </a:solidFill>
          <a:ln/>
        </p:spPr>
        <p:txBody>
          <a:bodyPr wrap="square" lIns="86721" tIns="61321" rIns="0" bIns="35921" rtlCol="0" anchor="t">
            <a:normAutofit/>
          </a:bodyPr>
          <a:lstStyle/>
          <a:p>
            <a:pPr marL="0" indent="0" algn="l">
              <a:lnSpc>
                <a:spcPts val="1680"/>
              </a:lnSpc>
              <a:buNone/>
            </a:pPr>
            <a:r>
              <a:rPr lang="en-US" sz="1200" dirty="0">
                <a:solidFill>
                  <a:srgbClr val="12202F"/>
                </a:solidFill>
                <a:latin typeface="JetBrains Mono" pitchFamily="49" charset="0"/>
                <a:ea typeface="JetBrains Mono" pitchFamily="49" charset="-122"/>
                <a:cs typeface="JetBrains Mono" pitchFamily="49" charset="-120"/>
              </a:rPr>
              <a:t>Q1: SELECT SUM(val) FROM A</a:t>
            </a:r>
            <a:endParaRPr lang="en-US" sz="1200" dirty="0"/>
          </a:p>
          <a:p>
            <a:pPr marL="0" indent="0" algn="l">
              <a:lnSpc>
                <a:spcPts val="1680"/>
              </a:lnSpc>
              <a:buNone/>
            </a:pPr>
            <a:r>
              <a:rPr lang="en-US" sz="1200" dirty="0">
                <a:solidFill>
                  <a:srgbClr val="12202F"/>
                </a:solidFill>
                <a:latin typeface="JetBrains Mono" pitchFamily="49" charset="0"/>
                <a:ea typeface="JetBrains Mono" pitchFamily="49" charset="-122"/>
                <a:cs typeface="JetBrains Mono" pitchFamily="49" charset="-120"/>
              </a:rPr>
              <a:t>Q2: SELECT AVG(val) FROM A</a:t>
            </a:r>
            <a:endParaRPr lang="en-US" sz="1200" dirty="0"/>
          </a:p>
        </p:txBody>
      </p:sp>
      <p:sp>
        <p:nvSpPr>
          <p:cNvPr id="8" name="Text 6"/>
          <p:cNvSpPr/>
          <p:nvPr/>
        </p:nvSpPr>
        <p:spPr>
          <a:xfrm>
            <a:off x="1072059" y="4397704"/>
            <a:ext cx="480292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2"/>
                </a:solidFill>
                <a:latin typeface="IBM Plex Sans" pitchFamily="34" charset="0"/>
                <a:ea typeface="IBM Plex Sans" pitchFamily="34" charset="-122"/>
                <a:cs typeface="IBM Plex Sans" pitchFamily="34" charset="-120"/>
              </a:rPr>
              <a:t>Fully supported in DB2, SQL Server, Teradata and Postgres. Oracle shares cursors only for identical queries.</a:t>
            </a:r>
            <a:endParaRPr lang="en-US" sz="1200" dirty="0"/>
          </a:p>
        </p:txBody>
      </p:sp>
      <p:sp>
        <p:nvSpPr>
          <p:cNvPr id="9" name="Shape 7"/>
          <p:cNvSpPr/>
          <p:nvPr/>
        </p:nvSpPr>
        <p:spPr>
          <a:xfrm>
            <a:off x="6200709" y="1857158"/>
            <a:ext cx="5175349" cy="3223303"/>
          </a:xfrm>
          <a:prstGeom prst="roundRect">
            <a:avLst>
              <a:gd name="adj" fmla="val 3054"/>
            </a:avLst>
          </a:prstGeom>
          <a:solidFill>
            <a:srgbClr val="FFFDF8"/>
          </a:solidFill>
          <a:ln w="6350">
            <a:solidFill>
              <a:srgbClr val="DAD5C6"/>
            </a:solidFill>
            <a:prstDash val="solid"/>
          </a:ln>
        </p:spPr>
        <p:txBody>
          <a:bodyPr/>
          <a:lstStyle/>
          <a:p>
            <a:endParaRPr lang="en-US"/>
          </a:p>
        </p:txBody>
      </p:sp>
      <p:sp>
        <p:nvSpPr>
          <p:cNvPr id="10" name="Text 8"/>
          <p:cNvSpPr/>
          <p:nvPr/>
        </p:nvSpPr>
        <p:spPr>
          <a:xfrm>
            <a:off x="6456825" y="2113273"/>
            <a:ext cx="4803009"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Buffer pool bypass</a:t>
            </a:r>
            <a:endParaRPr lang="en-US" sz="1800" dirty="0"/>
          </a:p>
        </p:txBody>
      </p:sp>
      <p:sp>
        <p:nvSpPr>
          <p:cNvPr id="11" name="Text 9"/>
          <p:cNvSpPr/>
          <p:nvPr/>
        </p:nvSpPr>
        <p:spPr>
          <a:xfrm>
            <a:off x="6456825" y="2477653"/>
            <a:ext cx="4803009" cy="116343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A sequential scan keeps its pages in memory private to the query instead of the shared pool. This avoids overhead and pool pollution, and suits long runs of contiguous pages.</a:t>
            </a:r>
            <a:endParaRPr lang="en-US" sz="1600" dirty="0"/>
          </a:p>
        </p:txBody>
      </p:sp>
      <p:sp>
        <p:nvSpPr>
          <p:cNvPr id="12" name="Text 10"/>
          <p:cNvSpPr/>
          <p:nvPr/>
        </p:nvSpPr>
        <p:spPr>
          <a:xfrm>
            <a:off x="6456825" y="3717230"/>
            <a:ext cx="4803009" cy="5944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The same idea works for temporary data in sorts and joins.</a:t>
            </a:r>
            <a:endParaRPr lang="en-US" sz="1600" dirty="0"/>
          </a:p>
        </p:txBody>
      </p:sp>
      <p:sp>
        <p:nvSpPr>
          <p:cNvPr id="13" name="Text 11"/>
          <p:cNvSpPr/>
          <p:nvPr/>
        </p:nvSpPr>
        <p:spPr>
          <a:xfrm>
            <a:off x="6456825" y="4387782"/>
            <a:ext cx="480300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2"/>
                </a:solidFill>
                <a:latin typeface="IBM Plex Sans" pitchFamily="34" charset="0"/>
                <a:ea typeface="IBM Plex Sans" pitchFamily="34" charset="-122"/>
                <a:cs typeface="IBM Plex Sans" pitchFamily="34" charset="-120"/>
              </a:rPr>
              <a:t>Informix calls these light scans.</a:t>
            </a:r>
            <a:endParaRPr lang="en-US" sz="1200" dirty="0"/>
          </a:p>
        </p:txBody>
      </p:sp>
      <p:sp>
        <p:nvSpPr>
          <p:cNvPr id="14" name="Text 12"/>
          <p:cNvSpPr/>
          <p:nvPr/>
        </p:nvSpPr>
        <p:spPr>
          <a:xfrm>
            <a:off x="812767" y="6238292"/>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2"/>
                </a:solidFill>
                <a:latin typeface="IBM Plex Sans" pitchFamily="34" charset="0"/>
                <a:ea typeface="IBM Plex Sans" pitchFamily="34" charset="-122"/>
                <a:cs typeface="IBM Plex Sans" pitchFamily="34" charset="-120"/>
              </a:rPr>
              <a:t>Buffer Pools &amp; Memory Management</a:t>
            </a:r>
            <a:endParaRPr lang="en-US" sz="1200" dirty="0"/>
          </a:p>
        </p:txBody>
      </p:sp>
      <p:sp>
        <p:nvSpPr>
          <p:cNvPr id="15" name="Text 13"/>
          <p:cNvSpPr/>
          <p:nvPr/>
        </p:nvSpPr>
        <p:spPr>
          <a:xfrm>
            <a:off x="10058433"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2"/>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7A"/>
                </a:solidFill>
                <a:latin typeface="IBM Plex Sans" pitchFamily="34" charset="0"/>
                <a:ea typeface="IBM Plex Sans" pitchFamily="34" charset="-122"/>
                <a:cs typeface="IBM Plex Sans" pitchFamily="34" charset="-120"/>
              </a:rPr>
              <a:t>REPLACEMENT POLICIES</a:t>
            </a:r>
            <a:endParaRPr lang="en-US" sz="1200" dirty="0"/>
          </a:p>
        </p:txBody>
      </p:sp>
      <p:sp>
        <p:nvSpPr>
          <p:cNvPr id="3" name="Text 1"/>
          <p:cNvSpPr>
            <a:spLocks noGrp="1"/>
          </p:cNvSpPr>
          <p:nvPr>
            <p:ph type="title"/>
          </p:nvPr>
        </p:nvSpPr>
        <p:spPr>
          <a:xfrm>
            <a:off x="812767" y="1102233"/>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Which page do we evict?</a:t>
            </a:r>
            <a:endParaRPr lang="en-US" sz="3200" dirty="0"/>
          </a:p>
        </p:txBody>
      </p:sp>
      <p:sp>
        <p:nvSpPr>
          <p:cNvPr id="4" name="Text 2"/>
          <p:cNvSpPr/>
          <p:nvPr/>
        </p:nvSpPr>
        <p:spPr>
          <a:xfrm>
            <a:off x="812767" y="1803214"/>
            <a:ext cx="9810750" cy="5944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430"/>
                </a:solidFill>
                <a:latin typeface="IBM Plex Sans" pitchFamily="34" charset="0"/>
                <a:ea typeface="IBM Plex Sans" pitchFamily="34" charset="-122"/>
                <a:cs typeface="IBM Plex Sans" pitchFamily="34" charset="-120"/>
              </a:rPr>
              <a:t>When the pool is full, the DBMS must free a frame for the incoming page. A good policy is correct, accurate, fast, and cheap in metadata.</a:t>
            </a:r>
            <a:endParaRPr lang="en-US" sz="1600" dirty="0"/>
          </a:p>
        </p:txBody>
      </p:sp>
      <p:sp>
        <p:nvSpPr>
          <p:cNvPr id="5" name="Shape 3"/>
          <p:cNvSpPr/>
          <p:nvPr/>
        </p:nvSpPr>
        <p:spPr>
          <a:xfrm>
            <a:off x="815942" y="2629408"/>
            <a:ext cx="5530965" cy="1704760"/>
          </a:xfrm>
          <a:prstGeom prst="roundRect">
            <a:avLst>
              <a:gd name="adj" fmla="val 5774"/>
            </a:avLst>
          </a:prstGeom>
          <a:solidFill>
            <a:srgbClr val="FFFDF8"/>
          </a:solidFill>
          <a:ln w="6350">
            <a:solidFill>
              <a:srgbClr val="DAD5C6"/>
            </a:solidFill>
            <a:prstDash val="solid"/>
          </a:ln>
        </p:spPr>
        <p:txBody>
          <a:bodyPr/>
          <a:lstStyle/>
          <a:p>
            <a:endParaRPr lang="en-US"/>
          </a:p>
        </p:txBody>
      </p:sp>
      <p:sp>
        <p:nvSpPr>
          <p:cNvPr id="6" name="Text 4"/>
          <p:cNvSpPr/>
          <p:nvPr/>
        </p:nvSpPr>
        <p:spPr>
          <a:xfrm>
            <a:off x="1072059" y="2885529"/>
            <a:ext cx="5169294"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Least recently used (LRU)</a:t>
            </a:r>
            <a:endParaRPr lang="en-US" sz="1800" dirty="0"/>
          </a:p>
        </p:txBody>
      </p:sp>
      <p:sp>
        <p:nvSpPr>
          <p:cNvPr id="7" name="Text 5"/>
          <p:cNvSpPr/>
          <p:nvPr/>
        </p:nvSpPr>
        <p:spPr>
          <a:xfrm>
            <a:off x="1072059" y="3224523"/>
            <a:ext cx="5169294" cy="87892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Record when each page was last accessed and evict the one with the oldest time. A sorted queue makes picking the victim fast.</a:t>
            </a:r>
            <a:endParaRPr lang="en-US" sz="1600" dirty="0"/>
          </a:p>
        </p:txBody>
      </p:sp>
      <p:sp>
        <p:nvSpPr>
          <p:cNvPr id="8" name="Shape 6"/>
          <p:cNvSpPr/>
          <p:nvPr/>
        </p:nvSpPr>
        <p:spPr>
          <a:xfrm>
            <a:off x="6553233" y="2626233"/>
            <a:ext cx="4826000" cy="1711110"/>
          </a:xfrm>
          <a:prstGeom prst="roundRect">
            <a:avLst>
              <a:gd name="adj" fmla="val 5938"/>
            </a:avLst>
          </a:prstGeom>
          <a:solidFill>
            <a:srgbClr val="12202F"/>
          </a:solidFill>
          <a:ln/>
        </p:spPr>
        <p:txBody>
          <a:bodyPr/>
          <a:lstStyle/>
          <a:p>
            <a:endParaRPr lang="en-US"/>
          </a:p>
        </p:txBody>
      </p:sp>
      <p:sp>
        <p:nvSpPr>
          <p:cNvPr id="9" name="Text 7"/>
          <p:cNvSpPr/>
          <p:nvPr/>
        </p:nvSpPr>
        <p:spPr>
          <a:xfrm>
            <a:off x="6807233" y="2880233"/>
            <a:ext cx="444754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A33D"/>
                </a:solidFill>
                <a:latin typeface="IBM Plex Sans" pitchFamily="34" charset="0"/>
                <a:ea typeface="IBM Plex Sans" pitchFamily="34" charset="-122"/>
                <a:cs typeface="IBM Plex Sans" pitchFamily="34" charset="-120"/>
              </a:rPr>
              <a:t>LRU LIST, AFTER PAGE 1 IS READ</a:t>
            </a:r>
            <a:endParaRPr lang="en-US" sz="1200" dirty="0"/>
          </a:p>
        </p:txBody>
      </p:sp>
      <p:sp>
        <p:nvSpPr>
          <p:cNvPr id="10" name="Text 8"/>
          <p:cNvSpPr/>
          <p:nvPr/>
        </p:nvSpPr>
        <p:spPr>
          <a:xfrm>
            <a:off x="6813583" y="3226904"/>
            <a:ext cx="1358916" cy="475787"/>
          </a:xfrm>
          <a:custGeom>
            <a:avLst/>
            <a:gdLst/>
            <a:ahLst/>
            <a:cxnLst/>
            <a:rect l="l" t="t" r="r" b="b"/>
            <a:pathLst>
              <a:path w="1358916" h="475787">
                <a:moveTo>
                  <a:pt x="69850" y="0"/>
                </a:moveTo>
                <a:lnTo>
                  <a:pt x="1289066" y="0"/>
                </a:lnTo>
                <a:arcTo wR="69850" hR="69850" stAng="16200000" swAng="5400000"/>
                <a:lnTo>
                  <a:pt x="1358916" y="405937"/>
                </a:lnTo>
                <a:arcTo wR="69850" hR="69850" stAng="0" swAng="5400000"/>
                <a:lnTo>
                  <a:pt x="69850" y="475787"/>
                </a:lnTo>
                <a:arcTo wR="69850" hR="69850" stAng="5400000" swAng="5400000"/>
                <a:lnTo>
                  <a:pt x="0" y="69850"/>
                </a:lnTo>
                <a:arcTo wR="69850" hR="69850" stAng="10800000" swAng="5400000"/>
                <a:close/>
              </a:path>
            </a:pathLst>
          </a:custGeom>
          <a:solidFill>
            <a:srgbClr val="1E3A4F"/>
          </a:solidFill>
          <a:ln w="12700">
            <a:solidFill>
              <a:srgbClr val="E8A33D"/>
            </a:solidFill>
            <a:prstDash val="dash"/>
          </a:ln>
        </p:spPr>
        <p:txBody>
          <a:bodyPr wrap="square" lIns="1" tIns="131233" rIns="0" bIns="105833" rtlCol="0" anchor="t">
            <a:normAutofit/>
          </a:bodyPr>
          <a:lstStyle/>
          <a:p>
            <a:pPr marL="0" indent="0" algn="ctr">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page 2</a:t>
            </a:r>
            <a:endParaRPr lang="en-US" sz="1200" dirty="0"/>
          </a:p>
        </p:txBody>
      </p:sp>
      <p:sp>
        <p:nvSpPr>
          <p:cNvPr id="11" name="Text 9"/>
          <p:cNvSpPr/>
          <p:nvPr/>
        </p:nvSpPr>
        <p:spPr>
          <a:xfrm>
            <a:off x="6781833" y="3759808"/>
            <a:ext cx="142241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E8A33D"/>
                </a:solidFill>
                <a:latin typeface="IBM Plex Sans" pitchFamily="34" charset="0"/>
                <a:ea typeface="IBM Plex Sans" pitchFamily="34" charset="-122"/>
                <a:cs typeface="IBM Plex Sans" pitchFamily="34" charset="-120"/>
              </a:rPr>
              <a:t>oldest</a:t>
            </a:r>
            <a:endParaRPr lang="en-US" sz="1200" dirty="0"/>
          </a:p>
        </p:txBody>
      </p:sp>
      <p:sp>
        <p:nvSpPr>
          <p:cNvPr id="12" name="Text 10"/>
          <p:cNvSpPr/>
          <p:nvPr/>
        </p:nvSpPr>
        <p:spPr>
          <a:xfrm>
            <a:off x="8286733" y="3226904"/>
            <a:ext cx="1358999" cy="475787"/>
          </a:xfrm>
          <a:custGeom>
            <a:avLst/>
            <a:gdLst/>
            <a:ahLst/>
            <a:cxnLst/>
            <a:rect l="l" t="t" r="r" b="b"/>
            <a:pathLst>
              <a:path w="1358999" h="475787">
                <a:moveTo>
                  <a:pt x="69850" y="0"/>
                </a:moveTo>
                <a:lnTo>
                  <a:pt x="1289149" y="0"/>
                </a:lnTo>
                <a:arcTo wR="69850" hR="69850" stAng="16200000" swAng="5400000"/>
                <a:lnTo>
                  <a:pt x="1358999" y="405937"/>
                </a:lnTo>
                <a:arcTo wR="69850" hR="69850" stAng="0" swAng="5400000"/>
                <a:lnTo>
                  <a:pt x="69850" y="475787"/>
                </a:lnTo>
                <a:arcTo wR="69850" hR="69850" stAng="5400000" swAng="5400000"/>
                <a:lnTo>
                  <a:pt x="0" y="69850"/>
                </a:lnTo>
                <a:arcTo wR="69850" hR="69850" stAng="10800000" swAng="5400000"/>
                <a:close/>
              </a:path>
            </a:pathLst>
          </a:custGeom>
          <a:solidFill>
            <a:srgbClr val="1E3A4F"/>
          </a:solidFill>
          <a:ln w="12700">
            <a:solidFill>
              <a:srgbClr val="2F5870"/>
            </a:solidFill>
            <a:prstDash val="solid"/>
          </a:ln>
        </p:spPr>
        <p:txBody>
          <a:bodyPr wrap="square" lIns="1" tIns="131233" rIns="0" bIns="105833" rtlCol="0" anchor="t">
            <a:normAutofit/>
          </a:bodyPr>
          <a:lstStyle/>
          <a:p>
            <a:pPr marL="0" indent="0" algn="ctr">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page 0</a:t>
            </a:r>
            <a:endParaRPr lang="en-US" sz="1200" dirty="0"/>
          </a:p>
        </p:txBody>
      </p:sp>
      <p:sp>
        <p:nvSpPr>
          <p:cNvPr id="13" name="Text 11"/>
          <p:cNvSpPr/>
          <p:nvPr/>
        </p:nvSpPr>
        <p:spPr>
          <a:xfrm>
            <a:off x="9753616" y="3220554"/>
            <a:ext cx="1371616" cy="467320"/>
          </a:xfrm>
          <a:custGeom>
            <a:avLst/>
            <a:gdLst/>
            <a:ahLst/>
            <a:cxnLst/>
            <a:rect l="l" t="t" r="r" b="b"/>
            <a:pathLst>
              <a:path w="1371616" h="467320">
                <a:moveTo>
                  <a:pt x="76200" y="0"/>
                </a:moveTo>
                <a:lnTo>
                  <a:pt x="1295416" y="0"/>
                </a:lnTo>
                <a:arcTo wR="76200" hR="76200" stAng="16200000" swAng="5400000"/>
                <a:lnTo>
                  <a:pt x="1371616" y="391120"/>
                </a:lnTo>
                <a:arcTo wR="76200" hR="76200" stAng="0" swAng="5400000"/>
                <a:lnTo>
                  <a:pt x="76200" y="467320"/>
                </a:lnTo>
                <a:arcTo wR="76200" hR="76200" stAng="5400000" swAng="5400000"/>
                <a:lnTo>
                  <a:pt x="0" y="76200"/>
                </a:lnTo>
                <a:arcTo wR="76200" hR="76200" stAng="10800000" swAng="5400000"/>
                <a:close/>
              </a:path>
            </a:pathLst>
          </a:custGeom>
          <a:solidFill>
            <a:srgbClr val="E8A33D"/>
          </a:solidFill>
          <a:ln/>
        </p:spPr>
        <p:txBody>
          <a:bodyPr wrap="square" lIns="0" tIns="127000" rIns="0" bIns="101600" rtlCol="0" anchor="t">
            <a:normAutofit/>
          </a:bodyPr>
          <a:lstStyle/>
          <a:p>
            <a:pPr marL="0" indent="0" algn="ctr">
              <a:lnSpc>
                <a:spcPts val="1680"/>
              </a:lnSpc>
              <a:buNone/>
            </a:pPr>
            <a:r>
              <a:rPr lang="en-US" sz="1200" dirty="0">
                <a:solidFill>
                  <a:srgbClr val="12202F"/>
                </a:solidFill>
                <a:latin typeface="JetBrains Mono" pitchFamily="49" charset="0"/>
                <a:ea typeface="JetBrains Mono" pitchFamily="49" charset="-122"/>
                <a:cs typeface="JetBrains Mono" pitchFamily="49" charset="-120"/>
              </a:rPr>
              <a:t>page 1</a:t>
            </a:r>
            <a:endParaRPr lang="en-US" sz="1200" dirty="0"/>
          </a:p>
        </p:txBody>
      </p:sp>
      <p:sp>
        <p:nvSpPr>
          <p:cNvPr id="14" name="Text 12"/>
          <p:cNvSpPr/>
          <p:nvPr/>
        </p:nvSpPr>
        <p:spPr>
          <a:xfrm>
            <a:off x="9728216" y="3738643"/>
            <a:ext cx="1422416"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C5CED8"/>
                </a:solidFill>
                <a:latin typeface="IBM Plex Sans" pitchFamily="34" charset="0"/>
                <a:ea typeface="IBM Plex Sans" pitchFamily="34" charset="-122"/>
                <a:cs typeface="IBM Plex Sans" pitchFamily="34" charset="-120"/>
              </a:rPr>
              <a:t>newest</a:t>
            </a:r>
            <a:endParaRPr lang="en-US" sz="1200" dirty="0"/>
          </a:p>
        </p:txBody>
      </p:sp>
      <p:sp>
        <p:nvSpPr>
          <p:cNvPr id="15" name="Text 13"/>
          <p:cNvSpPr/>
          <p:nvPr/>
        </p:nvSpPr>
        <p:spPr>
          <a:xfrm>
            <a:off x="812767" y="4591348"/>
            <a:ext cx="108834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Cost to notice: a timestamp per page plus keeping order. CLOCK removes both.</a:t>
            </a:r>
            <a:endParaRPr lang="en-US" sz="1200" dirty="0"/>
          </a:p>
        </p:txBody>
      </p:sp>
      <p:sp>
        <p:nvSpPr>
          <p:cNvPr id="16" name="Text 14"/>
          <p:cNvSpPr/>
          <p:nvPr/>
        </p:nvSpPr>
        <p:spPr>
          <a:xfrm>
            <a:off x="812767" y="6238292"/>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2"/>
                </a:solidFill>
                <a:latin typeface="IBM Plex Sans" pitchFamily="34" charset="0"/>
                <a:ea typeface="IBM Plex Sans" pitchFamily="34" charset="-122"/>
                <a:cs typeface="IBM Plex Sans" pitchFamily="34" charset="-120"/>
              </a:rPr>
              <a:t>Buffer Pools &amp; Memory Management</a:t>
            </a:r>
            <a:endParaRPr lang="en-US" sz="1200" dirty="0"/>
          </a:p>
        </p:txBody>
      </p:sp>
      <p:sp>
        <p:nvSpPr>
          <p:cNvPr id="17" name="Text 15"/>
          <p:cNvSpPr/>
          <p:nvPr/>
        </p:nvSpPr>
        <p:spPr>
          <a:xfrm>
            <a:off x="10058433"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2"/>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7A"/>
                </a:solidFill>
                <a:latin typeface="IBM Plex Sans" pitchFamily="34" charset="0"/>
                <a:ea typeface="IBM Plex Sans" pitchFamily="34" charset="-122"/>
                <a:cs typeface="IBM Plex Sans" pitchFamily="34" charset="-120"/>
              </a:rPr>
              <a:t>REPLACEMENT POLICIES</a:t>
            </a:r>
            <a:endParaRPr lang="en-US" sz="1200" dirty="0"/>
          </a:p>
        </p:txBody>
      </p:sp>
      <p:sp>
        <p:nvSpPr>
          <p:cNvPr id="3" name="Text 1"/>
          <p:cNvSpPr>
            <a:spLocks noGrp="1"/>
          </p:cNvSpPr>
          <p:nvPr>
            <p:ph type="title"/>
          </p:nvPr>
        </p:nvSpPr>
        <p:spPr>
          <a:xfrm>
            <a:off x="812767" y="1102233"/>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CLOCK: an approximation of LRU</a:t>
            </a:r>
            <a:endParaRPr lang="en-US" sz="3200" dirty="0"/>
          </a:p>
        </p:txBody>
      </p:sp>
      <p:sp>
        <p:nvSpPr>
          <p:cNvPr id="4" name="Text 2"/>
          <p:cNvSpPr/>
          <p:nvPr/>
        </p:nvSpPr>
        <p:spPr>
          <a:xfrm>
            <a:off x="870425" y="1803214"/>
            <a:ext cx="6213602" cy="2159347"/>
          </a:xfrm>
          <a:prstGeom prst="rect">
            <a:avLst/>
          </a:prstGeom>
          <a:noFill/>
          <a:ln/>
        </p:spPr>
        <p:txBody>
          <a:bodyPr wrap="square" lIns="0" tIns="0" rIns="0" bIns="0" rtlCol="0" anchor="t">
            <a:normAutofit/>
          </a:bodyPr>
          <a:lstStyle/>
          <a:p>
            <a:pPr marL="196342" indent="-196342" algn="l">
              <a:lnSpc>
                <a:spcPts val="2400"/>
              </a:lnSpc>
              <a:buSzPct val="100000"/>
              <a:buChar char="•"/>
            </a:pPr>
            <a:r>
              <a:rPr lang="en-US" sz="1600" dirty="0">
                <a:solidFill>
                  <a:srgbClr val="1B2430"/>
                </a:solidFill>
                <a:latin typeface="IBM Plex Sans" pitchFamily="34" charset="0"/>
                <a:ea typeface="IBM Plex Sans" pitchFamily="34" charset="-122"/>
                <a:cs typeface="IBM Plex Sans" pitchFamily="34" charset="-120"/>
              </a:rPr>
              <a:t>Each page has a reference bit, set to 1 whenever the page is accessed</a:t>
            </a:r>
            <a:endParaRPr lang="en-US" sz="1600" dirty="0"/>
          </a:p>
          <a:p>
            <a:pPr marL="196342" indent="-196342" algn="l">
              <a:lnSpc>
                <a:spcPts val="2400"/>
              </a:lnSpc>
              <a:buSzPct val="100000"/>
              <a:buChar char="•"/>
            </a:pPr>
            <a:r>
              <a:rPr lang="en-US" sz="1600" dirty="0">
                <a:solidFill>
                  <a:srgbClr val="1B2430"/>
                </a:solidFill>
                <a:latin typeface="IBM Plex Sans" pitchFamily="34" charset="0"/>
                <a:ea typeface="IBM Plex Sans" pitchFamily="34" charset="-122"/>
                <a:cs typeface="IBM Plex Sans" pitchFamily="34" charset="-120"/>
              </a:rPr>
              <a:t>Pages sit in a circular buffer, and the clock hand remembers where it stopped</a:t>
            </a:r>
            <a:endParaRPr lang="en-US" sz="1600" dirty="0"/>
          </a:p>
          <a:p>
            <a:pPr marL="196342" indent="-196342" algn="l">
              <a:lnSpc>
                <a:spcPts val="2400"/>
              </a:lnSpc>
              <a:buSzPct val="100000"/>
              <a:buChar char="•"/>
            </a:pPr>
            <a:r>
              <a:rPr lang="en-US" sz="1600" dirty="0">
                <a:solidFill>
                  <a:srgbClr val="1B2430"/>
                </a:solidFill>
                <a:latin typeface="IBM Plex Sans" pitchFamily="34" charset="0"/>
                <a:ea typeface="IBM Plex Sans" pitchFamily="34" charset="-122"/>
                <a:cs typeface="IBM Plex Sans" pitchFamily="34" charset="-120"/>
              </a:rPr>
              <a:t>On a sweep: if the bit is 1, clear it and move on; if it is 0, evict the page</a:t>
            </a:r>
            <a:endParaRPr lang="en-US" sz="1600" dirty="0"/>
          </a:p>
          <a:p>
            <a:pPr marL="196342" indent="-196342" algn="l">
              <a:lnSpc>
                <a:spcPts val="2400"/>
              </a:lnSpc>
              <a:buSzPct val="100000"/>
              <a:buChar char="•"/>
            </a:pPr>
            <a:r>
              <a:rPr lang="en-US" sz="1600" dirty="0">
                <a:solidFill>
                  <a:srgbClr val="1B2430"/>
                </a:solidFill>
                <a:latin typeface="IBM Plex Sans" pitchFamily="34" charset="0"/>
                <a:ea typeface="IBM Plex Sans" pitchFamily="34" charset="-122"/>
                <a:cs typeface="IBM Plex Sans" pitchFamily="34" charset="-120"/>
              </a:rPr>
              <a:t>No timestamp per page is needed</a:t>
            </a:r>
            <a:endParaRPr lang="en-US" sz="1600" dirty="0"/>
          </a:p>
        </p:txBody>
      </p:sp>
      <p:sp>
        <p:nvSpPr>
          <p:cNvPr id="5" name="Shape 3"/>
          <p:cNvSpPr/>
          <p:nvPr/>
        </p:nvSpPr>
        <p:spPr>
          <a:xfrm>
            <a:off x="8712150" y="1803214"/>
            <a:ext cx="1270000" cy="635000"/>
          </a:xfrm>
          <a:prstGeom prst="roundRect">
            <a:avLst>
              <a:gd name="adj" fmla="val 12000"/>
            </a:avLst>
          </a:prstGeom>
          <a:solidFill>
            <a:srgbClr val="E8A33D"/>
          </a:solidFill>
          <a:ln/>
        </p:spPr>
        <p:txBody>
          <a:bodyPr/>
          <a:lstStyle/>
          <a:p>
            <a:endParaRPr lang="en-US"/>
          </a:p>
        </p:txBody>
      </p:sp>
      <p:sp>
        <p:nvSpPr>
          <p:cNvPr id="6" name="Text 4"/>
          <p:cNvSpPr/>
          <p:nvPr/>
        </p:nvSpPr>
        <p:spPr>
          <a:xfrm>
            <a:off x="8686750" y="1894663"/>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2202F"/>
                </a:solidFill>
                <a:latin typeface="JetBrains Mono" pitchFamily="49" charset="0"/>
                <a:ea typeface="JetBrains Mono" pitchFamily="49" charset="-122"/>
                <a:cs typeface="JetBrains Mono" pitchFamily="49" charset="-120"/>
              </a:rPr>
              <a:t>page 1</a:t>
            </a:r>
            <a:endParaRPr lang="en-US" sz="1200" dirty="0"/>
          </a:p>
        </p:txBody>
      </p:sp>
      <p:sp>
        <p:nvSpPr>
          <p:cNvPr id="7" name="Text 5"/>
          <p:cNvSpPr/>
          <p:nvPr/>
        </p:nvSpPr>
        <p:spPr>
          <a:xfrm>
            <a:off x="8686750" y="2133364"/>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12202F"/>
                </a:solidFill>
                <a:latin typeface="JetBrains Mono" pitchFamily="49" charset="0"/>
                <a:ea typeface="JetBrains Mono" pitchFamily="49" charset="-122"/>
                <a:cs typeface="JetBrains Mono" pitchFamily="49" charset="-120"/>
              </a:rPr>
              <a:t>ref = 1</a:t>
            </a:r>
            <a:endParaRPr lang="en-US" sz="1200" dirty="0"/>
          </a:p>
        </p:txBody>
      </p:sp>
      <p:sp>
        <p:nvSpPr>
          <p:cNvPr id="8" name="Shape 6"/>
          <p:cNvSpPr/>
          <p:nvPr/>
        </p:nvSpPr>
        <p:spPr>
          <a:xfrm>
            <a:off x="10109150" y="3200214"/>
            <a:ext cx="1270000" cy="635000"/>
          </a:xfrm>
          <a:prstGeom prst="roundRect">
            <a:avLst>
              <a:gd name="adj" fmla="val 12000"/>
            </a:avLst>
          </a:prstGeom>
          <a:solidFill>
            <a:srgbClr val="12202F"/>
          </a:solidFill>
          <a:ln/>
        </p:spPr>
        <p:txBody>
          <a:bodyPr/>
          <a:lstStyle/>
          <a:p>
            <a:endParaRPr lang="en-US"/>
          </a:p>
        </p:txBody>
      </p:sp>
      <p:sp>
        <p:nvSpPr>
          <p:cNvPr id="9" name="Text 7"/>
          <p:cNvSpPr/>
          <p:nvPr/>
        </p:nvSpPr>
        <p:spPr>
          <a:xfrm>
            <a:off x="10083750" y="3291663"/>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page 2</a:t>
            </a:r>
            <a:endParaRPr lang="en-US" sz="1200" dirty="0"/>
          </a:p>
        </p:txBody>
      </p:sp>
      <p:sp>
        <p:nvSpPr>
          <p:cNvPr id="10" name="Text 8"/>
          <p:cNvSpPr/>
          <p:nvPr/>
        </p:nvSpPr>
        <p:spPr>
          <a:xfrm>
            <a:off x="10083750" y="3530364"/>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AA8B6"/>
                </a:solidFill>
                <a:latin typeface="JetBrains Mono" pitchFamily="49" charset="0"/>
                <a:ea typeface="JetBrains Mono" pitchFamily="49" charset="-122"/>
                <a:cs typeface="JetBrains Mono" pitchFamily="49" charset="-120"/>
              </a:rPr>
              <a:t>ref = 0</a:t>
            </a:r>
            <a:endParaRPr lang="en-US" sz="1200" dirty="0"/>
          </a:p>
        </p:txBody>
      </p:sp>
      <p:sp>
        <p:nvSpPr>
          <p:cNvPr id="11" name="Shape 9"/>
          <p:cNvSpPr/>
          <p:nvPr/>
        </p:nvSpPr>
        <p:spPr>
          <a:xfrm>
            <a:off x="8712150" y="4597214"/>
            <a:ext cx="1270000" cy="635000"/>
          </a:xfrm>
          <a:prstGeom prst="roundRect">
            <a:avLst>
              <a:gd name="adj" fmla="val 12000"/>
            </a:avLst>
          </a:prstGeom>
          <a:solidFill>
            <a:srgbClr val="12202F"/>
          </a:solidFill>
          <a:ln/>
        </p:spPr>
        <p:txBody>
          <a:bodyPr/>
          <a:lstStyle/>
          <a:p>
            <a:endParaRPr lang="en-US"/>
          </a:p>
        </p:txBody>
      </p:sp>
      <p:sp>
        <p:nvSpPr>
          <p:cNvPr id="12" name="Text 10"/>
          <p:cNvSpPr/>
          <p:nvPr/>
        </p:nvSpPr>
        <p:spPr>
          <a:xfrm>
            <a:off x="8686750" y="4688663"/>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page 3</a:t>
            </a:r>
            <a:endParaRPr lang="en-US" sz="1200" dirty="0"/>
          </a:p>
        </p:txBody>
      </p:sp>
      <p:sp>
        <p:nvSpPr>
          <p:cNvPr id="13" name="Text 11"/>
          <p:cNvSpPr/>
          <p:nvPr/>
        </p:nvSpPr>
        <p:spPr>
          <a:xfrm>
            <a:off x="8686750" y="4927364"/>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AA8B6"/>
                </a:solidFill>
                <a:latin typeface="JetBrains Mono" pitchFamily="49" charset="0"/>
                <a:ea typeface="JetBrains Mono" pitchFamily="49" charset="-122"/>
                <a:cs typeface="JetBrains Mono" pitchFamily="49" charset="-120"/>
              </a:rPr>
              <a:t>ref = 0</a:t>
            </a:r>
            <a:endParaRPr lang="en-US" sz="1200" dirty="0"/>
          </a:p>
        </p:txBody>
      </p:sp>
      <p:sp>
        <p:nvSpPr>
          <p:cNvPr id="14" name="Shape 12"/>
          <p:cNvSpPr/>
          <p:nvPr/>
        </p:nvSpPr>
        <p:spPr>
          <a:xfrm>
            <a:off x="7315150" y="3200214"/>
            <a:ext cx="1270000" cy="635000"/>
          </a:xfrm>
          <a:prstGeom prst="roundRect">
            <a:avLst>
              <a:gd name="adj" fmla="val 12000"/>
            </a:avLst>
          </a:prstGeom>
          <a:solidFill>
            <a:srgbClr val="12202F"/>
          </a:solidFill>
          <a:ln/>
        </p:spPr>
        <p:txBody>
          <a:bodyPr/>
          <a:lstStyle/>
          <a:p>
            <a:endParaRPr lang="en-US"/>
          </a:p>
        </p:txBody>
      </p:sp>
      <p:sp>
        <p:nvSpPr>
          <p:cNvPr id="15" name="Text 13"/>
          <p:cNvSpPr/>
          <p:nvPr/>
        </p:nvSpPr>
        <p:spPr>
          <a:xfrm>
            <a:off x="7289750" y="3291663"/>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6F4EE"/>
                </a:solidFill>
                <a:latin typeface="JetBrains Mono" pitchFamily="49" charset="0"/>
                <a:ea typeface="JetBrains Mono" pitchFamily="49" charset="-122"/>
                <a:cs typeface="JetBrains Mono" pitchFamily="49" charset="-120"/>
              </a:rPr>
              <a:t>page 4</a:t>
            </a:r>
            <a:endParaRPr lang="en-US" sz="1200" dirty="0"/>
          </a:p>
        </p:txBody>
      </p:sp>
      <p:sp>
        <p:nvSpPr>
          <p:cNvPr id="16" name="Text 14"/>
          <p:cNvSpPr/>
          <p:nvPr/>
        </p:nvSpPr>
        <p:spPr>
          <a:xfrm>
            <a:off x="7289750" y="3530364"/>
            <a:ext cx="1320800" cy="2387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9AA8B6"/>
                </a:solidFill>
                <a:latin typeface="JetBrains Mono" pitchFamily="49" charset="0"/>
                <a:ea typeface="JetBrains Mono" pitchFamily="49" charset="-122"/>
                <a:cs typeface="JetBrains Mono" pitchFamily="49" charset="-120"/>
              </a:rPr>
              <a:t>ref = 0</a:t>
            </a:r>
            <a:endParaRPr lang="en-US" sz="1200" dirty="0"/>
          </a:p>
        </p:txBody>
      </p:sp>
      <p:pic>
        <p:nvPicPr>
          <p:cNvPr id="17" name="Image 0" descr="ellipse"/>
          <p:cNvPicPr>
            <a:picLocks noChangeAspect="1"/>
          </p:cNvPicPr>
          <p:nvPr/>
        </p:nvPicPr>
        <p:blipFill>
          <a:blip r:embed="rId3"/>
          <a:srcRect/>
          <a:stretch/>
        </p:blipFill>
        <p:spPr>
          <a:xfrm>
            <a:off x="8966150" y="3136714"/>
            <a:ext cx="762000" cy="762000"/>
          </a:xfrm>
          <a:prstGeom prst="rect">
            <a:avLst/>
          </a:prstGeom>
        </p:spPr>
      </p:pic>
      <p:sp>
        <p:nvSpPr>
          <p:cNvPr id="18" name="Text 15"/>
          <p:cNvSpPr/>
          <p:nvPr/>
        </p:nvSpPr>
        <p:spPr>
          <a:xfrm>
            <a:off x="8940750" y="3409733"/>
            <a:ext cx="812800"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hand</a:t>
            </a:r>
            <a:endParaRPr lang="en-US" sz="1200" dirty="0"/>
          </a:p>
        </p:txBody>
      </p:sp>
      <p:sp>
        <p:nvSpPr>
          <p:cNvPr id="19" name="Text 16"/>
          <p:cNvSpPr/>
          <p:nvPr/>
        </p:nvSpPr>
        <p:spPr>
          <a:xfrm>
            <a:off x="7315150" y="5333752"/>
            <a:ext cx="41859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The hand sweeps clockwise, clearing bits, and evicts the first page whose bit is already 0.</a:t>
            </a:r>
            <a:endParaRPr lang="en-US" sz="1200" dirty="0"/>
          </a:p>
        </p:txBody>
      </p:sp>
      <p:sp>
        <p:nvSpPr>
          <p:cNvPr id="20" name="Text 17"/>
          <p:cNvSpPr/>
          <p:nvPr/>
        </p:nvSpPr>
        <p:spPr>
          <a:xfrm>
            <a:off x="812767" y="6238292"/>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2"/>
                </a:solidFill>
                <a:latin typeface="IBM Plex Sans" pitchFamily="34" charset="0"/>
                <a:ea typeface="IBM Plex Sans" pitchFamily="34" charset="-122"/>
                <a:cs typeface="IBM Plex Sans" pitchFamily="34" charset="-120"/>
              </a:rPr>
              <a:t>Buffer Pools &amp; Memory Management</a:t>
            </a:r>
            <a:endParaRPr lang="en-US" sz="1200" dirty="0"/>
          </a:p>
        </p:txBody>
      </p:sp>
      <p:sp>
        <p:nvSpPr>
          <p:cNvPr id="21" name="Text 18"/>
          <p:cNvSpPr/>
          <p:nvPr/>
        </p:nvSpPr>
        <p:spPr>
          <a:xfrm>
            <a:off x="10058433"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2"/>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8A33D"/>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2202F"/>
                </a:solidFill>
                <a:latin typeface="IBM Plex Sans" pitchFamily="34" charset="0"/>
                <a:ea typeface="IBM Plex Sans" pitchFamily="34" charset="-122"/>
                <a:cs typeface="IBM Plex Sans" pitchFamily="34" charset="-120"/>
              </a:rPr>
              <a:t>THE WEAKNESS OF LRU AND CLOCK</a:t>
            </a:r>
            <a:endParaRPr lang="en-US" sz="1200" dirty="0"/>
          </a:p>
        </p:txBody>
      </p:sp>
      <p:sp>
        <p:nvSpPr>
          <p:cNvPr id="3" name="Text 1"/>
          <p:cNvSpPr>
            <a:spLocks noGrp="1"/>
          </p:cNvSpPr>
          <p:nvPr>
            <p:ph type="title"/>
          </p:nvPr>
        </p:nvSpPr>
        <p:spPr>
          <a:xfrm>
            <a:off x="812767" y="1102233"/>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Sequential flooding</a:t>
            </a:r>
            <a:endParaRPr lang="en-US" sz="3200" dirty="0"/>
          </a:p>
        </p:txBody>
      </p:sp>
      <p:sp>
        <p:nvSpPr>
          <p:cNvPr id="4" name="Text 2"/>
          <p:cNvSpPr/>
          <p:nvPr/>
        </p:nvSpPr>
        <p:spPr>
          <a:xfrm>
            <a:off x="812767" y="1853983"/>
            <a:ext cx="9810750" cy="642541"/>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12202F"/>
                </a:solidFill>
                <a:latin typeface="IBM Plex Sans" pitchFamily="34" charset="0"/>
                <a:ea typeface="IBM Plex Sans" pitchFamily="34" charset="-122"/>
                <a:cs typeface="IBM Plex Sans" pitchFamily="34" charset="-120"/>
              </a:rPr>
              <a:t>One sequential scan reads every page once. The pool fills with pages nobody will read again, and pages that other queries still need get evicted.</a:t>
            </a:r>
            <a:endParaRPr lang="en-US" sz="1800" dirty="0"/>
          </a:p>
        </p:txBody>
      </p:sp>
      <p:sp>
        <p:nvSpPr>
          <p:cNvPr id="5" name="Shape 3"/>
          <p:cNvSpPr/>
          <p:nvPr/>
        </p:nvSpPr>
        <p:spPr>
          <a:xfrm>
            <a:off x="812767" y="2775893"/>
            <a:ext cx="3386667" cy="1549301"/>
          </a:xfrm>
          <a:prstGeom prst="roundRect">
            <a:avLst>
              <a:gd name="adj" fmla="val 6558"/>
            </a:avLst>
          </a:prstGeom>
          <a:solidFill>
            <a:srgbClr val="12202F"/>
          </a:solidFill>
          <a:ln/>
        </p:spPr>
        <p:txBody>
          <a:bodyPr/>
          <a:lstStyle/>
          <a:p>
            <a:endParaRPr lang="en-US"/>
          </a:p>
        </p:txBody>
      </p:sp>
      <p:sp>
        <p:nvSpPr>
          <p:cNvPr id="6" name="Text 4"/>
          <p:cNvSpPr/>
          <p:nvPr/>
        </p:nvSpPr>
        <p:spPr>
          <a:xfrm>
            <a:off x="1015917" y="2979043"/>
            <a:ext cx="3069777"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8A33D"/>
                </a:solidFill>
                <a:latin typeface="JetBrains Mono" pitchFamily="49" charset="0"/>
                <a:ea typeface="JetBrains Mono" pitchFamily="49" charset="-122"/>
                <a:cs typeface="JetBrains Mono" pitchFamily="49" charset="-120"/>
              </a:rPr>
              <a:t>WHY</a:t>
            </a:r>
            <a:endParaRPr lang="en-US" sz="1200" dirty="0"/>
          </a:p>
        </p:txBody>
      </p:sp>
      <p:sp>
        <p:nvSpPr>
          <p:cNvPr id="7" name="Text 5"/>
          <p:cNvSpPr/>
          <p:nvPr/>
        </p:nvSpPr>
        <p:spPr>
          <a:xfrm>
            <a:off x="1015917" y="3268514"/>
            <a:ext cx="3069777" cy="5944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E"/>
                </a:solidFill>
                <a:latin typeface="IBM Plex Sans" pitchFamily="34" charset="0"/>
                <a:ea typeface="IBM Plex Sans" pitchFamily="34" charset="-122"/>
                <a:cs typeface="IBM Plex Sans" pitchFamily="34" charset="-120"/>
              </a:rPr>
              <a:t>They track when a page was last used, not how often it is used.</a:t>
            </a:r>
            <a:endParaRPr lang="en-US" sz="1600" dirty="0"/>
          </a:p>
        </p:txBody>
      </p:sp>
      <p:sp>
        <p:nvSpPr>
          <p:cNvPr id="8" name="Shape 6"/>
          <p:cNvSpPr/>
          <p:nvPr/>
        </p:nvSpPr>
        <p:spPr>
          <a:xfrm>
            <a:off x="4402584" y="2775893"/>
            <a:ext cx="3386749" cy="1549301"/>
          </a:xfrm>
          <a:prstGeom prst="roundRect">
            <a:avLst>
              <a:gd name="adj" fmla="val 6558"/>
            </a:avLst>
          </a:prstGeom>
          <a:solidFill>
            <a:srgbClr val="12202F"/>
          </a:solidFill>
          <a:ln/>
        </p:spPr>
        <p:txBody>
          <a:bodyPr/>
          <a:lstStyle/>
          <a:p>
            <a:endParaRPr lang="en-US"/>
          </a:p>
        </p:txBody>
      </p:sp>
      <p:sp>
        <p:nvSpPr>
          <p:cNvPr id="9" name="Text 7"/>
          <p:cNvSpPr/>
          <p:nvPr/>
        </p:nvSpPr>
        <p:spPr>
          <a:xfrm>
            <a:off x="4605734" y="2979043"/>
            <a:ext cx="306986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8A33D"/>
                </a:solidFill>
                <a:latin typeface="JetBrains Mono" pitchFamily="49" charset="0"/>
                <a:ea typeface="JetBrains Mono" pitchFamily="49" charset="-122"/>
                <a:cs typeface="JetBrains Mono" pitchFamily="49" charset="-120"/>
              </a:rPr>
              <a:t>WORKLOAD</a:t>
            </a:r>
            <a:endParaRPr lang="en-US" sz="1200" dirty="0"/>
          </a:p>
        </p:txBody>
      </p:sp>
      <p:sp>
        <p:nvSpPr>
          <p:cNvPr id="10" name="Text 8"/>
          <p:cNvSpPr/>
          <p:nvPr/>
        </p:nvSpPr>
        <p:spPr>
          <a:xfrm>
            <a:off x="4605734" y="3268514"/>
            <a:ext cx="3069862" cy="87892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E"/>
                </a:solidFill>
                <a:latin typeface="IBM Plex Sans" pitchFamily="34" charset="0"/>
                <a:ea typeface="IBM Plex Sans" pitchFamily="34" charset="-122"/>
                <a:cs typeface="IBM Plex Sans" pitchFamily="34" charset="-120"/>
              </a:rPr>
              <a:t>In analytical queries, the most recently used page is often the best one to evict.</a:t>
            </a:r>
            <a:endParaRPr lang="en-US" sz="1600" dirty="0"/>
          </a:p>
        </p:txBody>
      </p:sp>
      <p:sp>
        <p:nvSpPr>
          <p:cNvPr id="11" name="Shape 9"/>
          <p:cNvSpPr/>
          <p:nvPr/>
        </p:nvSpPr>
        <p:spPr>
          <a:xfrm>
            <a:off x="7992483" y="2775893"/>
            <a:ext cx="3386749" cy="1549301"/>
          </a:xfrm>
          <a:prstGeom prst="roundRect">
            <a:avLst>
              <a:gd name="adj" fmla="val 6558"/>
            </a:avLst>
          </a:prstGeom>
          <a:solidFill>
            <a:srgbClr val="12202F"/>
          </a:solidFill>
          <a:ln/>
        </p:spPr>
        <p:txBody>
          <a:bodyPr/>
          <a:lstStyle/>
          <a:p>
            <a:endParaRPr lang="en-US"/>
          </a:p>
        </p:txBody>
      </p:sp>
      <p:sp>
        <p:nvSpPr>
          <p:cNvPr id="12" name="Text 10"/>
          <p:cNvSpPr/>
          <p:nvPr/>
        </p:nvSpPr>
        <p:spPr>
          <a:xfrm>
            <a:off x="8195634" y="2979043"/>
            <a:ext cx="306986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E8A33D"/>
                </a:solidFill>
                <a:latin typeface="JetBrains Mono" pitchFamily="49" charset="0"/>
                <a:ea typeface="JetBrains Mono" pitchFamily="49" charset="-122"/>
                <a:cs typeface="JetBrains Mono" pitchFamily="49" charset="-120"/>
              </a:rPr>
              <a:t>EXAMPLE</a:t>
            </a:r>
            <a:endParaRPr lang="en-US" sz="1200" dirty="0"/>
          </a:p>
        </p:txBody>
      </p:sp>
      <p:sp>
        <p:nvSpPr>
          <p:cNvPr id="13" name="Text 11"/>
          <p:cNvSpPr/>
          <p:nvPr/>
        </p:nvSpPr>
        <p:spPr>
          <a:xfrm>
            <a:off x="8195634" y="3268514"/>
            <a:ext cx="3069862" cy="87892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E"/>
                </a:solidFill>
                <a:latin typeface="IBM Plex Sans" pitchFamily="34" charset="0"/>
                <a:ea typeface="IBM Plex Sans" pitchFamily="34" charset="-122"/>
                <a:cs typeface="IBM Plex Sans" pitchFamily="34" charset="-120"/>
              </a:rPr>
              <a:t>Q2 scans table A and pushes out the page that Q1 and Q3 both need.</a:t>
            </a:r>
            <a:endParaRPr lang="en-US" sz="1600" dirty="0"/>
          </a:p>
        </p:txBody>
      </p:sp>
      <p:sp>
        <p:nvSpPr>
          <p:cNvPr id="14" name="Text 12"/>
          <p:cNvSpPr/>
          <p:nvPr/>
        </p:nvSpPr>
        <p:spPr>
          <a:xfrm>
            <a:off x="812767" y="6238292"/>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2202F"/>
                </a:solidFill>
                <a:latin typeface="IBM Plex Sans" pitchFamily="34" charset="0"/>
                <a:ea typeface="IBM Plex Sans" pitchFamily="34" charset="-122"/>
                <a:cs typeface="IBM Plex Sans" pitchFamily="34" charset="-120"/>
              </a:rPr>
              <a:t>Buffer Pools &amp; Memory Management</a:t>
            </a:r>
            <a:endParaRPr lang="en-US" sz="1200" dirty="0"/>
          </a:p>
        </p:txBody>
      </p:sp>
      <p:sp>
        <p:nvSpPr>
          <p:cNvPr id="15" name="Text 13"/>
          <p:cNvSpPr/>
          <p:nvPr/>
        </p:nvSpPr>
        <p:spPr>
          <a:xfrm>
            <a:off x="10058433"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12202F"/>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7A"/>
                </a:solidFill>
                <a:latin typeface="IBM Plex Sans" pitchFamily="34" charset="0"/>
                <a:ea typeface="IBM Plex Sans" pitchFamily="34" charset="-122"/>
                <a:cs typeface="IBM Plex Sans" pitchFamily="34" charset="-120"/>
              </a:rPr>
              <a:t>REPLACEMENT POLICIES</a:t>
            </a:r>
            <a:endParaRPr lang="en-US" sz="1200" dirty="0"/>
          </a:p>
        </p:txBody>
      </p:sp>
      <p:sp>
        <p:nvSpPr>
          <p:cNvPr id="3" name="Text 1"/>
          <p:cNvSpPr>
            <a:spLocks noGrp="1"/>
          </p:cNvSpPr>
          <p:nvPr>
            <p:ph type="title"/>
          </p:nvPr>
        </p:nvSpPr>
        <p:spPr>
          <a:xfrm>
            <a:off x="812767" y="1102233"/>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Better policies</a:t>
            </a:r>
            <a:endParaRPr lang="en-US" sz="3200" dirty="0"/>
          </a:p>
        </p:txBody>
      </p:sp>
      <p:sp>
        <p:nvSpPr>
          <p:cNvPr id="4" name="Shape 2"/>
          <p:cNvSpPr/>
          <p:nvPr/>
        </p:nvSpPr>
        <p:spPr>
          <a:xfrm>
            <a:off x="815942" y="1857158"/>
            <a:ext cx="5175266" cy="1603061"/>
          </a:xfrm>
          <a:prstGeom prst="roundRect">
            <a:avLst>
              <a:gd name="adj" fmla="val 6140"/>
            </a:avLst>
          </a:prstGeom>
          <a:solidFill>
            <a:srgbClr val="FFFDF8"/>
          </a:solidFill>
          <a:ln w="6350">
            <a:solidFill>
              <a:srgbClr val="DAD5C6"/>
            </a:solidFill>
            <a:prstDash val="solid"/>
          </a:ln>
        </p:spPr>
        <p:txBody>
          <a:bodyPr/>
          <a:lstStyle/>
          <a:p>
            <a:endParaRPr lang="en-US"/>
          </a:p>
        </p:txBody>
      </p:sp>
      <p:sp>
        <p:nvSpPr>
          <p:cNvPr id="5" name="Text 3"/>
          <p:cNvSpPr/>
          <p:nvPr/>
        </p:nvSpPr>
        <p:spPr>
          <a:xfrm>
            <a:off x="1021209" y="2062423"/>
            <a:ext cx="4907674"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LRU-K</a:t>
            </a:r>
            <a:endParaRPr lang="en-US" sz="1800" dirty="0"/>
          </a:p>
        </p:txBody>
      </p:sp>
      <p:sp>
        <p:nvSpPr>
          <p:cNvPr id="6" name="Text 4"/>
          <p:cNvSpPr/>
          <p:nvPr/>
        </p:nvSpPr>
        <p:spPr>
          <a:xfrm>
            <a:off x="1021209" y="2401422"/>
            <a:ext cx="4907674" cy="87892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Track the last K access times of each page, estimate when it is needed next, and evict the page with the longest expected gap.</a:t>
            </a:r>
            <a:endParaRPr lang="en-US" sz="1600" dirty="0"/>
          </a:p>
        </p:txBody>
      </p:sp>
      <p:sp>
        <p:nvSpPr>
          <p:cNvPr id="7" name="Shape 5"/>
          <p:cNvSpPr/>
          <p:nvPr/>
        </p:nvSpPr>
        <p:spPr>
          <a:xfrm>
            <a:off x="6200709" y="1857158"/>
            <a:ext cx="5175349" cy="1603061"/>
          </a:xfrm>
          <a:prstGeom prst="roundRect">
            <a:avLst>
              <a:gd name="adj" fmla="val 6140"/>
            </a:avLst>
          </a:prstGeom>
          <a:solidFill>
            <a:srgbClr val="FFFDF8"/>
          </a:solidFill>
          <a:ln w="6350">
            <a:solidFill>
              <a:srgbClr val="DAD5C6"/>
            </a:solidFill>
            <a:prstDash val="solid"/>
          </a:ln>
        </p:spPr>
        <p:txBody>
          <a:bodyPr/>
          <a:lstStyle/>
          <a:p>
            <a:endParaRPr lang="en-US"/>
          </a:p>
        </p:txBody>
      </p:sp>
      <p:sp>
        <p:nvSpPr>
          <p:cNvPr id="8" name="Text 6"/>
          <p:cNvSpPr/>
          <p:nvPr/>
        </p:nvSpPr>
        <p:spPr>
          <a:xfrm>
            <a:off x="6405976" y="2062423"/>
            <a:ext cx="4907759"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MySQL’s approximation</a:t>
            </a:r>
            <a:endParaRPr lang="en-US" sz="1800" dirty="0"/>
          </a:p>
        </p:txBody>
      </p:sp>
      <p:sp>
        <p:nvSpPr>
          <p:cNvPr id="9" name="Text 7"/>
          <p:cNvSpPr/>
          <p:nvPr/>
        </p:nvSpPr>
        <p:spPr>
          <a:xfrm>
            <a:off x="6405976" y="2401422"/>
            <a:ext cx="4907759" cy="87892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One list with two entry points. New pages join the old list; a repeat access promotes a page to the young list.</a:t>
            </a:r>
            <a:endParaRPr lang="en-US" sz="1600" dirty="0"/>
          </a:p>
        </p:txBody>
      </p:sp>
      <p:sp>
        <p:nvSpPr>
          <p:cNvPr id="10" name="Shape 8"/>
          <p:cNvSpPr/>
          <p:nvPr/>
        </p:nvSpPr>
        <p:spPr>
          <a:xfrm>
            <a:off x="815942" y="3669717"/>
            <a:ext cx="5175266" cy="1603061"/>
          </a:xfrm>
          <a:prstGeom prst="roundRect">
            <a:avLst>
              <a:gd name="adj" fmla="val 6140"/>
            </a:avLst>
          </a:prstGeom>
          <a:solidFill>
            <a:srgbClr val="FFFDF8"/>
          </a:solidFill>
          <a:ln w="6350">
            <a:solidFill>
              <a:srgbClr val="DAD5C6"/>
            </a:solidFill>
            <a:prstDash val="solid"/>
          </a:ln>
        </p:spPr>
        <p:txBody>
          <a:bodyPr/>
          <a:lstStyle/>
          <a:p>
            <a:endParaRPr lang="en-US"/>
          </a:p>
        </p:txBody>
      </p:sp>
      <p:sp>
        <p:nvSpPr>
          <p:cNvPr id="11" name="Text 9"/>
          <p:cNvSpPr/>
          <p:nvPr/>
        </p:nvSpPr>
        <p:spPr>
          <a:xfrm>
            <a:off x="1021209" y="3874988"/>
            <a:ext cx="4907674"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Localization per query</a:t>
            </a:r>
            <a:endParaRPr lang="en-US" sz="1800" dirty="0"/>
          </a:p>
        </p:txBody>
      </p:sp>
      <p:sp>
        <p:nvSpPr>
          <p:cNvPr id="12" name="Text 10"/>
          <p:cNvSpPr/>
          <p:nvPr/>
        </p:nvSpPr>
        <p:spPr>
          <a:xfrm>
            <a:off x="1021209" y="4213982"/>
            <a:ext cx="4907674" cy="87892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Choose victims per query so one query cannot pollute the whole pool. Postgres gives a scan a small private ring buffer.</a:t>
            </a:r>
            <a:endParaRPr lang="en-US" sz="1600" dirty="0"/>
          </a:p>
        </p:txBody>
      </p:sp>
      <p:sp>
        <p:nvSpPr>
          <p:cNvPr id="13" name="Shape 11"/>
          <p:cNvSpPr/>
          <p:nvPr/>
        </p:nvSpPr>
        <p:spPr>
          <a:xfrm>
            <a:off x="6200709" y="3669717"/>
            <a:ext cx="5175349" cy="1603061"/>
          </a:xfrm>
          <a:prstGeom prst="roundRect">
            <a:avLst>
              <a:gd name="adj" fmla="val 6140"/>
            </a:avLst>
          </a:prstGeom>
          <a:solidFill>
            <a:srgbClr val="FFFDF8"/>
          </a:solidFill>
          <a:ln w="6350">
            <a:solidFill>
              <a:srgbClr val="DAD5C6"/>
            </a:solidFill>
            <a:prstDash val="solid"/>
          </a:ln>
        </p:spPr>
        <p:txBody>
          <a:bodyPr/>
          <a:lstStyle/>
          <a:p>
            <a:endParaRPr lang="en-US"/>
          </a:p>
        </p:txBody>
      </p:sp>
      <p:sp>
        <p:nvSpPr>
          <p:cNvPr id="14" name="Text 12"/>
          <p:cNvSpPr/>
          <p:nvPr/>
        </p:nvSpPr>
        <p:spPr>
          <a:xfrm>
            <a:off x="6405976" y="3874988"/>
            <a:ext cx="4907759"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Priority hints</a:t>
            </a:r>
            <a:endParaRPr lang="en-US" sz="1800" dirty="0"/>
          </a:p>
        </p:txBody>
      </p:sp>
      <p:sp>
        <p:nvSpPr>
          <p:cNvPr id="15" name="Text 13"/>
          <p:cNvSpPr/>
          <p:nvPr/>
        </p:nvSpPr>
        <p:spPr>
          <a:xfrm>
            <a:off x="6405976" y="4213982"/>
            <a:ext cx="4907759" cy="87892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The execution engine tells the pool which pages matter, for example index pages that many queries pass through.</a:t>
            </a:r>
            <a:endParaRPr lang="en-US" sz="1600" dirty="0"/>
          </a:p>
        </p:txBody>
      </p:sp>
      <p:sp>
        <p:nvSpPr>
          <p:cNvPr id="16" name="Text 14"/>
          <p:cNvSpPr/>
          <p:nvPr/>
        </p:nvSpPr>
        <p:spPr>
          <a:xfrm>
            <a:off x="812767" y="6238292"/>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2"/>
                </a:solidFill>
                <a:latin typeface="IBM Plex Sans" pitchFamily="34" charset="0"/>
                <a:ea typeface="IBM Plex Sans" pitchFamily="34" charset="-122"/>
                <a:cs typeface="IBM Plex Sans" pitchFamily="34" charset="-120"/>
              </a:rPr>
              <a:t>Buffer Pools &amp; Memory Management</a:t>
            </a:r>
            <a:endParaRPr lang="en-US" sz="1200" dirty="0"/>
          </a:p>
        </p:txBody>
      </p:sp>
      <p:sp>
        <p:nvSpPr>
          <p:cNvPr id="17" name="Text 15"/>
          <p:cNvSpPr/>
          <p:nvPr/>
        </p:nvSpPr>
        <p:spPr>
          <a:xfrm>
            <a:off x="10058433"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2"/>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7A"/>
                </a:solidFill>
                <a:latin typeface="IBM Plex Sans" pitchFamily="34" charset="0"/>
                <a:ea typeface="IBM Plex Sans" pitchFamily="34" charset="-122"/>
                <a:cs typeface="IBM Plex Sans" pitchFamily="34" charset="-120"/>
              </a:rPr>
              <a:t>BEYOND THE POOL</a:t>
            </a:r>
            <a:endParaRPr lang="en-US" sz="1200" dirty="0"/>
          </a:p>
        </p:txBody>
      </p:sp>
      <p:sp>
        <p:nvSpPr>
          <p:cNvPr id="3" name="Text 1"/>
          <p:cNvSpPr>
            <a:spLocks noGrp="1"/>
          </p:cNvSpPr>
          <p:nvPr>
            <p:ph type="title"/>
          </p:nvPr>
        </p:nvSpPr>
        <p:spPr>
          <a:xfrm>
            <a:off x="812767" y="1102233"/>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Dirty pages and background writing</a:t>
            </a:r>
            <a:endParaRPr lang="en-US" sz="3200" dirty="0"/>
          </a:p>
        </p:txBody>
      </p:sp>
      <p:sp>
        <p:nvSpPr>
          <p:cNvPr id="4" name="Shape 2"/>
          <p:cNvSpPr/>
          <p:nvPr/>
        </p:nvSpPr>
        <p:spPr>
          <a:xfrm>
            <a:off x="815942" y="1806389"/>
            <a:ext cx="5175266" cy="1318551"/>
          </a:xfrm>
          <a:prstGeom prst="roundRect">
            <a:avLst>
              <a:gd name="adj" fmla="val 7465"/>
            </a:avLst>
          </a:prstGeom>
          <a:solidFill>
            <a:srgbClr val="FFFDF8"/>
          </a:solidFill>
          <a:ln w="6350">
            <a:solidFill>
              <a:srgbClr val="DAD5C6"/>
            </a:solidFill>
            <a:prstDash val="solid"/>
          </a:ln>
        </p:spPr>
        <p:txBody>
          <a:bodyPr/>
          <a:lstStyle/>
          <a:p>
            <a:endParaRPr lang="en-US"/>
          </a:p>
        </p:txBody>
      </p:sp>
      <p:sp>
        <p:nvSpPr>
          <p:cNvPr id="5" name="Text 3"/>
          <p:cNvSpPr/>
          <p:nvPr/>
        </p:nvSpPr>
        <p:spPr>
          <a:xfrm>
            <a:off x="1021209" y="2011660"/>
            <a:ext cx="4907674"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Fast path</a:t>
            </a:r>
            <a:endParaRPr lang="en-US" sz="1800" dirty="0"/>
          </a:p>
        </p:txBody>
      </p:sp>
      <p:sp>
        <p:nvSpPr>
          <p:cNvPr id="6" name="Text 4"/>
          <p:cNvSpPr/>
          <p:nvPr/>
        </p:nvSpPr>
        <p:spPr>
          <a:xfrm>
            <a:off x="1021209" y="2350653"/>
            <a:ext cx="4907674" cy="5944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A page that is not dirty can simply be dropped from the pool.</a:t>
            </a:r>
            <a:endParaRPr lang="en-US" sz="1600" dirty="0"/>
          </a:p>
        </p:txBody>
      </p:sp>
      <p:sp>
        <p:nvSpPr>
          <p:cNvPr id="7" name="Shape 5"/>
          <p:cNvSpPr/>
          <p:nvPr/>
        </p:nvSpPr>
        <p:spPr>
          <a:xfrm>
            <a:off x="6200709" y="1806389"/>
            <a:ext cx="5175349" cy="1318551"/>
          </a:xfrm>
          <a:prstGeom prst="roundRect">
            <a:avLst>
              <a:gd name="adj" fmla="val 7465"/>
            </a:avLst>
          </a:prstGeom>
          <a:solidFill>
            <a:srgbClr val="FFFDF8"/>
          </a:solidFill>
          <a:ln w="6350">
            <a:solidFill>
              <a:srgbClr val="DAD5C6"/>
            </a:solidFill>
            <a:prstDash val="solid"/>
          </a:ln>
        </p:spPr>
        <p:txBody>
          <a:bodyPr/>
          <a:lstStyle/>
          <a:p>
            <a:endParaRPr lang="en-US"/>
          </a:p>
        </p:txBody>
      </p:sp>
      <p:sp>
        <p:nvSpPr>
          <p:cNvPr id="8" name="Text 6"/>
          <p:cNvSpPr/>
          <p:nvPr/>
        </p:nvSpPr>
        <p:spPr>
          <a:xfrm>
            <a:off x="6405976" y="2011660"/>
            <a:ext cx="4907759"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Slow path</a:t>
            </a:r>
            <a:endParaRPr lang="en-US" sz="1800" dirty="0"/>
          </a:p>
        </p:txBody>
      </p:sp>
      <p:sp>
        <p:nvSpPr>
          <p:cNvPr id="9" name="Text 7"/>
          <p:cNvSpPr/>
          <p:nvPr/>
        </p:nvSpPr>
        <p:spPr>
          <a:xfrm>
            <a:off x="6405976" y="2350653"/>
            <a:ext cx="4907759" cy="5944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A dirty page must be written back first so its changes persist, even if it is never read again.</a:t>
            </a:r>
            <a:endParaRPr lang="en-US" sz="1600" dirty="0"/>
          </a:p>
        </p:txBody>
      </p:sp>
      <p:sp>
        <p:nvSpPr>
          <p:cNvPr id="10" name="Shape 8"/>
          <p:cNvSpPr/>
          <p:nvPr/>
        </p:nvSpPr>
        <p:spPr>
          <a:xfrm>
            <a:off x="812767" y="3382119"/>
            <a:ext cx="10566466" cy="1651000"/>
          </a:xfrm>
          <a:prstGeom prst="roundRect">
            <a:avLst>
              <a:gd name="adj" fmla="val 6154"/>
            </a:avLst>
          </a:prstGeom>
          <a:solidFill>
            <a:srgbClr val="12202F"/>
          </a:solidFill>
          <a:ln/>
        </p:spPr>
        <p:txBody>
          <a:bodyPr/>
          <a:lstStyle/>
          <a:p>
            <a:endParaRPr lang="en-US"/>
          </a:p>
        </p:txBody>
      </p:sp>
      <p:sp>
        <p:nvSpPr>
          <p:cNvPr id="11" name="Text 9"/>
          <p:cNvSpPr/>
          <p:nvPr/>
        </p:nvSpPr>
        <p:spPr>
          <a:xfrm>
            <a:off x="1066767" y="3636119"/>
            <a:ext cx="497078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A33D"/>
                </a:solidFill>
                <a:latin typeface="IBM Plex Sans" pitchFamily="34" charset="0"/>
                <a:ea typeface="IBM Plex Sans" pitchFamily="34" charset="-122"/>
                <a:cs typeface="IBM Plex Sans" pitchFamily="34" charset="-120"/>
              </a:rPr>
              <a:t>BACKGROUND WRITING</a:t>
            </a:r>
            <a:endParaRPr lang="en-US" sz="1200" dirty="0"/>
          </a:p>
        </p:txBody>
      </p:sp>
      <p:sp>
        <p:nvSpPr>
          <p:cNvPr id="12" name="Text 10"/>
          <p:cNvSpPr/>
          <p:nvPr/>
        </p:nvSpPr>
        <p:spPr>
          <a:xfrm>
            <a:off x="1066767" y="3925590"/>
            <a:ext cx="4970780" cy="87892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E"/>
                </a:solidFill>
                <a:latin typeface="IBM Plex Sans" pitchFamily="34" charset="0"/>
                <a:ea typeface="IBM Plex Sans" pitchFamily="34" charset="-122"/>
                <a:cs typeface="IBM Plex Sans" pitchFamily="34" charset="-120"/>
              </a:rPr>
              <a:t>Walk the page table periodically and write dirty pages out. After a safe write, evict the page or clear its dirty flag.</a:t>
            </a:r>
            <a:endParaRPr lang="en-US" sz="1600" dirty="0"/>
          </a:p>
        </p:txBody>
      </p:sp>
      <p:sp>
        <p:nvSpPr>
          <p:cNvPr id="13" name="Text 11"/>
          <p:cNvSpPr/>
          <p:nvPr/>
        </p:nvSpPr>
        <p:spPr>
          <a:xfrm>
            <a:off x="6299150" y="3636119"/>
            <a:ext cx="497086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A33D"/>
                </a:solidFill>
                <a:latin typeface="IBM Plex Sans" pitchFamily="34" charset="0"/>
                <a:ea typeface="IBM Plex Sans" pitchFamily="34" charset="-122"/>
                <a:cs typeface="IBM Plex Sans" pitchFamily="34" charset="-120"/>
              </a:rPr>
              <a:t>WATCH OUT</a:t>
            </a:r>
            <a:endParaRPr lang="en-US" sz="1200" dirty="0"/>
          </a:p>
        </p:txBody>
      </p:sp>
      <p:sp>
        <p:nvSpPr>
          <p:cNvPr id="14" name="Text 12"/>
          <p:cNvSpPr/>
          <p:nvPr/>
        </p:nvSpPr>
        <p:spPr>
          <a:xfrm>
            <a:off x="6299150" y="3925590"/>
            <a:ext cx="4970865" cy="5944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E"/>
                </a:solidFill>
                <a:latin typeface="IBM Plex Sans" pitchFamily="34" charset="0"/>
                <a:ea typeface="IBM Plex Sans" pitchFamily="34" charset="-122"/>
                <a:cs typeface="IBM Plex Sans" pitchFamily="34" charset="-120"/>
              </a:rPr>
              <a:t>Never write a dirty page before its log records have been written.</a:t>
            </a:r>
            <a:endParaRPr lang="en-US" sz="1600" dirty="0"/>
          </a:p>
        </p:txBody>
      </p:sp>
      <p:sp>
        <p:nvSpPr>
          <p:cNvPr id="15" name="Text 13"/>
          <p:cNvSpPr/>
          <p:nvPr/>
        </p:nvSpPr>
        <p:spPr>
          <a:xfrm>
            <a:off x="812767" y="6238292"/>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2"/>
                </a:solidFill>
                <a:latin typeface="IBM Plex Sans" pitchFamily="34" charset="0"/>
                <a:ea typeface="IBM Plex Sans" pitchFamily="34" charset="-122"/>
                <a:cs typeface="IBM Plex Sans" pitchFamily="34" charset="-120"/>
              </a:rPr>
              <a:t>Buffer Pools &amp; Memory Management</a:t>
            </a:r>
            <a:endParaRPr lang="en-US" sz="1200" dirty="0"/>
          </a:p>
        </p:txBody>
      </p:sp>
      <p:sp>
        <p:nvSpPr>
          <p:cNvPr id="16" name="Text 14"/>
          <p:cNvSpPr/>
          <p:nvPr/>
        </p:nvSpPr>
        <p:spPr>
          <a:xfrm>
            <a:off x="10058433"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2"/>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7A"/>
                </a:solidFill>
                <a:latin typeface="IBM Plex Sans" pitchFamily="34" charset="0"/>
                <a:ea typeface="IBM Plex Sans" pitchFamily="34" charset="-122"/>
                <a:cs typeface="IBM Plex Sans" pitchFamily="34" charset="-120"/>
              </a:rPr>
              <a:t>BEYOND THE POOL</a:t>
            </a:r>
            <a:endParaRPr lang="en-US" sz="1200" dirty="0"/>
          </a:p>
        </p:txBody>
      </p:sp>
      <p:sp>
        <p:nvSpPr>
          <p:cNvPr id="3" name="Text 1"/>
          <p:cNvSpPr>
            <a:spLocks noGrp="1"/>
          </p:cNvSpPr>
          <p:nvPr>
            <p:ph type="title"/>
          </p:nvPr>
        </p:nvSpPr>
        <p:spPr>
          <a:xfrm>
            <a:off x="812767" y="1102233"/>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The OS page cache</a:t>
            </a:r>
            <a:endParaRPr lang="en-US" sz="3200" dirty="0"/>
          </a:p>
        </p:txBody>
      </p:sp>
      <p:sp>
        <p:nvSpPr>
          <p:cNvPr id="4" name="Text 2"/>
          <p:cNvSpPr/>
          <p:nvPr/>
        </p:nvSpPr>
        <p:spPr>
          <a:xfrm>
            <a:off x="812767" y="1803214"/>
            <a:ext cx="9810750" cy="5944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430"/>
                </a:solidFill>
                <a:latin typeface="IBM Plex Sans" pitchFamily="34" charset="0"/>
                <a:ea typeface="IBM Plex Sans" pitchFamily="34" charset="-122"/>
                <a:cs typeface="IBM Plex Sans" pitchFamily="34" charset="-120"/>
              </a:rPr>
              <a:t>Disk I/O normally goes through the operating system, which keeps its own filesystem cache. Most DBMSs use direct I/O (O_DIRECT) to bypass it.</a:t>
            </a:r>
            <a:endParaRPr lang="en-US" sz="1600" dirty="0"/>
          </a:p>
        </p:txBody>
      </p:sp>
      <p:sp>
        <p:nvSpPr>
          <p:cNvPr id="5" name="Shape 3"/>
          <p:cNvSpPr/>
          <p:nvPr/>
        </p:nvSpPr>
        <p:spPr>
          <a:xfrm>
            <a:off x="815942" y="2629408"/>
            <a:ext cx="5175266" cy="1664080"/>
          </a:xfrm>
          <a:prstGeom prst="roundRect">
            <a:avLst>
              <a:gd name="adj" fmla="val 5915"/>
            </a:avLst>
          </a:prstGeom>
          <a:solidFill>
            <a:srgbClr val="FFFDF8"/>
          </a:solidFill>
          <a:ln w="6350">
            <a:solidFill>
              <a:srgbClr val="DAD5C6"/>
            </a:solidFill>
            <a:prstDash val="solid"/>
          </a:ln>
        </p:spPr>
        <p:txBody>
          <a:bodyPr/>
          <a:lstStyle/>
          <a:p>
            <a:endParaRPr lang="en-US"/>
          </a:p>
        </p:txBody>
      </p:sp>
      <p:sp>
        <p:nvSpPr>
          <p:cNvPr id="6" name="Text 4"/>
          <p:cNvSpPr/>
          <p:nvPr/>
        </p:nvSpPr>
        <p:spPr>
          <a:xfrm>
            <a:off x="1021209" y="2834680"/>
            <a:ext cx="4907674"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Why bypass it</a:t>
            </a:r>
            <a:endParaRPr lang="en-US" sz="1800" dirty="0"/>
          </a:p>
        </p:txBody>
      </p:sp>
      <p:sp>
        <p:nvSpPr>
          <p:cNvPr id="7" name="Text 5"/>
          <p:cNvSpPr/>
          <p:nvPr/>
        </p:nvSpPr>
        <p:spPr>
          <a:xfrm>
            <a:off x="1078867" y="3173673"/>
            <a:ext cx="4842396" cy="939949"/>
          </a:xfrm>
          <a:prstGeom prst="rect">
            <a:avLst/>
          </a:prstGeom>
          <a:noFill/>
          <a:ln/>
        </p:spPr>
        <p:txBody>
          <a:bodyPr wrap="square" lIns="0" tIns="0" rIns="0" bIns="0" rtlCol="0" anchor="t">
            <a:normAutofit/>
          </a:bodyPr>
          <a:lstStyle/>
          <a:p>
            <a:pPr marL="196342" indent="-196342" algn="l">
              <a:lnSpc>
                <a:spcPts val="2400"/>
              </a:lnSpc>
              <a:buSzPct val="100000"/>
              <a:buChar char="•"/>
            </a:pPr>
            <a:r>
              <a:rPr lang="en-US" sz="1600" dirty="0">
                <a:solidFill>
                  <a:srgbClr val="4A5563"/>
                </a:solidFill>
                <a:latin typeface="IBM Plex Sans" pitchFamily="34" charset="0"/>
                <a:ea typeface="IBM Plex Sans" pitchFamily="34" charset="-122"/>
                <a:cs typeface="IBM Plex Sans" pitchFamily="34" charset="-120"/>
              </a:rPr>
              <a:t>Redundant copies of pages</a:t>
            </a:r>
            <a:endParaRPr lang="en-US" sz="1600" dirty="0"/>
          </a:p>
          <a:p>
            <a:pPr marL="196342" indent="-196342" algn="l">
              <a:lnSpc>
                <a:spcPts val="2400"/>
              </a:lnSpc>
              <a:buSzPct val="100000"/>
              <a:buChar char="•"/>
            </a:pPr>
            <a:r>
              <a:rPr lang="en-US" sz="1600" dirty="0">
                <a:solidFill>
                  <a:srgbClr val="4A5563"/>
                </a:solidFill>
                <a:latin typeface="IBM Plex Sans" pitchFamily="34" charset="0"/>
                <a:ea typeface="IBM Plex Sans" pitchFamily="34" charset="-122"/>
                <a:cs typeface="IBM Plex Sans" pitchFamily="34" charset="-120"/>
              </a:rPr>
              <a:t>Two different eviction policies</a:t>
            </a:r>
            <a:endParaRPr lang="en-US" sz="1600" dirty="0"/>
          </a:p>
          <a:p>
            <a:pPr marL="196342" indent="-196342" algn="l">
              <a:lnSpc>
                <a:spcPts val="2400"/>
              </a:lnSpc>
              <a:buSzPct val="100000"/>
              <a:buChar char="•"/>
            </a:pPr>
            <a:r>
              <a:rPr lang="en-US" sz="1600" dirty="0">
                <a:solidFill>
                  <a:srgbClr val="4A5563"/>
                </a:solidFill>
                <a:latin typeface="IBM Plex Sans" pitchFamily="34" charset="0"/>
                <a:ea typeface="IBM Plex Sans" pitchFamily="34" charset="-122"/>
                <a:cs typeface="IBM Plex Sans" pitchFamily="34" charset="-120"/>
              </a:rPr>
              <a:t>Loss of control over file I/O</a:t>
            </a:r>
            <a:endParaRPr lang="en-US" sz="1600" dirty="0"/>
          </a:p>
        </p:txBody>
      </p:sp>
      <p:sp>
        <p:nvSpPr>
          <p:cNvPr id="8" name="Shape 6"/>
          <p:cNvSpPr/>
          <p:nvPr/>
        </p:nvSpPr>
        <p:spPr>
          <a:xfrm>
            <a:off x="6200709" y="2629408"/>
            <a:ext cx="5175349" cy="1664080"/>
          </a:xfrm>
          <a:prstGeom prst="roundRect">
            <a:avLst>
              <a:gd name="adj" fmla="val 5915"/>
            </a:avLst>
          </a:prstGeom>
          <a:solidFill>
            <a:srgbClr val="FFFDF8"/>
          </a:solidFill>
          <a:ln w="6350">
            <a:solidFill>
              <a:srgbClr val="DAD5C6"/>
            </a:solidFill>
            <a:prstDash val="solid"/>
          </a:ln>
        </p:spPr>
        <p:txBody>
          <a:bodyPr/>
          <a:lstStyle/>
          <a:p>
            <a:endParaRPr lang="en-US"/>
          </a:p>
        </p:txBody>
      </p:sp>
      <p:sp>
        <p:nvSpPr>
          <p:cNvPr id="9" name="Text 7"/>
          <p:cNvSpPr/>
          <p:nvPr/>
        </p:nvSpPr>
        <p:spPr>
          <a:xfrm>
            <a:off x="6405976" y="2834680"/>
            <a:ext cx="4907759"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The fsync problem</a:t>
            </a:r>
            <a:endParaRPr lang="en-US" sz="1800" dirty="0"/>
          </a:p>
        </p:txBody>
      </p:sp>
      <p:sp>
        <p:nvSpPr>
          <p:cNvPr id="10" name="Text 8"/>
          <p:cNvSpPr/>
          <p:nvPr/>
        </p:nvSpPr>
        <p:spPr>
          <a:xfrm>
            <a:off x="6405976" y="3173673"/>
            <a:ext cx="4907759" cy="87892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If fsync fails with an I/O error, Linux may mark the dirty pages clean. A second fsync then reports success although the data never reached disk.</a:t>
            </a:r>
            <a:endParaRPr lang="en-US" sz="1600" dirty="0"/>
          </a:p>
        </p:txBody>
      </p:sp>
      <p:sp>
        <p:nvSpPr>
          <p:cNvPr id="11" name="Text 9"/>
          <p:cNvSpPr/>
          <p:nvPr/>
        </p:nvSpPr>
        <p:spPr>
          <a:xfrm>
            <a:off x="812767" y="4550668"/>
            <a:ext cx="108834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Postgres is a well-known system that relies on the OS page cache.</a:t>
            </a:r>
            <a:endParaRPr lang="en-US" sz="1200" dirty="0"/>
          </a:p>
        </p:txBody>
      </p:sp>
      <p:sp>
        <p:nvSpPr>
          <p:cNvPr id="12" name="Text 10"/>
          <p:cNvSpPr/>
          <p:nvPr/>
        </p:nvSpPr>
        <p:spPr>
          <a:xfrm>
            <a:off x="812767" y="6238292"/>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2"/>
                </a:solidFill>
                <a:latin typeface="IBM Plex Sans" pitchFamily="34" charset="0"/>
                <a:ea typeface="IBM Plex Sans" pitchFamily="34" charset="-122"/>
                <a:cs typeface="IBM Plex Sans" pitchFamily="34" charset="-120"/>
              </a:rPr>
              <a:t>Buffer Pools &amp; Memory Management</a:t>
            </a:r>
            <a:endParaRPr lang="en-US" sz="1200" dirty="0"/>
          </a:p>
        </p:txBody>
      </p:sp>
      <p:sp>
        <p:nvSpPr>
          <p:cNvPr id="13" name="Text 11"/>
          <p:cNvSpPr/>
          <p:nvPr/>
        </p:nvSpPr>
        <p:spPr>
          <a:xfrm>
            <a:off x="10058433"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2"/>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7A"/>
                </a:solidFill>
                <a:latin typeface="IBM Plex Sans" pitchFamily="34" charset="0"/>
                <a:ea typeface="IBM Plex Sans" pitchFamily="34" charset="-122"/>
                <a:cs typeface="IBM Plex Sans" pitchFamily="34" charset="-120"/>
              </a:rPr>
              <a:t>BEYOND THE POOL</a:t>
            </a:r>
            <a:endParaRPr lang="en-US" sz="1200" dirty="0"/>
          </a:p>
        </p:txBody>
      </p:sp>
      <p:sp>
        <p:nvSpPr>
          <p:cNvPr id="3" name="Text 1"/>
          <p:cNvSpPr>
            <a:spLocks noGrp="1"/>
          </p:cNvSpPr>
          <p:nvPr>
            <p:ph type="title"/>
          </p:nvPr>
        </p:nvSpPr>
        <p:spPr>
          <a:xfrm>
            <a:off x="812767" y="1102233"/>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I/O scheduling and other memory pools</a:t>
            </a:r>
            <a:endParaRPr lang="en-US" sz="3200" dirty="0"/>
          </a:p>
        </p:txBody>
      </p:sp>
      <p:sp>
        <p:nvSpPr>
          <p:cNvPr id="4" name="Shape 2"/>
          <p:cNvSpPr/>
          <p:nvPr/>
        </p:nvSpPr>
        <p:spPr>
          <a:xfrm>
            <a:off x="815942" y="1857152"/>
            <a:ext cx="5175266" cy="3355925"/>
          </a:xfrm>
          <a:prstGeom prst="roundRect">
            <a:avLst>
              <a:gd name="adj" fmla="val 2933"/>
            </a:avLst>
          </a:prstGeom>
          <a:solidFill>
            <a:srgbClr val="FFFDF8"/>
          </a:solidFill>
          <a:ln w="6350">
            <a:solidFill>
              <a:srgbClr val="DAD5C6"/>
            </a:solidFill>
            <a:prstDash val="solid"/>
          </a:ln>
        </p:spPr>
        <p:txBody>
          <a:bodyPr/>
          <a:lstStyle/>
          <a:p>
            <a:endParaRPr lang="en-US"/>
          </a:p>
        </p:txBody>
      </p:sp>
      <p:sp>
        <p:nvSpPr>
          <p:cNvPr id="5" name="Text 3"/>
          <p:cNvSpPr/>
          <p:nvPr/>
        </p:nvSpPr>
        <p:spPr>
          <a:xfrm>
            <a:off x="1072059" y="2113273"/>
            <a:ext cx="4802924"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Disk I/O scheduling</a:t>
            </a:r>
            <a:endParaRPr lang="en-US" sz="1800" dirty="0"/>
          </a:p>
        </p:txBody>
      </p:sp>
      <p:sp>
        <p:nvSpPr>
          <p:cNvPr id="6" name="Text 4"/>
          <p:cNvSpPr/>
          <p:nvPr/>
        </p:nvSpPr>
        <p:spPr>
          <a:xfrm>
            <a:off x="1072059" y="2477653"/>
            <a:ext cx="4802924" cy="878929"/>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The OS cannot tell which requests matter, so the DBMS keeps its own queues and ranks requests by:</a:t>
            </a:r>
            <a:endParaRPr lang="en-US" sz="1600" dirty="0"/>
          </a:p>
        </p:txBody>
      </p:sp>
      <p:sp>
        <p:nvSpPr>
          <p:cNvPr id="7" name="Text 5"/>
          <p:cNvSpPr/>
          <p:nvPr/>
        </p:nvSpPr>
        <p:spPr>
          <a:xfrm>
            <a:off x="1129717" y="3432721"/>
            <a:ext cx="4737646" cy="1549648"/>
          </a:xfrm>
          <a:prstGeom prst="rect">
            <a:avLst/>
          </a:prstGeom>
          <a:noFill/>
          <a:ln/>
        </p:spPr>
        <p:txBody>
          <a:bodyPr wrap="square" lIns="0" tIns="0" rIns="0" bIns="0" rtlCol="0" anchor="t">
            <a:normAutofit/>
          </a:bodyPr>
          <a:lstStyle/>
          <a:p>
            <a:pPr marL="196342" indent="-196342" algn="l">
              <a:lnSpc>
                <a:spcPts val="2400"/>
              </a:lnSpc>
              <a:buSzPct val="100000"/>
              <a:buChar char="•"/>
            </a:pPr>
            <a:r>
              <a:rPr lang="en-US" sz="1600" dirty="0">
                <a:solidFill>
                  <a:srgbClr val="1B2430"/>
                </a:solidFill>
                <a:latin typeface="IBM Plex Sans" pitchFamily="34" charset="0"/>
                <a:ea typeface="IBM Plex Sans" pitchFamily="34" charset="-122"/>
                <a:cs typeface="IBM Plex Sans" pitchFamily="34" charset="-120"/>
              </a:rPr>
              <a:t>Sequential vs. random I/O</a:t>
            </a:r>
            <a:endParaRPr lang="en-US" sz="1600" dirty="0"/>
          </a:p>
          <a:p>
            <a:pPr marL="196342" indent="-196342" algn="l">
              <a:lnSpc>
                <a:spcPts val="2400"/>
              </a:lnSpc>
              <a:buSzPct val="100000"/>
              <a:buChar char="•"/>
            </a:pPr>
            <a:r>
              <a:rPr lang="en-US" sz="1600" dirty="0">
                <a:solidFill>
                  <a:srgbClr val="1B2430"/>
                </a:solidFill>
                <a:latin typeface="IBM Plex Sans" pitchFamily="34" charset="0"/>
                <a:ea typeface="IBM Plex Sans" pitchFamily="34" charset="-122"/>
                <a:cs typeface="IBM Plex Sans" pitchFamily="34" charset="-120"/>
              </a:rPr>
              <a:t>Critical path vs. background task</a:t>
            </a:r>
            <a:endParaRPr lang="en-US" sz="1600" dirty="0"/>
          </a:p>
          <a:p>
            <a:pPr marL="196342" indent="-196342" algn="l">
              <a:lnSpc>
                <a:spcPts val="2400"/>
              </a:lnSpc>
              <a:buSzPct val="100000"/>
              <a:buChar char="•"/>
            </a:pPr>
            <a:r>
              <a:rPr lang="en-US" sz="1600" dirty="0">
                <a:solidFill>
                  <a:srgbClr val="1B2430"/>
                </a:solidFill>
                <a:latin typeface="IBM Plex Sans" pitchFamily="34" charset="0"/>
                <a:ea typeface="IBM Plex Sans" pitchFamily="34" charset="-122"/>
                <a:cs typeface="IBM Plex Sans" pitchFamily="34" charset="-120"/>
              </a:rPr>
              <a:t>Table, index, log or temporary data</a:t>
            </a:r>
            <a:endParaRPr lang="en-US" sz="1600" dirty="0"/>
          </a:p>
          <a:p>
            <a:pPr marL="196342" indent="-196342" algn="l">
              <a:lnSpc>
                <a:spcPts val="2400"/>
              </a:lnSpc>
              <a:buSzPct val="100000"/>
              <a:buChar char="•"/>
            </a:pPr>
            <a:r>
              <a:rPr lang="en-US" sz="1600" dirty="0">
                <a:solidFill>
                  <a:srgbClr val="1B2430"/>
                </a:solidFill>
                <a:latin typeface="IBM Plex Sans" pitchFamily="34" charset="0"/>
                <a:ea typeface="IBM Plex Sans" pitchFamily="34" charset="-122"/>
                <a:cs typeface="IBM Plex Sans" pitchFamily="34" charset="-120"/>
              </a:rPr>
              <a:t>Transaction information</a:t>
            </a:r>
            <a:endParaRPr lang="en-US" sz="1600" dirty="0"/>
          </a:p>
          <a:p>
            <a:pPr marL="196342" indent="-196342" algn="l">
              <a:lnSpc>
                <a:spcPts val="2400"/>
              </a:lnSpc>
              <a:buSzPct val="100000"/>
              <a:buChar char="•"/>
            </a:pPr>
            <a:r>
              <a:rPr lang="en-US" sz="1600" dirty="0">
                <a:solidFill>
                  <a:srgbClr val="1B2430"/>
                </a:solidFill>
                <a:latin typeface="IBM Plex Sans" pitchFamily="34" charset="0"/>
                <a:ea typeface="IBM Plex Sans" pitchFamily="34" charset="-122"/>
                <a:cs typeface="IBM Plex Sans" pitchFamily="34" charset="-120"/>
              </a:rPr>
              <a:t>User-based SLAs</a:t>
            </a:r>
            <a:endParaRPr lang="en-US" sz="1600" dirty="0"/>
          </a:p>
        </p:txBody>
      </p:sp>
      <p:sp>
        <p:nvSpPr>
          <p:cNvPr id="8" name="Shape 6"/>
          <p:cNvSpPr/>
          <p:nvPr/>
        </p:nvSpPr>
        <p:spPr>
          <a:xfrm>
            <a:off x="6200709" y="1857152"/>
            <a:ext cx="5175349" cy="3355925"/>
          </a:xfrm>
          <a:prstGeom prst="roundRect">
            <a:avLst>
              <a:gd name="adj" fmla="val 2933"/>
            </a:avLst>
          </a:prstGeom>
          <a:solidFill>
            <a:srgbClr val="FFFDF8"/>
          </a:solidFill>
          <a:ln w="6350">
            <a:solidFill>
              <a:srgbClr val="DAD5C6"/>
            </a:solidFill>
            <a:prstDash val="solid"/>
          </a:ln>
        </p:spPr>
        <p:txBody>
          <a:bodyPr/>
          <a:lstStyle/>
          <a:p>
            <a:endParaRPr lang="en-US"/>
          </a:p>
        </p:txBody>
      </p:sp>
      <p:sp>
        <p:nvSpPr>
          <p:cNvPr id="9" name="Text 7"/>
          <p:cNvSpPr/>
          <p:nvPr/>
        </p:nvSpPr>
        <p:spPr>
          <a:xfrm>
            <a:off x="6456825" y="2113273"/>
            <a:ext cx="4803009" cy="288247"/>
          </a:xfrm>
          <a:prstGeom prst="rect">
            <a:avLst/>
          </a:prstGeom>
          <a:noFill/>
          <a:ln/>
        </p:spPr>
        <p:txBody>
          <a:bodyPr wrap="square" lIns="0" tIns="0" rIns="0" bIns="0" rtlCol="0" anchor="t">
            <a:normAutofit/>
          </a:bodyPr>
          <a:lstStyle/>
          <a:p>
            <a:pPr marL="0" indent="0" algn="l">
              <a:lnSpc>
                <a:spcPts val="2070"/>
              </a:lnSpc>
              <a:buNone/>
            </a:pPr>
            <a:r>
              <a:rPr lang="en-US" sz="1800" b="1" dirty="0">
                <a:solidFill>
                  <a:srgbClr val="12202F"/>
                </a:solidFill>
                <a:latin typeface="IBM Plex Sans" pitchFamily="34" charset="0"/>
                <a:ea typeface="IBM Plex Sans" pitchFamily="34" charset="-122"/>
                <a:cs typeface="IBM Plex Sans" pitchFamily="34" charset="-120"/>
              </a:rPr>
              <a:t>Other memory pools</a:t>
            </a:r>
            <a:endParaRPr lang="en-US" sz="1800" dirty="0"/>
          </a:p>
        </p:txBody>
      </p:sp>
      <p:sp>
        <p:nvSpPr>
          <p:cNvPr id="10" name="Text 8"/>
          <p:cNvSpPr/>
          <p:nvPr/>
        </p:nvSpPr>
        <p:spPr>
          <a:xfrm>
            <a:off x="6456825" y="2477653"/>
            <a:ext cx="4803009" cy="5944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3"/>
                </a:solidFill>
                <a:latin typeface="IBM Plex Sans" pitchFamily="34" charset="0"/>
                <a:ea typeface="IBM Plex Sans" pitchFamily="34" charset="-122"/>
                <a:cs typeface="IBM Plex Sans" pitchFamily="34" charset="-120"/>
              </a:rPr>
              <a:t>The DBMS needs memory for more than tuples and indexes. These pools may not be backed by disk:</a:t>
            </a:r>
            <a:endParaRPr lang="en-US" sz="1600" dirty="0"/>
          </a:p>
        </p:txBody>
      </p:sp>
      <p:sp>
        <p:nvSpPr>
          <p:cNvPr id="11" name="Text 9"/>
          <p:cNvSpPr/>
          <p:nvPr/>
        </p:nvSpPr>
        <p:spPr>
          <a:xfrm>
            <a:off x="6514483" y="3148211"/>
            <a:ext cx="4737731" cy="1549648"/>
          </a:xfrm>
          <a:prstGeom prst="rect">
            <a:avLst/>
          </a:prstGeom>
          <a:noFill/>
          <a:ln/>
        </p:spPr>
        <p:txBody>
          <a:bodyPr wrap="square" lIns="0" tIns="0" rIns="0" bIns="0" rtlCol="0" anchor="t">
            <a:normAutofit/>
          </a:bodyPr>
          <a:lstStyle/>
          <a:p>
            <a:pPr marL="196342" indent="-196342" algn="l">
              <a:lnSpc>
                <a:spcPts val="2400"/>
              </a:lnSpc>
              <a:buSzPct val="100000"/>
              <a:buChar char="•"/>
            </a:pPr>
            <a:r>
              <a:rPr lang="en-US" sz="1600" dirty="0">
                <a:solidFill>
                  <a:srgbClr val="1B2430"/>
                </a:solidFill>
                <a:latin typeface="IBM Plex Sans" pitchFamily="34" charset="0"/>
                <a:ea typeface="IBM Plex Sans" pitchFamily="34" charset="-122"/>
                <a:cs typeface="IBM Plex Sans" pitchFamily="34" charset="-120"/>
              </a:rPr>
              <a:t>Sorting and join buffers</a:t>
            </a:r>
            <a:endParaRPr lang="en-US" sz="1600" dirty="0"/>
          </a:p>
          <a:p>
            <a:pPr marL="196342" indent="-196342" algn="l">
              <a:lnSpc>
                <a:spcPts val="2400"/>
              </a:lnSpc>
              <a:buSzPct val="100000"/>
              <a:buChar char="•"/>
            </a:pPr>
            <a:r>
              <a:rPr lang="en-US" sz="1600" dirty="0">
                <a:solidFill>
                  <a:srgbClr val="1B2430"/>
                </a:solidFill>
                <a:latin typeface="IBM Plex Sans" pitchFamily="34" charset="0"/>
                <a:ea typeface="IBM Plex Sans" pitchFamily="34" charset="-122"/>
                <a:cs typeface="IBM Plex Sans" pitchFamily="34" charset="-120"/>
              </a:rPr>
              <a:t>Query caches</a:t>
            </a:r>
            <a:endParaRPr lang="en-US" sz="1600" dirty="0"/>
          </a:p>
          <a:p>
            <a:pPr marL="196342" indent="-196342" algn="l">
              <a:lnSpc>
                <a:spcPts val="2400"/>
              </a:lnSpc>
              <a:buSzPct val="100000"/>
              <a:buChar char="•"/>
            </a:pPr>
            <a:r>
              <a:rPr lang="en-US" sz="1600" dirty="0">
                <a:solidFill>
                  <a:srgbClr val="1B2430"/>
                </a:solidFill>
                <a:latin typeface="IBM Plex Sans" pitchFamily="34" charset="0"/>
                <a:ea typeface="IBM Plex Sans" pitchFamily="34" charset="-122"/>
                <a:cs typeface="IBM Plex Sans" pitchFamily="34" charset="-120"/>
              </a:rPr>
              <a:t>Maintenance buffers</a:t>
            </a:r>
            <a:endParaRPr lang="en-US" sz="1600" dirty="0"/>
          </a:p>
          <a:p>
            <a:pPr marL="196342" indent="-196342" algn="l">
              <a:lnSpc>
                <a:spcPts val="2400"/>
              </a:lnSpc>
              <a:buSzPct val="100000"/>
              <a:buChar char="•"/>
            </a:pPr>
            <a:r>
              <a:rPr lang="en-US" sz="1600" dirty="0">
                <a:solidFill>
                  <a:srgbClr val="1B2430"/>
                </a:solidFill>
                <a:latin typeface="IBM Plex Sans" pitchFamily="34" charset="0"/>
                <a:ea typeface="IBM Plex Sans" pitchFamily="34" charset="-122"/>
                <a:cs typeface="IBM Plex Sans" pitchFamily="34" charset="-120"/>
              </a:rPr>
              <a:t>Log buffers</a:t>
            </a:r>
            <a:endParaRPr lang="en-US" sz="1600" dirty="0"/>
          </a:p>
          <a:p>
            <a:pPr marL="196342" indent="-196342" algn="l">
              <a:lnSpc>
                <a:spcPts val="2400"/>
              </a:lnSpc>
              <a:buSzPct val="100000"/>
              <a:buChar char="•"/>
            </a:pPr>
            <a:r>
              <a:rPr lang="en-US" sz="1600" dirty="0">
                <a:solidFill>
                  <a:srgbClr val="1B2430"/>
                </a:solidFill>
                <a:latin typeface="IBM Plex Sans" pitchFamily="34" charset="0"/>
                <a:ea typeface="IBM Plex Sans" pitchFamily="34" charset="-122"/>
                <a:cs typeface="IBM Plex Sans" pitchFamily="34" charset="-120"/>
              </a:rPr>
              <a:t>Dictionary caches</a:t>
            </a:r>
            <a:endParaRPr lang="en-US" sz="1600" dirty="0"/>
          </a:p>
        </p:txBody>
      </p:sp>
      <p:sp>
        <p:nvSpPr>
          <p:cNvPr id="12" name="Text 10"/>
          <p:cNvSpPr/>
          <p:nvPr/>
        </p:nvSpPr>
        <p:spPr>
          <a:xfrm>
            <a:off x="812767" y="6238292"/>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2"/>
                </a:solidFill>
                <a:latin typeface="IBM Plex Sans" pitchFamily="34" charset="0"/>
                <a:ea typeface="IBM Plex Sans" pitchFamily="34" charset="-122"/>
                <a:cs typeface="IBM Plex Sans" pitchFamily="34" charset="-120"/>
              </a:rPr>
              <a:t>Buffer Pools &amp; Memory Management</a:t>
            </a:r>
            <a:endParaRPr lang="en-US" sz="1200" dirty="0"/>
          </a:p>
        </p:txBody>
      </p:sp>
      <p:sp>
        <p:nvSpPr>
          <p:cNvPr id="13" name="Text 11"/>
          <p:cNvSpPr/>
          <p:nvPr/>
        </p:nvSpPr>
        <p:spPr>
          <a:xfrm>
            <a:off x="10058433"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2"/>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202F"/>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A33D"/>
                </a:solidFill>
                <a:latin typeface="IBM Plex Sans" pitchFamily="34" charset="0"/>
                <a:ea typeface="IBM Plex Sans" pitchFamily="34" charset="-122"/>
                <a:cs typeface="IBM Plex Sans" pitchFamily="34" charset="-120"/>
              </a:rPr>
              <a:t>WRAP-UP</a:t>
            </a:r>
            <a:endParaRPr lang="en-US" sz="1200" dirty="0"/>
          </a:p>
        </p:txBody>
      </p:sp>
      <p:sp>
        <p:nvSpPr>
          <p:cNvPr id="3" name="Text 1"/>
          <p:cNvSpPr>
            <a:spLocks noGrp="1"/>
          </p:cNvSpPr>
          <p:nvPr>
            <p:ph type="title"/>
          </p:nvPr>
        </p:nvSpPr>
        <p:spPr>
          <a:xfrm>
            <a:off x="812767" y="1102233"/>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6F4EE"/>
                </a:solidFill>
                <a:latin typeface="IBM Plex Sans" pitchFamily="34" charset="0"/>
                <a:ea typeface="IBM Plex Sans" pitchFamily="34" charset="-122"/>
                <a:cs typeface="IBM Plex Sans" pitchFamily="34" charset="-120"/>
              </a:rPr>
              <a:t>Key takeaways</a:t>
            </a:r>
            <a:endParaRPr lang="en-US" sz="3200" dirty="0"/>
          </a:p>
        </p:txBody>
      </p:sp>
      <p:sp>
        <p:nvSpPr>
          <p:cNvPr id="4" name="Text 2"/>
          <p:cNvSpPr/>
          <p:nvPr/>
        </p:nvSpPr>
        <p:spPr>
          <a:xfrm>
            <a:off x="812767" y="1904752"/>
            <a:ext cx="457183" cy="30991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8A33D"/>
                </a:solidFill>
                <a:latin typeface="JetBrains Mono" pitchFamily="49" charset="0"/>
                <a:ea typeface="JetBrains Mono" pitchFamily="49" charset="-122"/>
                <a:cs typeface="JetBrains Mono" pitchFamily="49" charset="-120"/>
              </a:rPr>
              <a:t>01</a:t>
            </a:r>
            <a:endParaRPr lang="en-US" sz="1600" dirty="0"/>
          </a:p>
        </p:txBody>
      </p:sp>
      <p:sp>
        <p:nvSpPr>
          <p:cNvPr id="5" name="Text 3"/>
          <p:cNvSpPr/>
          <p:nvPr/>
        </p:nvSpPr>
        <p:spPr>
          <a:xfrm>
            <a:off x="1422301" y="1904752"/>
            <a:ext cx="9810750" cy="30991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E"/>
                </a:solidFill>
                <a:latin typeface="IBM Plex Sans" pitchFamily="34" charset="0"/>
                <a:ea typeface="IBM Plex Sans" pitchFamily="34" charset="-122"/>
                <a:cs typeface="IBM Plex Sans" pitchFamily="34" charset="-120"/>
              </a:rPr>
              <a:t>The DBMS can almost always manage memory better than the OS, because it knows the query plan.</a:t>
            </a:r>
            <a:endParaRPr lang="en-US" sz="1600" dirty="0"/>
          </a:p>
        </p:txBody>
      </p:sp>
      <p:sp>
        <p:nvSpPr>
          <p:cNvPr id="6" name="Text 4"/>
          <p:cNvSpPr/>
          <p:nvPr/>
        </p:nvSpPr>
        <p:spPr>
          <a:xfrm>
            <a:off x="812767" y="2392412"/>
            <a:ext cx="457183" cy="30991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8A33D"/>
                </a:solidFill>
                <a:latin typeface="JetBrains Mono" pitchFamily="49" charset="0"/>
                <a:ea typeface="JetBrains Mono" pitchFamily="49" charset="-122"/>
                <a:cs typeface="JetBrains Mono" pitchFamily="49" charset="-120"/>
              </a:rPr>
              <a:t>02</a:t>
            </a:r>
            <a:endParaRPr lang="en-US" sz="1600" dirty="0"/>
          </a:p>
        </p:txBody>
      </p:sp>
      <p:sp>
        <p:nvSpPr>
          <p:cNvPr id="7" name="Text 5"/>
          <p:cNvSpPr/>
          <p:nvPr/>
        </p:nvSpPr>
        <p:spPr>
          <a:xfrm>
            <a:off x="1422301" y="2392412"/>
            <a:ext cx="9810750" cy="30991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E"/>
                </a:solidFill>
                <a:latin typeface="IBM Plex Sans" pitchFamily="34" charset="0"/>
                <a:ea typeface="IBM Plex Sans" pitchFamily="34" charset="-122"/>
                <a:cs typeface="IBM Plex Sans" pitchFamily="34" charset="-120"/>
              </a:rPr>
              <a:t>Use that knowledge for evictions, allocations and pre-fetching.</a:t>
            </a:r>
            <a:endParaRPr lang="en-US" sz="1600" dirty="0"/>
          </a:p>
        </p:txBody>
      </p:sp>
      <p:sp>
        <p:nvSpPr>
          <p:cNvPr id="8" name="Text 6"/>
          <p:cNvSpPr/>
          <p:nvPr/>
        </p:nvSpPr>
        <p:spPr>
          <a:xfrm>
            <a:off x="812767" y="2880072"/>
            <a:ext cx="457183" cy="30991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8A33D"/>
                </a:solidFill>
                <a:latin typeface="JetBrains Mono" pitchFamily="49" charset="0"/>
                <a:ea typeface="JetBrains Mono" pitchFamily="49" charset="-122"/>
                <a:cs typeface="JetBrains Mono" pitchFamily="49" charset="-120"/>
              </a:rPr>
              <a:t>03</a:t>
            </a:r>
            <a:endParaRPr lang="en-US" sz="1600" dirty="0"/>
          </a:p>
        </p:txBody>
      </p:sp>
      <p:sp>
        <p:nvSpPr>
          <p:cNvPr id="9" name="Text 7"/>
          <p:cNvSpPr/>
          <p:nvPr/>
        </p:nvSpPr>
        <p:spPr>
          <a:xfrm>
            <a:off x="1422301" y="2880072"/>
            <a:ext cx="9810750" cy="5944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E"/>
                </a:solidFill>
                <a:latin typeface="IBM Plex Sans" pitchFamily="34" charset="0"/>
                <a:ea typeface="IBM Plex Sans" pitchFamily="34" charset="-122"/>
                <a:cs typeface="IBM Plex Sans" pitchFamily="34" charset="-120"/>
              </a:rPr>
              <a:t>LRU and CLOCK are simple but break under sequential scans; LRU-K, localization and priority hints address that.</a:t>
            </a:r>
            <a:endParaRPr lang="en-US" sz="1600" dirty="0"/>
          </a:p>
        </p:txBody>
      </p:sp>
      <p:sp>
        <p:nvSpPr>
          <p:cNvPr id="10" name="Text 8"/>
          <p:cNvSpPr/>
          <p:nvPr/>
        </p:nvSpPr>
        <p:spPr>
          <a:xfrm>
            <a:off x="812767" y="3652242"/>
            <a:ext cx="457183" cy="30991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8A33D"/>
                </a:solidFill>
                <a:latin typeface="JetBrains Mono" pitchFamily="49" charset="0"/>
                <a:ea typeface="JetBrains Mono" pitchFamily="49" charset="-122"/>
                <a:cs typeface="JetBrains Mono" pitchFamily="49" charset="-120"/>
              </a:rPr>
              <a:t>04</a:t>
            </a:r>
            <a:endParaRPr lang="en-US" sz="1600" dirty="0"/>
          </a:p>
        </p:txBody>
      </p:sp>
      <p:sp>
        <p:nvSpPr>
          <p:cNvPr id="11" name="Text 9"/>
          <p:cNvSpPr/>
          <p:nvPr/>
        </p:nvSpPr>
        <p:spPr>
          <a:xfrm>
            <a:off x="1422301" y="3652242"/>
            <a:ext cx="9810750" cy="30991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E"/>
                </a:solidFill>
                <a:latin typeface="IBM Plex Sans" pitchFamily="34" charset="0"/>
                <a:ea typeface="IBM Plex Sans" pitchFamily="34" charset="-122"/>
                <a:cs typeface="IBM Plex Sans" pitchFamily="34" charset="-120"/>
              </a:rPr>
              <a:t>A write-back cache needs care: dirty flags, pin counts, and log records written before data pages.</a:t>
            </a:r>
            <a:endParaRPr lang="en-US" sz="1600" dirty="0"/>
          </a:p>
        </p:txBody>
      </p:sp>
      <p:sp>
        <p:nvSpPr>
          <p:cNvPr id="12" name="Text 10"/>
          <p:cNvSpPr/>
          <p:nvPr/>
        </p:nvSpPr>
        <p:spPr>
          <a:xfrm>
            <a:off x="812767" y="6238292"/>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8B6"/>
                </a:solidFill>
                <a:latin typeface="IBM Plex Sans" pitchFamily="34" charset="0"/>
                <a:ea typeface="IBM Plex Sans" pitchFamily="34" charset="-122"/>
                <a:cs typeface="IBM Plex Sans" pitchFamily="34" charset="-120"/>
              </a:rPr>
              <a:t>Buffer Pools &amp; Memory Management</a:t>
            </a:r>
            <a:endParaRPr lang="en-US" sz="1200" dirty="0"/>
          </a:p>
        </p:txBody>
      </p:sp>
      <p:sp>
        <p:nvSpPr>
          <p:cNvPr id="13" name="Text 11"/>
          <p:cNvSpPr/>
          <p:nvPr/>
        </p:nvSpPr>
        <p:spPr>
          <a:xfrm>
            <a:off x="10058433"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AA8B6"/>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767" y="812763"/>
            <a:ext cx="108834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17707A"/>
                </a:solidFill>
                <a:latin typeface="IBM Plex Sans" pitchFamily="34" charset="0"/>
                <a:ea typeface="IBM Plex Sans" pitchFamily="34" charset="-122"/>
                <a:cs typeface="IBM Plex Sans" pitchFamily="34" charset="-120"/>
              </a:rPr>
              <a:t>WRAP-UP</a:t>
            </a:r>
            <a:endParaRPr lang="en-US" sz="1200" dirty="0"/>
          </a:p>
        </p:txBody>
      </p:sp>
      <p:sp>
        <p:nvSpPr>
          <p:cNvPr id="3" name="Text 1"/>
          <p:cNvSpPr>
            <a:spLocks noGrp="1"/>
          </p:cNvSpPr>
          <p:nvPr>
            <p:ph type="title"/>
          </p:nvPr>
        </p:nvSpPr>
        <p:spPr>
          <a:xfrm>
            <a:off x="812767" y="1102233"/>
            <a:ext cx="108834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2202F"/>
                </a:solidFill>
                <a:latin typeface="IBM Plex Sans" pitchFamily="34" charset="0"/>
                <a:ea typeface="IBM Plex Sans" pitchFamily="34" charset="-122"/>
                <a:cs typeface="IBM Plex Sans" pitchFamily="34" charset="-120"/>
              </a:rPr>
              <a:t>Review questions</a:t>
            </a:r>
            <a:endParaRPr lang="en-US" sz="3200" dirty="0"/>
          </a:p>
        </p:txBody>
      </p:sp>
      <p:sp>
        <p:nvSpPr>
          <p:cNvPr id="4" name="Shape 2"/>
          <p:cNvSpPr/>
          <p:nvPr/>
        </p:nvSpPr>
        <p:spPr>
          <a:xfrm>
            <a:off x="815942" y="1857152"/>
            <a:ext cx="5175266" cy="1269024"/>
          </a:xfrm>
          <a:prstGeom prst="roundRect">
            <a:avLst>
              <a:gd name="adj" fmla="val 7756"/>
            </a:avLst>
          </a:prstGeom>
          <a:solidFill>
            <a:srgbClr val="FFFDF8"/>
          </a:solidFill>
          <a:ln w="6350">
            <a:solidFill>
              <a:srgbClr val="DAD5C6"/>
            </a:solidFill>
            <a:prstDash val="solid"/>
          </a:ln>
        </p:spPr>
        <p:txBody>
          <a:bodyPr/>
          <a:lstStyle/>
          <a:p>
            <a:endParaRPr lang="en-US"/>
          </a:p>
        </p:txBody>
      </p:sp>
      <p:sp>
        <p:nvSpPr>
          <p:cNvPr id="5" name="Text 3"/>
          <p:cNvSpPr/>
          <p:nvPr/>
        </p:nvSpPr>
        <p:spPr>
          <a:xfrm>
            <a:off x="1021209" y="2062423"/>
            <a:ext cx="490767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707A"/>
                </a:solidFill>
                <a:latin typeface="JetBrains Mono" pitchFamily="49" charset="0"/>
                <a:ea typeface="JetBrains Mono" pitchFamily="49" charset="-122"/>
                <a:cs typeface="JetBrains Mono" pitchFamily="49" charset="-120"/>
              </a:rPr>
              <a:t>Q1</a:t>
            </a:r>
            <a:endParaRPr lang="en-US" sz="1200" dirty="0"/>
          </a:p>
        </p:txBody>
      </p:sp>
      <p:sp>
        <p:nvSpPr>
          <p:cNvPr id="6" name="Text 4"/>
          <p:cNvSpPr/>
          <p:nvPr/>
        </p:nvSpPr>
        <p:spPr>
          <a:xfrm>
            <a:off x="1021209" y="2351894"/>
            <a:ext cx="4907674" cy="5944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430"/>
                </a:solidFill>
                <a:latin typeface="IBM Plex Sans" pitchFamily="34" charset="0"/>
                <a:ea typeface="IBM Plex Sans" pitchFamily="34" charset="-122"/>
                <a:cs typeface="IBM Plex Sans" pitchFamily="34" charset="-120"/>
              </a:rPr>
              <a:t>Why does the page table need latches but not transaction locks?</a:t>
            </a:r>
            <a:endParaRPr lang="en-US" sz="1600" dirty="0"/>
          </a:p>
        </p:txBody>
      </p:sp>
      <p:sp>
        <p:nvSpPr>
          <p:cNvPr id="7" name="Shape 5"/>
          <p:cNvSpPr/>
          <p:nvPr/>
        </p:nvSpPr>
        <p:spPr>
          <a:xfrm>
            <a:off x="6200709" y="1857152"/>
            <a:ext cx="5175349" cy="1269024"/>
          </a:xfrm>
          <a:prstGeom prst="roundRect">
            <a:avLst>
              <a:gd name="adj" fmla="val 7756"/>
            </a:avLst>
          </a:prstGeom>
          <a:solidFill>
            <a:srgbClr val="FFFDF8"/>
          </a:solidFill>
          <a:ln w="6350">
            <a:solidFill>
              <a:srgbClr val="DAD5C6"/>
            </a:solidFill>
            <a:prstDash val="solid"/>
          </a:ln>
        </p:spPr>
        <p:txBody>
          <a:bodyPr/>
          <a:lstStyle/>
          <a:p>
            <a:endParaRPr lang="en-US"/>
          </a:p>
        </p:txBody>
      </p:sp>
      <p:sp>
        <p:nvSpPr>
          <p:cNvPr id="8" name="Text 6"/>
          <p:cNvSpPr/>
          <p:nvPr/>
        </p:nvSpPr>
        <p:spPr>
          <a:xfrm>
            <a:off x="6405976" y="2062423"/>
            <a:ext cx="490775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707A"/>
                </a:solidFill>
                <a:latin typeface="JetBrains Mono" pitchFamily="49" charset="0"/>
                <a:ea typeface="JetBrains Mono" pitchFamily="49" charset="-122"/>
                <a:cs typeface="JetBrains Mono" pitchFamily="49" charset="-120"/>
              </a:rPr>
              <a:t>Q2</a:t>
            </a:r>
            <a:endParaRPr lang="en-US" sz="1200" dirty="0"/>
          </a:p>
        </p:txBody>
      </p:sp>
      <p:sp>
        <p:nvSpPr>
          <p:cNvPr id="9" name="Text 7"/>
          <p:cNvSpPr/>
          <p:nvPr/>
        </p:nvSpPr>
        <p:spPr>
          <a:xfrm>
            <a:off x="6405976" y="2351894"/>
            <a:ext cx="4907759" cy="5944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430"/>
                </a:solidFill>
                <a:latin typeface="IBM Plex Sans" pitchFamily="34" charset="0"/>
                <a:ea typeface="IBM Plex Sans" pitchFamily="34" charset="-122"/>
                <a:cs typeface="IBM Plex Sans" pitchFamily="34" charset="-120"/>
              </a:rPr>
              <a:t>The policy picks a page whose pin count is above zero. What should the pool do?</a:t>
            </a:r>
            <a:endParaRPr lang="en-US" sz="1600" dirty="0"/>
          </a:p>
        </p:txBody>
      </p:sp>
      <p:sp>
        <p:nvSpPr>
          <p:cNvPr id="10" name="Shape 8"/>
          <p:cNvSpPr/>
          <p:nvPr/>
        </p:nvSpPr>
        <p:spPr>
          <a:xfrm>
            <a:off x="815942" y="3335685"/>
            <a:ext cx="5175266" cy="1269024"/>
          </a:xfrm>
          <a:prstGeom prst="roundRect">
            <a:avLst>
              <a:gd name="adj" fmla="val 7756"/>
            </a:avLst>
          </a:prstGeom>
          <a:solidFill>
            <a:srgbClr val="FFFDF8"/>
          </a:solidFill>
          <a:ln w="6350">
            <a:solidFill>
              <a:srgbClr val="DAD5C6"/>
            </a:solidFill>
            <a:prstDash val="solid"/>
          </a:ln>
        </p:spPr>
        <p:txBody>
          <a:bodyPr/>
          <a:lstStyle/>
          <a:p>
            <a:endParaRPr lang="en-US"/>
          </a:p>
        </p:txBody>
      </p:sp>
      <p:sp>
        <p:nvSpPr>
          <p:cNvPr id="11" name="Text 9"/>
          <p:cNvSpPr/>
          <p:nvPr/>
        </p:nvSpPr>
        <p:spPr>
          <a:xfrm>
            <a:off x="1021209" y="3540944"/>
            <a:ext cx="490767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707A"/>
                </a:solidFill>
                <a:latin typeface="JetBrains Mono" pitchFamily="49" charset="0"/>
                <a:ea typeface="JetBrains Mono" pitchFamily="49" charset="-122"/>
                <a:cs typeface="JetBrains Mono" pitchFamily="49" charset="-120"/>
              </a:rPr>
              <a:t>Q3</a:t>
            </a:r>
            <a:endParaRPr lang="en-US" sz="1200" dirty="0"/>
          </a:p>
        </p:txBody>
      </p:sp>
      <p:sp>
        <p:nvSpPr>
          <p:cNvPr id="12" name="Text 10"/>
          <p:cNvSpPr/>
          <p:nvPr/>
        </p:nvSpPr>
        <p:spPr>
          <a:xfrm>
            <a:off x="1021209" y="3830414"/>
            <a:ext cx="4907674" cy="5944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430"/>
                </a:solidFill>
                <a:latin typeface="IBM Plex Sans" pitchFamily="34" charset="0"/>
                <a:ea typeface="IBM Plex Sans" pitchFamily="34" charset="-122"/>
                <a:cs typeface="IBM Plex Sans" pitchFamily="34" charset="-120"/>
              </a:rPr>
              <a:t>How can a sequential scan hurt an LRU pool, and how does LRU-K help?</a:t>
            </a:r>
            <a:endParaRPr lang="en-US" sz="1600" dirty="0"/>
          </a:p>
        </p:txBody>
      </p:sp>
      <p:sp>
        <p:nvSpPr>
          <p:cNvPr id="13" name="Shape 11"/>
          <p:cNvSpPr/>
          <p:nvPr/>
        </p:nvSpPr>
        <p:spPr>
          <a:xfrm>
            <a:off x="6200709" y="3335685"/>
            <a:ext cx="5175349" cy="1269024"/>
          </a:xfrm>
          <a:prstGeom prst="roundRect">
            <a:avLst>
              <a:gd name="adj" fmla="val 7756"/>
            </a:avLst>
          </a:prstGeom>
          <a:solidFill>
            <a:srgbClr val="FFFDF8"/>
          </a:solidFill>
          <a:ln w="6350">
            <a:solidFill>
              <a:srgbClr val="DAD5C6"/>
            </a:solidFill>
            <a:prstDash val="solid"/>
          </a:ln>
        </p:spPr>
        <p:txBody>
          <a:bodyPr/>
          <a:lstStyle/>
          <a:p>
            <a:endParaRPr lang="en-US"/>
          </a:p>
        </p:txBody>
      </p:sp>
      <p:sp>
        <p:nvSpPr>
          <p:cNvPr id="14" name="Text 12"/>
          <p:cNvSpPr/>
          <p:nvPr/>
        </p:nvSpPr>
        <p:spPr>
          <a:xfrm>
            <a:off x="6405976" y="3540944"/>
            <a:ext cx="490775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7707A"/>
                </a:solidFill>
                <a:latin typeface="JetBrains Mono" pitchFamily="49" charset="0"/>
                <a:ea typeface="JetBrains Mono" pitchFamily="49" charset="-122"/>
                <a:cs typeface="JetBrains Mono" pitchFamily="49" charset="-120"/>
              </a:rPr>
              <a:t>Q4</a:t>
            </a:r>
            <a:endParaRPr lang="en-US" sz="1200" dirty="0"/>
          </a:p>
        </p:txBody>
      </p:sp>
      <p:sp>
        <p:nvSpPr>
          <p:cNvPr id="15" name="Text 13"/>
          <p:cNvSpPr/>
          <p:nvPr/>
        </p:nvSpPr>
        <p:spPr>
          <a:xfrm>
            <a:off x="6405976" y="3830414"/>
            <a:ext cx="4907759" cy="5944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430"/>
                </a:solidFill>
                <a:latin typeface="IBM Plex Sans" pitchFamily="34" charset="0"/>
                <a:ea typeface="IBM Plex Sans" pitchFamily="34" charset="-122"/>
                <a:cs typeface="IBM Plex Sans" pitchFamily="34" charset="-120"/>
              </a:rPr>
              <a:t>When is it safe to evict a dirty page, and what must happen first?</a:t>
            </a:r>
            <a:endParaRPr lang="en-US" sz="1600" dirty="0"/>
          </a:p>
        </p:txBody>
      </p:sp>
      <p:sp>
        <p:nvSpPr>
          <p:cNvPr id="16" name="Text 14"/>
          <p:cNvSpPr/>
          <p:nvPr/>
        </p:nvSpPr>
        <p:spPr>
          <a:xfrm>
            <a:off x="812767" y="4912643"/>
            <a:ext cx="108834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3"/>
                </a:solidFill>
                <a:latin typeface="IBM Plex Sans" pitchFamily="34" charset="0"/>
                <a:ea typeface="IBM Plex Sans" pitchFamily="34" charset="-122"/>
                <a:cs typeface="IBM Plex Sans" pitchFamily="34" charset="-120"/>
              </a:rPr>
              <a:t>Next lecture: hash tables.</a:t>
            </a:r>
            <a:endParaRPr lang="en-US" sz="1200" dirty="0"/>
          </a:p>
        </p:txBody>
      </p:sp>
      <p:sp>
        <p:nvSpPr>
          <p:cNvPr id="17" name="Text 15"/>
          <p:cNvSpPr/>
          <p:nvPr/>
        </p:nvSpPr>
        <p:spPr>
          <a:xfrm>
            <a:off x="812767" y="6238292"/>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2"/>
                </a:solidFill>
                <a:latin typeface="IBM Plex Sans" pitchFamily="34" charset="0"/>
                <a:ea typeface="IBM Plex Sans" pitchFamily="34" charset="-122"/>
                <a:cs typeface="IBM Plex Sans" pitchFamily="34" charset="-120"/>
              </a:rPr>
              <a:t>Buffer Pools &amp; Memory Management</a:t>
            </a:r>
            <a:endParaRPr lang="en-US" sz="1200" dirty="0"/>
          </a:p>
        </p:txBody>
      </p:sp>
      <p:sp>
        <p:nvSpPr>
          <p:cNvPr id="18" name="Text 16"/>
          <p:cNvSpPr/>
          <p:nvPr/>
        </p:nvSpPr>
        <p:spPr>
          <a:xfrm>
            <a:off x="10058433" y="6238292"/>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B6672"/>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theme/theme1.xml><?xml version="1.0" encoding="utf-8"?>
<a:theme xmlns:a="http://schemas.openxmlformats.org/drawingml/2006/main" name="Buffer Pools &amp; Memory Management">
  <a:themeElements>
    <a:clrScheme name="Buffer Pools &amp; Memory Management">
      <a:dk1>
        <a:srgbClr val="12202F"/>
      </a:dk1>
      <a:lt1>
        <a:srgbClr val="F6F4EE"/>
      </a:lt1>
      <a:dk2>
        <a:srgbClr val="4B555F"/>
      </a:dk2>
      <a:lt2>
        <a:srgbClr val="DFDFDB"/>
      </a:lt2>
      <a:accent1>
        <a:srgbClr val="17707A"/>
      </a:accent1>
      <a:accent2>
        <a:srgbClr val="E8A33D"/>
      </a:accent2>
      <a:accent3>
        <a:srgbClr val="1E3A4F"/>
      </a:accent3>
      <a:accent4>
        <a:srgbClr val="8FC9CF"/>
      </a:accent4>
      <a:accent5>
        <a:srgbClr val="4A5563"/>
      </a:accent5>
      <a:accent6>
        <a:srgbClr val="5B6672"/>
      </a:accent6>
      <a:hlink>
        <a:srgbClr val="0563C1"/>
      </a:hlink>
      <a:folHlink>
        <a:srgbClr val="954F72"/>
      </a:folHlink>
    </a:clrScheme>
    <a:fontScheme name="Buffer Pools &amp; Memory Managemen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3030</Words>
  <Application>Microsoft Office PowerPoint</Application>
  <PresentationFormat>Widescreen</PresentationFormat>
  <Paragraphs>295</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IBM Plex Sans</vt:lpstr>
      <vt:lpstr>JetBrains Mono</vt:lpstr>
      <vt:lpstr>Arial</vt:lpstr>
      <vt:lpstr>Buffer Pools &amp; Memory Management</vt:lpstr>
      <vt:lpstr>Buffer Pools &amp; Memory Management</vt:lpstr>
      <vt:lpstr>Today’s agenda</vt:lpstr>
      <vt:lpstr>Why the DBMS manages its own memory</vt:lpstr>
      <vt:lpstr>Buffer pool organization</vt:lpstr>
      <vt:lpstr>Buffer pool metadata</vt:lpstr>
      <vt:lpstr>Locks vs. latches</vt:lpstr>
      <vt:lpstr>Multiple buffer pools</vt:lpstr>
      <vt:lpstr>Pre-fetching</vt:lpstr>
      <vt:lpstr>Scan sharing and buffer pool bypass</vt:lpstr>
      <vt:lpstr>Which page do we evict?</vt:lpstr>
      <vt:lpstr>CLOCK: an approximation of LRU</vt:lpstr>
      <vt:lpstr>Sequential flooding</vt:lpstr>
      <vt:lpstr>Better policies</vt:lpstr>
      <vt:lpstr>Dirty pages and background writing</vt:lpstr>
      <vt:lpstr>The OS page cache</vt:lpstr>
      <vt:lpstr>I/O scheduling and other memory pools</vt:lpstr>
      <vt:lpstr>Key takeaways</vt:lpstr>
      <vt:lpstr>Review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Buffer Pools &amp; Memory Management</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Ahsan Shah</cp:lastModifiedBy>
  <cp:revision>3</cp:revision>
  <dcterms:created xsi:type="dcterms:W3CDTF">2026-10-22T03:59:45Z</dcterms:created>
  <dcterms:modified xsi:type="dcterms:W3CDTF">2026-10-22T05:20:53Z</dcterms:modified>
</cp:coreProperties>
</file>