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335" r:id="rId2"/>
    <p:sldId id="336" r:id="rId3"/>
    <p:sldId id="337" r:id="rId4"/>
    <p:sldId id="367" r:id="rId5"/>
    <p:sldId id="338" r:id="rId6"/>
    <p:sldId id="364" r:id="rId7"/>
    <p:sldId id="340" r:id="rId8"/>
    <p:sldId id="341" r:id="rId9"/>
    <p:sldId id="342" r:id="rId10"/>
    <p:sldId id="343" r:id="rId11"/>
    <p:sldId id="344" r:id="rId12"/>
    <p:sldId id="345" r:id="rId13"/>
    <p:sldId id="368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6517" autoAdjust="0"/>
  </p:normalViewPr>
  <p:slideViewPr>
    <p:cSldViewPr snapToGrid="0">
      <p:cViewPr varScale="1">
        <p:scale>
          <a:sx n="60" d="100"/>
          <a:sy n="60" d="100"/>
        </p:scale>
        <p:origin x="1328" y="4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4900"/>
            <a:ext cx="6790690" cy="3515868"/>
          </a:xfrm>
        </p:spPr>
        <p:txBody>
          <a:bodyPr lIns="90488" tIns="44450" rIns="90488" bIns="44450"/>
          <a:lstStyle/>
          <a:p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i="1" dirty="0">
                <a:ea typeface="ＭＳ Ｐゴシック" panose="020B0600070205080204" pitchFamily="34" charset="-128"/>
              </a:rPr>
              <a:t>attributes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i="1" dirty="0"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 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i="1" dirty="0"/>
              <a:t>tuple</a:t>
            </a:r>
            <a:r>
              <a:rPr lang="en-US" altLang="en-US" dirty="0"/>
              <a:t> and is represented by a </a:t>
            </a:r>
            <a:r>
              <a:rPr lang="en-US" altLang="en-US" i="1" dirty="0"/>
              <a:t>row </a:t>
            </a:r>
            <a:r>
              <a:rPr lang="en-US" altLang="en-US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domain. Indicated that the value is “unknown”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1948917" y="2188304"/>
            <a:ext cx="4702738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Database schema -- is the logical structure of the database.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Database instance --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 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2589387" y="2909279"/>
            <a:ext cx="44830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8865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{</a:t>
            </a:r>
            <a:r>
              <a:rPr lang="en-US" altLang="en-US" sz="1700" dirty="0" err="1">
                <a:sym typeface="Symbol" panose="05050102010706020507" pitchFamily="18" charset="2"/>
              </a:rPr>
              <a:t>ID,name</a:t>
            </a:r>
            <a:r>
              <a:rPr lang="en-US" altLang="en-US" sz="1700" dirty="0">
                <a:sym typeface="Symbol" panose="05050102010706020507" pitchFamily="18" charset="2"/>
              </a:rPr>
              <a:t>} is </a:t>
            </a: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constraint: Value in one relation must appear in another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Referencing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Referenced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Example: </a:t>
            </a:r>
            <a:r>
              <a:rPr lang="en-US" altLang="en-US" sz="1700" i="1" dirty="0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 in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referencing </a:t>
            </a:r>
            <a:r>
              <a:rPr lang="en-US" altLang="en-US" sz="17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sz="1700" dirty="0"/>
              <a:t>“Pure” languages: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</a:p>
          <a:p>
            <a:r>
              <a:rPr lang="en-US" altLang="en-US" sz="1700" dirty="0"/>
              <a:t>We will concentrate in this chapter on relational algebra</a:t>
            </a:r>
          </a:p>
          <a:p>
            <a:pPr lvl="1"/>
            <a:r>
              <a:rPr lang="en-US" altLang="en-US" sz="1700" dirty="0"/>
              <a:t>Consists of 6 basic operations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700" dirty="0"/>
              <a:t>A  procedural language consisting  of a set of operations that take one or two relations as input and produce a new relation as their result. </a:t>
            </a:r>
          </a:p>
          <a:p>
            <a:r>
              <a:rPr lang="en-US" altLang="en-US" sz="1700" dirty="0"/>
              <a:t>Six basic operators</a:t>
            </a:r>
          </a:p>
          <a:p>
            <a:pPr lvl="1"/>
            <a:r>
              <a:rPr lang="en-US" altLang="en-US" sz="1700" dirty="0"/>
              <a:t>select: </a:t>
            </a:r>
            <a:r>
              <a:rPr kumimoji="0" lang="en-US" altLang="en-US" sz="1700" dirty="0">
                <a:sym typeface="Symbol" panose="05050102010706020507" pitchFamily="18" charset="2"/>
              </a:rPr>
              <a:t></a:t>
            </a:r>
            <a:endParaRPr lang="en-US" altLang="en-US" sz="1700" dirty="0"/>
          </a:p>
          <a:p>
            <a:pPr lvl="1"/>
            <a:r>
              <a:rPr lang="en-US" altLang="en-US" sz="1700" dirty="0"/>
              <a:t>project: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endParaRPr lang="en-US" altLang="en-US" sz="1700" dirty="0"/>
          </a:p>
          <a:p>
            <a:pPr lvl="1"/>
            <a:r>
              <a:rPr lang="en-US" altLang="en-US" sz="1700" dirty="0"/>
              <a:t>union: </a:t>
            </a:r>
            <a:r>
              <a:rPr lang="en-US" altLang="en-US" sz="1700" dirty="0">
                <a:sym typeface="Symbol" panose="05050102010706020507" pitchFamily="18" charset="2"/>
              </a:rPr>
              <a:t></a:t>
            </a:r>
            <a:endParaRPr lang="en-US" altLang="en-US" sz="1700" dirty="0"/>
          </a:p>
          <a:p>
            <a:pPr lvl="1"/>
            <a:r>
              <a:rPr lang="en-US" altLang="en-US" sz="1700" dirty="0"/>
              <a:t>set difference: </a:t>
            </a:r>
            <a:r>
              <a:rPr lang="en-US" altLang="en-US" sz="1700" i="1" dirty="0"/>
              <a:t>–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Cartesian product: x</a:t>
            </a:r>
          </a:p>
          <a:p>
            <a:pPr lvl="1"/>
            <a:r>
              <a:rPr lang="en-US" altLang="en-US" sz="1700" dirty="0"/>
              <a:t>rename: </a:t>
            </a:r>
            <a:r>
              <a:rPr lang="en-US" altLang="en-US" sz="17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574"/>
            <a:ext cx="7612170" cy="335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</a:t>
            </a:r>
            <a:r>
              <a:rPr lang="en-US" altLang="en-US" sz="1700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Result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858"/>
          <a:stretch/>
        </p:blipFill>
        <p:spPr>
          <a:xfrm>
            <a:off x="1735698" y="4125699"/>
            <a:ext cx="4932139" cy="1223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1700" dirty="0"/>
              <a:t> 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Duplicate rows removed from result, since relations are 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912353" cy="1567751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 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Result: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9823"/>
          <a:stretch/>
        </p:blipFill>
        <p:spPr>
          <a:xfrm>
            <a:off x="2386431" y="2422578"/>
            <a:ext cx="4216669" cy="3749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relation  and therefore of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" b="6551"/>
          <a:stretch/>
        </p:blipFill>
        <p:spPr>
          <a:xfrm>
            <a:off x="1669591" y="727075"/>
            <a:ext cx="5459492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878"/>
          <a:stretch/>
        </p:blipFill>
        <p:spPr>
          <a:xfrm>
            <a:off x="938783" y="1926336"/>
            <a:ext cx="7416310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49" r="37780" b="13863"/>
          <a:stretch/>
        </p:blipFill>
        <p:spPr>
          <a:xfrm>
            <a:off x="3481551" y="2414016"/>
            <a:ext cx="1818732" cy="28747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817" r="40862" b="33302"/>
          <a:stretch/>
        </p:blipFill>
        <p:spPr>
          <a:xfrm>
            <a:off x="3584772" y="4723514"/>
            <a:ext cx="1373862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709" r="41294" b="41353"/>
          <a:stretch/>
        </p:blipFill>
        <p:spPr>
          <a:xfrm>
            <a:off x="3971064" y="4882073"/>
            <a:ext cx="1201872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93979</TotalTime>
  <Words>2040</Words>
  <Application>Microsoft Office PowerPoint</Application>
  <PresentationFormat>On-screen Show (4:3)</PresentationFormat>
  <Paragraphs>233</Paragraphs>
  <Slides>30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  <vt:variant>
        <vt:lpstr>Custom Shows</vt:lpstr>
      </vt:variant>
      <vt:variant>
        <vt:i4>1</vt:i4>
      </vt:variant>
    </vt:vector>
  </HeadingPairs>
  <TitlesOfParts>
    <vt:vector size="41" baseType="lpstr">
      <vt:lpstr>ＭＳ Ｐゴシック</vt:lpstr>
      <vt:lpstr>Arial</vt:lpstr>
      <vt:lpstr>Cambria Math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Example of a Instructor  Relation</vt:lpstr>
      <vt:lpstr>Relation Schema and Instance</vt:lpstr>
      <vt:lpstr>Attributes</vt:lpstr>
      <vt:lpstr>Relations are Unordered</vt:lpstr>
      <vt:lpstr>Database Schema</vt:lpstr>
      <vt:lpstr>Keys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</vt:lpstr>
      <vt:lpstr>Project Operation Example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Ahsan Shah</cp:lastModifiedBy>
  <cp:revision>484</cp:revision>
  <cp:lastPrinted>1999-06-28T19:27:31Z</cp:lastPrinted>
  <dcterms:created xsi:type="dcterms:W3CDTF">2009-12-21T15:40:22Z</dcterms:created>
  <dcterms:modified xsi:type="dcterms:W3CDTF">2026-09-04T04:35:44Z</dcterms:modified>
</cp:coreProperties>
</file>