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77"/>
  </p:notesMasterIdLst>
  <p:handoutMasterIdLst>
    <p:handoutMasterId r:id="rId78"/>
  </p:handoutMasterIdLst>
  <p:sldIdLst>
    <p:sldId id="445" r:id="rId2"/>
    <p:sldId id="446" r:id="rId3"/>
    <p:sldId id="338" r:id="rId4"/>
    <p:sldId id="339" r:id="rId5"/>
    <p:sldId id="340" r:id="rId6"/>
    <p:sldId id="341" r:id="rId7"/>
    <p:sldId id="342" r:id="rId8"/>
    <p:sldId id="343" r:id="rId9"/>
    <p:sldId id="440" r:id="rId10"/>
    <p:sldId id="447" r:id="rId11"/>
    <p:sldId id="448" r:id="rId12"/>
    <p:sldId id="449" r:id="rId13"/>
    <p:sldId id="347" r:id="rId14"/>
    <p:sldId id="450" r:id="rId15"/>
    <p:sldId id="453" r:id="rId16"/>
    <p:sldId id="454" r:id="rId17"/>
    <p:sldId id="455" r:id="rId18"/>
    <p:sldId id="352" r:id="rId19"/>
    <p:sldId id="457" r:id="rId20"/>
    <p:sldId id="458" r:id="rId21"/>
    <p:sldId id="460" r:id="rId22"/>
    <p:sldId id="356" r:id="rId23"/>
    <p:sldId id="357" r:id="rId24"/>
    <p:sldId id="471" r:id="rId25"/>
    <p:sldId id="358" r:id="rId26"/>
    <p:sldId id="359" r:id="rId27"/>
    <p:sldId id="360" r:id="rId28"/>
    <p:sldId id="470" r:id="rId29"/>
    <p:sldId id="362" r:id="rId30"/>
    <p:sldId id="363" r:id="rId31"/>
    <p:sldId id="364" r:id="rId32"/>
    <p:sldId id="365" r:id="rId33"/>
    <p:sldId id="366" r:id="rId34"/>
    <p:sldId id="367" r:id="rId35"/>
    <p:sldId id="461" r:id="rId36"/>
    <p:sldId id="369" r:id="rId37"/>
    <p:sldId id="370" r:id="rId38"/>
    <p:sldId id="371" r:id="rId39"/>
    <p:sldId id="372" r:id="rId40"/>
    <p:sldId id="373" r:id="rId41"/>
    <p:sldId id="374" r:id="rId42"/>
    <p:sldId id="375" r:id="rId43"/>
    <p:sldId id="376" r:id="rId44"/>
    <p:sldId id="377" r:id="rId45"/>
    <p:sldId id="378" r:id="rId46"/>
    <p:sldId id="379" r:id="rId47"/>
    <p:sldId id="472" r:id="rId48"/>
    <p:sldId id="473" r:id="rId49"/>
    <p:sldId id="380" r:id="rId50"/>
    <p:sldId id="381" r:id="rId51"/>
    <p:sldId id="262" r:id="rId52"/>
    <p:sldId id="382" r:id="rId53"/>
    <p:sldId id="263" r:id="rId54"/>
    <p:sldId id="383" r:id="rId55"/>
    <p:sldId id="384" r:id="rId56"/>
    <p:sldId id="266" r:id="rId57"/>
    <p:sldId id="385" r:id="rId58"/>
    <p:sldId id="462" r:id="rId59"/>
    <p:sldId id="464" r:id="rId60"/>
    <p:sldId id="270" r:id="rId61"/>
    <p:sldId id="465" r:id="rId62"/>
    <p:sldId id="466" r:id="rId63"/>
    <p:sldId id="271" r:id="rId64"/>
    <p:sldId id="269" r:id="rId65"/>
    <p:sldId id="467" r:id="rId66"/>
    <p:sldId id="273" r:id="rId67"/>
    <p:sldId id="468" r:id="rId68"/>
    <p:sldId id="469" r:id="rId69"/>
    <p:sldId id="274" r:id="rId70"/>
    <p:sldId id="275" r:id="rId71"/>
    <p:sldId id="393" r:id="rId72"/>
    <p:sldId id="276" r:id="rId73"/>
    <p:sldId id="394" r:id="rId74"/>
    <p:sldId id="277" r:id="rId75"/>
    <p:sldId id="395" r:id="rId76"/>
  </p:sldIdLst>
  <p:sldSz cx="9144000" cy="6858000" type="screen4x3"/>
  <p:notesSz cx="6997700" cy="9283700"/>
  <p:custShowLst>
    <p:custShow name="Custom Show 1" id="0">
      <p:sldLst/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7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2" autoAdjust="0"/>
    <p:restoredTop sz="94737" autoAdjust="0"/>
  </p:normalViewPr>
  <p:slideViewPr>
    <p:cSldViewPr snapToGrid="0">
      <p:cViewPr varScale="1">
        <p:scale>
          <a:sx n="59" d="100"/>
          <a:sy n="59" d="100"/>
        </p:scale>
        <p:origin x="1368" y="52"/>
      </p:cViewPr>
      <p:guideLst>
        <p:guide orient="horz" pos="707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handoutMaster" Target="handoutMasters/handout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>
            <a:extLst>
              <a:ext uri="{FF2B5EF4-FFF2-40B4-BE49-F238E27FC236}">
                <a16:creationId xmlns:a16="http://schemas.microsoft.com/office/drawing/2014/main" id="{C6EF5354-BFFB-44DF-8FA7-1A088153BD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7" name="Rectangle 3">
            <a:extLst>
              <a:ext uri="{FF2B5EF4-FFF2-40B4-BE49-F238E27FC236}">
                <a16:creationId xmlns:a16="http://schemas.microsoft.com/office/drawing/2014/main" id="{5BBF6CF9-ADFE-4F6E-89A0-8CB582D8FFC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8" name="Rectangle 4">
            <a:extLst>
              <a:ext uri="{FF2B5EF4-FFF2-40B4-BE49-F238E27FC236}">
                <a16:creationId xmlns:a16="http://schemas.microsoft.com/office/drawing/2014/main" id="{8C120FC7-7BCE-4696-BB5D-C087861E4B4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9" name="Rectangle 5">
            <a:extLst>
              <a:ext uri="{FF2B5EF4-FFF2-40B4-BE49-F238E27FC236}">
                <a16:creationId xmlns:a16="http://schemas.microsoft.com/office/drawing/2014/main" id="{6735A123-7D3E-455E-AB82-1C3749BB05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8B4C920-550B-4EA7-9CB5-2D8883A273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>
            <a:extLst>
              <a:ext uri="{FF2B5EF4-FFF2-40B4-BE49-F238E27FC236}">
                <a16:creationId xmlns:a16="http://schemas.microsoft.com/office/drawing/2014/main" id="{2E8AF117-EF14-4BF3-AB7D-D75C4F934CC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3" name="Rectangle 3">
            <a:extLst>
              <a:ext uri="{FF2B5EF4-FFF2-40B4-BE49-F238E27FC236}">
                <a16:creationId xmlns:a16="http://schemas.microsoft.com/office/drawing/2014/main" id="{D7D2DA5C-BED3-45D1-AFD2-94AF29863AB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2936E5F-4C9B-4144-9261-C3F188AA67D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0645" name="Rectangle 5">
            <a:extLst>
              <a:ext uri="{FF2B5EF4-FFF2-40B4-BE49-F238E27FC236}">
                <a16:creationId xmlns:a16="http://schemas.microsoft.com/office/drawing/2014/main" id="{D73F14C5-05F8-4300-9D01-F3633C85474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0646" name="Rectangle 6">
            <a:extLst>
              <a:ext uri="{FF2B5EF4-FFF2-40B4-BE49-F238E27FC236}">
                <a16:creationId xmlns:a16="http://schemas.microsoft.com/office/drawing/2014/main" id="{BCB6CAD9-A006-4455-8054-9CACB290288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7" name="Rectangle 7">
            <a:extLst>
              <a:ext uri="{FF2B5EF4-FFF2-40B4-BE49-F238E27FC236}">
                <a16:creationId xmlns:a16="http://schemas.microsoft.com/office/drawing/2014/main" id="{63060AD7-0C3D-477B-BD60-55C8EBDB94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E66C03C-4B0E-4149-8287-A3B340EB81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351C3CC-85E9-4EB0-AE84-86EE2CEAA304}" type="slidenum">
              <a:rPr lang="en-US" altLang="en-US" sz="1200">
                <a:latin typeface="Times New Roman" panose="02020603050405020304" pitchFamily="18" charset="0"/>
              </a:rPr>
              <a:pPr/>
              <a:t>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E56AE75-B906-4BBE-9F19-01C6ABDA8665}" type="slidenum">
              <a:rPr lang="en-US" altLang="en-US" sz="1200"/>
              <a:pPr/>
              <a:t>2</a:t>
            </a:fld>
            <a:endParaRPr lang="en-US" altLang="en-US" sz="1200"/>
          </a:p>
        </p:txBody>
      </p:sp>
      <p:sp>
        <p:nvSpPr>
          <p:cNvPr id="18435" name="Rectangle 2"/>
          <p:cNvSpPr>
            <a:spLocks noChangeArrowheads="1"/>
          </p:cNvSpPr>
          <p:nvPr/>
        </p:nvSpPr>
        <p:spPr bwMode="auto">
          <a:xfrm>
            <a:off x="3965576" y="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8436" name="Rectangle 3"/>
          <p:cNvSpPr>
            <a:spLocks noChangeArrowheads="1"/>
          </p:cNvSpPr>
          <p:nvPr/>
        </p:nvSpPr>
        <p:spPr bwMode="auto">
          <a:xfrm>
            <a:off x="3965576" y="882015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8" tIns="45221" rIns="92058" bIns="4522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8437" name="Rectangle 4"/>
          <p:cNvSpPr>
            <a:spLocks noChangeArrowheads="1"/>
          </p:cNvSpPr>
          <p:nvPr/>
        </p:nvSpPr>
        <p:spPr bwMode="auto">
          <a:xfrm>
            <a:off x="1" y="882015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8438" name="Rectangle 5"/>
          <p:cNvSpPr>
            <a:spLocks noChangeArrowheads="1"/>
          </p:cNvSpPr>
          <p:nvPr/>
        </p:nvSpPr>
        <p:spPr bwMode="auto">
          <a:xfrm>
            <a:off x="1" y="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8439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18440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58" tIns="45221" rIns="92058" bIns="45221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3449113-501E-40AA-8204-F51F280D2CC8}" type="slidenum">
              <a:rPr lang="en-US" altLang="en-US" smtClean="0"/>
              <a:pPr/>
              <a:t>3</a:t>
            </a:fld>
            <a:endParaRPr lang="en-US" altLang="en-US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2400" y="4410466"/>
            <a:ext cx="5132902" cy="4175934"/>
          </a:xfrm>
          <a:noFill/>
          <a:ln/>
        </p:spPr>
        <p:txBody>
          <a:bodyPr/>
          <a:lstStyle/>
          <a:p>
            <a:endParaRPr lang="en-US" alt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79B905-280D-44BD-8E31-AB90F5734834}" type="slidenum">
              <a:rPr lang="en-US" altLang="en-US" smtClean="0"/>
              <a:pPr/>
              <a:t>4</a:t>
            </a:fld>
            <a:endParaRPr lang="en-US" alt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79B905-280D-44BD-8E31-AB90F5734834}" type="slidenum">
              <a:rPr lang="en-US" altLang="en-US" smtClean="0"/>
              <a:pPr/>
              <a:t>5</a:t>
            </a:fld>
            <a:endParaRPr lang="en-US" alt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5DDB2F-C4B9-42E9-A66C-BCA14058EE6E}" type="slidenum">
              <a:rPr lang="en-US" altLang="en-US" sz="1200"/>
              <a:pPr/>
              <a:t>6</a:t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5DDB2F-C4B9-42E9-A66C-BCA14058EE6E}" type="slidenum">
              <a:rPr lang="en-US" altLang="en-US" sz="1200"/>
              <a:pPr/>
              <a:t>7</a:t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5DDB2F-C4B9-42E9-A66C-BCA14058EE6E}" type="slidenum">
              <a:rPr lang="en-US" altLang="en-US" sz="1200"/>
              <a:pPr/>
              <a:t>8</a:t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79B905-280D-44BD-8E31-AB90F5734834}" type="slidenum">
              <a:rPr lang="en-US" altLang="en-US" smtClean="0"/>
              <a:pPr/>
              <a:t>9</a:t>
            </a:fld>
            <a:endParaRPr lang="en-US" alt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7174961-0CF3-42A6-8222-18520414FAD4}" type="slidenum">
              <a:rPr lang="en-US" altLang="en-US" sz="1200"/>
              <a:pPr/>
              <a:t>10</a:t>
            </a:fld>
            <a:endParaRPr lang="en-US" altLang="en-US" sz="1200" dirty="0"/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759" y="4410392"/>
            <a:ext cx="5134182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15122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7174961-0CF3-42A6-8222-18520414FAD4}" type="slidenum">
              <a:rPr lang="en-US" altLang="en-US" sz="1200"/>
              <a:pPr/>
              <a:t>11</a:t>
            </a:fld>
            <a:endParaRPr lang="en-US" altLang="en-US" sz="1200" dirty="0"/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759" y="4410392"/>
            <a:ext cx="5134182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15122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7174961-0CF3-42A6-8222-18520414FAD4}" type="slidenum">
              <a:rPr lang="en-US" altLang="en-US" sz="1200"/>
              <a:pPr/>
              <a:t>12</a:t>
            </a:fld>
            <a:endParaRPr lang="en-US" altLang="en-US" sz="1200" dirty="0"/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759" y="4410392"/>
            <a:ext cx="5134182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15122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5DDB2F-C4B9-42E9-A66C-BCA14058EE6E}" type="slidenum">
              <a:rPr lang="en-US" altLang="en-US" sz="1200"/>
              <a:pPr/>
              <a:t>13</a:t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5DDB2F-C4B9-42E9-A66C-BCA14058EE6E}" type="slidenum">
              <a:rPr lang="en-US" altLang="en-US" sz="1200"/>
              <a:pPr/>
              <a:t>14</a:t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5DDB2F-C4B9-42E9-A66C-BCA14058EE6E}" type="slidenum">
              <a:rPr lang="en-US" altLang="en-US" sz="1200"/>
              <a:pPr/>
              <a:t>15</a:t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5DDB2F-C4B9-42E9-A66C-BCA14058EE6E}" type="slidenum">
              <a:rPr lang="en-US" altLang="en-US" sz="1200"/>
              <a:pPr/>
              <a:t>16</a:t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5DDB2F-C4B9-42E9-A66C-BCA14058EE6E}" type="slidenum">
              <a:rPr lang="en-US" altLang="en-US" sz="1200"/>
              <a:pPr/>
              <a:t>17</a:t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EE474B3-6199-4C51-85D8-10EAF40AA925}" type="slidenum">
              <a:rPr lang="en-US" altLang="en-US" sz="1200"/>
              <a:pPr/>
              <a:t>18</a:t>
            </a:fld>
            <a:endParaRPr lang="en-US" altLang="en-US" sz="120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5DDB2F-C4B9-42E9-A66C-BCA14058EE6E}" type="slidenum">
              <a:rPr lang="en-US" altLang="en-US" sz="1200"/>
              <a:pPr/>
              <a:t>19</a:t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5DDB2F-C4B9-42E9-A66C-BCA14058EE6E}" type="slidenum">
              <a:rPr lang="en-US" altLang="en-US" sz="1200"/>
              <a:pPr/>
              <a:t>20</a:t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5DDB2F-C4B9-42E9-A66C-BCA14058EE6E}" type="slidenum">
              <a:rPr lang="en-US" altLang="en-US" sz="1200"/>
              <a:pPr/>
              <a:t>21</a:t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7D0D930-A2D8-469D-B052-FB82FC88E015}" type="slidenum">
              <a:rPr lang="en-US" altLang="en-US" sz="1200"/>
              <a:pPr/>
              <a:t>22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04C8304-CA7E-484A-A59E-D08422FFDCB2}" type="slidenum">
              <a:rPr lang="en-US" altLang="en-US" sz="1200"/>
              <a:pPr/>
              <a:t>23</a:t>
            </a:fld>
            <a:endParaRPr lang="en-US" altLang="en-US" sz="120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E7261DA-54B3-4A93-9499-25636D977100}" type="slidenum">
              <a:rPr lang="en-US" altLang="en-US" sz="1200"/>
              <a:pPr/>
              <a:t>25</a:t>
            </a:fld>
            <a:endParaRPr lang="en-US" altLang="en-US" sz="120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59C4894-872D-48F9-9264-417C7C9B2EAD}" type="slidenum">
              <a:rPr lang="en-US" altLang="en-US" sz="1200"/>
              <a:pPr/>
              <a:t>26</a:t>
            </a:fld>
            <a:endParaRPr lang="en-US" altLang="en-US" sz="1200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52E9D7F-36E5-47CB-BEF4-89802073A499}" type="slidenum">
              <a:rPr lang="en-US" altLang="en-US" sz="1200"/>
              <a:pPr/>
              <a:t>29</a:t>
            </a:fld>
            <a:endParaRPr lang="en-US" altLang="en-US" sz="120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25C1F8B-BDD5-4D70-8389-7FD988212B04}" type="slidenum">
              <a:rPr lang="en-US" altLang="en-US" sz="1200"/>
              <a:pPr/>
              <a:t>31</a:t>
            </a:fld>
            <a:endParaRPr lang="en-US" altLang="en-US" sz="120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01FBBFF-88DD-4104-93D5-9ABA9DECF1D5}" type="slidenum">
              <a:rPr lang="en-US" altLang="en-US" sz="1200"/>
              <a:pPr/>
              <a:t>32</a:t>
            </a:fld>
            <a:endParaRPr lang="en-US" altLang="en-US" sz="1200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01FBBFF-88DD-4104-93D5-9ABA9DECF1D5}" type="slidenum">
              <a:rPr lang="en-US" altLang="en-US" sz="1200"/>
              <a:pPr/>
              <a:t>34</a:t>
            </a:fld>
            <a:endParaRPr lang="en-US" altLang="en-US" sz="1200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01FBBFF-88DD-4104-93D5-9ABA9DECF1D5}" type="slidenum">
              <a:rPr lang="en-US" altLang="en-US" sz="1200"/>
              <a:pPr/>
              <a:t>35</a:t>
            </a:fld>
            <a:endParaRPr lang="en-US" altLang="en-US" sz="1200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830243F-8686-4433-9701-9F34E8AC8773}" type="slidenum">
              <a:rPr lang="en-US" altLang="en-US" sz="1200"/>
              <a:pPr/>
              <a:t>36</a:t>
            </a:fld>
            <a:endParaRPr lang="en-US" altLang="en-US" sz="120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45649CE-6E1F-4A66-818C-4E7F6898A7A7}" type="slidenum">
              <a:rPr lang="en-US" altLang="en-US" sz="1200"/>
              <a:pPr/>
              <a:t>37</a:t>
            </a:fld>
            <a:endParaRPr lang="en-US" altLang="en-US" sz="1200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FA9640E-5C10-4629-8988-A9A2CA4B65CD}" type="slidenum">
              <a:rPr lang="en-US" altLang="en-US" sz="1200"/>
              <a:pPr/>
              <a:t>38</a:t>
            </a:fld>
            <a:endParaRPr lang="en-US" altLang="en-US" sz="120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FA9640E-5C10-4629-8988-A9A2CA4B65CD}" type="slidenum">
              <a:rPr lang="en-US" altLang="en-US" sz="1200"/>
              <a:pPr/>
              <a:t>39</a:t>
            </a:fld>
            <a:endParaRPr lang="en-US" altLang="en-US" sz="120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76C4670-485C-41B4-B6C8-2F72766EE515}" type="slidenum">
              <a:rPr lang="en-US" altLang="en-US" sz="1200"/>
              <a:pPr/>
              <a:t>40</a:t>
            </a:fld>
            <a:endParaRPr lang="en-US" altLang="en-US" sz="120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DEFD3E4-E538-49EF-A1BC-D85549A485CA}" type="slidenum">
              <a:rPr lang="en-US" altLang="en-US" sz="1200"/>
              <a:pPr/>
              <a:t>41</a:t>
            </a:fld>
            <a:endParaRPr lang="en-US" altLang="en-US" sz="120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DEFD3E4-E538-49EF-A1BC-D85549A485CA}" type="slidenum">
              <a:rPr lang="en-US" altLang="en-US" sz="1200"/>
              <a:pPr/>
              <a:t>42</a:t>
            </a:fld>
            <a:endParaRPr lang="en-US" altLang="en-US" sz="120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9819F5B-7A32-4D84-A65B-6246CABB1E02}" type="slidenum">
              <a:rPr lang="en-US" altLang="en-US" sz="1200"/>
              <a:pPr/>
              <a:t>43</a:t>
            </a:fld>
            <a:endParaRPr lang="en-US" altLang="en-US" sz="120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921C35E-7DD2-43A4-B0B3-DF6655FBBF3E}" type="slidenum">
              <a:rPr lang="en-US" altLang="en-US" sz="1200"/>
              <a:pPr/>
              <a:t>49</a:t>
            </a:fld>
            <a:endParaRPr lang="en-US" altLang="en-US" sz="1200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C5AA873-0E0F-4E9D-B9D0-F99186FE665C}" type="slidenum">
              <a:rPr lang="en-US" altLang="en-US" sz="1200"/>
              <a:pPr/>
              <a:t>50</a:t>
            </a:fld>
            <a:endParaRPr lang="en-US" altLang="en-US" sz="1200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9F710CF-2C3A-4019-8007-D8C75860C40C}" type="slidenum">
              <a:rPr lang="en-US" altLang="en-US" sz="1200"/>
              <a:pPr/>
              <a:t>52</a:t>
            </a:fld>
            <a:endParaRPr lang="en-US" altLang="en-US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ACED373-63CE-4F43-BE90-54DF58F8F5BB}" type="slidenum">
              <a:rPr lang="en-US" altLang="en-US" sz="1200"/>
              <a:pPr/>
              <a:t>75</a:t>
            </a:fld>
            <a:endParaRPr lang="en-US" altLang="en-US" sz="1200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A25BB261-D773-4836-B381-7A051175F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513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4760F52-45E1-4E1D-A744-2F2290DE90C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3B69BB99-A72A-4470-971F-83530C443C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13858" y="0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0487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350" y="1093788"/>
            <a:ext cx="7707313" cy="4903787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4371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6F2EBE-FF5F-4F9D-A3C2-A59A92D7809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7F3CAF-32BF-49A6-93F1-59C9E4B7C9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0709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6D4A7F0-1138-4608-80AA-D0A6F5D4118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852D5F-D37B-4E9D-98AD-511A1ABBD6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0802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6DFCFB3-6710-4DD2-8404-7E55A930F35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191CCC-CC48-429B-87C9-7123B48E52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9042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B431453-8F56-47C4-89BA-3EDF3CD092B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9D92F0-DB25-4E6B-A10D-A7937AC7A3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6005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4BE8099E-18A5-481A-9697-216087BE067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555C8E-F740-4D28-8DA3-D7B8E0F6F5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2147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7E2C57D-1205-411A-BA90-DF60A810F6D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BBE5B0-1186-4DAB-9E97-511F15F5C6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8809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9EB6957-06EE-46F8-A450-3DB417A1F8A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1DB2E-7BC4-4C22-ACAE-0B8B3F0C51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14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C950AD-734E-45C7-8042-5795FFAD675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E5E31B-1343-4510-8DCD-65E7B65446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304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A7A2CD-B5B0-4CF6-8038-339B0E99E3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3574B0-C055-4E38-82A9-667A1DF1F8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4649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796C49-4A73-449B-A170-DFFCD45313D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0D9E99-A0D8-4F2F-B04A-331DF655FE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82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6112478-D9B7-4D0D-ADE5-62D5EFAAFB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47558" y="1093788"/>
            <a:ext cx="7728105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512003" name="Rectangle 3">
            <a:extLst>
              <a:ext uri="{FF2B5EF4-FFF2-40B4-BE49-F238E27FC236}">
                <a16:creationId xmlns:a16="http://schemas.microsoft.com/office/drawing/2014/main" id="{D2EB5033-CF44-472B-B77D-FAA18581E6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00206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BECA7E0-09BC-41D3-BD93-B7E81A2ACCB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id="{D0CFC8B2-2C6C-4CA4-9AFC-14298F0DD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Korth and Sudarshan</a:t>
            </a:r>
          </a:p>
        </p:txBody>
      </p:sp>
      <p:sp>
        <p:nvSpPr>
          <p:cNvPr id="512005" name="Text Box 5">
            <a:extLst>
              <a:ext uri="{FF2B5EF4-FFF2-40B4-BE49-F238E27FC236}">
                <a16:creationId xmlns:a16="http://schemas.microsoft.com/office/drawing/2014/main" id="{ED25C836-0663-424A-84A7-5AB80342286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79984" y="6613525"/>
            <a:ext cx="44755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4.</a:t>
            </a:r>
            <a:fld id="{669DE52E-05EC-4487-BE79-3F9A6A9F8797}" type="slidenum">
              <a:rPr lang="en-US" altLang="en-US" sz="1000" b="1" smtClean="0">
                <a:solidFill>
                  <a:srgbClr val="00206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512006" name="Rectangle 6">
            <a:extLst>
              <a:ext uri="{FF2B5EF4-FFF2-40B4-BE49-F238E27FC236}">
                <a16:creationId xmlns:a16="http://schemas.microsoft.com/office/drawing/2014/main" id="{BFAC4B4C-D3C2-4A14-871E-CC7D45F076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5472E9A1-C06F-4393-872E-7F8100F91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id="{0362D880-06BD-4D02-876C-3226AC8E6F10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6 h 61"/>
              <a:gd name="T2" fmla="*/ 2147483646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2147483646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2147483646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2147483646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" name="Picture 8" descr="Cover-6Ed"/>
          <p:cNvPicPr>
            <a:picLocks noChangeAspect="1" noChangeArrowheads="1"/>
          </p:cNvPicPr>
          <p:nvPr userDrawn="1"/>
        </p:nvPicPr>
        <p:blipFill>
          <a:blip r:embed="rId14"/>
          <a:stretch>
            <a:fillRect/>
          </a:stretch>
        </p:blipFill>
        <p:spPr bwMode="auto">
          <a:xfrm>
            <a:off x="5546" y="0"/>
            <a:ext cx="742012" cy="94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95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Chapter 4 : </a:t>
            </a:r>
            <a:r>
              <a:rPr lang="en-US" dirty="0"/>
              <a:t>Intermediate SQL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pPr>
              <a:defRPr/>
            </a:pPr>
            <a:r>
              <a:rPr lang="en-US" sz="2800" dirty="0">
                <a:ea typeface="+mj-ea"/>
              </a:rPr>
              <a:t>Outline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4900"/>
            <a:ext cx="6587800" cy="4135840"/>
          </a:xfrm>
          <a:noFill/>
        </p:spPr>
        <p:txBody>
          <a:bodyPr lIns="90488" tIns="44450" rIns="90488" bIns="44450"/>
          <a:lstStyle/>
          <a:p>
            <a:r>
              <a:rPr lang="en-US" altLang="en-US" sz="1700" dirty="0"/>
              <a:t>Join  Expressions</a:t>
            </a:r>
          </a:p>
          <a:p>
            <a:r>
              <a:rPr lang="en-US" altLang="en-US" sz="1700" dirty="0"/>
              <a:t>Views</a:t>
            </a:r>
          </a:p>
          <a:p>
            <a:r>
              <a:rPr lang="en-US" altLang="en-US" sz="1700" dirty="0"/>
              <a:t>Transactions</a:t>
            </a:r>
          </a:p>
          <a:p>
            <a:r>
              <a:rPr lang="en-US" altLang="en-US" sz="1700" dirty="0"/>
              <a:t>Integrity Constraints</a:t>
            </a:r>
          </a:p>
          <a:p>
            <a:r>
              <a:rPr lang="en-US" altLang="en-US" sz="1700" dirty="0"/>
              <a:t>SQL Data Types and Schemas</a:t>
            </a:r>
          </a:p>
          <a:p>
            <a:r>
              <a:rPr lang="en-US" altLang="en-US" sz="1700" dirty="0"/>
              <a:t>Index Definition in SQL</a:t>
            </a:r>
          </a:p>
          <a:p>
            <a:r>
              <a:rPr lang="en-US" altLang="en-US" sz="1700" dirty="0"/>
              <a:t>Authorization</a:t>
            </a: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Joined Relations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49" y="1194843"/>
            <a:ext cx="7585537" cy="4548187"/>
          </a:xfrm>
        </p:spPr>
        <p:txBody>
          <a:bodyPr/>
          <a:lstStyle/>
          <a:p>
            <a:r>
              <a:rPr lang="en-US" altLang="en-US" sz="1700" b="1" dirty="0">
                <a:solidFill>
                  <a:srgbClr val="002060"/>
                </a:solidFill>
                <a:ea typeface="ＭＳ Ｐゴシック" pitchFamily="34" charset="-128"/>
              </a:rPr>
              <a:t>Join operations</a:t>
            </a:r>
            <a:r>
              <a:rPr lang="en-US" altLang="en-US" sz="1700" dirty="0">
                <a:solidFill>
                  <a:srgbClr val="002060"/>
                </a:solidFill>
                <a:ea typeface="ＭＳ Ｐゴシック" pitchFamily="34" charset="-128"/>
              </a:rPr>
              <a:t> </a:t>
            </a:r>
            <a:r>
              <a:rPr lang="en-US" altLang="en-US" sz="1700" dirty="0">
                <a:ea typeface="ＭＳ Ｐゴシック" pitchFamily="34" charset="-128"/>
              </a:rPr>
              <a:t>take two relations and return as a result another relation.</a:t>
            </a:r>
          </a:p>
          <a:p>
            <a:r>
              <a:rPr lang="en-US" altLang="en-US" sz="1700" dirty="0">
                <a:ea typeface="ＭＳ Ｐゴシック" pitchFamily="34" charset="-128"/>
              </a:rPr>
              <a:t>A join operation is a Cartesian product which requires that tuples in the two relations match (under some condition).  It also specifies the attributes that are present in the result of the join </a:t>
            </a:r>
          </a:p>
          <a:p>
            <a:r>
              <a:rPr lang="en-US" altLang="en-US" sz="1700" dirty="0">
                <a:ea typeface="ＭＳ Ｐゴシック" pitchFamily="34" charset="-128"/>
              </a:rPr>
              <a:t>The join operations are typically used as subquery expressions in the </a:t>
            </a:r>
            <a:r>
              <a:rPr lang="en-US" altLang="en-US" sz="1700" b="1" dirty="0">
                <a:ea typeface="ＭＳ Ｐゴシック" pitchFamily="34" charset="-128"/>
              </a:rPr>
              <a:t>from </a:t>
            </a:r>
            <a:r>
              <a:rPr lang="en-US" altLang="en-US" sz="1700" dirty="0">
                <a:ea typeface="ＭＳ Ｐゴシック" pitchFamily="34" charset="-128"/>
              </a:rPr>
              <a:t>clause</a:t>
            </a:r>
          </a:p>
          <a:p>
            <a:r>
              <a:rPr lang="en-US" altLang="en-US" sz="1700" dirty="0">
                <a:ea typeface="ＭＳ Ｐゴシック" pitchFamily="34" charset="-128"/>
              </a:rPr>
              <a:t>Three types of joins:</a:t>
            </a:r>
          </a:p>
          <a:p>
            <a:pPr lvl="1"/>
            <a:r>
              <a:rPr lang="en-US" altLang="en-US" sz="1700" dirty="0">
                <a:ea typeface="ＭＳ Ｐゴシック" pitchFamily="34" charset="-128"/>
              </a:rPr>
              <a:t>Natural join</a:t>
            </a:r>
          </a:p>
          <a:p>
            <a:pPr lvl="1"/>
            <a:r>
              <a:rPr lang="en-US" altLang="en-US" sz="1700" dirty="0">
                <a:ea typeface="ＭＳ Ｐゴシック" pitchFamily="34" charset="-128"/>
              </a:rPr>
              <a:t>Inner join</a:t>
            </a:r>
          </a:p>
          <a:p>
            <a:pPr lvl="1"/>
            <a:r>
              <a:rPr lang="en-US" altLang="en-US" sz="1700" dirty="0">
                <a:ea typeface="ＭＳ Ｐゴシック" pitchFamily="34" charset="-128"/>
              </a:rPr>
              <a:t>Outer join</a:t>
            </a:r>
          </a:p>
          <a:p>
            <a:pPr lvl="1">
              <a:buFont typeface="Monotype Sorts" charset="2"/>
              <a:buNone/>
            </a:pPr>
            <a:endParaRPr lang="en-US" altLang="en-US" sz="2000" dirty="0">
              <a:ea typeface="ＭＳ Ｐゴシック" pitchFamily="34" charset="-128"/>
            </a:endParaRPr>
          </a:p>
          <a:p>
            <a:endParaRPr lang="en-US" altLang="en-US" dirty="0">
              <a:ea typeface="ＭＳ Ｐゴシック" pitchFamily="34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/>
              <a:t>Natural Join in SQL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78992"/>
            <a:ext cx="7647681" cy="4983163"/>
          </a:xfrm>
        </p:spPr>
        <p:txBody>
          <a:bodyPr/>
          <a:lstStyle/>
          <a:p>
            <a:r>
              <a:rPr lang="en-US" altLang="en-US" sz="1700" dirty="0">
                <a:ea typeface="ＭＳ Ｐゴシック" pitchFamily="34" charset="-128"/>
              </a:rPr>
              <a:t>Natural join matches tuples with the same values for all common attributes, and retains only one copy of each common column.</a:t>
            </a:r>
          </a:p>
          <a:p>
            <a:r>
              <a:rPr lang="en-US" altLang="en-US" sz="1700" dirty="0">
                <a:ea typeface="ＭＳ Ｐゴシック" pitchFamily="34" charset="-128"/>
              </a:rPr>
              <a:t>List the names of instructors along with the course ID of the courses that they taught</a:t>
            </a:r>
          </a:p>
          <a:p>
            <a:pPr lvl="1"/>
            <a:r>
              <a:rPr lang="en-US" altLang="en-US" sz="1700" b="1" dirty="0">
                <a:ea typeface="ＭＳ Ｐゴシック" pitchFamily="34" charset="-128"/>
              </a:rPr>
              <a:t>select </a:t>
            </a:r>
            <a:r>
              <a:rPr lang="en-US" altLang="en-US" sz="1700" i="1" dirty="0">
                <a:ea typeface="ＭＳ Ｐゴシック" pitchFamily="34" charset="-128"/>
              </a:rPr>
              <a:t>name</a:t>
            </a:r>
            <a:r>
              <a:rPr lang="en-US" altLang="en-US" sz="1700" dirty="0">
                <a:ea typeface="ＭＳ Ｐゴシック" pitchFamily="34" charset="-128"/>
              </a:rPr>
              <a:t>, </a:t>
            </a:r>
            <a:r>
              <a:rPr lang="en-US" altLang="en-US" sz="1700" i="1" dirty="0" err="1">
                <a:ea typeface="ＭＳ Ｐゴシック" pitchFamily="34" charset="-128"/>
              </a:rPr>
              <a:t>course_id</a:t>
            </a:r>
            <a:br>
              <a:rPr lang="en-US" altLang="en-US" sz="1700" i="1" dirty="0">
                <a:ea typeface="ＭＳ Ｐゴシック" pitchFamily="34" charset="-128"/>
              </a:rPr>
            </a:br>
            <a:r>
              <a:rPr lang="en-US" altLang="en-US" sz="1700" b="1" dirty="0">
                <a:ea typeface="ＭＳ Ｐゴシック" pitchFamily="34" charset="-128"/>
              </a:rPr>
              <a:t>from </a:t>
            </a:r>
            <a:r>
              <a:rPr lang="en-US" altLang="en-US" sz="1700" i="1" dirty="0">
                <a:ea typeface="ＭＳ Ｐゴシック" pitchFamily="34" charset="-128"/>
              </a:rPr>
              <a:t> students, takes</a:t>
            </a:r>
            <a:br>
              <a:rPr lang="en-US" altLang="en-US" sz="1700" i="1" dirty="0">
                <a:ea typeface="ＭＳ Ｐゴシック" pitchFamily="34" charset="-128"/>
              </a:rPr>
            </a:br>
            <a:r>
              <a:rPr lang="en-US" altLang="en-US" sz="1700" b="1" dirty="0">
                <a:ea typeface="ＭＳ Ｐゴシック" pitchFamily="34" charset="-128"/>
              </a:rPr>
              <a:t>where </a:t>
            </a:r>
            <a:r>
              <a:rPr lang="en-US" altLang="en-US" sz="1700" i="1" dirty="0">
                <a:ea typeface="ＭＳ Ｐゴシック" pitchFamily="34" charset="-128"/>
              </a:rPr>
              <a:t>student.ID </a:t>
            </a:r>
            <a:r>
              <a:rPr lang="en-US" altLang="en-US" sz="1700" dirty="0">
                <a:ea typeface="ＭＳ Ｐゴシック" pitchFamily="34" charset="-128"/>
              </a:rPr>
              <a:t>= </a:t>
            </a:r>
            <a:r>
              <a:rPr lang="en-US" altLang="en-US" sz="1700" i="1" dirty="0">
                <a:ea typeface="ＭＳ Ｐゴシック" pitchFamily="34" charset="-128"/>
              </a:rPr>
              <a:t>takes.ID</a:t>
            </a:r>
            <a:r>
              <a:rPr lang="en-US" altLang="en-US" sz="1700" dirty="0">
                <a:ea typeface="ＭＳ Ｐゴシック" pitchFamily="34" charset="-128"/>
              </a:rPr>
              <a:t>;</a:t>
            </a:r>
          </a:p>
          <a:p>
            <a:r>
              <a:rPr lang="en-US" altLang="en-US" sz="1700" dirty="0">
                <a:ea typeface="ＭＳ Ｐゴシック" pitchFamily="34" charset="-128"/>
              </a:rPr>
              <a:t>Same query in SQL with “natural join” construct</a:t>
            </a:r>
          </a:p>
          <a:p>
            <a:pPr lvl="1"/>
            <a:r>
              <a:rPr lang="en-US" altLang="en-US" sz="1700" b="1" dirty="0">
                <a:ea typeface="ＭＳ Ｐゴシック" pitchFamily="34" charset="-128"/>
              </a:rPr>
              <a:t>select </a:t>
            </a:r>
            <a:r>
              <a:rPr lang="en-US" altLang="en-US" sz="1700" i="1" dirty="0">
                <a:ea typeface="ＭＳ Ｐゴシック" pitchFamily="34" charset="-128"/>
              </a:rPr>
              <a:t>name</a:t>
            </a:r>
            <a:r>
              <a:rPr lang="en-US" altLang="en-US" sz="1700" dirty="0">
                <a:ea typeface="ＭＳ Ｐゴシック" pitchFamily="34" charset="-128"/>
              </a:rPr>
              <a:t>,</a:t>
            </a:r>
            <a:r>
              <a:rPr lang="en-US" altLang="en-US" sz="1700" i="1" dirty="0">
                <a:ea typeface="ＭＳ Ｐゴシック" pitchFamily="34" charset="-128"/>
              </a:rPr>
              <a:t> </a:t>
            </a:r>
            <a:r>
              <a:rPr lang="en-US" altLang="en-US" sz="1700" i="1" dirty="0" err="1">
                <a:ea typeface="ＭＳ Ｐゴシック" pitchFamily="34" charset="-128"/>
              </a:rPr>
              <a:t>course_id</a:t>
            </a:r>
            <a:br>
              <a:rPr lang="en-US" altLang="en-US" sz="1700" i="1" dirty="0">
                <a:ea typeface="ＭＳ Ｐゴシック" pitchFamily="34" charset="-128"/>
              </a:rPr>
            </a:br>
            <a:r>
              <a:rPr lang="en-US" altLang="en-US" sz="1700" b="1" dirty="0">
                <a:ea typeface="ＭＳ Ｐゴシック" pitchFamily="34" charset="-128"/>
              </a:rPr>
              <a:t>from </a:t>
            </a:r>
            <a:r>
              <a:rPr lang="en-US" altLang="en-US" sz="1700" i="1" dirty="0">
                <a:ea typeface="ＭＳ Ｐゴシック" pitchFamily="34" charset="-128"/>
              </a:rPr>
              <a:t>student </a:t>
            </a:r>
            <a:r>
              <a:rPr lang="en-US" altLang="en-US" sz="1700" b="1" dirty="0">
                <a:ea typeface="ＭＳ Ｐゴシック" pitchFamily="34" charset="-128"/>
              </a:rPr>
              <a:t>natural join </a:t>
            </a:r>
            <a:r>
              <a:rPr lang="en-US" altLang="en-US" sz="1700" i="1" dirty="0">
                <a:ea typeface="ＭＳ Ｐゴシック" pitchFamily="34" charset="-128"/>
              </a:rPr>
              <a:t>takes</a:t>
            </a:r>
            <a:r>
              <a:rPr lang="en-US" altLang="en-US" sz="1700" dirty="0">
                <a:ea typeface="ＭＳ Ｐゴシック" pitchFamily="34" charset="-128"/>
              </a:rPr>
              <a:t>;</a:t>
            </a:r>
          </a:p>
          <a:p>
            <a:pPr>
              <a:buFont typeface="Monotype Sorts" charset="2"/>
              <a:buNone/>
            </a:pPr>
            <a:endParaRPr lang="en-US" altLang="en-US" dirty="0">
              <a:ea typeface="ＭＳ Ｐゴシック" pitchFamily="34" charset="-12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/>
              <a:t>Natural Join in SQL (Cont.)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225297"/>
            <a:ext cx="7638802" cy="3541776"/>
          </a:xfrm>
        </p:spPr>
        <p:txBody>
          <a:bodyPr/>
          <a:lstStyle/>
          <a:p>
            <a:r>
              <a:rPr lang="en-US" altLang="en-US" sz="1700" dirty="0">
                <a:ea typeface="ＭＳ Ｐゴシック" pitchFamily="34" charset="-128"/>
              </a:rPr>
              <a:t>The </a:t>
            </a:r>
            <a:r>
              <a:rPr lang="en-US" altLang="en-US" sz="1700" b="1" dirty="0">
                <a:ea typeface="ＭＳ Ｐゴシック" pitchFamily="34" charset="-128"/>
              </a:rPr>
              <a:t>from</a:t>
            </a:r>
            <a:r>
              <a:rPr lang="en-US" altLang="en-US" sz="1700" dirty="0">
                <a:ea typeface="ＭＳ Ｐゴシック" pitchFamily="34" charset="-128"/>
              </a:rPr>
              <a:t> clause can have multiple relations combined using natural join:</a:t>
            </a:r>
          </a:p>
          <a:p>
            <a:pPr lvl="1">
              <a:buNone/>
            </a:pPr>
            <a:r>
              <a:rPr lang="en-US" altLang="en-US" sz="1700" b="1" dirty="0">
                <a:ea typeface="ＭＳ Ｐゴシック" pitchFamily="34" charset="-128"/>
              </a:rPr>
              <a:t>     select </a:t>
            </a:r>
            <a:r>
              <a:rPr lang="en-US" altLang="en-US" sz="1700" i="1" dirty="0">
                <a:ea typeface="ＭＳ Ｐゴシック" pitchFamily="34" charset="-128"/>
              </a:rPr>
              <a:t> A</a:t>
            </a:r>
            <a:r>
              <a:rPr lang="en-US" altLang="en-US" sz="1700" i="1" baseline="-25000" dirty="0">
                <a:ea typeface="ＭＳ Ｐゴシック" pitchFamily="34" charset="-128"/>
              </a:rPr>
              <a:t>1</a:t>
            </a:r>
            <a:r>
              <a:rPr lang="en-US" altLang="en-US" sz="1700" i="1" dirty="0">
                <a:ea typeface="ＭＳ Ｐゴシック" pitchFamily="34" charset="-128"/>
              </a:rPr>
              <a:t>, A</a:t>
            </a:r>
            <a:r>
              <a:rPr lang="en-US" altLang="en-US" sz="1700" i="1" baseline="-25000" dirty="0">
                <a:ea typeface="ＭＳ Ｐゴシック" pitchFamily="34" charset="-128"/>
              </a:rPr>
              <a:t>2</a:t>
            </a:r>
            <a:r>
              <a:rPr lang="en-US" altLang="en-US" sz="1700" i="1" dirty="0">
                <a:ea typeface="ＭＳ Ｐゴシック" pitchFamily="34" charset="-128"/>
              </a:rPr>
              <a:t>, … A</a:t>
            </a:r>
            <a:r>
              <a:rPr lang="en-US" altLang="en-US" sz="1700" i="1" baseline="-25000" dirty="0">
                <a:ea typeface="ＭＳ Ｐゴシック" pitchFamily="34" charset="-128"/>
              </a:rPr>
              <a:t>n</a:t>
            </a:r>
            <a:br>
              <a:rPr lang="en-US" altLang="en-US" sz="1700" i="1" dirty="0">
                <a:ea typeface="ＭＳ Ｐゴシック" pitchFamily="34" charset="-128"/>
              </a:rPr>
            </a:br>
            <a:r>
              <a:rPr lang="en-US" altLang="en-US" sz="1700" b="1" dirty="0">
                <a:ea typeface="ＭＳ Ｐゴシック" pitchFamily="34" charset="-128"/>
              </a:rPr>
              <a:t>from </a:t>
            </a:r>
            <a:r>
              <a:rPr lang="en-US" altLang="en-US" sz="1700" i="1" dirty="0">
                <a:ea typeface="ＭＳ Ｐゴシック" pitchFamily="34" charset="-128"/>
              </a:rPr>
              <a:t> r</a:t>
            </a:r>
            <a:r>
              <a:rPr lang="en-US" altLang="en-US" sz="1700" i="1" baseline="-25000" dirty="0">
                <a:ea typeface="ＭＳ Ｐゴシック" pitchFamily="34" charset="-128"/>
              </a:rPr>
              <a:t>1</a:t>
            </a:r>
            <a:r>
              <a:rPr lang="en-US" altLang="en-US" sz="1700" i="1" dirty="0">
                <a:ea typeface="ＭＳ Ｐゴシック" pitchFamily="34" charset="-128"/>
              </a:rPr>
              <a:t>  </a:t>
            </a:r>
            <a:r>
              <a:rPr lang="en-US" altLang="en-US" sz="1700" b="1" dirty="0">
                <a:ea typeface="ＭＳ Ｐゴシック" pitchFamily="34" charset="-128"/>
              </a:rPr>
              <a:t>natural join </a:t>
            </a:r>
            <a:r>
              <a:rPr lang="en-US" altLang="en-US" sz="1700" i="1" dirty="0">
                <a:ea typeface="ＭＳ Ｐゴシック" pitchFamily="34" charset="-128"/>
              </a:rPr>
              <a:t>r</a:t>
            </a:r>
            <a:r>
              <a:rPr lang="en-US" altLang="en-US" sz="1700" i="1" baseline="-25000" dirty="0">
                <a:ea typeface="ＭＳ Ｐゴシック" pitchFamily="34" charset="-128"/>
              </a:rPr>
              <a:t>2</a:t>
            </a:r>
            <a:r>
              <a:rPr lang="en-US" altLang="en-US" sz="1700" i="1" dirty="0">
                <a:ea typeface="ＭＳ Ｐゴシック" pitchFamily="34" charset="-128"/>
              </a:rPr>
              <a:t> </a:t>
            </a:r>
            <a:r>
              <a:rPr lang="en-US" altLang="en-US" sz="1700" b="1" dirty="0">
                <a:ea typeface="ＭＳ Ｐゴシック" pitchFamily="34" charset="-128"/>
              </a:rPr>
              <a:t>natural join </a:t>
            </a:r>
            <a:r>
              <a:rPr lang="en-US" altLang="en-US" sz="1700" b="1" i="1" dirty="0">
                <a:ea typeface="ＭＳ Ｐゴシック" pitchFamily="34" charset="-128"/>
              </a:rPr>
              <a:t>.. </a:t>
            </a:r>
            <a:r>
              <a:rPr lang="en-US" altLang="en-US" sz="1700" b="1" dirty="0">
                <a:ea typeface="ＭＳ Ｐゴシック" pitchFamily="34" charset="-128"/>
              </a:rPr>
              <a:t>natural join </a:t>
            </a:r>
            <a:r>
              <a:rPr lang="en-US" altLang="en-US" sz="1700" dirty="0" err="1">
                <a:ea typeface="ＭＳ Ｐゴシック" pitchFamily="34" charset="-128"/>
              </a:rPr>
              <a:t>r</a:t>
            </a:r>
            <a:r>
              <a:rPr lang="en-US" altLang="en-US" sz="1700" baseline="-25000" dirty="0" err="1">
                <a:ea typeface="ＭＳ Ｐゴシック" pitchFamily="34" charset="-128"/>
              </a:rPr>
              <a:t>n</a:t>
            </a:r>
            <a:br>
              <a:rPr lang="en-US" altLang="en-US" sz="1700" i="1" dirty="0">
                <a:ea typeface="ＭＳ Ｐゴシック" pitchFamily="34" charset="-128"/>
              </a:rPr>
            </a:br>
            <a:r>
              <a:rPr lang="en-US" altLang="en-US" sz="1700" b="1" dirty="0">
                <a:ea typeface="ＭＳ Ｐゴシック" pitchFamily="34" charset="-128"/>
              </a:rPr>
              <a:t>where  </a:t>
            </a:r>
            <a:r>
              <a:rPr lang="en-US" altLang="en-US" sz="1700" i="1" dirty="0">
                <a:ea typeface="ＭＳ Ｐゴシック" pitchFamily="34" charset="-128"/>
              </a:rPr>
              <a:t>P </a:t>
            </a:r>
            <a:r>
              <a:rPr lang="en-US" altLang="en-US" sz="1700" dirty="0">
                <a:ea typeface="ＭＳ Ｐゴシック" pitchFamily="34" charset="-128"/>
              </a:rPr>
              <a:t>;</a:t>
            </a:r>
          </a:p>
          <a:p>
            <a:pPr>
              <a:buNone/>
            </a:pPr>
            <a:endParaRPr lang="en-US" altLang="en-US" sz="1700" dirty="0">
              <a:ea typeface="ＭＳ Ｐゴシック" pitchFamily="34" charset="-128"/>
            </a:endParaRPr>
          </a:p>
          <a:p>
            <a:pPr>
              <a:buFont typeface="Monotype Sorts" charset="2"/>
              <a:buNone/>
            </a:pPr>
            <a:endParaRPr lang="en-US" altLang="en-US" sz="1700" dirty="0">
              <a:ea typeface="ＭＳ Ｐゴシック" pitchFamily="34" charset="-12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Student Relation</a:t>
            </a:r>
          </a:p>
        </p:txBody>
      </p:sp>
      <p:pic>
        <p:nvPicPr>
          <p:cNvPr id="1029" name="Picture 5" descr="W:\db-book\db7\slide-dir\Tables-Figures\EPS-PDF-JPG-dir\tables\student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91020" y="1592317"/>
            <a:ext cx="4623768" cy="41148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Takes Relation</a:t>
            </a:r>
          </a:p>
        </p:txBody>
      </p:sp>
      <p:pic>
        <p:nvPicPr>
          <p:cNvPr id="1026" name="Picture 2" descr="C:\Users\as668\Desktop\Judi-Done\4_02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62303" y="1182414"/>
            <a:ext cx="4259678" cy="5125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b="0" i="1" dirty="0">
                <a:ea typeface="+mj-ea"/>
              </a:rPr>
              <a:t>student</a:t>
            </a:r>
            <a:r>
              <a:rPr lang="en-US" sz="2800" dirty="0">
                <a:ea typeface="+mj-ea"/>
              </a:rPr>
              <a:t> natural join </a:t>
            </a:r>
            <a:r>
              <a:rPr lang="en-US" sz="2800" b="0" i="1" dirty="0">
                <a:ea typeface="+mj-ea"/>
              </a:rPr>
              <a:t>takes</a:t>
            </a:r>
          </a:p>
        </p:txBody>
      </p:sp>
      <p:pic>
        <p:nvPicPr>
          <p:cNvPr id="2" name="Picture 2" descr="C:\Users\as668\Desktop\Judi-Done\4_03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59865" y="1176594"/>
            <a:ext cx="5743521" cy="477176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/>
              <a:t>Dangerous in Natural Join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3201"/>
            <a:ext cx="7668514" cy="4944032"/>
          </a:xfrm>
        </p:spPr>
        <p:txBody>
          <a:bodyPr/>
          <a:lstStyle/>
          <a:p>
            <a:r>
              <a:rPr lang="en-US" sz="1700" dirty="0"/>
              <a:t>Beware of unrelated attributes with same name which get equated incorrectly</a:t>
            </a:r>
          </a:p>
          <a:p>
            <a:r>
              <a:rPr lang="en-US" altLang="en-US" sz="1700" dirty="0">
                <a:ea typeface="ＭＳ Ｐゴシック" pitchFamily="34" charset="-128"/>
              </a:rPr>
              <a:t> </a:t>
            </a:r>
            <a:r>
              <a:rPr lang="en-US" sz="1700" dirty="0"/>
              <a:t>Example -- List the names of students instructors along with the titles of courses that they have taken</a:t>
            </a:r>
          </a:p>
          <a:p>
            <a:pPr lvl="1"/>
            <a:r>
              <a:rPr lang="en-US" sz="1700" dirty="0"/>
              <a:t>Correct version</a:t>
            </a:r>
          </a:p>
          <a:p>
            <a:pPr lvl="1">
              <a:buNone/>
            </a:pPr>
            <a:r>
              <a:rPr lang="en-US" sz="1700" b="1" dirty="0"/>
              <a:t>           select </a:t>
            </a:r>
            <a:r>
              <a:rPr lang="en-US" sz="1700" i="1" dirty="0"/>
              <a:t>name</a:t>
            </a:r>
            <a:r>
              <a:rPr lang="en-US" sz="1700" dirty="0"/>
              <a:t>, </a:t>
            </a:r>
            <a:r>
              <a:rPr lang="en-US" sz="1700" i="1" dirty="0"/>
              <a:t>title</a:t>
            </a:r>
            <a:br>
              <a:rPr lang="en-US" sz="1700" i="1" dirty="0"/>
            </a:br>
            <a:r>
              <a:rPr lang="en-US" sz="1700" i="1" dirty="0"/>
              <a:t>       </a:t>
            </a:r>
            <a:r>
              <a:rPr lang="en-US" sz="1700" b="1" dirty="0"/>
              <a:t>from </a:t>
            </a:r>
            <a:r>
              <a:rPr lang="en-US" sz="1700" i="1" dirty="0"/>
              <a:t>student </a:t>
            </a:r>
            <a:r>
              <a:rPr lang="en-US" sz="1700" b="1" dirty="0"/>
              <a:t>natural join </a:t>
            </a:r>
            <a:r>
              <a:rPr lang="en-US" sz="1700" i="1" dirty="0"/>
              <a:t>takes</a:t>
            </a:r>
            <a:r>
              <a:rPr lang="en-US" sz="1700" dirty="0"/>
              <a:t>, </a:t>
            </a:r>
            <a:r>
              <a:rPr lang="en-US" sz="1700" i="1" dirty="0"/>
              <a:t>course</a:t>
            </a:r>
            <a:br>
              <a:rPr lang="en-US" sz="1700" i="1" dirty="0"/>
            </a:br>
            <a:r>
              <a:rPr lang="en-US" sz="1700" i="1" dirty="0"/>
              <a:t>       </a:t>
            </a:r>
            <a:r>
              <a:rPr lang="en-US" sz="1700" b="1" dirty="0"/>
              <a:t>where </a:t>
            </a:r>
            <a:r>
              <a:rPr lang="en-US" sz="1700" i="1" dirty="0" err="1"/>
              <a:t>takes</a:t>
            </a:r>
            <a:r>
              <a:rPr lang="en-US" sz="1700" dirty="0" err="1"/>
              <a:t>.</a:t>
            </a:r>
            <a:r>
              <a:rPr lang="en-US" sz="1700" i="1" dirty="0" err="1"/>
              <a:t>course_id</a:t>
            </a:r>
            <a:r>
              <a:rPr lang="en-US" sz="1700" i="1" dirty="0"/>
              <a:t> </a:t>
            </a:r>
            <a:r>
              <a:rPr lang="en-US" sz="1700" dirty="0"/>
              <a:t>= </a:t>
            </a:r>
            <a:r>
              <a:rPr lang="en-US" sz="1700" i="1" dirty="0" err="1"/>
              <a:t>course</a:t>
            </a:r>
            <a:r>
              <a:rPr lang="en-US" sz="1700" dirty="0" err="1"/>
              <a:t>.</a:t>
            </a:r>
            <a:r>
              <a:rPr lang="en-US" sz="1700" i="1" dirty="0" err="1"/>
              <a:t>course_id</a:t>
            </a:r>
            <a:r>
              <a:rPr lang="en-US" sz="1700" dirty="0"/>
              <a:t>;</a:t>
            </a:r>
          </a:p>
          <a:p>
            <a:pPr lvl="1"/>
            <a:r>
              <a:rPr lang="en-US" sz="1700" dirty="0"/>
              <a:t>Incorrect version</a:t>
            </a:r>
          </a:p>
          <a:p>
            <a:pPr lvl="2">
              <a:buFont typeface="Webdings" pitchFamily="18" charset="2"/>
              <a:buNone/>
              <a:defRPr/>
            </a:pPr>
            <a:r>
              <a:rPr lang="en-US" sz="1700" b="1" dirty="0"/>
              <a:t>       select </a:t>
            </a:r>
            <a:r>
              <a:rPr lang="en-US" sz="1700" i="1" dirty="0"/>
              <a:t>name</a:t>
            </a:r>
            <a:r>
              <a:rPr lang="en-US" sz="1700" dirty="0"/>
              <a:t>, </a:t>
            </a:r>
            <a:r>
              <a:rPr lang="en-US" sz="1700" i="1" dirty="0"/>
              <a:t>title</a:t>
            </a:r>
            <a:br>
              <a:rPr lang="en-US" sz="1700" i="1" dirty="0"/>
            </a:br>
            <a:r>
              <a:rPr lang="en-US" sz="1700" i="1" dirty="0"/>
              <a:t>   </a:t>
            </a:r>
            <a:r>
              <a:rPr lang="en-US" sz="1700" b="1" dirty="0"/>
              <a:t>from </a:t>
            </a:r>
            <a:r>
              <a:rPr lang="en-US" sz="1700" i="1" dirty="0"/>
              <a:t>student </a:t>
            </a:r>
            <a:r>
              <a:rPr lang="en-US" sz="1700" b="1" dirty="0"/>
              <a:t>natural join </a:t>
            </a:r>
            <a:r>
              <a:rPr lang="en-US" sz="1700" i="1" dirty="0"/>
              <a:t>takes </a:t>
            </a:r>
            <a:r>
              <a:rPr lang="en-US" sz="1700" b="1" dirty="0"/>
              <a:t>natural join </a:t>
            </a:r>
            <a:r>
              <a:rPr lang="en-US" sz="1700" i="1" dirty="0"/>
              <a:t>course</a:t>
            </a:r>
            <a:r>
              <a:rPr lang="en-US" sz="1700" dirty="0"/>
              <a:t>;</a:t>
            </a:r>
          </a:p>
          <a:p>
            <a:pPr lvl="2">
              <a:defRPr/>
            </a:pPr>
            <a:r>
              <a:rPr lang="en-US" sz="1700" dirty="0"/>
              <a:t>This query omits all (student name, course title) pairs where the student takes a course in a department other than the student's own department. </a:t>
            </a:r>
          </a:p>
          <a:p>
            <a:pPr lvl="2">
              <a:defRPr/>
            </a:pPr>
            <a:r>
              <a:rPr lang="en-US" sz="1700" dirty="0"/>
              <a:t>The  correct  version (above), correctly outputs such pairs.</a:t>
            </a:r>
          </a:p>
          <a:p>
            <a:pPr lvl="1"/>
            <a:endParaRPr lang="en-US" sz="1600" dirty="0"/>
          </a:p>
          <a:p>
            <a:pPr lvl="1"/>
            <a:endParaRPr lang="en-US" altLang="en-US" dirty="0">
              <a:ea typeface="ＭＳ Ｐゴシック" pitchFamily="34" charset="-12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Natural Join with Using Clause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170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118175"/>
            <a:ext cx="7745334" cy="3014913"/>
          </a:xfrm>
        </p:spPr>
        <p:txBody>
          <a:bodyPr lIns="91440"/>
          <a:lstStyle/>
          <a:p>
            <a:pPr indent="-365760"/>
            <a:r>
              <a:rPr lang="en-US" sz="1700" dirty="0"/>
              <a:t>To avoid the danger of equating attributes erroneously, we can use the “</a:t>
            </a:r>
            <a:r>
              <a:rPr lang="en-US" sz="1700" b="1" dirty="0"/>
              <a:t>using</a:t>
            </a:r>
            <a:r>
              <a:rPr lang="en-US" sz="1700" dirty="0"/>
              <a:t>” construct that allows us to specify exactly which columns should be equated.</a:t>
            </a:r>
          </a:p>
          <a:p>
            <a:pPr indent="-365760"/>
            <a:r>
              <a:rPr lang="en-US" sz="1700" dirty="0"/>
              <a:t>Query example</a:t>
            </a:r>
            <a:endParaRPr lang="en-US" sz="1700" i="1" dirty="0"/>
          </a:p>
          <a:p>
            <a:pPr>
              <a:buNone/>
              <a:defRPr/>
            </a:pPr>
            <a:r>
              <a:rPr lang="en-US" sz="1700" i="1" dirty="0"/>
              <a:t>        </a:t>
            </a:r>
            <a:r>
              <a:rPr lang="en-US" sz="1700" b="1" dirty="0"/>
              <a:t>select </a:t>
            </a:r>
            <a:r>
              <a:rPr lang="en-US" sz="1700" i="1" dirty="0"/>
              <a:t>name</a:t>
            </a:r>
            <a:r>
              <a:rPr lang="en-US" sz="1700" dirty="0"/>
              <a:t>, </a:t>
            </a:r>
            <a:r>
              <a:rPr lang="en-US" sz="1700" i="1" dirty="0"/>
              <a:t>title</a:t>
            </a:r>
            <a:br>
              <a:rPr lang="en-US" sz="1700" i="1" dirty="0"/>
            </a:br>
            <a:r>
              <a:rPr lang="en-US" sz="1700" i="1" dirty="0"/>
              <a:t>   </a:t>
            </a:r>
            <a:r>
              <a:rPr lang="en-US" sz="1700" b="1" dirty="0"/>
              <a:t>from  </a:t>
            </a:r>
            <a:r>
              <a:rPr lang="en-US" sz="1700" dirty="0"/>
              <a:t>(</a:t>
            </a:r>
            <a:r>
              <a:rPr lang="en-US" sz="1700" i="1" dirty="0"/>
              <a:t>student </a:t>
            </a:r>
            <a:r>
              <a:rPr lang="en-US" sz="1700" b="1" dirty="0"/>
              <a:t>natural join </a:t>
            </a:r>
            <a:r>
              <a:rPr lang="en-US" sz="1700" i="1" dirty="0"/>
              <a:t>takes</a:t>
            </a:r>
            <a:r>
              <a:rPr lang="en-US" sz="1700" dirty="0"/>
              <a:t>) </a:t>
            </a:r>
            <a:r>
              <a:rPr lang="en-US" sz="1700" b="1" dirty="0"/>
              <a:t> join </a:t>
            </a:r>
            <a:r>
              <a:rPr lang="en-US" sz="1700" i="1" dirty="0"/>
              <a:t>course</a:t>
            </a:r>
            <a:r>
              <a:rPr lang="en-US" sz="1700" dirty="0"/>
              <a:t> </a:t>
            </a:r>
            <a:r>
              <a:rPr lang="en-US" sz="1700" b="1" dirty="0"/>
              <a:t>using </a:t>
            </a:r>
            <a:r>
              <a:rPr lang="en-US" sz="1700" dirty="0"/>
              <a:t>(</a:t>
            </a:r>
            <a:r>
              <a:rPr lang="en-US" sz="1700" i="1" dirty="0" err="1"/>
              <a:t>course_id</a:t>
            </a:r>
            <a:r>
              <a:rPr lang="en-US" sz="1700" dirty="0"/>
              <a:t>)</a:t>
            </a:r>
          </a:p>
          <a:p>
            <a:pPr indent="-365760"/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Join Condition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170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093790"/>
            <a:ext cx="7621047" cy="4903787"/>
          </a:xfrm>
        </p:spPr>
        <p:txBody>
          <a:bodyPr lIns="91440"/>
          <a:lstStyle/>
          <a:p>
            <a:pPr indent="-365760"/>
            <a:r>
              <a:rPr lang="en-US" sz="1700" dirty="0"/>
              <a:t>The  </a:t>
            </a:r>
            <a:r>
              <a:rPr lang="en-US" sz="1700" b="1" dirty="0"/>
              <a:t>on </a:t>
            </a:r>
            <a:r>
              <a:rPr lang="en-US" sz="1700" dirty="0"/>
              <a:t> condition allows a general predicate over the relations being  joined</a:t>
            </a:r>
          </a:p>
          <a:p>
            <a:pPr indent="-365760"/>
            <a:r>
              <a:rPr lang="en-US" sz="1700" dirty="0"/>
              <a:t>This predicate is written like a </a:t>
            </a:r>
            <a:r>
              <a:rPr lang="en-US" sz="1700" b="1" dirty="0"/>
              <a:t>where</a:t>
            </a:r>
            <a:r>
              <a:rPr lang="en-US" sz="1700" dirty="0"/>
              <a:t> clause predicate except for the use of the keyword </a:t>
            </a:r>
            <a:r>
              <a:rPr lang="en-US" sz="1700" b="1" dirty="0"/>
              <a:t>on</a:t>
            </a:r>
          </a:p>
          <a:p>
            <a:pPr indent="-365760"/>
            <a:r>
              <a:rPr lang="en-US" sz="1700" dirty="0"/>
              <a:t>Query example</a:t>
            </a:r>
            <a:endParaRPr lang="en-US" sz="1700" i="1" dirty="0"/>
          </a:p>
          <a:p>
            <a:pPr>
              <a:buNone/>
              <a:defRPr/>
            </a:pPr>
            <a:r>
              <a:rPr lang="en-US" sz="1700" b="1" dirty="0"/>
              <a:t>          select *</a:t>
            </a:r>
            <a:br>
              <a:rPr lang="en-US" sz="1700" i="1" dirty="0"/>
            </a:br>
            <a:r>
              <a:rPr lang="en-US" sz="1700" i="1" dirty="0"/>
              <a:t>     </a:t>
            </a:r>
            <a:r>
              <a:rPr lang="en-US" sz="1700" b="1" dirty="0"/>
              <a:t>from  </a:t>
            </a:r>
            <a:r>
              <a:rPr lang="en-US" sz="1700" i="1" dirty="0"/>
              <a:t>student </a:t>
            </a:r>
            <a:r>
              <a:rPr lang="en-US" sz="1700" b="1" dirty="0"/>
              <a:t>join </a:t>
            </a:r>
            <a:r>
              <a:rPr lang="en-US" sz="1700" i="1" dirty="0"/>
              <a:t>takes</a:t>
            </a:r>
            <a:r>
              <a:rPr lang="en-US" sz="1700" dirty="0"/>
              <a:t> </a:t>
            </a:r>
            <a:r>
              <a:rPr lang="en-US" sz="1700" b="1" dirty="0"/>
              <a:t>on </a:t>
            </a:r>
            <a:r>
              <a:rPr lang="en-US" sz="1700" i="1" dirty="0" err="1"/>
              <a:t>student_ID</a:t>
            </a:r>
            <a:r>
              <a:rPr lang="en-US" sz="1700" b="1" dirty="0"/>
              <a:t>  </a:t>
            </a:r>
            <a:r>
              <a:rPr lang="en-US" sz="1700" dirty="0"/>
              <a:t>=</a:t>
            </a:r>
            <a:r>
              <a:rPr lang="en-US" sz="1700" b="1" dirty="0"/>
              <a:t> </a:t>
            </a:r>
            <a:r>
              <a:rPr lang="en-US" sz="1700" i="1" dirty="0" err="1"/>
              <a:t>takes_ID</a:t>
            </a:r>
            <a:endParaRPr lang="en-US" sz="1700" i="1" dirty="0"/>
          </a:p>
          <a:p>
            <a:pPr lvl="1">
              <a:defRPr/>
            </a:pPr>
            <a:r>
              <a:rPr lang="en-US" sz="1700" dirty="0"/>
              <a:t>The </a:t>
            </a:r>
            <a:r>
              <a:rPr lang="en-US" sz="1700" b="1" dirty="0"/>
              <a:t>on</a:t>
            </a:r>
            <a:r>
              <a:rPr lang="en-US" sz="1700" dirty="0"/>
              <a:t> condition above specifies that a tuple from </a:t>
            </a:r>
            <a:r>
              <a:rPr lang="en-US" sz="1700" i="1" dirty="0"/>
              <a:t>student</a:t>
            </a:r>
            <a:r>
              <a:rPr lang="en-US" sz="1700" dirty="0"/>
              <a:t> matches a tuple from </a:t>
            </a:r>
            <a:r>
              <a:rPr lang="en-US" sz="1700" i="1" dirty="0"/>
              <a:t>takes</a:t>
            </a:r>
            <a:r>
              <a:rPr lang="en-US" sz="1700" dirty="0"/>
              <a:t> if their </a:t>
            </a:r>
            <a:r>
              <a:rPr lang="en-US" sz="1700" i="1" dirty="0"/>
              <a:t>ID</a:t>
            </a:r>
            <a:r>
              <a:rPr lang="en-US" sz="1700" dirty="0"/>
              <a:t> values are equal.</a:t>
            </a:r>
          </a:p>
          <a:p>
            <a:pPr>
              <a:defRPr/>
            </a:pPr>
            <a:r>
              <a:rPr lang="en-US" sz="1700" dirty="0"/>
              <a:t>Equivalent to:</a:t>
            </a:r>
          </a:p>
          <a:p>
            <a:pPr>
              <a:buNone/>
              <a:defRPr/>
            </a:pPr>
            <a:r>
              <a:rPr lang="en-US" sz="1700" b="1" dirty="0"/>
              <a:t>             select *</a:t>
            </a:r>
            <a:br>
              <a:rPr lang="en-US" sz="1700" i="1" dirty="0"/>
            </a:br>
            <a:r>
              <a:rPr lang="en-US" sz="1700" i="1" dirty="0"/>
              <a:t>        </a:t>
            </a:r>
            <a:r>
              <a:rPr lang="en-US" sz="1700" b="1" dirty="0"/>
              <a:t>from  </a:t>
            </a:r>
            <a:r>
              <a:rPr lang="en-US" sz="1700" i="1" dirty="0"/>
              <a:t>student , takes</a:t>
            </a:r>
            <a:r>
              <a:rPr lang="en-US" sz="1700" dirty="0"/>
              <a:t> </a:t>
            </a:r>
            <a:br>
              <a:rPr lang="en-US" sz="1700" i="1" dirty="0"/>
            </a:br>
            <a:r>
              <a:rPr lang="en-US" sz="1700" i="1" dirty="0"/>
              <a:t>        </a:t>
            </a:r>
            <a:r>
              <a:rPr lang="en-US" sz="1700" b="1" dirty="0"/>
              <a:t>where  </a:t>
            </a:r>
            <a:r>
              <a:rPr lang="en-US" sz="1700" i="1" dirty="0" err="1"/>
              <a:t>student_ID</a:t>
            </a:r>
            <a:r>
              <a:rPr lang="en-US" sz="1700" b="1" dirty="0"/>
              <a:t>  </a:t>
            </a:r>
            <a:r>
              <a:rPr lang="en-US" sz="1700" dirty="0"/>
              <a:t>=</a:t>
            </a:r>
            <a:r>
              <a:rPr lang="en-US" sz="1700" b="1" dirty="0"/>
              <a:t> </a:t>
            </a:r>
            <a:r>
              <a:rPr lang="en-US" sz="1700" i="1" dirty="0" err="1"/>
              <a:t>takes_ID</a:t>
            </a:r>
            <a:endParaRPr lang="en-US" sz="1700" dirty="0"/>
          </a:p>
          <a:p>
            <a:pPr>
              <a:defRPr/>
            </a:pPr>
            <a:endParaRPr lang="en-US" i="1" dirty="0"/>
          </a:p>
          <a:p>
            <a:pPr indent="-365760"/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Join Condition (Cont.)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170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093791"/>
            <a:ext cx="7700946" cy="4685218"/>
          </a:xfrm>
        </p:spPr>
        <p:txBody>
          <a:bodyPr lIns="91440"/>
          <a:lstStyle/>
          <a:p>
            <a:pPr indent="-365760"/>
            <a:r>
              <a:rPr lang="en-US" sz="1700" dirty="0"/>
              <a:t>The  </a:t>
            </a:r>
            <a:r>
              <a:rPr lang="en-US" sz="1700" b="1" dirty="0"/>
              <a:t>on </a:t>
            </a:r>
            <a:r>
              <a:rPr lang="en-US" sz="1700" dirty="0"/>
              <a:t> condition allows a general predicate over the relations being joined.  </a:t>
            </a:r>
          </a:p>
          <a:p>
            <a:pPr indent="-365760"/>
            <a:r>
              <a:rPr lang="en-US" sz="1700" dirty="0"/>
              <a:t>This predicate is written like a </a:t>
            </a:r>
            <a:r>
              <a:rPr lang="en-US" sz="1700" b="1" dirty="0"/>
              <a:t>where</a:t>
            </a:r>
            <a:r>
              <a:rPr lang="en-US" sz="1700" dirty="0"/>
              <a:t> clause predicate except for the use of the keyword </a:t>
            </a:r>
            <a:r>
              <a:rPr lang="en-US" sz="1700" b="1" dirty="0"/>
              <a:t>on</a:t>
            </a:r>
            <a:r>
              <a:rPr lang="en-US" sz="1700" dirty="0"/>
              <a:t>.</a:t>
            </a:r>
          </a:p>
          <a:p>
            <a:pPr indent="-365760"/>
            <a:r>
              <a:rPr lang="en-US" sz="1700" dirty="0"/>
              <a:t>Query example</a:t>
            </a:r>
            <a:endParaRPr lang="en-US" sz="1700" i="1" dirty="0"/>
          </a:p>
          <a:p>
            <a:pPr>
              <a:buNone/>
              <a:defRPr/>
            </a:pPr>
            <a:r>
              <a:rPr lang="en-US" sz="1700" i="1" dirty="0"/>
              <a:t>        </a:t>
            </a:r>
            <a:r>
              <a:rPr lang="en-US" sz="1700" b="1" dirty="0"/>
              <a:t>select *</a:t>
            </a:r>
            <a:br>
              <a:rPr lang="en-US" sz="1700" i="1" dirty="0"/>
            </a:br>
            <a:r>
              <a:rPr lang="en-US" sz="1700" i="1" dirty="0"/>
              <a:t>   </a:t>
            </a:r>
            <a:r>
              <a:rPr lang="en-US" sz="1700" b="1" dirty="0"/>
              <a:t>from  </a:t>
            </a:r>
            <a:r>
              <a:rPr lang="en-US" sz="1700" i="1" dirty="0"/>
              <a:t>student </a:t>
            </a:r>
            <a:r>
              <a:rPr lang="en-US" sz="1700" b="1" dirty="0"/>
              <a:t>join </a:t>
            </a:r>
            <a:r>
              <a:rPr lang="en-US" sz="1700" i="1" dirty="0"/>
              <a:t>takes</a:t>
            </a:r>
            <a:r>
              <a:rPr lang="en-US" sz="1700" dirty="0"/>
              <a:t> </a:t>
            </a:r>
            <a:r>
              <a:rPr lang="en-US" sz="1700" b="1" dirty="0"/>
              <a:t>on </a:t>
            </a:r>
            <a:r>
              <a:rPr lang="en-US" sz="1700" i="1" dirty="0" err="1"/>
              <a:t>student_ID</a:t>
            </a:r>
            <a:r>
              <a:rPr lang="en-US" sz="1700" b="1" dirty="0"/>
              <a:t>  </a:t>
            </a:r>
            <a:r>
              <a:rPr lang="en-US" sz="1700" dirty="0"/>
              <a:t>=</a:t>
            </a:r>
            <a:r>
              <a:rPr lang="en-US" sz="1700" b="1" dirty="0"/>
              <a:t> </a:t>
            </a:r>
            <a:r>
              <a:rPr lang="en-US" sz="1700" i="1" dirty="0" err="1"/>
              <a:t>takes_ID</a:t>
            </a:r>
            <a:endParaRPr lang="en-US" sz="1700" i="1" dirty="0"/>
          </a:p>
          <a:p>
            <a:pPr lvl="1">
              <a:defRPr/>
            </a:pPr>
            <a:r>
              <a:rPr lang="en-US" sz="1700" dirty="0"/>
              <a:t>The </a:t>
            </a:r>
            <a:r>
              <a:rPr lang="en-US" sz="1700" b="1" dirty="0"/>
              <a:t>on</a:t>
            </a:r>
            <a:r>
              <a:rPr lang="en-US" sz="1700" dirty="0"/>
              <a:t> condition above specifies that a tuple from </a:t>
            </a:r>
            <a:r>
              <a:rPr lang="en-US" sz="1700" i="1" dirty="0"/>
              <a:t>student</a:t>
            </a:r>
            <a:r>
              <a:rPr lang="en-US" sz="1700" dirty="0"/>
              <a:t> matches a tuple from </a:t>
            </a:r>
            <a:r>
              <a:rPr lang="en-US" sz="1700" i="1" dirty="0"/>
              <a:t>takes</a:t>
            </a:r>
            <a:r>
              <a:rPr lang="en-US" sz="1700" dirty="0"/>
              <a:t> if their </a:t>
            </a:r>
            <a:r>
              <a:rPr lang="en-US" sz="1700" i="1" dirty="0"/>
              <a:t>ID</a:t>
            </a:r>
            <a:r>
              <a:rPr lang="en-US" sz="1700" dirty="0"/>
              <a:t> values are equal.</a:t>
            </a:r>
          </a:p>
          <a:p>
            <a:pPr>
              <a:defRPr/>
            </a:pPr>
            <a:r>
              <a:rPr lang="en-US" sz="1700" dirty="0"/>
              <a:t>Equivalent to:</a:t>
            </a:r>
          </a:p>
          <a:p>
            <a:pPr>
              <a:buNone/>
              <a:defRPr/>
            </a:pPr>
            <a:r>
              <a:rPr lang="en-US" sz="1700" b="1" dirty="0"/>
              <a:t>        select *</a:t>
            </a:r>
            <a:br>
              <a:rPr lang="en-US" sz="1700" i="1" dirty="0"/>
            </a:br>
            <a:r>
              <a:rPr lang="en-US" sz="1700" i="1" dirty="0"/>
              <a:t>   </a:t>
            </a:r>
            <a:r>
              <a:rPr lang="en-US" sz="1700" b="1" dirty="0"/>
              <a:t>from  </a:t>
            </a:r>
            <a:r>
              <a:rPr lang="en-US" sz="1700" i="1" dirty="0"/>
              <a:t>student , takes</a:t>
            </a:r>
            <a:r>
              <a:rPr lang="en-US" sz="1700" dirty="0"/>
              <a:t> </a:t>
            </a:r>
            <a:br>
              <a:rPr lang="en-US" sz="1700" i="1" dirty="0"/>
            </a:br>
            <a:r>
              <a:rPr lang="en-US" sz="1700" i="1" dirty="0"/>
              <a:t>   </a:t>
            </a:r>
            <a:r>
              <a:rPr lang="en-US" sz="1700" b="1" dirty="0"/>
              <a:t>where  </a:t>
            </a:r>
            <a:r>
              <a:rPr lang="en-US" sz="1700" i="1" dirty="0" err="1"/>
              <a:t>student_ID</a:t>
            </a:r>
            <a:r>
              <a:rPr lang="en-US" sz="1700" b="1" dirty="0"/>
              <a:t>  </a:t>
            </a:r>
            <a:r>
              <a:rPr lang="en-US" sz="1700" dirty="0"/>
              <a:t>=</a:t>
            </a:r>
            <a:r>
              <a:rPr lang="en-US" sz="1700" b="1" dirty="0"/>
              <a:t> </a:t>
            </a:r>
            <a:r>
              <a:rPr lang="en-US" sz="1700" i="1" dirty="0" err="1"/>
              <a:t>takes_ID</a:t>
            </a:r>
            <a:endParaRPr lang="en-US" sz="1700" dirty="0"/>
          </a:p>
          <a:p>
            <a:pPr indent="-365760"/>
            <a:endParaRPr lang="en-US" i="1" dirty="0"/>
          </a:p>
          <a:p>
            <a:pPr indent="-365760"/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Outer Join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70533"/>
            <a:ext cx="7570979" cy="3779419"/>
          </a:xfrm>
        </p:spPr>
        <p:txBody>
          <a:bodyPr/>
          <a:lstStyle/>
          <a:p>
            <a:r>
              <a:rPr lang="en-US" altLang="en-US" sz="1700" dirty="0"/>
              <a:t>An extension of the join operation that avoids loss of information.</a:t>
            </a:r>
          </a:p>
          <a:p>
            <a:r>
              <a:rPr lang="en-US" altLang="en-US" sz="1700" dirty="0"/>
              <a:t>Computes the join and then adds tuples form one relation that does not match tuples in the other relation to the result of the join. </a:t>
            </a:r>
          </a:p>
          <a:p>
            <a:r>
              <a:rPr lang="en-US" altLang="en-US" sz="1700" dirty="0"/>
              <a:t>Uses </a:t>
            </a:r>
            <a:r>
              <a:rPr lang="en-US" altLang="en-US" sz="1700" i="1" dirty="0"/>
              <a:t>null</a:t>
            </a:r>
            <a:r>
              <a:rPr lang="en-US" altLang="en-US" sz="1700" dirty="0"/>
              <a:t> values.</a:t>
            </a:r>
          </a:p>
          <a:p>
            <a:r>
              <a:rPr lang="en-US" altLang="en-US" sz="1700" dirty="0"/>
              <a:t>Three forms of outer join:</a:t>
            </a:r>
          </a:p>
          <a:p>
            <a:pPr lvl="1"/>
            <a:r>
              <a:rPr lang="en-US" altLang="en-US" sz="1700" dirty="0"/>
              <a:t>left outer join</a:t>
            </a:r>
          </a:p>
          <a:p>
            <a:pPr lvl="1"/>
            <a:r>
              <a:rPr lang="en-US" altLang="en-US" sz="1700" dirty="0"/>
              <a:t>right outer join</a:t>
            </a:r>
          </a:p>
          <a:p>
            <a:pPr lvl="1"/>
            <a:r>
              <a:rPr lang="en-US" altLang="en-US" sz="1700" dirty="0"/>
              <a:t>full outer join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Outer Join </a:t>
            </a:r>
            <a:r>
              <a:rPr lang="en-US" altLang="en-US" sz="2800" dirty="0">
                <a:ea typeface="+mj-ea"/>
              </a:rPr>
              <a:t>Examples</a:t>
            </a:r>
            <a:endParaRPr lang="en-US" sz="2800" dirty="0">
              <a:ea typeface="+mj-ea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70533"/>
            <a:ext cx="7750843" cy="4876800"/>
          </a:xfrm>
        </p:spPr>
        <p:txBody>
          <a:bodyPr/>
          <a:lstStyle/>
          <a:p>
            <a:r>
              <a:rPr lang="en-US" altLang="en-US" sz="1700" dirty="0"/>
              <a:t>Relation </a:t>
            </a:r>
            <a:r>
              <a:rPr lang="en-US" altLang="en-US" sz="1700" i="1" dirty="0"/>
              <a:t>course</a:t>
            </a:r>
          </a:p>
          <a:p>
            <a:endParaRPr lang="en-US" altLang="en-US" sz="1700" i="1" dirty="0"/>
          </a:p>
          <a:p>
            <a:endParaRPr lang="en-US" altLang="en-US" sz="1700" i="1" dirty="0"/>
          </a:p>
          <a:p>
            <a:pPr>
              <a:buNone/>
            </a:pPr>
            <a:endParaRPr lang="en-US" altLang="en-US" sz="1700" i="1" dirty="0"/>
          </a:p>
          <a:p>
            <a:pPr>
              <a:buNone/>
            </a:pPr>
            <a:endParaRPr lang="en-US" altLang="en-US" sz="1700" i="1" dirty="0"/>
          </a:p>
          <a:p>
            <a:r>
              <a:rPr lang="en-US" altLang="en-US" sz="1700" dirty="0"/>
              <a:t>Relation </a:t>
            </a:r>
            <a:r>
              <a:rPr lang="en-US" altLang="en-US" sz="1700" i="1" dirty="0" err="1"/>
              <a:t>prereq</a:t>
            </a:r>
            <a:endParaRPr lang="en-US" altLang="en-US" sz="1700" dirty="0"/>
          </a:p>
          <a:p>
            <a:endParaRPr lang="en-US" altLang="en-US" sz="1700" i="1" dirty="0"/>
          </a:p>
          <a:p>
            <a:endParaRPr lang="en-US" altLang="en-US" sz="1700" i="1" dirty="0"/>
          </a:p>
          <a:p>
            <a:endParaRPr lang="en-US" altLang="en-US" sz="1700" i="1" dirty="0"/>
          </a:p>
          <a:p>
            <a:endParaRPr lang="en-US" altLang="en-US" sz="1700" i="1" dirty="0"/>
          </a:p>
          <a:p>
            <a:r>
              <a:rPr lang="en-US" altLang="en-US" sz="1700" dirty="0"/>
              <a:t>Observe that </a:t>
            </a:r>
          </a:p>
          <a:p>
            <a:pPr>
              <a:buClr>
                <a:schemeClr val="tx2"/>
              </a:buClr>
              <a:buNone/>
            </a:pPr>
            <a:r>
              <a:rPr lang="en-US" altLang="en-US" sz="1700" i="1" dirty="0"/>
              <a:t>              course </a:t>
            </a:r>
            <a:r>
              <a:rPr lang="en-US" altLang="en-US" sz="1700" dirty="0"/>
              <a:t>information is missing CS-347</a:t>
            </a:r>
          </a:p>
          <a:p>
            <a:pPr>
              <a:buClr>
                <a:schemeClr val="tx2"/>
              </a:buClr>
              <a:buNone/>
            </a:pPr>
            <a:r>
              <a:rPr lang="en-US" altLang="en-US" sz="1700" i="1" dirty="0"/>
              <a:t>              </a:t>
            </a:r>
            <a:r>
              <a:rPr lang="en-US" altLang="en-US" sz="1700" i="1" dirty="0" err="1"/>
              <a:t>prereq</a:t>
            </a:r>
            <a:r>
              <a:rPr lang="en-US" altLang="en-US" sz="1700" i="1" dirty="0"/>
              <a:t> </a:t>
            </a:r>
            <a:r>
              <a:rPr lang="en-US" altLang="en-US" sz="1700" dirty="0"/>
              <a:t>information is missing CS-315</a:t>
            </a:r>
          </a:p>
          <a:p>
            <a:pPr>
              <a:buClr>
                <a:schemeClr val="tx2"/>
              </a:buClr>
              <a:buNone/>
            </a:pPr>
            <a:r>
              <a:rPr lang="en-US" altLang="en-US" sz="800" dirty="0"/>
              <a:t> </a:t>
            </a:r>
            <a:endParaRPr lang="en-US" altLang="en-US" sz="2000" dirty="0"/>
          </a:p>
          <a:p>
            <a:endParaRPr lang="en-US" altLang="en-US" sz="2000" dirty="0"/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3744" y="1658112"/>
            <a:ext cx="3745294" cy="1060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8816" y="3401568"/>
            <a:ext cx="1929043" cy="1069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/>
              <a:t>Left Outer Join</a:t>
            </a:r>
            <a:endParaRPr lang="en-US" sz="2800" dirty="0">
              <a:ea typeface="+mj-ea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70533"/>
            <a:ext cx="7750843" cy="4876800"/>
          </a:xfrm>
        </p:spPr>
        <p:txBody>
          <a:bodyPr/>
          <a:lstStyle/>
          <a:p>
            <a:r>
              <a:rPr lang="en-US" altLang="en-US" sz="1700" i="1" dirty="0"/>
              <a:t>course</a:t>
            </a:r>
            <a:r>
              <a:rPr lang="en-US" altLang="en-US" sz="1700" dirty="0"/>
              <a:t> </a:t>
            </a:r>
            <a:r>
              <a:rPr lang="en-US" altLang="en-US" sz="1700" b="1" dirty="0"/>
              <a:t>natural left outer join</a:t>
            </a:r>
            <a:r>
              <a:rPr lang="en-US" altLang="en-US" sz="1700" dirty="0"/>
              <a:t> </a:t>
            </a:r>
            <a:r>
              <a:rPr lang="en-US" altLang="en-US" sz="1700" i="1" dirty="0" err="1"/>
              <a:t>prereq</a:t>
            </a:r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pPr marL="342900" lvl="1" indent="-342900"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en-US" altLang="en-US" sz="1700" dirty="0"/>
              <a:t>In relational algebra:   </a:t>
            </a:r>
            <a:r>
              <a:rPr lang="en-US" altLang="en-US" sz="1700" i="1" dirty="0"/>
              <a:t>course </a:t>
            </a:r>
            <a:r>
              <a:rPr lang="en-US" altLang="en-US" sz="1700" b="1" dirty="0"/>
              <a:t>⟕</a:t>
            </a:r>
            <a:r>
              <a:rPr lang="en-US" altLang="en-US" sz="1700" dirty="0"/>
              <a:t> </a:t>
            </a:r>
            <a:r>
              <a:rPr lang="en-US" altLang="en-US" sz="1700" i="1" dirty="0" err="1"/>
              <a:t>prereq</a:t>
            </a:r>
            <a:endParaRPr lang="en-US" altLang="en-US" sz="1700" dirty="0"/>
          </a:p>
          <a:p>
            <a:pPr>
              <a:buNone/>
            </a:pPr>
            <a:endParaRPr lang="en-US" altLang="en-US" sz="17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952" y="1802616"/>
            <a:ext cx="5316318" cy="120712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/>
              <a:t>Right Outer Join</a:t>
            </a:r>
            <a:endParaRPr lang="en-US" sz="2800" dirty="0">
              <a:ea typeface="+mj-ea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70533"/>
            <a:ext cx="7750843" cy="4876800"/>
          </a:xfrm>
        </p:spPr>
        <p:txBody>
          <a:bodyPr/>
          <a:lstStyle/>
          <a:p>
            <a:r>
              <a:rPr lang="en-US" altLang="en-US" sz="1700" i="1" dirty="0"/>
              <a:t>course</a:t>
            </a:r>
            <a:r>
              <a:rPr lang="en-US" altLang="en-US" sz="1700" dirty="0"/>
              <a:t> </a:t>
            </a:r>
            <a:r>
              <a:rPr lang="en-US" altLang="en-US" sz="1700" b="1" dirty="0"/>
              <a:t>natural right outer join</a:t>
            </a:r>
            <a:r>
              <a:rPr lang="en-US" altLang="en-US" sz="1700" dirty="0"/>
              <a:t> </a:t>
            </a:r>
            <a:r>
              <a:rPr lang="en-US" altLang="en-US" sz="1700" i="1" dirty="0" err="1"/>
              <a:t>prereq</a:t>
            </a:r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pPr marL="342900" lvl="1" indent="-342900"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en-US" altLang="en-US" sz="1700" dirty="0"/>
              <a:t>In relational algebra:   </a:t>
            </a:r>
            <a:r>
              <a:rPr lang="en-US" altLang="en-US" sz="1700" i="1" dirty="0"/>
              <a:t>course </a:t>
            </a:r>
            <a:r>
              <a:rPr lang="en-IN" sz="1700" b="1" dirty="0">
                <a:cs typeface="Times New Roman" panose="02020603050405020304" pitchFamily="18" charset="0"/>
              </a:rPr>
              <a:t>⟖</a:t>
            </a:r>
            <a:r>
              <a:rPr lang="en-IN" sz="1700" dirty="0"/>
              <a:t> </a:t>
            </a:r>
            <a:r>
              <a:rPr lang="en-US" altLang="en-US" sz="1700" i="1" dirty="0" err="1"/>
              <a:t>prereq</a:t>
            </a:r>
            <a:endParaRPr lang="en-US" altLang="en-US" sz="1700" dirty="0"/>
          </a:p>
          <a:p>
            <a:pPr>
              <a:buNone/>
            </a:pPr>
            <a:endParaRPr lang="en-US" altLang="en-US" sz="17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43" y="1785905"/>
            <a:ext cx="5444073" cy="123613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/>
              <a:t>Full Outer Join</a:t>
            </a:r>
            <a:endParaRPr lang="en-US" sz="2800" dirty="0">
              <a:ea typeface="+mj-ea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70533"/>
            <a:ext cx="7750843" cy="4876800"/>
          </a:xfrm>
        </p:spPr>
        <p:txBody>
          <a:bodyPr/>
          <a:lstStyle/>
          <a:p>
            <a:r>
              <a:rPr lang="en-US" altLang="en-US" sz="1700" i="1" dirty="0"/>
              <a:t>course</a:t>
            </a:r>
            <a:r>
              <a:rPr lang="en-US" altLang="en-US" sz="1700" dirty="0"/>
              <a:t> </a:t>
            </a:r>
            <a:r>
              <a:rPr lang="en-US" altLang="en-US" sz="1700" b="1" dirty="0">
                <a:solidFill>
                  <a:srgbClr val="002060"/>
                </a:solidFill>
              </a:rPr>
              <a:t>natural full outer join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i="1" dirty="0" err="1"/>
              <a:t>prereq</a:t>
            </a:r>
            <a:endParaRPr lang="en-US" altLang="en-US" sz="1700" i="1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pPr>
              <a:buNone/>
            </a:pPr>
            <a:endParaRPr lang="en-US" altLang="en-US" sz="1700" dirty="0"/>
          </a:p>
          <a:p>
            <a:r>
              <a:rPr lang="en-US" altLang="en-US" sz="1700" dirty="0"/>
              <a:t>In relational algebra:   </a:t>
            </a:r>
            <a:r>
              <a:rPr lang="en-US" altLang="en-US" sz="1700" i="1" dirty="0"/>
              <a:t>course </a:t>
            </a:r>
            <a:r>
              <a:rPr lang="en-IN" sz="1700" b="1" dirty="0"/>
              <a:t>⟗</a:t>
            </a:r>
            <a:r>
              <a:rPr lang="en-US" altLang="en-US" sz="1700" dirty="0"/>
              <a:t> </a:t>
            </a:r>
            <a:r>
              <a:rPr lang="en-US" altLang="en-US" sz="1700" i="1" dirty="0" err="1"/>
              <a:t>prereq</a:t>
            </a:r>
            <a:endParaRPr lang="en-US" altLang="en-US" sz="1700" i="1" dirty="0"/>
          </a:p>
          <a:p>
            <a:endParaRPr lang="en-US" altLang="en-US" sz="17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0550" y="1698292"/>
            <a:ext cx="5046366" cy="138127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Joined Types and Conditions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8"/>
            <a:ext cx="7436865" cy="2246312"/>
          </a:xfrm>
        </p:spPr>
        <p:txBody>
          <a:bodyPr/>
          <a:lstStyle/>
          <a:p>
            <a:r>
              <a:rPr lang="en-US" altLang="en-US" sz="1700" b="1" dirty="0">
                <a:solidFill>
                  <a:srgbClr val="002060"/>
                </a:solidFill>
              </a:rPr>
              <a:t>Join operations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take two relations and return as a result another relation.</a:t>
            </a:r>
          </a:p>
          <a:p>
            <a:r>
              <a:rPr lang="en-US" altLang="en-US" sz="1700" dirty="0"/>
              <a:t>These additional operations are typically used as subquery expressions in the </a:t>
            </a:r>
            <a:r>
              <a:rPr lang="en-US" altLang="en-US" sz="1700" b="1" dirty="0"/>
              <a:t>from </a:t>
            </a:r>
            <a:r>
              <a:rPr lang="en-US" altLang="en-US" sz="1700" dirty="0"/>
              <a:t>clause</a:t>
            </a:r>
          </a:p>
          <a:p>
            <a:r>
              <a:rPr lang="en-US" altLang="en-US" sz="1700" b="1" dirty="0">
                <a:solidFill>
                  <a:srgbClr val="002060"/>
                </a:solidFill>
              </a:rPr>
              <a:t>Join condition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– defines which tuples in the two relations match.</a:t>
            </a:r>
          </a:p>
          <a:p>
            <a:r>
              <a:rPr lang="en-US" altLang="en-US" sz="1700" b="1" dirty="0">
                <a:solidFill>
                  <a:srgbClr val="002060"/>
                </a:solidFill>
              </a:rPr>
              <a:t>Join type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– defines how tuples in each relation that do not match any tuple in the other relation (based on the join condition) are treated.</a:t>
            </a:r>
          </a:p>
        </p:txBody>
      </p:sp>
      <p:pic>
        <p:nvPicPr>
          <p:cNvPr id="1026" name="Picture 2" descr="C:\Users\as668\Desktop\4_07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06335" y="3438144"/>
            <a:ext cx="4840315" cy="136678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Joined Relations – Examples</a:t>
            </a:r>
            <a:endParaRPr lang="en-US" sz="2800" dirty="0">
              <a:ea typeface="+mj-ea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70533"/>
            <a:ext cx="7750843" cy="4876800"/>
          </a:xfrm>
        </p:spPr>
        <p:txBody>
          <a:bodyPr/>
          <a:lstStyle/>
          <a:p>
            <a:r>
              <a:rPr lang="en-US" altLang="en-US" sz="1700" i="1" dirty="0"/>
              <a:t>course</a:t>
            </a:r>
            <a:r>
              <a:rPr lang="en-US" altLang="en-US" sz="1700" b="1" dirty="0"/>
              <a:t> natural right outer join </a:t>
            </a:r>
            <a:r>
              <a:rPr lang="en-US" altLang="en-US" sz="1700" i="1" dirty="0" err="1"/>
              <a:t>prereq</a:t>
            </a:r>
            <a:endParaRPr lang="en-US" altLang="en-US" sz="1700" b="1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pPr>
              <a:buNone/>
            </a:pPr>
            <a:endParaRPr lang="en-US" altLang="en-US" sz="1700" dirty="0"/>
          </a:p>
          <a:p>
            <a:r>
              <a:rPr lang="en-US" altLang="en-US" sz="1700" i="1" dirty="0"/>
              <a:t>course</a:t>
            </a:r>
            <a:r>
              <a:rPr lang="en-US" altLang="en-US" sz="1700" b="1" dirty="0"/>
              <a:t> full outer join </a:t>
            </a:r>
            <a:r>
              <a:rPr lang="en-US" altLang="en-US" sz="1700" i="1" dirty="0" err="1"/>
              <a:t>prereq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using </a:t>
            </a:r>
            <a:r>
              <a:rPr lang="en-US" altLang="en-US" sz="1700" dirty="0"/>
              <a:t>(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)</a:t>
            </a:r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9360" y="1653927"/>
            <a:ext cx="4739672" cy="113516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4704" y="3448857"/>
            <a:ext cx="4464092" cy="128931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Joined Relations – Examples </a:t>
            </a:r>
            <a:endParaRPr lang="en-US" sz="2800" dirty="0">
              <a:ea typeface="+mj-ea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70533"/>
            <a:ext cx="7750843" cy="4876800"/>
          </a:xfrm>
        </p:spPr>
        <p:txBody>
          <a:bodyPr/>
          <a:lstStyle/>
          <a:p>
            <a:r>
              <a:rPr lang="en-US" altLang="en-US" sz="1700" i="1" dirty="0"/>
              <a:t>course </a:t>
            </a:r>
            <a:r>
              <a:rPr lang="en-US" altLang="en-US" sz="1700" b="1" dirty="0"/>
              <a:t>inner join </a:t>
            </a:r>
            <a:r>
              <a:rPr lang="en-US" altLang="en-US" sz="1700" i="1" dirty="0" err="1"/>
              <a:t>prereq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on</a:t>
            </a:r>
            <a:br>
              <a:rPr lang="en-US" altLang="en-US" sz="1700" b="1" dirty="0"/>
            </a:br>
            <a:r>
              <a:rPr lang="en-US" altLang="en-US" sz="1700" i="1" dirty="0" err="1"/>
              <a:t>course.course_id</a:t>
            </a:r>
            <a:r>
              <a:rPr lang="en-US" altLang="en-US" sz="1700" i="1" dirty="0"/>
              <a:t> = </a:t>
            </a:r>
            <a:r>
              <a:rPr lang="en-US" altLang="en-US" sz="1700" i="1" dirty="0" err="1"/>
              <a:t>prereq.course_id</a:t>
            </a:r>
            <a:endParaRPr lang="en-US" altLang="en-US" sz="1700" i="1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pPr>
              <a:buNone/>
            </a:pPr>
            <a:endParaRPr lang="en-US" altLang="en-US" sz="1700" dirty="0"/>
          </a:p>
          <a:p>
            <a:r>
              <a:rPr lang="en-US" altLang="en-US" sz="1700" dirty="0"/>
              <a:t>What is the difference between the above, and a natural join? </a:t>
            </a:r>
          </a:p>
          <a:p>
            <a:r>
              <a:rPr lang="en-US" altLang="en-US" sz="1700" i="1" dirty="0"/>
              <a:t>course </a:t>
            </a:r>
            <a:r>
              <a:rPr lang="en-US" altLang="en-US" sz="1700" b="1" dirty="0"/>
              <a:t>left outer join</a:t>
            </a:r>
            <a:r>
              <a:rPr lang="en-US" altLang="en-US" sz="1700" i="1" dirty="0"/>
              <a:t> </a:t>
            </a:r>
            <a:r>
              <a:rPr lang="en-US" altLang="en-US" sz="1700" i="1" dirty="0" err="1"/>
              <a:t>prereq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on</a:t>
            </a:r>
            <a:br>
              <a:rPr lang="en-US" altLang="en-US" sz="1700" i="1" dirty="0"/>
            </a:br>
            <a:r>
              <a:rPr lang="en-US" altLang="en-US" sz="1700" i="1" dirty="0" err="1"/>
              <a:t>course.course_id</a:t>
            </a:r>
            <a:r>
              <a:rPr lang="en-US" altLang="en-US" sz="1700" i="1" dirty="0"/>
              <a:t> = </a:t>
            </a:r>
            <a:r>
              <a:rPr lang="en-US" altLang="en-US" sz="1700" i="1" dirty="0" err="1"/>
              <a:t>prereq.course_id</a:t>
            </a:r>
            <a:endParaRPr lang="en-US" altLang="en-US" sz="1700" i="1" dirty="0"/>
          </a:p>
          <a:p>
            <a:pPr>
              <a:buNone/>
            </a:pPr>
            <a:r>
              <a:rPr lang="en-US" altLang="en-US" sz="1700" dirty="0"/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4062" y="1922405"/>
            <a:ext cx="5524216" cy="82899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600" y="4093625"/>
            <a:ext cx="5483156" cy="102853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Joined Relations – Examples</a:t>
            </a:r>
            <a:endParaRPr lang="en-US" sz="2800" dirty="0">
              <a:ea typeface="+mj-ea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70533"/>
            <a:ext cx="7750843" cy="4876800"/>
          </a:xfrm>
        </p:spPr>
        <p:txBody>
          <a:bodyPr/>
          <a:lstStyle/>
          <a:p>
            <a:r>
              <a:rPr lang="en-US" altLang="en-US" sz="1700" i="1" dirty="0"/>
              <a:t>course</a:t>
            </a:r>
            <a:r>
              <a:rPr lang="en-US" altLang="en-US" sz="1700" b="1" dirty="0"/>
              <a:t> natural right outer join </a:t>
            </a:r>
            <a:r>
              <a:rPr lang="en-US" altLang="en-US" sz="1700" i="1" dirty="0" err="1"/>
              <a:t>prereq</a:t>
            </a:r>
            <a:endParaRPr lang="en-US" altLang="en-US" sz="1700" b="1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pPr>
              <a:buNone/>
            </a:pPr>
            <a:endParaRPr lang="en-US" altLang="en-US" sz="1700" dirty="0"/>
          </a:p>
          <a:p>
            <a:r>
              <a:rPr lang="en-US" altLang="en-US" sz="1700" i="1" dirty="0"/>
              <a:t>course</a:t>
            </a:r>
            <a:r>
              <a:rPr lang="en-US" altLang="en-US" sz="1700" b="1" dirty="0"/>
              <a:t> full outer join </a:t>
            </a:r>
            <a:r>
              <a:rPr lang="en-US" altLang="en-US" sz="1700" i="1" dirty="0" err="1"/>
              <a:t>prereq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using </a:t>
            </a:r>
            <a:r>
              <a:rPr lang="en-US" altLang="en-US" sz="1700" dirty="0"/>
              <a:t>(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)</a:t>
            </a:r>
          </a:p>
          <a:p>
            <a:endParaRPr lang="en-US" altLang="en-US" sz="17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2784" y="1656430"/>
            <a:ext cx="4761572" cy="114040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4704" y="3533026"/>
            <a:ext cx="4531990" cy="130892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Views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8"/>
            <a:ext cx="7583170" cy="4937125"/>
          </a:xfrm>
        </p:spPr>
        <p:txBody>
          <a:bodyPr/>
          <a:lstStyle/>
          <a:p>
            <a:pPr>
              <a:tabLst>
                <a:tab pos="3205163" algn="ctr"/>
              </a:tabLst>
            </a:pPr>
            <a:r>
              <a:rPr lang="en-US" altLang="en-US" sz="1700" dirty="0"/>
              <a:t>In some cases, it is not desirable for all users to see the entire logical model (that is, all the actual relations stored in the database.)</a:t>
            </a:r>
          </a:p>
          <a:p>
            <a:pPr>
              <a:tabLst>
                <a:tab pos="3205163" algn="ctr"/>
              </a:tabLst>
            </a:pPr>
            <a:r>
              <a:rPr lang="en-US" altLang="en-US" sz="1700" dirty="0"/>
              <a:t>Consider a person who needs to know an instructors name and department, but not the salary.  This person should see a relation described, in SQL, by </a:t>
            </a:r>
            <a:br>
              <a:rPr lang="en-US" altLang="en-US" sz="1700" dirty="0"/>
            </a:br>
            <a:r>
              <a:rPr lang="en-US" altLang="en-US" sz="1700" dirty="0"/>
              <a:t>		</a:t>
            </a:r>
            <a:br>
              <a:rPr kumimoji="0" lang="en-US" altLang="en-US" sz="1700" b="1" dirty="0"/>
            </a:br>
            <a:r>
              <a:rPr kumimoji="0" lang="en-US" altLang="en-US" sz="1700" b="1" dirty="0"/>
              <a:t>             select </a:t>
            </a:r>
            <a:r>
              <a:rPr kumimoji="0" lang="en-US" altLang="en-US" sz="1700" i="1" dirty="0"/>
              <a:t>ID</a:t>
            </a:r>
            <a:r>
              <a:rPr kumimoji="0" lang="en-US" altLang="en-US" sz="1700" dirty="0"/>
              <a:t>, </a:t>
            </a:r>
            <a:r>
              <a:rPr kumimoji="0" lang="en-US" altLang="en-US" sz="1700" i="1" dirty="0"/>
              <a:t>name</a:t>
            </a:r>
            <a:r>
              <a:rPr kumimoji="0" lang="en-US" altLang="en-US" sz="1700" dirty="0"/>
              <a:t>, </a:t>
            </a:r>
            <a:r>
              <a:rPr kumimoji="0" lang="en-US" altLang="en-US" sz="1700" i="1" dirty="0" err="1"/>
              <a:t>dept_name</a:t>
            </a:r>
            <a:br>
              <a:rPr kumimoji="0" lang="en-US" altLang="en-US" sz="1700" i="1" dirty="0"/>
            </a:br>
            <a:r>
              <a:rPr kumimoji="0" lang="en-US" altLang="en-US" sz="1700" i="1" dirty="0"/>
              <a:t>             </a:t>
            </a:r>
            <a:r>
              <a:rPr kumimoji="0" lang="en-US" altLang="en-US" sz="1700" b="1" dirty="0"/>
              <a:t>from </a:t>
            </a:r>
            <a:r>
              <a:rPr kumimoji="0" lang="en-US" altLang="en-US" sz="1700" i="1" dirty="0"/>
              <a:t>instructor</a:t>
            </a:r>
            <a:endParaRPr kumimoji="0" lang="en-US" altLang="en-US" sz="1700" dirty="0"/>
          </a:p>
          <a:p>
            <a:pPr>
              <a:buFont typeface="Monotype Sorts" charset="2"/>
              <a:buNone/>
              <a:tabLst>
                <a:tab pos="3205163" algn="ctr"/>
              </a:tabLst>
            </a:pPr>
            <a:r>
              <a:rPr lang="en-US" altLang="en-US" sz="800" dirty="0">
                <a:sym typeface="Symbol" panose="05050102010706020507" pitchFamily="18" charset="2"/>
              </a:rPr>
              <a:t> </a:t>
            </a:r>
          </a:p>
          <a:p>
            <a:pPr>
              <a:tabLst>
                <a:tab pos="3205163" algn="ctr"/>
              </a:tabLst>
            </a:pPr>
            <a:r>
              <a:rPr lang="en-US" altLang="en-US" sz="1700" dirty="0"/>
              <a:t>A </a:t>
            </a:r>
            <a:r>
              <a:rPr lang="en-US" altLang="en-US" sz="1700" b="1" dirty="0">
                <a:solidFill>
                  <a:srgbClr val="002060"/>
                </a:solidFill>
              </a:rPr>
              <a:t>view</a:t>
            </a:r>
            <a:r>
              <a:rPr lang="en-US" altLang="en-US" sz="1700" dirty="0"/>
              <a:t> provides a mechanism to hide certain data from the view of certain users. </a:t>
            </a:r>
          </a:p>
          <a:p>
            <a:pPr>
              <a:tabLst>
                <a:tab pos="3205163" algn="ctr"/>
              </a:tabLst>
            </a:pPr>
            <a:r>
              <a:rPr lang="en-US" altLang="en-US" sz="1700" dirty="0"/>
              <a:t>Any relation that is not of the conceptual model but is made visible to a user as a “virtual relation” is called a </a:t>
            </a:r>
            <a:r>
              <a:rPr lang="en-US" altLang="en-US" sz="1700" b="1" dirty="0">
                <a:solidFill>
                  <a:srgbClr val="002060"/>
                </a:solidFill>
              </a:rPr>
              <a:t>view</a:t>
            </a:r>
            <a:r>
              <a:rPr lang="en-US" altLang="en-US" sz="1700" dirty="0"/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View Definition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69405"/>
            <a:ext cx="7497827" cy="4307268"/>
          </a:xfrm>
        </p:spPr>
        <p:txBody>
          <a:bodyPr/>
          <a:lstStyle/>
          <a:p>
            <a:pPr>
              <a:tabLst>
                <a:tab pos="3432175" algn="ctr"/>
              </a:tabLst>
            </a:pPr>
            <a:r>
              <a:rPr lang="en-US" altLang="en-US" sz="1700" dirty="0"/>
              <a:t>A view is defined using the </a:t>
            </a:r>
            <a:r>
              <a:rPr lang="en-US" altLang="en-US" sz="1700" b="1" dirty="0"/>
              <a:t>create view </a:t>
            </a:r>
            <a:r>
              <a:rPr lang="en-US" altLang="en-US" sz="1700" dirty="0"/>
              <a:t>statement which has the form</a:t>
            </a:r>
          </a:p>
          <a:p>
            <a:pPr>
              <a:lnSpc>
                <a:spcPct val="40000"/>
              </a:lnSpc>
              <a:tabLst>
                <a:tab pos="3432175" algn="ctr"/>
              </a:tabLst>
            </a:pPr>
            <a:endParaRPr lang="en-US" altLang="en-US" sz="1700" dirty="0"/>
          </a:p>
          <a:p>
            <a:pPr>
              <a:lnSpc>
                <a:spcPct val="40000"/>
              </a:lnSpc>
              <a:buFont typeface="Monotype Sorts" charset="2"/>
              <a:buNone/>
              <a:tabLst>
                <a:tab pos="3432175" algn="ctr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/>
              <a:t>create view </a:t>
            </a:r>
            <a:r>
              <a:rPr lang="en-US" altLang="en-US" sz="1700" i="1" dirty="0">
                <a:solidFill>
                  <a:srgbClr val="002060"/>
                </a:solidFill>
              </a:rPr>
              <a:t>v</a:t>
            </a:r>
            <a:r>
              <a:rPr lang="en-US" altLang="en-US" sz="1700" i="1" dirty="0">
                <a:solidFill>
                  <a:srgbClr val="000099"/>
                </a:solidFill>
              </a:rPr>
              <a:t>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&lt; </a:t>
            </a:r>
            <a:r>
              <a:rPr lang="en-US" altLang="en-US" sz="1700" dirty="0"/>
              <a:t>query expression &gt;</a:t>
            </a:r>
          </a:p>
          <a:p>
            <a:pPr>
              <a:lnSpc>
                <a:spcPct val="20000"/>
              </a:lnSpc>
              <a:buFont typeface="Monotype Sorts" charset="2"/>
              <a:buNone/>
              <a:tabLst>
                <a:tab pos="3432175" algn="ctr"/>
              </a:tabLst>
            </a:pPr>
            <a:endParaRPr lang="en-US" altLang="en-US" sz="1700" dirty="0"/>
          </a:p>
          <a:p>
            <a:pPr>
              <a:buFont typeface="Monotype Sorts" charset="2"/>
              <a:buNone/>
              <a:tabLst>
                <a:tab pos="3432175" algn="ctr"/>
              </a:tabLst>
            </a:pPr>
            <a:r>
              <a:rPr lang="en-US" altLang="en-US" sz="1700" dirty="0"/>
              <a:t>	where &lt;query expression&gt; is any legal SQL expression.  The view name is represented by </a:t>
            </a:r>
            <a:r>
              <a:rPr lang="en-US" altLang="en-US" sz="1700" i="1" dirty="0"/>
              <a:t>v.</a:t>
            </a:r>
            <a:endParaRPr lang="en-US" altLang="en-US" sz="1700" dirty="0"/>
          </a:p>
          <a:p>
            <a:pPr>
              <a:tabLst>
                <a:tab pos="3432175" algn="ctr"/>
              </a:tabLst>
            </a:pPr>
            <a:r>
              <a:rPr lang="en-US" altLang="en-US" sz="1700" dirty="0"/>
              <a:t>Once a view is defined, the view name can be used to refer to the virtual relation that the view generates.</a:t>
            </a:r>
          </a:p>
          <a:p>
            <a:pPr>
              <a:tabLst>
                <a:tab pos="3432175" algn="ctr"/>
              </a:tabLst>
            </a:pPr>
            <a:r>
              <a:rPr lang="en-US" altLang="en-US" sz="1700" dirty="0"/>
              <a:t>View definition is not the same as creating a new relation by evaluating the query expression  </a:t>
            </a:r>
          </a:p>
          <a:p>
            <a:pPr lvl="1">
              <a:tabLst>
                <a:tab pos="3432175" algn="ctr"/>
              </a:tabLst>
            </a:pPr>
            <a:r>
              <a:rPr lang="en-US" altLang="en-US" sz="1700" dirty="0"/>
              <a:t>Rather, a view definition causes the saving of an expression; the expression is substituted into queries using the view.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13F906-9B55-DDBA-5E58-E19A2DD46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23" y="3107441"/>
            <a:ext cx="8867553" cy="10783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68492B-F72C-BAE2-8022-CEB2A7F21F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167" y="4185827"/>
            <a:ext cx="8102010" cy="11955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DC83128-C273-109A-30C1-A548EE735B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16414"/>
            <a:ext cx="9144000" cy="110781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07E3E21-9F9A-24C1-1EE1-66A4D2B98CF4}"/>
              </a:ext>
            </a:extLst>
          </p:cNvPr>
          <p:cNvSpPr txBox="1"/>
          <p:nvPr/>
        </p:nvSpPr>
        <p:spPr>
          <a:xfrm>
            <a:off x="3948110" y="2454224"/>
            <a:ext cx="6238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Vs</a:t>
            </a:r>
            <a:endParaRPr 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6CCC55-9121-167F-CB4C-9D27385F0371}"/>
              </a:ext>
            </a:extLst>
          </p:cNvPr>
          <p:cNvSpPr txBox="1"/>
          <p:nvPr/>
        </p:nvSpPr>
        <p:spPr>
          <a:xfrm>
            <a:off x="2384020" y="171590"/>
            <a:ext cx="52903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Creating Table vs Creating View</a:t>
            </a:r>
          </a:p>
        </p:txBody>
      </p:sp>
    </p:spTree>
    <p:extLst>
      <p:ext uri="{BB962C8B-B14F-4D97-AF65-F5344CB8AC3E}">
        <p14:creationId xmlns:p14="http://schemas.microsoft.com/office/powerpoint/2010/main" val="12321896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View Definition and Use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9"/>
            <a:ext cx="7550150" cy="4806632"/>
          </a:xfrm>
        </p:spPr>
        <p:txBody>
          <a:bodyPr/>
          <a:lstStyle/>
          <a:p>
            <a:pPr>
              <a:tabLst>
                <a:tab pos="1370013" algn="l"/>
              </a:tabLst>
            </a:pPr>
            <a:r>
              <a:rPr lang="en-US" altLang="en-US" sz="1700" dirty="0"/>
              <a:t>A view of instructors without their salary</a:t>
            </a:r>
          </a:p>
          <a:p>
            <a:pPr>
              <a:buNone/>
              <a:tabLst>
                <a:tab pos="1370013" algn="l"/>
              </a:tabLst>
            </a:pPr>
            <a:r>
              <a:rPr lang="en-US" altLang="en-US" sz="800" dirty="0"/>
              <a:t> </a:t>
            </a:r>
            <a:br>
              <a:rPr lang="en-US" altLang="en-US" sz="1700" dirty="0"/>
            </a:br>
            <a:r>
              <a:rPr lang="en-US" altLang="en-US" sz="1700" dirty="0"/>
              <a:t>              </a:t>
            </a:r>
            <a:r>
              <a:rPr kumimoji="0" lang="en-US" altLang="en-US" sz="1700" b="1" dirty="0"/>
              <a:t>create view </a:t>
            </a:r>
            <a:r>
              <a:rPr lang="en-US" altLang="en-US" sz="1700" b="1" i="1" dirty="0">
                <a:solidFill>
                  <a:srgbClr val="002060"/>
                </a:solidFill>
              </a:rPr>
              <a:t>faculty</a:t>
            </a:r>
            <a:r>
              <a:rPr kumimoji="0" lang="en-US" altLang="en-US" sz="1700" i="1" dirty="0"/>
              <a:t> </a:t>
            </a:r>
            <a:r>
              <a:rPr kumimoji="0" lang="en-US" altLang="en-US" sz="1700" b="1" dirty="0"/>
              <a:t>as</a:t>
            </a:r>
            <a:r>
              <a:rPr lang="en-US" altLang="en-US" sz="1700" b="1" dirty="0"/>
              <a:t> </a:t>
            </a:r>
            <a:br>
              <a:rPr lang="en-US" altLang="en-US" sz="1700" b="1" dirty="0"/>
            </a:br>
            <a:r>
              <a:rPr lang="en-US" altLang="en-US" sz="1700" b="1" dirty="0"/>
              <a:t>                      </a:t>
            </a:r>
            <a:r>
              <a:rPr kumimoji="0" lang="en-US" altLang="en-US" sz="1700" b="1" dirty="0"/>
              <a:t>select </a:t>
            </a:r>
            <a:r>
              <a:rPr kumimoji="0" lang="en-US" altLang="en-US" sz="1700" i="1" dirty="0"/>
              <a:t>ID</a:t>
            </a:r>
            <a:r>
              <a:rPr kumimoji="0" lang="en-US" altLang="en-US" sz="1700" dirty="0"/>
              <a:t>, </a:t>
            </a:r>
            <a:r>
              <a:rPr kumimoji="0" lang="en-US" altLang="en-US" sz="1700" i="1" dirty="0"/>
              <a:t>name</a:t>
            </a:r>
            <a:r>
              <a:rPr kumimoji="0" lang="en-US" altLang="en-US" sz="1700" dirty="0"/>
              <a:t>, </a:t>
            </a:r>
            <a:r>
              <a:rPr kumimoji="0" lang="en-US" altLang="en-US" sz="1700" i="1" dirty="0"/>
              <a:t>dept_name</a:t>
            </a:r>
            <a:br>
              <a:rPr kumimoji="0" lang="en-US" altLang="en-US" sz="1700" i="1" dirty="0"/>
            </a:br>
            <a:r>
              <a:rPr kumimoji="0" lang="en-US" altLang="en-US" sz="1700" i="1" dirty="0"/>
              <a:t>                      </a:t>
            </a:r>
            <a:r>
              <a:rPr kumimoji="0" lang="en-US" altLang="en-US" sz="1700" b="1" dirty="0"/>
              <a:t>from </a:t>
            </a:r>
            <a:r>
              <a:rPr kumimoji="0" lang="en-US" altLang="en-US" sz="1700" i="1" dirty="0"/>
              <a:t>instructor</a:t>
            </a:r>
            <a:endParaRPr kumimoji="0" lang="en-US" altLang="en-US" sz="1700" dirty="0"/>
          </a:p>
          <a:p>
            <a:pPr>
              <a:tabLst>
                <a:tab pos="1370013" algn="l"/>
              </a:tabLst>
            </a:pPr>
            <a:r>
              <a:rPr lang="en-US" altLang="en-US" sz="1700" dirty="0"/>
              <a:t>Find all instructors in the Biology department</a:t>
            </a:r>
          </a:p>
          <a:p>
            <a:pPr>
              <a:buNone/>
              <a:tabLst>
                <a:tab pos="1370013" algn="l"/>
              </a:tabLst>
            </a:pPr>
            <a:r>
              <a:rPr lang="en-US" altLang="en-US" sz="800" dirty="0"/>
              <a:t> </a:t>
            </a:r>
            <a:br>
              <a:rPr lang="en-US" altLang="en-US" sz="1700" dirty="0"/>
            </a:br>
            <a:r>
              <a:rPr lang="en-US" altLang="en-US" sz="1700" dirty="0"/>
              <a:t>                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name</a:t>
            </a:r>
            <a:br>
              <a:rPr lang="en-US" altLang="en-US" sz="1700" i="1" dirty="0"/>
            </a:br>
            <a:r>
              <a:rPr lang="en-US" altLang="en-US" sz="1700" i="1" dirty="0"/>
              <a:t>                </a:t>
            </a:r>
            <a:r>
              <a:rPr lang="en-US" altLang="en-US" sz="1700" b="1" dirty="0"/>
              <a:t>from </a:t>
            </a:r>
            <a:r>
              <a:rPr lang="en-US" altLang="en-US" sz="1700" b="1" i="1" dirty="0">
                <a:solidFill>
                  <a:srgbClr val="002060"/>
                </a:solidFill>
              </a:rPr>
              <a:t>faculty</a:t>
            </a:r>
            <a:br>
              <a:rPr lang="en-US" altLang="en-US" sz="1700" i="1" dirty="0"/>
            </a:br>
            <a:r>
              <a:rPr lang="en-US" altLang="en-US" sz="1700" i="1" dirty="0"/>
              <a:t>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dept_name = </a:t>
            </a:r>
            <a:r>
              <a:rPr lang="en-US" altLang="en-US" sz="1700" dirty="0"/>
              <a:t>'Biology'</a:t>
            </a:r>
          </a:p>
          <a:p>
            <a:pPr>
              <a:tabLst>
                <a:tab pos="1370013" algn="l"/>
              </a:tabLst>
            </a:pPr>
            <a:r>
              <a:rPr lang="en-US" altLang="en-US" sz="1700" dirty="0"/>
              <a:t>Create a view of department salary totals</a:t>
            </a:r>
          </a:p>
          <a:p>
            <a:pPr>
              <a:buNone/>
              <a:tabLst>
                <a:tab pos="1370013" algn="l"/>
              </a:tabLst>
            </a:pPr>
            <a:r>
              <a:rPr lang="en-US" altLang="en-US" sz="800" dirty="0"/>
              <a:t> </a:t>
            </a:r>
            <a:br>
              <a:rPr lang="en-US" altLang="en-US" sz="1700" dirty="0"/>
            </a:br>
            <a:r>
              <a:rPr lang="en-US" altLang="en-US" sz="1700" dirty="0"/>
              <a:t>  </a:t>
            </a:r>
            <a:r>
              <a:rPr lang="en-US" altLang="en-US" sz="1700" b="1" dirty="0"/>
              <a:t>create view </a:t>
            </a:r>
            <a:r>
              <a:rPr lang="en-US" altLang="en-US" sz="1700" b="1" i="1" dirty="0" err="1">
                <a:solidFill>
                  <a:srgbClr val="002060"/>
                </a:solidFill>
              </a:rPr>
              <a:t>departments_total_salary</a:t>
            </a:r>
            <a:r>
              <a:rPr lang="en-US" altLang="en-US" sz="1700" b="1" i="1" dirty="0">
                <a:solidFill>
                  <a:srgbClr val="002060"/>
                </a:solidFill>
              </a:rPr>
              <a:t>(dept_name, </a:t>
            </a:r>
            <a:r>
              <a:rPr lang="en-US" altLang="en-US" sz="1700" b="1" i="1" dirty="0" err="1">
                <a:solidFill>
                  <a:srgbClr val="002060"/>
                </a:solidFill>
              </a:rPr>
              <a:t>total_salary</a:t>
            </a:r>
            <a:r>
              <a:rPr lang="en-US" altLang="en-US" sz="1700" b="1" i="1" dirty="0">
                <a:solidFill>
                  <a:srgbClr val="000099"/>
                </a:solidFill>
              </a:rPr>
              <a:t>)</a:t>
            </a:r>
            <a:r>
              <a:rPr lang="en-US" altLang="en-US" sz="1700" i="1" dirty="0">
                <a:solidFill>
                  <a:srgbClr val="000099"/>
                </a:solidFill>
              </a:rPr>
              <a:t> </a:t>
            </a:r>
            <a:r>
              <a:rPr lang="en-US" altLang="en-US" sz="1700" b="1" dirty="0"/>
              <a:t>as</a:t>
            </a:r>
            <a:br>
              <a:rPr lang="en-US" altLang="en-US" sz="1700" b="1" dirty="0"/>
            </a:br>
            <a:r>
              <a:rPr lang="en-US" altLang="en-US" sz="1700" b="1" dirty="0"/>
              <a:t>       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b="1" dirty="0"/>
              <a:t>sum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      </a:t>
            </a:r>
            <a:r>
              <a:rPr lang="en-US" altLang="en-US" sz="1700" b="1" dirty="0"/>
              <a:t>group by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;</a:t>
            </a:r>
          </a:p>
          <a:p>
            <a:pPr>
              <a:tabLst>
                <a:tab pos="1370013" algn="l"/>
              </a:tabLst>
            </a:pPr>
            <a:endParaRPr lang="en-US" altLang="en-US" sz="2000" dirty="0"/>
          </a:p>
          <a:p>
            <a:pPr>
              <a:buNone/>
              <a:tabLst>
                <a:tab pos="1370013" algn="l"/>
              </a:tabLst>
            </a:pPr>
            <a:endParaRPr lang="en-US" altLang="en-US" sz="2400" dirty="0"/>
          </a:p>
          <a:p>
            <a:pPr>
              <a:tabLst>
                <a:tab pos="1370013" algn="l"/>
              </a:tabLst>
            </a:pPr>
            <a:endParaRPr lang="en-US" altLang="en-US" sz="2000" dirty="0"/>
          </a:p>
          <a:p>
            <a:pPr>
              <a:tabLst>
                <a:tab pos="1370013" algn="l"/>
              </a:tabLst>
            </a:pPr>
            <a:endParaRPr lang="en-US" altLang="en-US" sz="2000" dirty="0"/>
          </a:p>
        </p:txBody>
      </p:sp>
      <p:sp>
        <p:nvSpPr>
          <p:cNvPr id="335877" name="Text Box 5"/>
          <p:cNvSpPr txBox="1">
            <a:spLocks noChangeArrowheads="1"/>
          </p:cNvSpPr>
          <p:nvPr/>
        </p:nvSpPr>
        <p:spPr bwMode="auto">
          <a:xfrm>
            <a:off x="1060450" y="5232400"/>
            <a:ext cx="7550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Clr>
                <a:schemeClr val="tx2"/>
              </a:buClr>
              <a:buSzPct val="90000"/>
              <a:buFont typeface="Monotype Sorts" charset="2"/>
              <a:buNone/>
            </a:pPr>
            <a:r>
              <a:rPr kumimoji="1" lang="en-US" altLang="en-US" sz="2400" b="1"/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5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5877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Views Defined Using Other Views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8707" y="1074591"/>
            <a:ext cx="7683191" cy="3380168"/>
          </a:xfrm>
        </p:spPr>
        <p:txBody>
          <a:bodyPr/>
          <a:lstStyle/>
          <a:p>
            <a:r>
              <a:rPr lang="en-US" altLang="en-US" sz="1700" dirty="0"/>
              <a:t>One view may be used in the expression defining another view </a:t>
            </a:r>
          </a:p>
          <a:p>
            <a:endParaRPr lang="en-US" altLang="en-US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dirty="0"/>
          </a:p>
          <a:p>
            <a:endParaRPr lang="en-US" altLang="en-US" sz="1700" dirty="0"/>
          </a:p>
          <a:p>
            <a:r>
              <a:rPr lang="en-US" altLang="en-US" sz="1700" dirty="0"/>
              <a:t>A view relation </a:t>
            </a:r>
            <a:r>
              <a:rPr lang="en-US" altLang="en-US" sz="1700" i="1" dirty="0"/>
              <a:t>v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 is said to </a:t>
            </a:r>
            <a:r>
              <a:rPr lang="en-US" altLang="en-US" sz="1700" b="1" i="1" dirty="0">
                <a:solidFill>
                  <a:srgbClr val="002060"/>
                </a:solidFill>
              </a:rPr>
              <a:t>depend directly </a:t>
            </a:r>
            <a:r>
              <a:rPr lang="en-US" altLang="en-US" sz="1700" dirty="0"/>
              <a:t>on a view relation </a:t>
            </a:r>
            <a:r>
              <a:rPr lang="en-US" altLang="en-US" sz="1700" i="1" dirty="0"/>
              <a:t>v</a:t>
            </a:r>
            <a:r>
              <a:rPr lang="en-US" altLang="en-US" sz="1700" i="1" baseline="-25000" dirty="0"/>
              <a:t>2</a:t>
            </a:r>
            <a:r>
              <a:rPr lang="en-US" altLang="en-US" sz="1700" i="1" dirty="0"/>
              <a:t> </a:t>
            </a:r>
            <a:r>
              <a:rPr lang="en-US" altLang="en-US" sz="1700" dirty="0"/>
              <a:t> if </a:t>
            </a:r>
            <a:r>
              <a:rPr lang="en-US" altLang="en-US" sz="1700" i="1" dirty="0"/>
              <a:t>v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 is used in the expression defining </a:t>
            </a:r>
            <a:r>
              <a:rPr lang="en-US" altLang="en-US" sz="1700" i="1" dirty="0"/>
              <a:t>v</a:t>
            </a:r>
            <a:r>
              <a:rPr lang="en-US" altLang="en-US" sz="1700" baseline="-25000" dirty="0"/>
              <a:t>1</a:t>
            </a:r>
            <a:endParaRPr lang="en-US" altLang="en-US" sz="1700" dirty="0"/>
          </a:p>
          <a:p>
            <a:r>
              <a:rPr lang="en-US" altLang="en-US" sz="1700" dirty="0"/>
              <a:t>A view relation </a:t>
            </a:r>
            <a:r>
              <a:rPr lang="en-US" altLang="en-US" sz="1700" i="1" dirty="0"/>
              <a:t>v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 is said to </a:t>
            </a:r>
            <a:r>
              <a:rPr lang="en-US" altLang="en-US" sz="1700" b="1" i="1" dirty="0">
                <a:solidFill>
                  <a:srgbClr val="002060"/>
                </a:solidFill>
              </a:rPr>
              <a:t>depend on</a:t>
            </a:r>
            <a:r>
              <a:rPr lang="en-US" altLang="en-US" sz="1700" b="1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view relation </a:t>
            </a:r>
            <a:r>
              <a:rPr lang="en-US" altLang="en-US" sz="1700" i="1" dirty="0"/>
              <a:t>v</a:t>
            </a:r>
            <a:r>
              <a:rPr lang="en-US" altLang="en-US" sz="1700" i="1" baseline="-25000" dirty="0"/>
              <a:t>2</a:t>
            </a:r>
            <a:r>
              <a:rPr lang="en-US" altLang="en-US" sz="1700" i="1" dirty="0"/>
              <a:t> </a:t>
            </a:r>
            <a:r>
              <a:rPr lang="en-US" altLang="en-US" sz="1700" dirty="0"/>
              <a:t>if either </a:t>
            </a:r>
            <a:r>
              <a:rPr lang="en-US" altLang="en-US" sz="1700" i="1" dirty="0"/>
              <a:t>v</a:t>
            </a:r>
            <a:r>
              <a:rPr lang="en-US" altLang="en-US" sz="1700" baseline="-25000" dirty="0"/>
              <a:t>1 </a:t>
            </a:r>
            <a:r>
              <a:rPr lang="en-US" altLang="en-US" sz="1700" dirty="0"/>
              <a:t>depends directly to </a:t>
            </a:r>
            <a:r>
              <a:rPr lang="en-US" altLang="en-US" sz="1700" i="1" dirty="0"/>
              <a:t>v</a:t>
            </a:r>
            <a:r>
              <a:rPr lang="en-US" altLang="en-US" sz="1700" baseline="-25000" dirty="0"/>
              <a:t>2 </a:t>
            </a:r>
            <a:r>
              <a:rPr lang="en-US" altLang="en-US" sz="1700" dirty="0"/>
              <a:t> or there is a path of dependencies from </a:t>
            </a:r>
            <a:r>
              <a:rPr lang="en-US" altLang="en-US" sz="1700" i="1" dirty="0"/>
              <a:t>v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 to </a:t>
            </a:r>
            <a:r>
              <a:rPr lang="en-US" altLang="en-US" sz="1700" i="1" dirty="0"/>
              <a:t>v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 </a:t>
            </a:r>
          </a:p>
          <a:p>
            <a:endParaRPr lang="en-US" altLang="en-US" dirty="0"/>
          </a:p>
          <a:p>
            <a:endParaRPr lang="en-US" altLang="en-US" sz="1700" dirty="0"/>
          </a:p>
          <a:p>
            <a:endParaRPr lang="en-US" altLang="en-US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r>
              <a:rPr lang="en-US" altLang="en-US" sz="1700" dirty="0"/>
              <a:t>A view relation </a:t>
            </a:r>
            <a:r>
              <a:rPr lang="en-US" altLang="en-US" sz="1700" i="1" dirty="0"/>
              <a:t>v</a:t>
            </a:r>
            <a:r>
              <a:rPr lang="en-US" altLang="en-US" sz="1700" dirty="0"/>
              <a:t> is said to be </a:t>
            </a:r>
            <a:r>
              <a:rPr lang="en-US" altLang="en-US" sz="1700" b="1" i="1" dirty="0">
                <a:solidFill>
                  <a:srgbClr val="002060"/>
                </a:solidFill>
              </a:rPr>
              <a:t>recursive</a:t>
            </a:r>
            <a:r>
              <a:rPr lang="en-US" altLang="en-US" sz="1700" i="1" dirty="0"/>
              <a:t> </a:t>
            </a:r>
            <a:r>
              <a:rPr lang="en-US" altLang="en-US" sz="1700" dirty="0"/>
              <a:t> if it depends on itself.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9B25DD-DC38-77C5-753C-6AD4739D6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227" y="1380596"/>
            <a:ext cx="7207862" cy="18517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D52B4DB-1C9D-FFC9-628E-FB54CF9F46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707" y="4378906"/>
            <a:ext cx="7506586" cy="11491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F512E3-633C-47D5-7E4F-5EB8902450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6898" y="5490763"/>
            <a:ext cx="6688786" cy="58602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Views Defined Using Other Views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727075"/>
            <a:ext cx="7570979" cy="3100646"/>
          </a:xfrm>
        </p:spPr>
        <p:txBody>
          <a:bodyPr/>
          <a:lstStyle/>
          <a:p>
            <a:r>
              <a:rPr lang="en-US" altLang="en-US" sz="1600" b="1" dirty="0"/>
              <a:t>create view </a:t>
            </a:r>
            <a:r>
              <a:rPr lang="en-US" altLang="en-US" sz="1600" b="1" i="1" dirty="0">
                <a:solidFill>
                  <a:srgbClr val="002060"/>
                </a:solidFill>
              </a:rPr>
              <a:t>physics_fall_2017</a:t>
            </a:r>
            <a:r>
              <a:rPr lang="en-US" altLang="en-US" sz="1600" b="1" i="1" dirty="0"/>
              <a:t> </a:t>
            </a:r>
            <a:r>
              <a:rPr lang="en-US" altLang="en-US" sz="1600" b="1" dirty="0"/>
              <a:t>as</a:t>
            </a:r>
            <a:br>
              <a:rPr lang="en-US" altLang="en-US" sz="1600" b="1" dirty="0"/>
            </a:br>
            <a:r>
              <a:rPr lang="en-US" altLang="en-US" sz="1600" b="1" dirty="0"/>
              <a:t>   select </a:t>
            </a:r>
            <a:r>
              <a:rPr lang="en-US" altLang="en-US" sz="1600" i="1" dirty="0" err="1"/>
              <a:t>course</a:t>
            </a:r>
            <a:r>
              <a:rPr lang="en-US" altLang="en-US" sz="1600" dirty="0" err="1"/>
              <a:t>.</a:t>
            </a:r>
            <a:r>
              <a:rPr lang="en-US" altLang="en-US" sz="1600" i="1" dirty="0" err="1"/>
              <a:t>course_id</a:t>
            </a:r>
            <a:r>
              <a:rPr lang="en-US" altLang="en-US" sz="1600" dirty="0"/>
              <a:t>, </a:t>
            </a:r>
            <a:r>
              <a:rPr lang="en-US" altLang="en-US" sz="1600" i="1" dirty="0" err="1"/>
              <a:t>sec_id</a:t>
            </a:r>
            <a:r>
              <a:rPr lang="en-US" altLang="en-US" sz="1600" dirty="0"/>
              <a:t>, </a:t>
            </a:r>
            <a:r>
              <a:rPr lang="en-US" altLang="en-US" sz="1600" i="1" dirty="0"/>
              <a:t>building</a:t>
            </a:r>
            <a:r>
              <a:rPr lang="en-US" altLang="en-US" sz="1600" dirty="0"/>
              <a:t>, </a:t>
            </a:r>
            <a:r>
              <a:rPr lang="en-US" altLang="en-US" sz="1600" i="1" dirty="0" err="1"/>
              <a:t>room_number</a:t>
            </a:r>
            <a:br>
              <a:rPr lang="en-US" altLang="en-US" sz="1600" i="1" dirty="0"/>
            </a:br>
            <a:r>
              <a:rPr lang="en-US" altLang="en-US" sz="1600" i="1" dirty="0"/>
              <a:t> 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course</a:t>
            </a:r>
            <a:r>
              <a:rPr lang="en-US" altLang="en-US" sz="1600" dirty="0"/>
              <a:t>, </a:t>
            </a:r>
            <a:r>
              <a:rPr lang="en-US" altLang="en-US" sz="1600" i="1" dirty="0"/>
              <a:t>section</a:t>
            </a:r>
            <a:br>
              <a:rPr lang="en-US" altLang="en-US" sz="1600" i="1" dirty="0"/>
            </a:br>
            <a:r>
              <a:rPr lang="en-US" altLang="en-US" sz="1600" i="1" dirty="0"/>
              <a:t>   </a:t>
            </a:r>
            <a:r>
              <a:rPr lang="en-US" altLang="en-US" sz="1600" b="1" dirty="0"/>
              <a:t>where </a:t>
            </a:r>
            <a:r>
              <a:rPr lang="en-US" altLang="en-US" sz="1600" i="1" dirty="0" err="1"/>
              <a:t>course</a:t>
            </a:r>
            <a:r>
              <a:rPr lang="en-US" altLang="en-US" sz="1600" dirty="0" err="1"/>
              <a:t>.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</a:t>
            </a:r>
            <a:r>
              <a:rPr lang="en-US" altLang="en-US" sz="1600" dirty="0"/>
              <a:t>= </a:t>
            </a:r>
            <a:r>
              <a:rPr lang="en-US" altLang="en-US" sz="1600" i="1" dirty="0" err="1"/>
              <a:t>section</a:t>
            </a:r>
            <a:r>
              <a:rPr lang="en-US" altLang="en-US" sz="1600" dirty="0" err="1"/>
              <a:t>.</a:t>
            </a:r>
            <a:r>
              <a:rPr lang="en-US" altLang="en-US" sz="1600" i="1" dirty="0" err="1"/>
              <a:t>course_id</a:t>
            </a:r>
            <a:br>
              <a:rPr lang="en-US" altLang="en-US" sz="1600" i="1" dirty="0"/>
            </a:br>
            <a:r>
              <a:rPr lang="en-US" altLang="en-US" sz="1600" i="1" dirty="0"/>
              <a:t>              </a:t>
            </a:r>
            <a:r>
              <a:rPr lang="en-US" altLang="en-US" sz="1600" b="1" dirty="0"/>
              <a:t>and </a:t>
            </a:r>
            <a:r>
              <a:rPr lang="en-US" altLang="en-US" sz="1600" i="1" dirty="0" err="1"/>
              <a:t>course</a:t>
            </a:r>
            <a:r>
              <a:rPr lang="en-US" altLang="en-US" sz="1600" dirty="0" err="1"/>
              <a:t>.</a:t>
            </a:r>
            <a:r>
              <a:rPr lang="en-US" altLang="en-US" sz="1600" i="1" dirty="0" err="1"/>
              <a:t>dept_name</a:t>
            </a:r>
            <a:r>
              <a:rPr lang="en-US" altLang="en-US" sz="1600" i="1" dirty="0"/>
              <a:t> </a:t>
            </a:r>
            <a:r>
              <a:rPr lang="en-US" altLang="en-US" sz="1600" dirty="0"/>
              <a:t>= 'Physics'</a:t>
            </a:r>
            <a:br>
              <a:rPr lang="en-US" altLang="en-US" sz="1600" dirty="0"/>
            </a:br>
            <a:r>
              <a:rPr lang="en-US" altLang="en-US" sz="1600" dirty="0"/>
              <a:t>              </a:t>
            </a:r>
            <a:r>
              <a:rPr lang="en-US" altLang="en-US" sz="1600" b="1" dirty="0"/>
              <a:t>and </a:t>
            </a:r>
            <a:r>
              <a:rPr lang="en-US" altLang="en-US" sz="1600" i="1" dirty="0" err="1"/>
              <a:t>section</a:t>
            </a:r>
            <a:r>
              <a:rPr lang="en-US" altLang="en-US" sz="1600" dirty="0" err="1"/>
              <a:t>.</a:t>
            </a:r>
            <a:r>
              <a:rPr lang="en-US" altLang="en-US" sz="1600" i="1" dirty="0" err="1"/>
              <a:t>semester</a:t>
            </a:r>
            <a:r>
              <a:rPr lang="en-US" altLang="en-US" sz="1600" i="1" dirty="0"/>
              <a:t> </a:t>
            </a:r>
            <a:r>
              <a:rPr lang="en-US" altLang="en-US" sz="1600" dirty="0"/>
              <a:t>= 'Fall'</a:t>
            </a:r>
            <a:br>
              <a:rPr lang="en-US" altLang="en-US" sz="1600" dirty="0"/>
            </a:br>
            <a:r>
              <a:rPr lang="en-US" altLang="en-US" sz="1600" dirty="0"/>
              <a:t>              </a:t>
            </a:r>
            <a:r>
              <a:rPr lang="en-US" altLang="en-US" sz="1600" b="1" dirty="0"/>
              <a:t>and </a:t>
            </a:r>
            <a:r>
              <a:rPr lang="en-US" altLang="en-US" sz="1600" i="1" dirty="0" err="1"/>
              <a:t>section</a:t>
            </a:r>
            <a:r>
              <a:rPr lang="en-US" altLang="en-US" sz="1600" dirty="0" err="1"/>
              <a:t>.</a:t>
            </a:r>
            <a:r>
              <a:rPr lang="en-US" altLang="en-US" sz="1600" i="1" dirty="0" err="1"/>
              <a:t>year</a:t>
            </a:r>
            <a:r>
              <a:rPr lang="en-US" altLang="en-US" sz="1600" i="1" dirty="0"/>
              <a:t> </a:t>
            </a:r>
            <a:r>
              <a:rPr lang="en-US" altLang="en-US" sz="1600" dirty="0"/>
              <a:t>= '2017’;</a:t>
            </a:r>
          </a:p>
          <a:p>
            <a:pPr>
              <a:buNone/>
            </a:pPr>
            <a:r>
              <a:rPr lang="en-US" altLang="en-US" sz="700" dirty="0"/>
              <a:t> </a:t>
            </a:r>
          </a:p>
          <a:p>
            <a:r>
              <a:rPr lang="en-US" altLang="en-US" sz="1600" b="1" dirty="0"/>
              <a:t>create view </a:t>
            </a:r>
            <a:r>
              <a:rPr lang="en-US" altLang="en-US" sz="1600" b="1" i="1" dirty="0">
                <a:solidFill>
                  <a:srgbClr val="002060"/>
                </a:solidFill>
              </a:rPr>
              <a:t>physics_fall_2017</a:t>
            </a:r>
            <a:r>
              <a:rPr lang="en-US" altLang="en-US" sz="1600" b="1" i="1" dirty="0"/>
              <a:t>_</a:t>
            </a:r>
            <a:r>
              <a:rPr lang="en-US" altLang="en-US" sz="1600" i="1" dirty="0"/>
              <a:t>watson </a:t>
            </a:r>
            <a:r>
              <a:rPr lang="en-US" altLang="en-US" sz="1600" b="1" dirty="0"/>
              <a:t>as</a:t>
            </a:r>
            <a:br>
              <a:rPr lang="en-US" altLang="en-US" sz="1600" b="1" dirty="0"/>
            </a:br>
            <a:r>
              <a:rPr lang="en-US" altLang="en-US" sz="1600" b="1" dirty="0"/>
              <a:t>    select </a:t>
            </a:r>
            <a:r>
              <a:rPr lang="en-US" altLang="en-US" sz="1600" i="1" dirty="0" err="1"/>
              <a:t>course_id</a:t>
            </a:r>
            <a:r>
              <a:rPr lang="en-US" altLang="en-US" sz="1600" dirty="0"/>
              <a:t>, </a:t>
            </a:r>
            <a:r>
              <a:rPr lang="en-US" altLang="en-US" sz="1600" i="1" dirty="0" err="1"/>
              <a:t>room_number</a:t>
            </a:r>
            <a:br>
              <a:rPr lang="en-US" altLang="en-US" sz="1600" i="1" dirty="0"/>
            </a:br>
            <a:r>
              <a:rPr lang="en-US" altLang="en-US" sz="1600" i="1" dirty="0"/>
              <a:t>    </a:t>
            </a:r>
            <a:r>
              <a:rPr lang="en-US" altLang="en-US" sz="1600" b="1" dirty="0"/>
              <a:t>from </a:t>
            </a:r>
            <a:r>
              <a:rPr lang="en-US" altLang="en-US" sz="1600" b="1" i="1" dirty="0">
                <a:solidFill>
                  <a:srgbClr val="002060"/>
                </a:solidFill>
              </a:rPr>
              <a:t>physics_fall_2017</a:t>
            </a:r>
            <a:br>
              <a:rPr lang="en-US" altLang="en-US" sz="1600" i="1" dirty="0"/>
            </a:br>
            <a:r>
              <a:rPr lang="en-US" altLang="en-US" sz="1600" i="1" dirty="0"/>
              <a:t>    </a:t>
            </a:r>
            <a:r>
              <a:rPr lang="en-US" altLang="en-US" sz="1600" b="1" dirty="0"/>
              <a:t>where </a:t>
            </a:r>
            <a:r>
              <a:rPr lang="en-US" altLang="en-US" sz="1600" i="1" dirty="0"/>
              <a:t>building</a:t>
            </a:r>
            <a:r>
              <a:rPr lang="en-US" altLang="en-US" sz="1600" dirty="0"/>
              <a:t>= 'Watson';</a:t>
            </a:r>
          </a:p>
          <a:p>
            <a:endParaRPr lang="en-US" altLang="en-US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E982EA-B5F4-CD52-B672-943C2C490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32870"/>
            <a:ext cx="9144000" cy="10585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63C3B3-9DF1-5495-E484-235368C4A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432" y="3827721"/>
            <a:ext cx="4517451" cy="253054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View Expansion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1700" dirty="0"/>
              <a:t>Expand  the view :</a:t>
            </a:r>
          </a:p>
          <a:p>
            <a:pPr>
              <a:buNone/>
            </a:pPr>
            <a:r>
              <a:rPr lang="en-US" altLang="en-US" sz="1700" b="1" dirty="0"/>
              <a:t>          create view </a:t>
            </a:r>
            <a:r>
              <a:rPr lang="en-US" altLang="en-US" sz="1700" b="1" i="1" dirty="0">
                <a:solidFill>
                  <a:srgbClr val="002060"/>
                </a:solidFill>
              </a:rPr>
              <a:t>physics_fall_2017_watson</a:t>
            </a:r>
            <a:r>
              <a:rPr lang="en-US" altLang="en-US" sz="1700" b="1" i="1" dirty="0"/>
              <a:t>  </a:t>
            </a:r>
            <a:r>
              <a:rPr lang="en-US" altLang="en-US" sz="1700" b="1" dirty="0"/>
              <a:t>as</a:t>
            </a:r>
            <a:br>
              <a:rPr lang="en-US" altLang="en-US" sz="1700" b="1" dirty="0"/>
            </a:br>
            <a:r>
              <a:rPr lang="en-US" altLang="en-US" sz="1700" b="1" dirty="0"/>
              <a:t>        select 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room_number</a:t>
            </a:r>
            <a:br>
              <a:rPr lang="en-US" altLang="en-US" sz="1700" i="1" dirty="0"/>
            </a:br>
            <a:r>
              <a:rPr lang="en-US" altLang="en-US" sz="1700" i="1" dirty="0"/>
              <a:t>        </a:t>
            </a:r>
            <a:r>
              <a:rPr lang="en-US" altLang="en-US" sz="1700" b="1" dirty="0"/>
              <a:t>from </a:t>
            </a:r>
            <a:r>
              <a:rPr lang="en-US" altLang="en-US" sz="1700" b="1" i="1" dirty="0">
                <a:solidFill>
                  <a:srgbClr val="002060"/>
                </a:solidFill>
              </a:rPr>
              <a:t>physics_fall_2017</a:t>
            </a:r>
            <a:br>
              <a:rPr lang="en-US" altLang="en-US" sz="1700" i="1" dirty="0"/>
            </a:br>
            <a:r>
              <a:rPr lang="en-US" altLang="en-US" sz="1700" i="1" dirty="0"/>
              <a:t>     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building</a:t>
            </a:r>
            <a:r>
              <a:rPr lang="en-US" altLang="en-US" sz="1700" dirty="0"/>
              <a:t>= 'Watson</a:t>
            </a:r>
            <a:r>
              <a:rPr lang="en-US" altLang="ja-JP" sz="1700" dirty="0"/>
              <a:t>'</a:t>
            </a:r>
            <a:endParaRPr lang="en-US" altLang="en-US" sz="1700" dirty="0"/>
          </a:p>
          <a:p>
            <a:r>
              <a:rPr lang="en-US" altLang="en-US" sz="1700" dirty="0"/>
              <a:t>To:</a:t>
            </a:r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</p:txBody>
      </p:sp>
      <p:sp>
        <p:nvSpPr>
          <p:cNvPr id="45060" name="Text Box 4"/>
          <p:cNvSpPr txBox="1">
            <a:spLocks noChangeArrowheads="1"/>
          </p:cNvSpPr>
          <p:nvPr/>
        </p:nvSpPr>
        <p:spPr bwMode="auto">
          <a:xfrm>
            <a:off x="1477963" y="2966255"/>
            <a:ext cx="7192962" cy="275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 b="1" dirty="0"/>
              <a:t>create view </a:t>
            </a:r>
            <a:r>
              <a:rPr kumimoji="1" lang="en-US" altLang="en-US" sz="1700" b="1" i="1" dirty="0">
                <a:solidFill>
                  <a:srgbClr val="002060"/>
                </a:solidFill>
                <a:latin typeface="+mn-lt"/>
              </a:rPr>
              <a:t>physics_fall_2017_watson</a:t>
            </a:r>
            <a:r>
              <a:rPr lang="en-US" altLang="en-US" sz="1700" b="1" i="1" dirty="0">
                <a:solidFill>
                  <a:srgbClr val="002060"/>
                </a:solidFill>
              </a:rPr>
              <a:t> </a:t>
            </a:r>
            <a:r>
              <a:rPr lang="en-US" altLang="en-US" sz="1700" b="1" dirty="0"/>
              <a:t>as</a:t>
            </a:r>
          </a:p>
          <a:p>
            <a:r>
              <a:rPr lang="en-US" altLang="en-US" sz="1700" dirty="0"/>
              <a:t>    </a:t>
            </a:r>
            <a:r>
              <a:rPr lang="en-US" altLang="en-US" sz="1700" b="1" dirty="0"/>
              <a:t>select 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room_number</a:t>
            </a:r>
            <a:endParaRPr lang="en-US" altLang="en-US" sz="1700" i="1" dirty="0"/>
          </a:p>
          <a:p>
            <a:r>
              <a:rPr lang="en-US" altLang="en-US" sz="1700" b="1" dirty="0"/>
              <a:t>    from </a:t>
            </a:r>
            <a:r>
              <a:rPr lang="en-US" altLang="en-US" sz="1700" dirty="0"/>
              <a:t>(</a:t>
            </a:r>
            <a:r>
              <a:rPr lang="en-US" altLang="en-US" sz="1700" b="1" dirty="0"/>
              <a:t>select </a:t>
            </a:r>
            <a:r>
              <a:rPr lang="en-US" altLang="en-US" sz="1700" i="1" dirty="0" err="1"/>
              <a:t>course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</a:t>
            </a:r>
            <a:r>
              <a:rPr lang="en-US" altLang="en-US" sz="1700" i="1" dirty="0"/>
              <a:t>building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room_number</a:t>
            </a:r>
            <a:endParaRPr lang="en-US" altLang="en-US" sz="1700" i="1" dirty="0"/>
          </a:p>
          <a:p>
            <a:r>
              <a:rPr lang="en-US" altLang="en-US" sz="1700" b="1" dirty="0"/>
              <a:t>          from </a:t>
            </a:r>
            <a:r>
              <a:rPr lang="en-US" altLang="en-US" sz="1700" i="1" dirty="0"/>
              <a:t>course</a:t>
            </a:r>
            <a:r>
              <a:rPr lang="en-US" altLang="en-US" sz="1700" dirty="0"/>
              <a:t>, </a:t>
            </a:r>
            <a:r>
              <a:rPr lang="en-US" altLang="en-US" sz="1700" i="1" dirty="0"/>
              <a:t>section</a:t>
            </a:r>
          </a:p>
          <a:p>
            <a:r>
              <a:rPr lang="en-US" altLang="en-US" sz="1700" b="1" dirty="0"/>
              <a:t>          where </a:t>
            </a:r>
            <a:r>
              <a:rPr lang="en-US" altLang="en-US" sz="1700" i="1" dirty="0" err="1"/>
              <a:t>course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> 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section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endParaRPr lang="en-US" altLang="en-US" sz="1700" i="1" dirty="0"/>
          </a:p>
          <a:p>
            <a:r>
              <a:rPr lang="en-US" altLang="en-US" sz="1700" b="1" dirty="0"/>
              <a:t>               and </a:t>
            </a:r>
            <a:r>
              <a:rPr lang="en-US" altLang="en-US" sz="1700" i="1" dirty="0" err="1"/>
              <a:t>course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dept_name</a:t>
            </a:r>
            <a:r>
              <a:rPr lang="en-US" altLang="en-US" sz="1700" i="1" dirty="0"/>
              <a:t> </a:t>
            </a:r>
            <a:r>
              <a:rPr lang="en-US" altLang="en-US" sz="1700" dirty="0"/>
              <a:t>= 'Physics'</a:t>
            </a:r>
          </a:p>
          <a:p>
            <a:r>
              <a:rPr lang="en-US" altLang="en-US" sz="1700" b="1" dirty="0"/>
              <a:t>               and </a:t>
            </a:r>
            <a:r>
              <a:rPr lang="en-US" altLang="en-US" sz="1700" i="1" dirty="0" err="1"/>
              <a:t>section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semester</a:t>
            </a:r>
            <a:r>
              <a:rPr lang="en-US" altLang="en-US" sz="1700" i="1" dirty="0"/>
              <a:t> </a:t>
            </a:r>
            <a:r>
              <a:rPr lang="en-US" altLang="en-US" sz="1700" dirty="0"/>
              <a:t>= 'Fall'</a:t>
            </a:r>
          </a:p>
          <a:p>
            <a:r>
              <a:rPr lang="en-US" altLang="en-US" sz="1700" b="1" dirty="0"/>
              <a:t>               and </a:t>
            </a:r>
            <a:r>
              <a:rPr lang="en-US" altLang="en-US" sz="1700" i="1" dirty="0" err="1"/>
              <a:t>section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year</a:t>
            </a:r>
            <a:r>
              <a:rPr lang="en-US" altLang="en-US" sz="1700" i="1" dirty="0"/>
              <a:t> </a:t>
            </a:r>
            <a:r>
              <a:rPr lang="en-US" altLang="en-US" sz="1700" dirty="0"/>
              <a:t>= '2017')</a:t>
            </a:r>
          </a:p>
          <a:p>
            <a:r>
              <a:rPr lang="en-US" altLang="en-US" sz="1700" b="1" dirty="0"/>
              <a:t>     where </a:t>
            </a:r>
            <a:r>
              <a:rPr lang="en-US" altLang="en-US" sz="1700" i="1" dirty="0"/>
              <a:t>building</a:t>
            </a:r>
            <a:r>
              <a:rPr lang="en-US" altLang="en-US" sz="1700" dirty="0"/>
              <a:t>= 'Watson';</a:t>
            </a:r>
          </a:p>
          <a:p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6435878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View Expansion (Cont.)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9"/>
            <a:ext cx="7638803" cy="4051236"/>
          </a:xfrm>
        </p:spPr>
        <p:txBody>
          <a:bodyPr/>
          <a:lstStyle/>
          <a:p>
            <a:pPr>
              <a:tabLst>
                <a:tab pos="681038" algn="l"/>
              </a:tabLst>
            </a:pPr>
            <a:r>
              <a:rPr lang="en-US" altLang="en-US" sz="1700" dirty="0"/>
              <a:t>A way to define the meaning of views defined in terms of other views.</a:t>
            </a:r>
          </a:p>
          <a:p>
            <a:pPr>
              <a:tabLst>
                <a:tab pos="681038" algn="l"/>
              </a:tabLst>
            </a:pPr>
            <a:r>
              <a:rPr lang="en-US" altLang="en-US" sz="1700" dirty="0"/>
              <a:t>Let view </a:t>
            </a:r>
            <a:r>
              <a:rPr lang="en-US" altLang="en-US" sz="1700" i="1" dirty="0"/>
              <a:t>v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 be defined by an expression </a:t>
            </a:r>
            <a:r>
              <a:rPr lang="en-US" altLang="en-US" sz="1700" i="1" dirty="0"/>
              <a:t>e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 that may itself contain uses of view relations.</a:t>
            </a:r>
          </a:p>
          <a:p>
            <a:pPr>
              <a:tabLst>
                <a:tab pos="681038" algn="l"/>
              </a:tabLst>
            </a:pPr>
            <a:r>
              <a:rPr lang="en-US" altLang="en-US" sz="1700" dirty="0"/>
              <a:t>View expansion of an expression repeats the following replacement step:</a:t>
            </a:r>
          </a:p>
          <a:p>
            <a:pPr>
              <a:buNone/>
              <a:tabLst>
                <a:tab pos="681038" algn="l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/>
              <a:t>repeat</a:t>
            </a:r>
            <a:br>
              <a:rPr lang="en-US" altLang="en-US" sz="1700" b="1" dirty="0"/>
            </a:br>
            <a:r>
              <a:rPr lang="en-US" altLang="en-US" sz="1700" b="1" dirty="0"/>
              <a:t>		</a:t>
            </a:r>
            <a:r>
              <a:rPr lang="en-US" altLang="en-US" sz="1700" dirty="0"/>
              <a:t>Find any view relation </a:t>
            </a:r>
            <a:r>
              <a:rPr lang="en-US" altLang="en-US" sz="1700" i="1" dirty="0"/>
              <a:t>v</a:t>
            </a:r>
            <a:r>
              <a:rPr lang="en-US" altLang="en-US" sz="1700" i="1" baseline="-25000" dirty="0"/>
              <a:t>i</a:t>
            </a:r>
            <a:r>
              <a:rPr lang="en-US" altLang="en-US" sz="1700" dirty="0"/>
              <a:t> in </a:t>
            </a:r>
            <a:r>
              <a:rPr lang="en-US" altLang="en-US" sz="1700" i="1" dirty="0"/>
              <a:t>e</a:t>
            </a:r>
            <a:r>
              <a:rPr lang="en-US" altLang="en-US" sz="1700" baseline="-25000" dirty="0"/>
              <a:t>1</a:t>
            </a:r>
            <a:br>
              <a:rPr lang="en-US" altLang="en-US" sz="1700" dirty="0"/>
            </a:br>
            <a:r>
              <a:rPr lang="en-US" altLang="en-US" sz="1700" dirty="0"/>
              <a:t>		Replace the view relation </a:t>
            </a:r>
            <a:r>
              <a:rPr lang="en-US" altLang="en-US" sz="1700" i="1" dirty="0"/>
              <a:t>v</a:t>
            </a:r>
            <a:r>
              <a:rPr lang="en-US" altLang="en-US" sz="1700" i="1" baseline="-25000" dirty="0"/>
              <a:t>i</a:t>
            </a:r>
            <a:r>
              <a:rPr lang="en-US" altLang="en-US" sz="1700" dirty="0"/>
              <a:t> by the expression defining </a:t>
            </a:r>
            <a:r>
              <a:rPr lang="en-US" altLang="en-US" sz="1700" i="1" dirty="0"/>
              <a:t>v</a:t>
            </a:r>
            <a:r>
              <a:rPr lang="en-US" altLang="en-US" sz="1700" i="1" baseline="-25000" dirty="0"/>
              <a:t>i</a:t>
            </a:r>
            <a:r>
              <a:rPr lang="en-US" altLang="en-US" sz="1700" dirty="0"/>
              <a:t>             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until</a:t>
            </a:r>
            <a:r>
              <a:rPr lang="en-US" altLang="en-US" sz="1700" dirty="0"/>
              <a:t> no more view relations are present in </a:t>
            </a:r>
            <a:r>
              <a:rPr lang="en-US" altLang="en-US" sz="1700" i="1" dirty="0"/>
              <a:t>e</a:t>
            </a:r>
            <a:r>
              <a:rPr lang="en-US" altLang="en-US" sz="1700" baseline="-25000" dirty="0"/>
              <a:t>1</a:t>
            </a:r>
            <a:endParaRPr lang="en-US" altLang="en-US" sz="1700" dirty="0"/>
          </a:p>
          <a:p>
            <a:pPr>
              <a:tabLst>
                <a:tab pos="681038" algn="l"/>
              </a:tabLst>
            </a:pPr>
            <a:r>
              <a:rPr lang="en-US" altLang="en-US" sz="1700" dirty="0"/>
              <a:t>As long as the view definitions are not recursive, this loop will terminate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Materialized Views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203517"/>
            <a:ext cx="7665435" cy="3502596"/>
          </a:xfrm>
        </p:spPr>
        <p:txBody>
          <a:bodyPr/>
          <a:lstStyle/>
          <a:p>
            <a:r>
              <a:rPr lang="en-US" altLang="en-US" sz="1700" dirty="0"/>
              <a:t>Certain database systems allow view relations to be physically stored.</a:t>
            </a:r>
          </a:p>
          <a:p>
            <a:pPr lvl="1"/>
            <a:r>
              <a:rPr lang="en-US" altLang="en-US" sz="1700" dirty="0"/>
              <a:t> Physical copy created when the view is defined.</a:t>
            </a:r>
          </a:p>
          <a:p>
            <a:pPr lvl="1"/>
            <a:r>
              <a:rPr lang="en-US" altLang="en-US" sz="1700" dirty="0"/>
              <a:t>Such views are called </a:t>
            </a:r>
            <a:r>
              <a:rPr lang="en-US" altLang="en-US" sz="1700" b="1" dirty="0">
                <a:solidFill>
                  <a:srgbClr val="002060"/>
                </a:solidFill>
              </a:rPr>
              <a:t>Materialized view</a:t>
            </a:r>
            <a:r>
              <a:rPr lang="en-US" altLang="en-US" sz="1700" dirty="0"/>
              <a:t>:</a:t>
            </a:r>
          </a:p>
          <a:p>
            <a:r>
              <a:rPr lang="en-US" altLang="en-US" sz="1700" dirty="0"/>
              <a:t>If relations used in the query are updated, the materialized view result becomes out of date</a:t>
            </a:r>
          </a:p>
          <a:p>
            <a:pPr lvl="1"/>
            <a:r>
              <a:rPr lang="en-US" altLang="en-US" sz="1700" dirty="0"/>
              <a:t>Need to </a:t>
            </a:r>
            <a:r>
              <a:rPr lang="en-US" altLang="en-US" sz="1700" b="1" dirty="0">
                <a:solidFill>
                  <a:srgbClr val="002060"/>
                </a:solidFill>
              </a:rPr>
              <a:t>maintain</a:t>
            </a:r>
            <a:r>
              <a:rPr lang="en-US" altLang="en-US" sz="1700" dirty="0"/>
              <a:t> the view, by updating the view whenever the underlying relations are updated.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E1D75E-ABBF-5F91-27BE-FCD87A18C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679" y="3429000"/>
            <a:ext cx="5826642" cy="310174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Update of a View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8"/>
            <a:ext cx="7595362" cy="4952936"/>
          </a:xfrm>
        </p:spPr>
        <p:txBody>
          <a:bodyPr/>
          <a:lstStyle/>
          <a:p>
            <a:pPr>
              <a:tabLst>
                <a:tab pos="1085850" algn="l"/>
              </a:tabLst>
            </a:pPr>
            <a:r>
              <a:rPr lang="en-US" altLang="en-US" sz="1700" dirty="0"/>
              <a:t>Add a new tuple to </a:t>
            </a:r>
            <a:r>
              <a:rPr lang="en-US" altLang="en-US" sz="1700" i="1" dirty="0"/>
              <a:t>faculty </a:t>
            </a:r>
            <a:r>
              <a:rPr lang="en-US" altLang="en-US" sz="1700" dirty="0"/>
              <a:t>view which we defined earlier</a:t>
            </a:r>
            <a:endParaRPr lang="en-US" altLang="en-US" sz="1700" b="1" dirty="0"/>
          </a:p>
          <a:p>
            <a:pPr>
              <a:buFont typeface="Monotype Sorts" charset="2"/>
              <a:buNone/>
              <a:tabLst>
                <a:tab pos="1085850" algn="l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/>
              <a:t>insert into </a:t>
            </a:r>
            <a:r>
              <a:rPr lang="en-US" altLang="en-US" sz="1700" i="1" dirty="0"/>
              <a:t>faculty </a:t>
            </a:r>
          </a:p>
          <a:p>
            <a:pPr>
              <a:buFont typeface="Monotype Sorts" charset="2"/>
              <a:buNone/>
              <a:tabLst>
                <a:tab pos="1085850" algn="l"/>
              </a:tabLst>
            </a:pPr>
            <a:r>
              <a:rPr lang="en-US" altLang="en-US" sz="1700" b="1" i="1" dirty="0"/>
              <a:t>                       </a:t>
            </a:r>
            <a:r>
              <a:rPr lang="en-US" altLang="en-US" sz="1700" b="1" dirty="0"/>
              <a:t>values </a:t>
            </a:r>
            <a:r>
              <a:rPr lang="en-US" altLang="en-US" sz="1700" dirty="0"/>
              <a:t>('30765', 'Green', 'Music');</a:t>
            </a:r>
          </a:p>
          <a:p>
            <a:pPr>
              <a:tabLst>
                <a:tab pos="1085850" algn="l"/>
              </a:tabLst>
            </a:pPr>
            <a:r>
              <a:rPr lang="en-US" altLang="en-US" sz="1700" dirty="0"/>
              <a:t>This insertion must be represented by the insertion into  the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relation</a:t>
            </a:r>
          </a:p>
          <a:p>
            <a:pPr lvl="1">
              <a:tabLst>
                <a:tab pos="1085850" algn="l"/>
              </a:tabLst>
            </a:pPr>
            <a:r>
              <a:rPr lang="en-US" altLang="en-US" sz="1700" dirty="0">
                <a:cs typeface="+mn-cs"/>
              </a:rPr>
              <a:t>Must have a  value for salary.</a:t>
            </a:r>
          </a:p>
          <a:p>
            <a:pPr>
              <a:tabLst>
                <a:tab pos="1085850" algn="l"/>
              </a:tabLst>
            </a:pPr>
            <a:r>
              <a:rPr lang="en-US" altLang="en-US" sz="1700" dirty="0">
                <a:cs typeface="+mn-cs"/>
              </a:rPr>
              <a:t>Two approaches</a:t>
            </a:r>
          </a:p>
          <a:p>
            <a:pPr lvl="1">
              <a:tabLst>
                <a:tab pos="1085850" algn="l"/>
              </a:tabLst>
            </a:pPr>
            <a:r>
              <a:rPr lang="en-US" altLang="en-US" sz="1700" dirty="0">
                <a:cs typeface="+mn-cs"/>
              </a:rPr>
              <a:t>Reject the insert</a:t>
            </a:r>
          </a:p>
          <a:p>
            <a:pPr lvl="1">
              <a:tabLst>
                <a:tab pos="1085850" algn="l"/>
              </a:tabLst>
            </a:pPr>
            <a:r>
              <a:rPr lang="en-US" altLang="en-US" sz="1700" dirty="0">
                <a:cs typeface="+mn-cs"/>
              </a:rPr>
              <a:t>Insert the tuple</a:t>
            </a:r>
          </a:p>
          <a:p>
            <a:pPr>
              <a:buFont typeface="Monotype Sorts" charset="2"/>
              <a:buNone/>
              <a:tabLst>
                <a:tab pos="1085850" algn="l"/>
              </a:tabLst>
            </a:pPr>
            <a:r>
              <a:rPr lang="en-US" altLang="en-US" sz="1700" dirty="0"/>
              <a:t>			('30765', 'Green', 'Music', null)</a:t>
            </a:r>
          </a:p>
          <a:p>
            <a:pPr>
              <a:buFont typeface="Monotype Sorts" charset="2"/>
              <a:buNone/>
              <a:tabLst>
                <a:tab pos="1085850" algn="l"/>
              </a:tabLst>
            </a:pPr>
            <a:r>
              <a:rPr lang="en-US" altLang="en-US" sz="1700" dirty="0"/>
              <a:t>	      into the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relation</a:t>
            </a:r>
          </a:p>
          <a:p>
            <a:pPr>
              <a:buFont typeface="Monotype Sorts" charset="2"/>
              <a:buNone/>
              <a:tabLst>
                <a:tab pos="1085850" algn="l"/>
              </a:tabLst>
            </a:pPr>
            <a:endParaRPr lang="en-US" alt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>
          <a:xfrm>
            <a:off x="890270" y="11747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Some Updates Cannot be Translated Uniquely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8990" y="1201917"/>
            <a:ext cx="7369651" cy="4162563"/>
          </a:xfrm>
        </p:spPr>
        <p:txBody>
          <a:bodyPr/>
          <a:lstStyle/>
          <a:p>
            <a:r>
              <a:rPr lang="en-US" altLang="en-US" sz="1700" b="1" dirty="0"/>
              <a:t>create view </a:t>
            </a:r>
            <a:r>
              <a:rPr lang="en-US" altLang="en-US" sz="1700" i="1" dirty="0" err="1"/>
              <a:t>instructor_info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as</a:t>
            </a:r>
            <a:br>
              <a:rPr lang="en-US" altLang="en-US" sz="1700" b="1" dirty="0"/>
            </a:br>
            <a:r>
              <a:rPr lang="en-US" altLang="en-US" sz="1700" b="1" dirty="0"/>
              <a:t>      select </a:t>
            </a:r>
            <a:r>
              <a:rPr lang="en-US" altLang="en-US" sz="1700" i="1" dirty="0"/>
              <a:t>ID</a:t>
            </a:r>
            <a:r>
              <a:rPr lang="en-US" altLang="en-US" sz="1700" dirty="0"/>
              <a:t>, </a:t>
            </a:r>
            <a:r>
              <a:rPr lang="en-US" altLang="en-US" sz="1700" i="1" dirty="0"/>
              <a:t>name</a:t>
            </a:r>
            <a:r>
              <a:rPr lang="en-US" altLang="en-US" sz="1700" dirty="0"/>
              <a:t>, </a:t>
            </a:r>
            <a:r>
              <a:rPr lang="en-US" altLang="en-US" sz="1700" i="1" dirty="0"/>
              <a:t>building</a:t>
            </a:r>
            <a:br>
              <a:rPr lang="en-US" altLang="en-US" sz="1700" i="1" dirty="0"/>
            </a:br>
            <a:r>
              <a:rPr lang="en-US" altLang="en-US" sz="1700" i="1" dirty="0"/>
              <a:t>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, </a:t>
            </a:r>
            <a:r>
              <a:rPr lang="en-US" altLang="en-US" sz="1700" i="1" dirty="0"/>
              <a:t>department</a:t>
            </a:r>
            <a:br>
              <a:rPr lang="en-US" altLang="en-US" sz="1700" i="1" dirty="0"/>
            </a:br>
            <a:r>
              <a:rPr lang="en-US" altLang="en-US" sz="1700" i="1" dirty="0"/>
              <a:t>       </a:t>
            </a:r>
            <a:r>
              <a:rPr lang="en-US" altLang="en-US" sz="1700" b="1" dirty="0"/>
              <a:t>where </a:t>
            </a:r>
            <a:r>
              <a:rPr lang="en-US" altLang="en-US" sz="1700" i="1" dirty="0" err="1"/>
              <a:t>instructor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dept_name</a:t>
            </a:r>
            <a:r>
              <a:rPr lang="en-US" altLang="en-US" sz="1700" i="1" dirty="0"/>
              <a:t> 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department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dept_name</a:t>
            </a:r>
            <a:r>
              <a:rPr lang="en-US" altLang="en-US" sz="1700" dirty="0"/>
              <a:t>;</a:t>
            </a:r>
          </a:p>
          <a:p>
            <a:r>
              <a:rPr lang="en-US" altLang="en-US" sz="1700" b="1" dirty="0">
                <a:sym typeface="Symbol" panose="05050102010706020507" pitchFamily="18" charset="2"/>
              </a:rPr>
              <a:t>insert into </a:t>
            </a:r>
            <a:r>
              <a:rPr lang="en-US" altLang="en-US" sz="1700" i="1" dirty="0" err="1">
                <a:sym typeface="Symbol" panose="05050102010706020507" pitchFamily="18" charset="2"/>
              </a:rPr>
              <a:t>instructor_info</a:t>
            </a:r>
            <a:r>
              <a:rPr lang="en-US" altLang="en-US" sz="1700" i="1" dirty="0">
                <a:sym typeface="Symbol" panose="05050102010706020507" pitchFamily="18" charset="2"/>
              </a:rPr>
              <a:t> </a:t>
            </a:r>
          </a:p>
          <a:p>
            <a:pPr>
              <a:buNone/>
            </a:pPr>
            <a:r>
              <a:rPr lang="en-US" altLang="en-US" sz="1700" b="1" i="1" dirty="0">
                <a:sym typeface="Symbol" panose="05050102010706020507" pitchFamily="18" charset="2"/>
              </a:rPr>
              <a:t>             </a:t>
            </a:r>
            <a:r>
              <a:rPr lang="en-US" altLang="en-US" sz="1700" b="1" dirty="0">
                <a:sym typeface="Symbol" panose="05050102010706020507" pitchFamily="18" charset="2"/>
              </a:rPr>
              <a:t>values </a:t>
            </a:r>
            <a:r>
              <a:rPr lang="en-US" altLang="en-US" sz="1700" dirty="0">
                <a:sym typeface="Symbol" panose="05050102010706020507" pitchFamily="18" charset="2"/>
              </a:rPr>
              <a:t>('69987', 'White', 'Taylor');</a:t>
            </a:r>
          </a:p>
          <a:p>
            <a:r>
              <a:rPr lang="en-US" altLang="en-US" sz="1700" dirty="0">
                <a:sym typeface="Symbol" panose="05050102010706020507" pitchFamily="18" charset="2"/>
              </a:rPr>
              <a:t>Issues</a:t>
            </a:r>
          </a:p>
          <a:p>
            <a:pPr lvl="1"/>
            <a:r>
              <a:rPr lang="en-US" altLang="en-US" sz="1700" dirty="0"/>
              <a:t>Which department, if multiple departments in Taylor?</a:t>
            </a:r>
          </a:p>
          <a:p>
            <a:pPr lvl="1"/>
            <a:r>
              <a:rPr lang="en-US" altLang="en-US" sz="1700" dirty="0"/>
              <a:t>What if no department is in Taylor?</a:t>
            </a:r>
            <a:endParaRPr lang="en-US" altLang="en-US" sz="1700" b="1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And Some Not at All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9"/>
            <a:ext cx="6400547" cy="3417252"/>
          </a:xfrm>
        </p:spPr>
        <p:txBody>
          <a:bodyPr/>
          <a:lstStyle/>
          <a:p>
            <a:r>
              <a:rPr lang="en-US" altLang="en-US" sz="1700" b="1" dirty="0"/>
              <a:t>create view </a:t>
            </a:r>
            <a:r>
              <a:rPr lang="en-US" altLang="en-US" sz="1700" i="1" dirty="0" err="1"/>
              <a:t>history_instructors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as</a:t>
            </a:r>
            <a:br>
              <a:rPr lang="en-US" altLang="en-US" sz="1700" b="1" dirty="0"/>
            </a:br>
            <a:r>
              <a:rPr lang="en-US" altLang="en-US" sz="1700" b="1" dirty="0"/>
              <a:t>   select </a:t>
            </a:r>
            <a:r>
              <a:rPr lang="en-US" altLang="en-US" sz="1700" dirty="0"/>
              <a:t>*</a:t>
            </a:r>
            <a:br>
              <a:rPr lang="en-US" altLang="en-US" sz="1700" dirty="0"/>
            </a:br>
            <a:r>
              <a:rPr lang="en-US" altLang="en-US" sz="1700" dirty="0"/>
              <a:t>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= 'History';</a:t>
            </a:r>
          </a:p>
          <a:p>
            <a:r>
              <a:rPr lang="en-US" altLang="en-US" sz="1700" dirty="0"/>
              <a:t>What happens if we insert </a:t>
            </a:r>
          </a:p>
          <a:p>
            <a:pPr>
              <a:buNone/>
            </a:pPr>
            <a:r>
              <a:rPr lang="en-US" altLang="en-US" sz="1700" dirty="0"/>
              <a:t>           ('25566', 'Brown', 'Biology', 100000)</a:t>
            </a:r>
          </a:p>
          <a:p>
            <a:pPr>
              <a:buNone/>
            </a:pPr>
            <a:r>
              <a:rPr lang="en-US" altLang="en-US" sz="1700" dirty="0"/>
              <a:t>       into </a:t>
            </a:r>
            <a:r>
              <a:rPr lang="en-US" altLang="en-US" sz="1700" i="1" dirty="0" err="1"/>
              <a:t>history_instructors</a:t>
            </a:r>
            <a:r>
              <a:rPr lang="en-US" altLang="en-US" sz="1700" i="1" dirty="0"/>
              <a:t>?</a:t>
            </a:r>
            <a:endParaRPr lang="en-US" altLang="en-US" sz="17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View Updates in SQL 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229275"/>
            <a:ext cx="7400291" cy="3184229"/>
          </a:xfrm>
        </p:spPr>
        <p:txBody>
          <a:bodyPr/>
          <a:lstStyle/>
          <a:p>
            <a:r>
              <a:rPr lang="en-US" altLang="en-US" sz="1700" dirty="0"/>
              <a:t>Most SQL implementations allow updates only on simple views </a:t>
            </a:r>
          </a:p>
          <a:p>
            <a:pPr lvl="1"/>
            <a:r>
              <a:rPr lang="en-US" altLang="en-US" sz="1700" dirty="0"/>
              <a:t>The </a:t>
            </a:r>
            <a:r>
              <a:rPr lang="en-US" altLang="en-US" sz="1700" b="1" dirty="0"/>
              <a:t>from </a:t>
            </a:r>
            <a:r>
              <a:rPr lang="en-US" altLang="en-US" sz="1700" dirty="0"/>
              <a:t>clause has only one database relation.</a:t>
            </a:r>
          </a:p>
          <a:p>
            <a:pPr lvl="1"/>
            <a:r>
              <a:rPr lang="en-US" altLang="en-US" sz="1700" dirty="0"/>
              <a:t>The </a:t>
            </a:r>
            <a:r>
              <a:rPr lang="en-US" altLang="en-US" sz="1700" b="1" dirty="0"/>
              <a:t>select </a:t>
            </a:r>
            <a:r>
              <a:rPr lang="en-US" altLang="en-US" sz="1700" dirty="0"/>
              <a:t>clause contains only attribute names of the relation, and does not have any expressions, aggregates, or </a:t>
            </a:r>
            <a:r>
              <a:rPr lang="en-US" altLang="en-US" sz="1700" b="1" dirty="0"/>
              <a:t>distinct </a:t>
            </a:r>
            <a:r>
              <a:rPr lang="en-US" altLang="en-US" sz="1700" dirty="0"/>
              <a:t>specification.</a:t>
            </a:r>
          </a:p>
          <a:p>
            <a:pPr lvl="1"/>
            <a:r>
              <a:rPr lang="en-US" altLang="en-US" sz="1700" dirty="0"/>
              <a:t>Any attribute not listed in the </a:t>
            </a:r>
            <a:r>
              <a:rPr lang="en-US" altLang="en-US" sz="1700" b="1" dirty="0"/>
              <a:t>select </a:t>
            </a:r>
            <a:r>
              <a:rPr lang="en-US" altLang="en-US" sz="1700" dirty="0"/>
              <a:t>clause can be set to null</a:t>
            </a:r>
          </a:p>
          <a:p>
            <a:pPr lvl="1"/>
            <a:r>
              <a:rPr lang="en-US" altLang="en-US" sz="1700" dirty="0"/>
              <a:t>The query does not have a </a:t>
            </a:r>
            <a:r>
              <a:rPr lang="en-US" altLang="en-US" sz="1700" b="1" dirty="0"/>
              <a:t>group </a:t>
            </a:r>
            <a:r>
              <a:rPr lang="en-US" altLang="en-US" sz="1700" dirty="0"/>
              <a:t>by or </a:t>
            </a:r>
            <a:r>
              <a:rPr lang="en-US" altLang="en-US" sz="1700" b="1" dirty="0"/>
              <a:t>having </a:t>
            </a:r>
            <a:r>
              <a:rPr lang="en-US" altLang="en-US" sz="1700" dirty="0"/>
              <a:t>clause.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>
                <a:effectLst/>
              </a:rPr>
              <a:t>Transactions</a:t>
            </a:r>
            <a:endParaRPr lang="en-US" sz="2800" dirty="0">
              <a:ea typeface="+mj-ea"/>
            </a:endParaRP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84059"/>
            <a:ext cx="7522211" cy="4390149"/>
          </a:xfrm>
        </p:spPr>
        <p:txBody>
          <a:bodyPr/>
          <a:lstStyle/>
          <a:p>
            <a:r>
              <a:rPr lang="en-US" altLang="en-US" sz="1700" dirty="0"/>
              <a:t>A</a:t>
            </a:r>
            <a:r>
              <a:rPr lang="en-US" altLang="en-US" sz="1700" b="1" dirty="0">
                <a:solidFill>
                  <a:srgbClr val="002060"/>
                </a:solidFill>
              </a:rPr>
              <a:t>  transaction </a:t>
            </a:r>
            <a:r>
              <a:rPr lang="en-US" altLang="en-US" sz="1700" dirty="0"/>
              <a:t>consists of a sequence of query and/or update statements and is a “unit” of work</a:t>
            </a:r>
          </a:p>
          <a:p>
            <a:r>
              <a:rPr lang="en-US" altLang="en-US" sz="1700" dirty="0"/>
              <a:t>The SQL standard specifies that a transaction begins implicitly when an SQL statement is executed.  </a:t>
            </a:r>
          </a:p>
          <a:p>
            <a:r>
              <a:rPr lang="en-US" altLang="en-US" sz="1700" dirty="0"/>
              <a:t>The transaction must end with one of the following statements: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</a:rPr>
              <a:t>Commit work</a:t>
            </a:r>
            <a:r>
              <a:rPr lang="en-US" altLang="en-US" sz="1700" dirty="0"/>
              <a:t>. The updates performed by the transaction become permanent in the database. 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</a:rPr>
              <a:t>Rollback work</a:t>
            </a:r>
            <a:r>
              <a:rPr lang="en-US" altLang="en-US" sz="1700" dirty="0"/>
              <a:t>. All  the updates performed by the SQL statements in the transaction are undone.</a:t>
            </a:r>
          </a:p>
          <a:p>
            <a:r>
              <a:rPr lang="en-US" altLang="en-US" sz="1700" dirty="0"/>
              <a:t>Atomic transaction</a:t>
            </a:r>
          </a:p>
          <a:p>
            <a:pPr lvl="1"/>
            <a:r>
              <a:rPr lang="en-US" altLang="en-US" sz="1700" dirty="0"/>
              <a:t>either fully executed or rolled back as if it never occurred</a:t>
            </a:r>
          </a:p>
          <a:p>
            <a:r>
              <a:rPr lang="en-US" altLang="en-US" sz="1700" dirty="0"/>
              <a:t>Isolation from concurrent transactions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Integrity Constraints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35063"/>
            <a:ext cx="7505638" cy="4302569"/>
          </a:xfrm>
        </p:spPr>
        <p:txBody>
          <a:bodyPr/>
          <a:lstStyle/>
          <a:p>
            <a:r>
              <a:rPr lang="en-US" altLang="en-US" sz="1700" dirty="0"/>
              <a:t>Integrity constraints guard against accidental damage to the database, by ensuring that authorized changes to the database do not result in a loss of data consistency. </a:t>
            </a:r>
          </a:p>
          <a:p>
            <a:pPr lvl="1"/>
            <a:r>
              <a:rPr lang="en-US" altLang="en-US" sz="1700" dirty="0"/>
              <a:t>A checking account must have a balance greater than $10,000.00</a:t>
            </a:r>
          </a:p>
          <a:p>
            <a:pPr lvl="1"/>
            <a:r>
              <a:rPr lang="en-US" altLang="en-US" sz="1700" dirty="0"/>
              <a:t>A salary of a bank employee must be at least $4.00 an hour</a:t>
            </a:r>
          </a:p>
          <a:p>
            <a:pPr lvl="1"/>
            <a:r>
              <a:rPr lang="en-US" altLang="en-US" sz="1700" dirty="0"/>
              <a:t>A customer must have a (non-null) phone number</a:t>
            </a:r>
          </a:p>
          <a:p>
            <a:pPr lvl="1"/>
            <a:endParaRPr lang="en-US" altLang="en-US" sz="1700" dirty="0"/>
          </a:p>
          <a:p>
            <a:endParaRPr lang="en-US" altLang="en-US" sz="17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6" name="Rectangle 2"/>
          <p:cNvSpPr>
            <a:spLocks noGrp="1" noChangeArrowheads="1"/>
          </p:cNvSpPr>
          <p:nvPr>
            <p:ph type="title"/>
          </p:nvPr>
        </p:nvSpPr>
        <p:spPr>
          <a:xfrm>
            <a:off x="738188" y="109538"/>
            <a:ext cx="8077200" cy="609600"/>
          </a:xfrm>
        </p:spPr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Constraints on a Single Relation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4863" y="1177925"/>
            <a:ext cx="7136765" cy="2640013"/>
          </a:xfrm>
        </p:spPr>
        <p:txBody>
          <a:bodyPr/>
          <a:lstStyle/>
          <a:p>
            <a:r>
              <a:rPr lang="en-US" altLang="en-US" sz="1700" b="1" dirty="0"/>
              <a:t>not null</a:t>
            </a:r>
          </a:p>
          <a:p>
            <a:r>
              <a:rPr lang="en-US" altLang="en-US" sz="1700" b="1" dirty="0"/>
              <a:t>primary key</a:t>
            </a:r>
          </a:p>
          <a:p>
            <a:r>
              <a:rPr lang="en-US" altLang="en-US" sz="1700" b="1" dirty="0"/>
              <a:t>unique</a:t>
            </a:r>
            <a:endParaRPr lang="en-US" altLang="en-US" sz="1700" dirty="0"/>
          </a:p>
          <a:p>
            <a:r>
              <a:rPr lang="en-US" altLang="en-US" sz="1700" b="1" dirty="0"/>
              <a:t>check </a:t>
            </a:r>
            <a:r>
              <a:rPr lang="en-US" altLang="en-US" sz="1700" dirty="0"/>
              <a:t>(P), where P is a predicate</a:t>
            </a:r>
          </a:p>
        </p:txBody>
      </p:sp>
      <p:sp>
        <p:nvSpPr>
          <p:cNvPr id="58372" name="Rectangle 4"/>
          <p:cNvSpPr>
            <a:spLocks noChangeArrowheads="1"/>
          </p:cNvSpPr>
          <p:nvPr/>
        </p:nvSpPr>
        <p:spPr bwMode="auto">
          <a:xfrm>
            <a:off x="804863" y="5229225"/>
            <a:ext cx="680085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Font typeface="Monotype Sorts" charset="2"/>
              <a:buNone/>
            </a:pPr>
            <a:endParaRPr kumimoji="1" lang="en-US" altLang="en-US" sz="2000" b="1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4" name="Rectangle 2"/>
          <p:cNvSpPr>
            <a:spLocks noGrp="1" noChangeArrowheads="1"/>
          </p:cNvSpPr>
          <p:nvPr>
            <p:ph type="title"/>
          </p:nvPr>
        </p:nvSpPr>
        <p:spPr>
          <a:xfrm>
            <a:off x="786316" y="153909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Not Null Constraints 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4863" y="1135063"/>
            <a:ext cx="7144321" cy="2656649"/>
          </a:xfrm>
        </p:spPr>
        <p:txBody>
          <a:bodyPr/>
          <a:lstStyle/>
          <a:p>
            <a:r>
              <a:rPr kumimoji="0" lang="en-US" altLang="en-US" sz="1700" b="1" dirty="0"/>
              <a:t>not null</a:t>
            </a:r>
          </a:p>
          <a:p>
            <a:pPr lvl="1"/>
            <a:r>
              <a:rPr kumimoji="0" lang="en-US" altLang="en-US" sz="1700" dirty="0"/>
              <a:t>Declare </a:t>
            </a:r>
            <a:r>
              <a:rPr kumimoji="0" lang="en-US" altLang="en-US" sz="1700" i="1" dirty="0"/>
              <a:t>name</a:t>
            </a:r>
            <a:r>
              <a:rPr kumimoji="0" lang="en-US" altLang="en-US" sz="1700" dirty="0"/>
              <a:t> and </a:t>
            </a:r>
            <a:r>
              <a:rPr kumimoji="0" lang="en-US" altLang="en-US" sz="1700" i="1" dirty="0"/>
              <a:t>budget</a:t>
            </a:r>
            <a:r>
              <a:rPr kumimoji="0" lang="en-US" altLang="en-US" sz="1700" dirty="0"/>
              <a:t> to be </a:t>
            </a:r>
            <a:r>
              <a:rPr lang="en-US" altLang="en-US" sz="1700" b="1" dirty="0"/>
              <a:t>not null</a:t>
            </a:r>
          </a:p>
          <a:p>
            <a:pPr>
              <a:buFont typeface="Monotype Sorts" charset="2"/>
              <a:buNone/>
            </a:pPr>
            <a:r>
              <a:rPr kumimoji="0" lang="en-US" altLang="en-US" sz="1700" i="1" dirty="0"/>
              <a:t>	          name </a:t>
            </a:r>
            <a:r>
              <a:rPr kumimoji="0" lang="en-US" altLang="en-US" sz="1700" b="1" dirty="0" err="1"/>
              <a:t>varchar</a:t>
            </a:r>
            <a:r>
              <a:rPr kumimoji="0" lang="en-US" altLang="en-US" sz="1700" dirty="0"/>
              <a:t>(20) </a:t>
            </a:r>
            <a:r>
              <a:rPr kumimoji="0" lang="en-US" altLang="en-US" sz="1700" b="1" dirty="0"/>
              <a:t>not null</a:t>
            </a:r>
            <a:br>
              <a:rPr kumimoji="0" lang="en-US" altLang="en-US" sz="1700" b="1" dirty="0"/>
            </a:br>
            <a:r>
              <a:rPr kumimoji="0" lang="en-US" altLang="en-US" sz="1700" b="1" dirty="0"/>
              <a:t>          </a:t>
            </a:r>
            <a:r>
              <a:rPr kumimoji="0" lang="en-US" altLang="en-US" sz="1700" i="1" dirty="0"/>
              <a:t>budget </a:t>
            </a:r>
            <a:r>
              <a:rPr kumimoji="0" lang="en-US" altLang="en-US" sz="1700" b="1" dirty="0"/>
              <a:t>numeric</a:t>
            </a:r>
            <a:r>
              <a:rPr kumimoji="0" lang="en-US" altLang="en-US" sz="1700" dirty="0"/>
              <a:t>(12,2) </a:t>
            </a:r>
            <a:r>
              <a:rPr kumimoji="0" lang="en-US" altLang="en-US" sz="1700" b="1" dirty="0"/>
              <a:t>not null</a:t>
            </a:r>
          </a:p>
          <a:p>
            <a:endParaRPr kumimoji="0" lang="en-US" altLang="en-US" sz="1700" dirty="0"/>
          </a:p>
          <a:p>
            <a:endParaRPr lang="en-US" altLang="en-US" b="1" dirty="0"/>
          </a:p>
          <a:p>
            <a:pPr>
              <a:buFont typeface="Monotype Sorts" charset="2"/>
              <a:buNone/>
            </a:pPr>
            <a:endParaRPr lang="en-US" altLang="en-US" dirty="0"/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804863" y="5229225"/>
            <a:ext cx="680085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Font typeface="Monotype Sorts" charset="2"/>
              <a:buNone/>
            </a:pPr>
            <a:endParaRPr kumimoji="1" lang="en-US" altLang="en-US" sz="2000"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188" y="12984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Unique Constraints 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4864" y="1098487"/>
            <a:ext cx="7044690" cy="2583497"/>
          </a:xfrm>
        </p:spPr>
        <p:txBody>
          <a:bodyPr/>
          <a:lstStyle/>
          <a:p>
            <a:r>
              <a:rPr lang="en-US" altLang="en-US" sz="1700" b="1" dirty="0"/>
              <a:t>unique</a:t>
            </a:r>
            <a:r>
              <a:rPr kumimoji="0" lang="en-US" altLang="en-US" sz="1700" dirty="0"/>
              <a:t> ( </a:t>
            </a:r>
            <a:r>
              <a:rPr kumimoji="0" lang="en-US" altLang="en-US" sz="1700" i="1" dirty="0"/>
              <a:t>A</a:t>
            </a:r>
            <a:r>
              <a:rPr kumimoji="0" lang="en-US" altLang="en-US" sz="1700" baseline="-25000" dirty="0"/>
              <a:t>1</a:t>
            </a:r>
            <a:r>
              <a:rPr kumimoji="0" lang="en-US" altLang="en-US" sz="1700" dirty="0"/>
              <a:t>, </a:t>
            </a:r>
            <a:r>
              <a:rPr kumimoji="0" lang="en-US" altLang="en-US" sz="1700" i="1" dirty="0"/>
              <a:t>A</a:t>
            </a:r>
            <a:r>
              <a:rPr kumimoji="0" lang="en-US" altLang="en-US" sz="1700" baseline="-25000" dirty="0"/>
              <a:t>2</a:t>
            </a:r>
            <a:r>
              <a:rPr kumimoji="0" lang="en-US" altLang="en-US" sz="1700" dirty="0"/>
              <a:t>, …, </a:t>
            </a:r>
            <a:r>
              <a:rPr kumimoji="0" lang="en-US" altLang="en-US" sz="1700" i="1" dirty="0"/>
              <a:t>A</a:t>
            </a:r>
            <a:r>
              <a:rPr kumimoji="0" lang="en-US" altLang="en-US" sz="1700" baseline="-25000" dirty="0"/>
              <a:t>m</a:t>
            </a:r>
            <a:r>
              <a:rPr kumimoji="0" lang="en-US" altLang="en-US" sz="1700" dirty="0"/>
              <a:t>)</a:t>
            </a:r>
          </a:p>
          <a:p>
            <a:pPr lvl="1"/>
            <a:r>
              <a:rPr kumimoji="0" lang="en-US" altLang="en-US" sz="1700" dirty="0"/>
              <a:t>The unique specification states that the attributes </a:t>
            </a:r>
            <a:r>
              <a:rPr kumimoji="0" lang="en-US" altLang="en-US" sz="1700" i="1" dirty="0"/>
              <a:t>A</a:t>
            </a:r>
            <a:r>
              <a:rPr kumimoji="0" lang="en-US" altLang="en-US" sz="1700" baseline="-25000" dirty="0"/>
              <a:t>1</a:t>
            </a:r>
            <a:r>
              <a:rPr kumimoji="0" lang="en-US" altLang="en-US" sz="1700" dirty="0"/>
              <a:t>, </a:t>
            </a:r>
            <a:r>
              <a:rPr kumimoji="0" lang="en-US" altLang="en-US" sz="1700" i="1" dirty="0"/>
              <a:t>A</a:t>
            </a:r>
            <a:r>
              <a:rPr kumimoji="0" lang="en-US" altLang="en-US" sz="1700" baseline="-25000" dirty="0"/>
              <a:t>2</a:t>
            </a:r>
            <a:r>
              <a:rPr kumimoji="0" lang="en-US" altLang="en-US" sz="1700" dirty="0"/>
              <a:t>, …, </a:t>
            </a:r>
            <a:r>
              <a:rPr kumimoji="0" lang="en-US" altLang="en-US" sz="1700" i="1" dirty="0"/>
              <a:t>A</a:t>
            </a:r>
            <a:r>
              <a:rPr kumimoji="0" lang="en-US" altLang="en-US" sz="1700" baseline="-25000" dirty="0"/>
              <a:t>m </a:t>
            </a:r>
            <a:r>
              <a:rPr kumimoji="0" lang="en-US" altLang="en-US" sz="1700" dirty="0"/>
              <a:t> form a candidate key.</a:t>
            </a:r>
          </a:p>
          <a:p>
            <a:pPr lvl="1"/>
            <a:r>
              <a:rPr kumimoji="0" lang="en-US" altLang="en-US" sz="1700" dirty="0"/>
              <a:t>Candidate keys are permitted to be null (in contrast to primary keys).</a:t>
            </a:r>
          </a:p>
          <a:p>
            <a:endParaRPr kumimoji="0" lang="en-US" altLang="en-US" sz="1700" dirty="0"/>
          </a:p>
          <a:p>
            <a:endParaRPr lang="en-US" altLang="en-US" b="1" dirty="0"/>
          </a:p>
          <a:p>
            <a:pPr>
              <a:buFont typeface="Monotype Sorts" charset="2"/>
              <a:buNone/>
            </a:pPr>
            <a:endParaRPr lang="en-US" altLang="en-US" dirty="0"/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804863" y="5229225"/>
            <a:ext cx="680085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Font typeface="Monotype Sorts" charset="2"/>
              <a:buNone/>
            </a:pPr>
            <a:endParaRPr kumimoji="1" lang="en-US" altLang="en-US" sz="2000" b="1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0" name="Rectangle 2"/>
          <p:cNvSpPr>
            <a:spLocks noGrp="1" noChangeArrowheads="1"/>
          </p:cNvSpPr>
          <p:nvPr>
            <p:ph type="title"/>
          </p:nvPr>
        </p:nvSpPr>
        <p:spPr>
          <a:xfrm>
            <a:off x="738188" y="141877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The check clause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8188" y="1086358"/>
            <a:ext cx="7600949" cy="4692650"/>
          </a:xfrm>
        </p:spPr>
        <p:txBody>
          <a:bodyPr/>
          <a:lstStyle/>
          <a:p>
            <a:r>
              <a:rPr lang="en-US" altLang="en-US" sz="1700" dirty="0"/>
              <a:t>The  </a:t>
            </a:r>
            <a:r>
              <a:rPr lang="en-US" altLang="en-US" sz="1700" b="1" dirty="0"/>
              <a:t>check </a:t>
            </a:r>
            <a:r>
              <a:rPr lang="en-US" altLang="en-US" sz="1700" dirty="0"/>
              <a:t>(P) clause specifies a predicate P that must be satisfied by every tuple in a relation.</a:t>
            </a:r>
          </a:p>
          <a:p>
            <a:r>
              <a:rPr lang="en-US" altLang="en-US" sz="1700" dirty="0"/>
              <a:t>Example:  ensure that semester is one of fall, winter, spring or summer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1700" b="1" dirty="0"/>
              <a:t>     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1700" b="1" dirty="0"/>
              <a:t>              create table </a:t>
            </a:r>
            <a:r>
              <a:rPr lang="en-US" altLang="en-US" sz="1700" i="1" dirty="0"/>
              <a:t>section 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1700" i="1" dirty="0"/>
              <a:t>                   </a:t>
            </a:r>
            <a:r>
              <a:rPr lang="en-US" altLang="en-US" sz="1700" dirty="0"/>
              <a:t>(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varchar </a:t>
            </a:r>
            <a:r>
              <a:rPr lang="en-US" altLang="en-US" sz="1700" dirty="0"/>
              <a:t>(8),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1700" i="1" dirty="0"/>
              <a:t>                    </a:t>
            </a:r>
            <a:r>
              <a:rPr lang="en-US" altLang="en-US" sz="1700" i="1" dirty="0" err="1"/>
              <a:t>sec_id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varchar </a:t>
            </a:r>
            <a:r>
              <a:rPr lang="en-US" altLang="en-US" sz="1700" dirty="0"/>
              <a:t>(8),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1700" i="1" dirty="0"/>
              <a:t>                    semester </a:t>
            </a:r>
            <a:r>
              <a:rPr lang="en-US" altLang="en-US" sz="1700" b="1" dirty="0"/>
              <a:t>varchar </a:t>
            </a:r>
            <a:r>
              <a:rPr lang="en-US" altLang="en-US" sz="1700" dirty="0"/>
              <a:t>(6),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1700" i="1" dirty="0"/>
              <a:t>                    year </a:t>
            </a:r>
            <a:r>
              <a:rPr lang="en-US" altLang="en-US" sz="1700" b="1" dirty="0"/>
              <a:t>numeric </a:t>
            </a:r>
            <a:r>
              <a:rPr lang="en-US" altLang="en-US" sz="1700" dirty="0"/>
              <a:t>(4,0),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1700" i="1" dirty="0"/>
              <a:t>                    building </a:t>
            </a:r>
            <a:r>
              <a:rPr lang="en-US" altLang="en-US" sz="1700" b="1" dirty="0"/>
              <a:t>varchar </a:t>
            </a:r>
            <a:r>
              <a:rPr lang="en-US" altLang="en-US" sz="1700" dirty="0"/>
              <a:t>(15),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1700" i="1" dirty="0"/>
              <a:t>                    </a:t>
            </a:r>
            <a:r>
              <a:rPr lang="en-US" altLang="en-US" sz="1700" i="1" dirty="0" err="1"/>
              <a:t>room_number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varchar </a:t>
            </a:r>
            <a:r>
              <a:rPr lang="en-US" altLang="en-US" sz="1700" dirty="0"/>
              <a:t>(7),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1700" i="1" dirty="0"/>
              <a:t>                    time slot id </a:t>
            </a:r>
            <a:r>
              <a:rPr lang="en-US" altLang="en-US" sz="1700" b="1" dirty="0"/>
              <a:t>varchar </a:t>
            </a:r>
            <a:r>
              <a:rPr lang="en-US" altLang="en-US" sz="1700" dirty="0"/>
              <a:t>(4), 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1700" b="1" dirty="0"/>
              <a:t>                    primary key </a:t>
            </a:r>
            <a:r>
              <a:rPr lang="en-US" altLang="en-US" sz="1700" dirty="0"/>
              <a:t>(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sec_id</a:t>
            </a:r>
            <a:r>
              <a:rPr lang="en-US" altLang="en-US" sz="1700" dirty="0"/>
              <a:t>, </a:t>
            </a:r>
            <a:r>
              <a:rPr lang="en-US" altLang="en-US" sz="1700" i="1" dirty="0"/>
              <a:t>semester</a:t>
            </a:r>
            <a:r>
              <a:rPr lang="en-US" altLang="en-US" sz="1700" dirty="0"/>
              <a:t>, </a:t>
            </a:r>
            <a:r>
              <a:rPr lang="en-US" altLang="en-US" sz="1700" i="1" dirty="0"/>
              <a:t>year</a:t>
            </a:r>
            <a:r>
              <a:rPr lang="en-US" altLang="en-US" sz="1700" dirty="0"/>
              <a:t>),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1700" b="1" dirty="0"/>
              <a:t>                    </a:t>
            </a:r>
            <a:r>
              <a:rPr lang="en-US" altLang="en-US" sz="1700" b="1" dirty="0">
                <a:solidFill>
                  <a:srgbClr val="002060"/>
                </a:solidFill>
              </a:rPr>
              <a:t>check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semester </a:t>
            </a:r>
            <a:r>
              <a:rPr lang="en-US" altLang="en-US" sz="1700" b="1" dirty="0"/>
              <a:t>in </a:t>
            </a:r>
            <a:r>
              <a:rPr lang="en-US" altLang="en-US" sz="1700" dirty="0"/>
              <a:t>('Fall', 'Winter', 'Spring', 'Summer')))</a:t>
            </a:r>
          </a:p>
        </p:txBody>
      </p:sp>
      <p:sp>
        <p:nvSpPr>
          <p:cNvPr id="62469" name="Rectangle 5"/>
          <p:cNvSpPr>
            <a:spLocks noChangeArrowheads="1"/>
          </p:cNvSpPr>
          <p:nvPr/>
        </p:nvSpPr>
        <p:spPr bwMode="auto">
          <a:xfrm>
            <a:off x="804863" y="5229225"/>
            <a:ext cx="680085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Font typeface="Monotype Sorts" charset="2"/>
              <a:buNone/>
            </a:pPr>
            <a:endParaRPr kumimoji="1" lang="en-US" altLang="en-US" sz="2000" b="1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Referential Integrity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35063"/>
            <a:ext cx="7523394" cy="4943475"/>
          </a:xfrm>
        </p:spPr>
        <p:txBody>
          <a:bodyPr/>
          <a:lstStyle/>
          <a:p>
            <a:r>
              <a:rPr lang="en-US" altLang="en-US" sz="1700" dirty="0"/>
              <a:t>Ensures that a value that appears in one relation for a given set of attributes also appears for a certain set of attributes in another relation.</a:t>
            </a:r>
          </a:p>
          <a:p>
            <a:pPr lvl="1"/>
            <a:r>
              <a:rPr lang="en-US" altLang="en-US" sz="1700" dirty="0"/>
              <a:t>Example:  If “Biology” is a department name appearing in one of the tuples in the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relation, then there exists a tuple in the </a:t>
            </a:r>
            <a:r>
              <a:rPr lang="en-US" altLang="en-US" sz="1700" i="1" dirty="0"/>
              <a:t>department</a:t>
            </a:r>
            <a:r>
              <a:rPr lang="en-US" altLang="en-US" sz="1700" dirty="0"/>
              <a:t> relation for “Biology”.</a:t>
            </a:r>
          </a:p>
          <a:p>
            <a:r>
              <a:rPr lang="en-US" altLang="en-US" sz="1700" dirty="0"/>
              <a:t>Let A be a set of attributes.  Let R and S be two relations that contain attributes A and where A is the primary key of S. A is said to be a  </a:t>
            </a:r>
            <a:r>
              <a:rPr lang="en-US" altLang="en-US" sz="1700" b="1" dirty="0">
                <a:solidFill>
                  <a:srgbClr val="002060"/>
                </a:solidFill>
              </a:rPr>
              <a:t>foreign key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of R if for any values of A appearing in R these values also appear in 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Referential Integrity (Cont.)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35063"/>
            <a:ext cx="7461250" cy="3644201"/>
          </a:xfrm>
        </p:spPr>
        <p:txBody>
          <a:bodyPr/>
          <a:lstStyle/>
          <a:p>
            <a:r>
              <a:rPr lang="en-US" altLang="en-US" sz="1700" dirty="0"/>
              <a:t>Foreign </a:t>
            </a:r>
            <a:r>
              <a:rPr lang="en-US" altLang="en-US" sz="1700" i="1" dirty="0"/>
              <a:t>keys can be </a:t>
            </a:r>
            <a:r>
              <a:rPr lang="en-US" altLang="en-US" sz="1700" dirty="0"/>
              <a:t>specified as part of the SQL </a:t>
            </a:r>
            <a:r>
              <a:rPr lang="en-US" altLang="en-US" sz="1700" b="1" dirty="0"/>
              <a:t>create</a:t>
            </a:r>
            <a:r>
              <a:rPr lang="en-US" altLang="en-US" sz="1700" dirty="0"/>
              <a:t> </a:t>
            </a:r>
            <a:r>
              <a:rPr lang="en-US" altLang="en-US" sz="1700" b="1" dirty="0"/>
              <a:t>table </a:t>
            </a:r>
            <a:r>
              <a:rPr lang="en-US" altLang="en-US" sz="1700" dirty="0"/>
              <a:t> statement </a:t>
            </a:r>
          </a:p>
          <a:p>
            <a:pPr>
              <a:buNone/>
            </a:pPr>
            <a:r>
              <a:rPr lang="en-US" altLang="en-US" sz="1700" b="1" dirty="0"/>
              <a:t>         foreign key </a:t>
            </a:r>
            <a:r>
              <a:rPr lang="en-US" altLang="en-US" sz="1700" dirty="0"/>
              <a:t>(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i="1" dirty="0"/>
              <a:t>department</a:t>
            </a:r>
          </a:p>
          <a:p>
            <a:r>
              <a:rPr lang="en-US" altLang="en-US" sz="1700" dirty="0"/>
              <a:t>By default, a foreign key references the primary-key attributes of the referenced table.</a:t>
            </a:r>
          </a:p>
          <a:p>
            <a:r>
              <a:rPr lang="en-US" altLang="en-US" sz="1700" dirty="0"/>
              <a:t>SQL allows  a list of attributes of the referenced relation to be specified explicitly.</a:t>
            </a:r>
          </a:p>
          <a:p>
            <a:pPr>
              <a:buNone/>
            </a:pPr>
            <a:r>
              <a:rPr lang="en-US" altLang="en-US" sz="1700" b="1" dirty="0"/>
              <a:t>       foreign key </a:t>
            </a:r>
            <a:r>
              <a:rPr lang="en-US" altLang="en-US" sz="1700" dirty="0"/>
              <a:t>(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i="1" dirty="0"/>
              <a:t>department </a:t>
            </a:r>
            <a:r>
              <a:rPr lang="en-US" altLang="en-US" sz="1700" dirty="0"/>
              <a:t>(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title"/>
          </p:nvPr>
        </p:nvSpPr>
        <p:spPr>
          <a:xfrm>
            <a:off x="800100" y="228600"/>
            <a:ext cx="8539163" cy="427038"/>
          </a:xfrm>
        </p:spPr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Cascading Actions in Referential Integrity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9" y="1123279"/>
            <a:ext cx="7806431" cy="4447401"/>
          </a:xfrm>
        </p:spPr>
        <p:txBody>
          <a:bodyPr/>
          <a:lstStyle/>
          <a:p>
            <a:pPr>
              <a:tabLst>
                <a:tab pos="2173288" algn="l"/>
              </a:tabLst>
            </a:pPr>
            <a:r>
              <a:rPr lang="en-US" altLang="en-US" sz="1700" dirty="0"/>
              <a:t>When a referential-integrity constraint is violated, the normal procedure is to reject the action that caused the violation.</a:t>
            </a:r>
          </a:p>
          <a:p>
            <a:pPr>
              <a:tabLst>
                <a:tab pos="2173288" algn="l"/>
              </a:tabLst>
            </a:pPr>
            <a:r>
              <a:rPr lang="en-US" altLang="en-US" sz="1700" dirty="0"/>
              <a:t>An alternative, in case of delete or update is to cascade</a:t>
            </a:r>
          </a:p>
          <a:p>
            <a:pPr>
              <a:buNone/>
              <a:tabLst>
                <a:tab pos="2173288" algn="l"/>
              </a:tabLst>
            </a:pPr>
            <a:r>
              <a:rPr lang="en-US" altLang="en-US" sz="1700" b="1" dirty="0"/>
              <a:t>            create table </a:t>
            </a:r>
            <a:r>
              <a:rPr lang="en-US" altLang="en-US" sz="1700" i="1" dirty="0"/>
              <a:t>course </a:t>
            </a:r>
            <a:r>
              <a:rPr lang="en-US" altLang="en-US" sz="1700" dirty="0"/>
              <a:t>(</a:t>
            </a:r>
            <a:br>
              <a:rPr lang="en-US" altLang="en-US" sz="1700" dirty="0"/>
            </a:br>
            <a:r>
              <a:rPr lang="en-US" altLang="en-US" sz="1700" dirty="0"/>
              <a:t>             (…</a:t>
            </a:r>
            <a:br>
              <a:rPr lang="en-US" altLang="en-US" sz="1700" dirty="0"/>
            </a:br>
            <a:r>
              <a:rPr lang="en-US" altLang="en-US" sz="1700" dirty="0"/>
              <a:t>              </a:t>
            </a:r>
            <a:r>
              <a:rPr lang="en-US" altLang="en-US" sz="1700" i="1" dirty="0"/>
              <a:t>dept_name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(20),</a:t>
            </a:r>
            <a:br>
              <a:rPr lang="en-US" altLang="en-US" sz="1700" dirty="0"/>
            </a:br>
            <a:r>
              <a:rPr lang="en-US" altLang="en-US" sz="1700" dirty="0"/>
              <a:t>              </a:t>
            </a:r>
            <a:r>
              <a:rPr lang="en-US" altLang="en-US" sz="1700" b="1" dirty="0"/>
              <a:t>foreign key </a:t>
            </a:r>
            <a:r>
              <a:rPr lang="en-US" altLang="en-US" sz="1700" dirty="0"/>
              <a:t>(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i="1" dirty="0"/>
              <a:t>department</a:t>
            </a:r>
            <a:br>
              <a:rPr lang="en-US" altLang="en-US" sz="1700" i="1" dirty="0"/>
            </a:br>
            <a:r>
              <a:rPr lang="en-US" altLang="en-US" sz="1700" i="1" dirty="0"/>
              <a:t>                   </a:t>
            </a:r>
            <a:r>
              <a:rPr lang="en-US" altLang="en-US" sz="1700" b="1" dirty="0"/>
              <a:t>on delete cascade</a:t>
            </a:r>
            <a:br>
              <a:rPr lang="en-US" altLang="en-US" sz="1700" b="1" dirty="0"/>
            </a:br>
            <a:r>
              <a:rPr lang="en-US" altLang="en-US" sz="1700" b="1" dirty="0"/>
              <a:t>                   on update cascade</a:t>
            </a:r>
            <a:r>
              <a:rPr lang="en-US" altLang="en-US" sz="1700" dirty="0"/>
              <a:t>,</a:t>
            </a:r>
            <a:br>
              <a:rPr lang="en-US" altLang="en-US" sz="1700" dirty="0"/>
            </a:br>
            <a:r>
              <a:rPr lang="en-US" altLang="en-US" sz="1700" dirty="0"/>
              <a:t>                . . .) </a:t>
            </a:r>
          </a:p>
          <a:p>
            <a:pPr>
              <a:tabLst>
                <a:tab pos="2173288" algn="l"/>
              </a:tabLst>
            </a:pPr>
            <a:r>
              <a:rPr lang="en-US" altLang="en-US" sz="1700" dirty="0"/>
              <a:t>Instead of cascade we can use :  </a:t>
            </a:r>
          </a:p>
          <a:p>
            <a:pPr lvl="1">
              <a:tabLst>
                <a:tab pos="2173288" algn="l"/>
              </a:tabLst>
            </a:pPr>
            <a:r>
              <a:rPr lang="en-US" altLang="en-US" sz="1700" b="1" dirty="0"/>
              <a:t>set null</a:t>
            </a:r>
            <a:r>
              <a:rPr lang="en-US" altLang="en-US" sz="1700" dirty="0"/>
              <a:t>,</a:t>
            </a:r>
          </a:p>
          <a:p>
            <a:pPr lvl="1">
              <a:tabLst>
                <a:tab pos="2173288" algn="l"/>
              </a:tabLst>
            </a:pPr>
            <a:r>
              <a:rPr lang="en-US" altLang="en-US" sz="1700" b="1" dirty="0"/>
              <a:t>set default</a:t>
            </a:r>
            <a:endParaRPr lang="en-US" altLang="en-US" sz="1700" dirty="0"/>
          </a:p>
          <a:p>
            <a:pPr>
              <a:buFont typeface="Monotype Sorts" charset="2"/>
              <a:buNone/>
              <a:tabLst>
                <a:tab pos="2173288" algn="l"/>
              </a:tabLst>
            </a:pPr>
            <a:endParaRPr lang="en-US" altLang="en-US" i="1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46" name="Rectangle 2"/>
          <p:cNvSpPr>
            <a:spLocks noGrp="1" noChangeArrowheads="1"/>
          </p:cNvSpPr>
          <p:nvPr>
            <p:ph type="title"/>
          </p:nvPr>
        </p:nvSpPr>
        <p:spPr>
          <a:xfrm>
            <a:off x="918666" y="14858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sz="2600" dirty="0">
                <a:ea typeface="+mj-ea"/>
              </a:rPr>
              <a:t>Integrity Constraint Violation During Transactions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8" y="1130365"/>
            <a:ext cx="7706647" cy="4843716"/>
          </a:xfrm>
        </p:spPr>
        <p:txBody>
          <a:bodyPr/>
          <a:lstStyle/>
          <a:p>
            <a:r>
              <a:rPr lang="en-US" altLang="en-US" sz="1700" dirty="0"/>
              <a:t>Consider:</a:t>
            </a:r>
          </a:p>
          <a:p>
            <a:pPr lvl="1">
              <a:buFont typeface="Monotype Sorts" charset="2"/>
              <a:buNone/>
            </a:pPr>
            <a:r>
              <a:rPr lang="en-US" altLang="en-US" sz="1700" b="1" dirty="0"/>
              <a:t>      create table </a:t>
            </a:r>
            <a:r>
              <a:rPr lang="en-US" altLang="en-US" sz="1700" i="1" dirty="0"/>
              <a:t>person </a:t>
            </a:r>
            <a:r>
              <a:rPr lang="en-US" altLang="en-US" sz="1700" dirty="0"/>
              <a:t>(</a:t>
            </a:r>
            <a:br>
              <a:rPr lang="en-US" altLang="en-US" sz="1700" dirty="0"/>
            </a:br>
            <a:r>
              <a:rPr lang="en-US" altLang="en-US" sz="1700" dirty="0"/>
              <a:t>	     </a:t>
            </a:r>
            <a:r>
              <a:rPr lang="en-US" altLang="en-US" sz="1700" i="1" dirty="0"/>
              <a:t>ID</a:t>
            </a:r>
            <a:r>
              <a:rPr lang="en-US" altLang="en-US" sz="1700" dirty="0"/>
              <a:t>  </a:t>
            </a:r>
            <a:r>
              <a:rPr lang="en-US" altLang="en-US" sz="1700" b="1" dirty="0"/>
              <a:t>char</a:t>
            </a:r>
            <a:r>
              <a:rPr lang="en-US" altLang="en-US" sz="1700" dirty="0"/>
              <a:t>(10),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name </a:t>
            </a:r>
            <a:r>
              <a:rPr lang="en-US" altLang="en-US" sz="1700" b="1" dirty="0"/>
              <a:t>char</a:t>
            </a:r>
            <a:r>
              <a:rPr lang="en-US" altLang="en-US" sz="1700" dirty="0"/>
              <a:t>(40),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mother</a:t>
            </a:r>
            <a:r>
              <a:rPr lang="en-US" altLang="en-US" sz="1700" dirty="0"/>
              <a:t> </a:t>
            </a:r>
            <a:r>
              <a:rPr lang="en-US" altLang="en-US" sz="1700" b="1" dirty="0"/>
              <a:t>char</a:t>
            </a:r>
            <a:r>
              <a:rPr lang="en-US" altLang="en-US" sz="1700" dirty="0"/>
              <a:t>(10),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father </a:t>
            </a:r>
            <a:r>
              <a:rPr lang="en-US" altLang="en-US" sz="1700" b="1" dirty="0"/>
              <a:t> char</a:t>
            </a:r>
            <a:r>
              <a:rPr lang="en-US" altLang="en-US" sz="1700" dirty="0"/>
              <a:t>(10),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b="1" dirty="0"/>
              <a:t>primary key</a:t>
            </a:r>
            <a:r>
              <a:rPr lang="en-US" altLang="en-US" sz="1700" i="1" dirty="0"/>
              <a:t> ID,</a:t>
            </a:r>
            <a:br>
              <a:rPr lang="en-US" altLang="en-US" sz="1700" i="1" dirty="0"/>
            </a:br>
            <a:r>
              <a:rPr lang="en-US" altLang="en-US" sz="1700" i="1" dirty="0"/>
              <a:t>        </a:t>
            </a:r>
            <a:r>
              <a:rPr lang="en-US" altLang="en-US" sz="1700" b="1" dirty="0"/>
              <a:t>foreign key </a:t>
            </a:r>
            <a:r>
              <a:rPr lang="en-US" altLang="en-US" sz="1700" i="1" dirty="0"/>
              <a:t>father</a:t>
            </a:r>
            <a:r>
              <a:rPr lang="en-US" altLang="en-US" sz="1700" b="1" dirty="0"/>
              <a:t> references </a:t>
            </a:r>
            <a:r>
              <a:rPr lang="en-US" altLang="en-US" sz="1700" i="1" dirty="0"/>
              <a:t>person,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b="1" dirty="0"/>
              <a:t>foreign key </a:t>
            </a:r>
            <a:r>
              <a:rPr lang="en-US" altLang="en-US" sz="1700" i="1" dirty="0"/>
              <a:t>mother</a:t>
            </a:r>
            <a:r>
              <a:rPr lang="en-US" altLang="en-US" sz="1700" dirty="0"/>
              <a:t> </a:t>
            </a:r>
            <a:r>
              <a:rPr lang="en-US" altLang="en-US" sz="1700" b="1" dirty="0"/>
              <a:t>references </a:t>
            </a:r>
            <a:r>
              <a:rPr lang="en-US" altLang="en-US" sz="1700" i="1" dirty="0"/>
              <a:t> person</a:t>
            </a:r>
            <a:r>
              <a:rPr lang="en-US" altLang="en-US" sz="1700" dirty="0"/>
              <a:t>)</a:t>
            </a:r>
          </a:p>
          <a:p>
            <a:r>
              <a:rPr lang="en-US" altLang="en-US" sz="1700" dirty="0"/>
              <a:t>How to insert a tuple without causing constraint violation?</a:t>
            </a:r>
          </a:p>
          <a:p>
            <a:pPr lvl="1"/>
            <a:r>
              <a:rPr lang="en-US" altLang="en-US" sz="1700" dirty="0"/>
              <a:t>Insert father and mother of a person before inserting person</a:t>
            </a:r>
          </a:p>
          <a:p>
            <a:pPr lvl="1"/>
            <a:r>
              <a:rPr lang="en-US" altLang="en-US" sz="1700" dirty="0"/>
              <a:t>OR, set father and mother to null initially, update after inserting all persons (not possible if father and mother attributes declared to be </a:t>
            </a:r>
            <a:r>
              <a:rPr lang="en-US" altLang="en-US" sz="1700" b="1" dirty="0"/>
              <a:t>not null</a:t>
            </a:r>
            <a:r>
              <a:rPr lang="en-US" altLang="en-US" sz="1700" dirty="0"/>
              <a:t>) </a:t>
            </a:r>
          </a:p>
          <a:p>
            <a:pPr lvl="1"/>
            <a:r>
              <a:rPr lang="en-US" altLang="en-US" sz="1700" dirty="0"/>
              <a:t>OR defer constraint</a:t>
            </a:r>
            <a:r>
              <a:rPr lang="en-US" altLang="en-US" sz="1700" b="1" dirty="0"/>
              <a:t> </a:t>
            </a:r>
            <a:r>
              <a:rPr lang="en-US" altLang="en-US" sz="1700" dirty="0"/>
              <a:t>checking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Complex Check Conditions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9"/>
            <a:ext cx="7534402" cy="4173156"/>
          </a:xfrm>
        </p:spPr>
        <p:txBody>
          <a:bodyPr/>
          <a:lstStyle/>
          <a:p>
            <a:r>
              <a:rPr lang="en-US" altLang="en-US" sz="1700" dirty="0"/>
              <a:t>The predicate in the check clause can be an arbitrary predicate that can include a subquery.</a:t>
            </a:r>
          </a:p>
          <a:p>
            <a:pPr>
              <a:buNone/>
            </a:pPr>
            <a:r>
              <a:rPr lang="en-US" altLang="en-US" sz="1700" b="1" dirty="0"/>
              <a:t>          check </a:t>
            </a:r>
            <a:r>
              <a:rPr lang="en-US" altLang="en-US" sz="1700" dirty="0"/>
              <a:t>(</a:t>
            </a:r>
            <a:r>
              <a:rPr lang="en-US" altLang="en-US" sz="1700" i="1" dirty="0" err="1"/>
              <a:t>time_slot_id</a:t>
            </a:r>
            <a:r>
              <a:rPr lang="en-US" altLang="en-US" sz="1700" i="1" dirty="0"/>
              <a:t>  </a:t>
            </a:r>
            <a:r>
              <a:rPr lang="en-US" altLang="en-US" sz="1700" b="1" dirty="0"/>
              <a:t>in </a:t>
            </a:r>
            <a:r>
              <a:rPr lang="en-US" altLang="en-US" sz="1700" dirty="0"/>
              <a:t>(</a:t>
            </a:r>
            <a:r>
              <a:rPr lang="en-US" altLang="en-US" sz="1700" b="1" dirty="0"/>
              <a:t>select </a:t>
            </a:r>
            <a:r>
              <a:rPr lang="en-US" altLang="en-US" sz="1700" i="1" dirty="0" err="1"/>
              <a:t>time_slot_id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from </a:t>
            </a:r>
            <a:r>
              <a:rPr lang="en-US" altLang="en-US" sz="1700" i="1" dirty="0" err="1"/>
              <a:t>time_slot</a:t>
            </a:r>
            <a:r>
              <a:rPr lang="en-US" altLang="en-US" sz="1700" dirty="0"/>
              <a:t>))</a:t>
            </a:r>
          </a:p>
          <a:p>
            <a:pPr>
              <a:buNone/>
            </a:pPr>
            <a:r>
              <a:rPr lang="en-US" altLang="en-US" sz="1700" dirty="0"/>
              <a:t>     The check condition states  that the  </a:t>
            </a:r>
            <a:r>
              <a:rPr lang="en-US" altLang="en-US" sz="1700" dirty="0" err="1"/>
              <a:t>time_slot_id</a:t>
            </a:r>
            <a:r>
              <a:rPr lang="en-US" altLang="en-US" sz="1700" dirty="0"/>
              <a:t> in each tuple in the </a:t>
            </a:r>
            <a:r>
              <a:rPr lang="en-US" altLang="en-US" sz="1700" i="1" dirty="0"/>
              <a:t>section</a:t>
            </a:r>
            <a:r>
              <a:rPr lang="en-US" altLang="en-US" sz="1700" dirty="0"/>
              <a:t>  relation is actually the identifier of a time slot in the </a:t>
            </a:r>
            <a:r>
              <a:rPr lang="en-US" altLang="en-US" sz="1700" i="1" dirty="0" err="1"/>
              <a:t>time_slot</a:t>
            </a:r>
            <a:r>
              <a:rPr lang="en-US" altLang="en-US" sz="1700" dirty="0"/>
              <a:t> relation.</a:t>
            </a:r>
          </a:p>
          <a:p>
            <a:pPr lvl="1"/>
            <a:r>
              <a:rPr lang="en-US" altLang="en-US" sz="1700" dirty="0"/>
              <a:t>The condition has to be checked not only when a tuple is inserted or modified in </a:t>
            </a:r>
            <a:r>
              <a:rPr lang="en-US" altLang="en-US" sz="1700" i="1" dirty="0"/>
              <a:t>section</a:t>
            </a:r>
            <a:r>
              <a:rPr lang="en-US" altLang="en-US" sz="1700" dirty="0"/>
              <a:t> , but also when the relation </a:t>
            </a:r>
            <a:r>
              <a:rPr lang="en-US" altLang="en-US" sz="1700" i="1" dirty="0" err="1"/>
              <a:t>time_slot</a:t>
            </a:r>
            <a:r>
              <a:rPr lang="en-US" altLang="en-US" sz="1700" i="1" dirty="0"/>
              <a:t> </a:t>
            </a:r>
            <a:r>
              <a:rPr lang="en-US" altLang="en-US" sz="1700" dirty="0"/>
              <a:t>changes </a:t>
            </a:r>
          </a:p>
          <a:p>
            <a:pPr>
              <a:buNone/>
            </a:pPr>
            <a:endParaRPr lang="en-US" alt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Assertions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9553"/>
            <a:ext cx="7647680" cy="4291503"/>
          </a:xfrm>
        </p:spPr>
        <p:txBody>
          <a:bodyPr/>
          <a:lstStyle/>
          <a:p>
            <a:r>
              <a:rPr lang="en-US" altLang="en-US" sz="1700" dirty="0"/>
              <a:t>An </a:t>
            </a:r>
            <a:r>
              <a:rPr lang="en-US" altLang="en-US" sz="1700" b="1" dirty="0">
                <a:solidFill>
                  <a:srgbClr val="002060"/>
                </a:solidFill>
              </a:rPr>
              <a:t>assertion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is a predicate expressing a condition that we wish the database always to satisfy.</a:t>
            </a:r>
          </a:p>
          <a:p>
            <a:r>
              <a:rPr lang="en-US" altLang="en-US" sz="1700" dirty="0"/>
              <a:t>The following constraints, can be expressed using assertions:</a:t>
            </a:r>
          </a:p>
          <a:p>
            <a:r>
              <a:rPr lang="en-US" altLang="en-US" sz="1700" dirty="0"/>
              <a:t>For each tuple in the </a:t>
            </a:r>
            <a:r>
              <a:rPr lang="en-US" altLang="en-US" sz="1700" i="1" dirty="0"/>
              <a:t>student</a:t>
            </a:r>
            <a:r>
              <a:rPr lang="en-US" altLang="en-US" sz="1700" dirty="0"/>
              <a:t> relation, the value of the attribute </a:t>
            </a:r>
            <a:r>
              <a:rPr lang="en-US" altLang="en-US" sz="1700" i="1" dirty="0"/>
              <a:t>tot_cred</a:t>
            </a:r>
            <a:r>
              <a:rPr lang="en-US" altLang="en-US" sz="1700" dirty="0"/>
              <a:t> must equal the sum of credits of courses that the student has completed successfully.</a:t>
            </a:r>
          </a:p>
          <a:p>
            <a:r>
              <a:rPr lang="en-US" altLang="en-US" sz="1700" dirty="0"/>
              <a:t>An instructor cannot teach in two different classrooms in a semester in the same time slot</a:t>
            </a:r>
          </a:p>
          <a:p>
            <a:r>
              <a:rPr lang="en-US" altLang="en-US" sz="1700" dirty="0"/>
              <a:t>An assertion in SQL takes the form:</a:t>
            </a:r>
          </a:p>
          <a:p>
            <a:pPr>
              <a:buNone/>
            </a:pPr>
            <a:r>
              <a:rPr lang="en-US" altLang="en-US" sz="1700" dirty="0"/>
              <a:t>        </a:t>
            </a:r>
            <a:r>
              <a:rPr lang="en-US" altLang="en-US" sz="1700" b="1" dirty="0"/>
              <a:t>create assertion</a:t>
            </a:r>
            <a:r>
              <a:rPr lang="en-US" altLang="en-US" sz="1700" dirty="0"/>
              <a:t> &lt;assertion-name&gt; </a:t>
            </a:r>
            <a:r>
              <a:rPr lang="en-US" altLang="en-US" sz="1700" b="1" dirty="0"/>
              <a:t>check </a:t>
            </a:r>
            <a:r>
              <a:rPr lang="en-US" altLang="en-US" sz="1700" dirty="0"/>
              <a:t>(&lt;predicate&gt;);</a:t>
            </a:r>
          </a:p>
          <a:p>
            <a:endParaRPr lang="en-US" alt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D916B-2FCD-BF05-EFE9-CE1C28733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Assertion?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23D5C-7862-A93A-EB86-AC3C4FDD9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350" y="1093788"/>
            <a:ext cx="7707313" cy="2204583"/>
          </a:xfrm>
        </p:spPr>
        <p:txBody>
          <a:bodyPr/>
          <a:lstStyle/>
          <a:p>
            <a:pPr>
              <a:spcAft>
                <a:spcPts val="800"/>
              </a:spcAft>
              <a:buSzPct val="100000"/>
              <a:buChar char="▪"/>
            </a:pPr>
            <a:r>
              <a:rPr lang="en-US" sz="18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predicate expressing a condition the database must always satisfy</a:t>
            </a:r>
            <a:endParaRPr lang="en-US" sz="1800" dirty="0"/>
          </a:p>
          <a:p>
            <a:pPr>
              <a:spcAft>
                <a:spcPts val="800"/>
              </a:spcAft>
              <a:buSzPct val="100000"/>
              <a:buChar char="▪"/>
            </a:pPr>
            <a:r>
              <a:rPr lang="en-US" sz="18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powerful than a table CHECK constraint — can span multiple relations</a:t>
            </a:r>
            <a:endParaRPr lang="en-US" sz="1800" dirty="0"/>
          </a:p>
          <a:p>
            <a:pPr>
              <a:spcAft>
                <a:spcPts val="800"/>
              </a:spcAft>
              <a:buSzPct val="100000"/>
              <a:buChar char="▪"/>
            </a:pPr>
            <a:r>
              <a:rPr lang="en-US" sz="18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student's </a:t>
            </a:r>
            <a:r>
              <a:rPr lang="en-US" sz="1800" dirty="0" err="1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tot_cred</a:t>
            </a:r>
            <a:r>
              <a:rPr lang="en-US" sz="18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must equal the sum of credits of completed courses</a:t>
            </a:r>
            <a:endParaRPr lang="en-US" sz="1800" dirty="0"/>
          </a:p>
          <a:p>
            <a:pPr>
              <a:spcAft>
                <a:spcPts val="800"/>
              </a:spcAft>
              <a:buSzPct val="100000"/>
              <a:buChar char="▪"/>
            </a:pPr>
            <a:r>
              <a:rPr lang="en-US" sz="18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an instructor cannot teach in two classrooms in the same time slot</a:t>
            </a:r>
            <a:endParaRPr lang="en-US" sz="1800" dirty="0"/>
          </a:p>
          <a:p>
            <a:endParaRPr lang="en-US" dirty="0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9D30A660-1B41-3F47-DBD0-86CADB618D5B}"/>
              </a:ext>
            </a:extLst>
          </p:cNvPr>
          <p:cNvSpPr/>
          <p:nvPr/>
        </p:nvSpPr>
        <p:spPr>
          <a:xfrm>
            <a:off x="190353" y="3308766"/>
            <a:ext cx="8657155" cy="1490574"/>
          </a:xfrm>
          <a:prstGeom prst="roundRect">
            <a:avLst>
              <a:gd name="adj" fmla="val 2299"/>
            </a:avLst>
          </a:prstGeom>
          <a:solidFill>
            <a:srgbClr val="12193F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74622715-BB46-F309-1381-A8AF249F38DD}"/>
              </a:ext>
            </a:extLst>
          </p:cNvPr>
          <p:cNvSpPr txBox="1"/>
          <p:nvPr/>
        </p:nvSpPr>
        <p:spPr>
          <a:xfrm>
            <a:off x="418953" y="3298371"/>
            <a:ext cx="8306094" cy="1336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assertion &lt;assertion-name&gt;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 (&lt;predicate&gt;);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1949453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08ABC-685A-24B7-9473-5639E0F9B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— Enforcing </a:t>
            </a:r>
            <a:r>
              <a:rPr lang="en-US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tot_cred</a:t>
            </a:r>
            <a:r>
              <a:rPr lang="en-US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Correctness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8FD34-0847-69EE-193D-A36C326E6D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350" y="1093789"/>
            <a:ext cx="7707313" cy="811212"/>
          </a:xfrm>
        </p:spPr>
        <p:txBody>
          <a:bodyPr/>
          <a:lstStyle/>
          <a:p>
            <a:pPr>
              <a:spcAft>
                <a:spcPts val="800"/>
              </a:spcAft>
              <a:buSzPct val="100000"/>
              <a:buChar char="▪"/>
            </a:pPr>
            <a:r>
              <a:rPr lang="en-US" sz="18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NOT EXISTS so the assertion holds only if no student violates the rule</a:t>
            </a:r>
            <a:endParaRPr lang="en-US" sz="1800" dirty="0"/>
          </a:p>
          <a:p>
            <a:pPr>
              <a:spcAft>
                <a:spcPts val="800"/>
              </a:spcAft>
              <a:buSzPct val="100000"/>
              <a:buChar char="▪"/>
            </a:pPr>
            <a:r>
              <a:rPr lang="en-US" sz="18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query recomputes the “correct” credit total from completed courses</a:t>
            </a:r>
            <a:endParaRPr lang="en-US" sz="1800" dirty="0"/>
          </a:p>
          <a:p>
            <a:endParaRPr lang="en-US" dirty="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C0F8E521-CCC8-F389-223C-BDA41BA1AF5F}"/>
              </a:ext>
            </a:extLst>
          </p:cNvPr>
          <p:cNvSpPr/>
          <p:nvPr/>
        </p:nvSpPr>
        <p:spPr>
          <a:xfrm>
            <a:off x="457200" y="2271715"/>
            <a:ext cx="8018463" cy="4174805"/>
          </a:xfrm>
          <a:prstGeom prst="roundRect">
            <a:avLst>
              <a:gd name="adj" fmla="val 1766"/>
            </a:avLst>
          </a:prstGeom>
          <a:solidFill>
            <a:srgbClr val="12193F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07160F4-2CFC-B0CB-A6C9-4CD50B344DAB}"/>
              </a:ext>
            </a:extLst>
          </p:cNvPr>
          <p:cNvSpPr txBox="1"/>
          <p:nvPr/>
        </p:nvSpPr>
        <p:spPr>
          <a:xfrm>
            <a:off x="685800" y="2438896"/>
            <a:ext cx="7693302" cy="3843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assertion credits_earned_constraint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 (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not exists (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ID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student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tot_cred &lt;&gt; (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select coalesce(sum(credits), 0)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from takes natural join course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where student.ID = takes.ID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and grade is not null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and grade &lt;&gt; 'F'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42338967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217613" y="163513"/>
            <a:ext cx="7264400" cy="552450"/>
          </a:xfrm>
        </p:spPr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Built-in Data Types in SQL 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7" y="1102060"/>
            <a:ext cx="7445051" cy="4862512"/>
          </a:xfrm>
        </p:spPr>
        <p:txBody>
          <a:bodyPr/>
          <a:lstStyle/>
          <a:p>
            <a:pPr>
              <a:tabLst>
                <a:tab pos="1250950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date:</a:t>
            </a:r>
            <a:r>
              <a:rPr lang="en-US" altLang="en-US" sz="1700" dirty="0"/>
              <a:t>  Dates, containing a (4 digit) year, month and date</a:t>
            </a:r>
          </a:p>
          <a:p>
            <a:pPr lvl="1">
              <a:tabLst>
                <a:tab pos="1250950" algn="l"/>
              </a:tabLst>
            </a:pPr>
            <a:r>
              <a:rPr lang="en-US" altLang="en-US" sz="1700" dirty="0"/>
              <a:t>Example:  </a:t>
            </a:r>
            <a:r>
              <a:rPr lang="en-US" altLang="en-US" sz="1700" b="1" dirty="0"/>
              <a:t>date</a:t>
            </a:r>
            <a:r>
              <a:rPr lang="en-US" altLang="en-US" sz="1700" dirty="0"/>
              <a:t> '2005-7-27'</a:t>
            </a:r>
          </a:p>
          <a:p>
            <a:pPr>
              <a:tabLst>
                <a:tab pos="1250950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time:</a:t>
            </a:r>
            <a:r>
              <a:rPr lang="en-US" altLang="en-US" sz="1700" b="1" dirty="0"/>
              <a:t> </a:t>
            </a:r>
            <a:r>
              <a:rPr lang="en-US" altLang="en-US" sz="1700" dirty="0"/>
              <a:t> Time of day, in hours, minutes and seconds.</a:t>
            </a:r>
          </a:p>
          <a:p>
            <a:pPr lvl="1">
              <a:tabLst>
                <a:tab pos="1250950" algn="l"/>
              </a:tabLst>
            </a:pPr>
            <a:r>
              <a:rPr lang="en-US" altLang="en-US" sz="1700" dirty="0"/>
              <a:t>Example: </a:t>
            </a:r>
            <a:r>
              <a:rPr lang="en-US" altLang="en-US" sz="1700" b="1" dirty="0"/>
              <a:t> time</a:t>
            </a:r>
            <a:r>
              <a:rPr lang="en-US" altLang="en-US" sz="1700" dirty="0"/>
              <a:t> '09:00:30'        </a:t>
            </a:r>
            <a:r>
              <a:rPr lang="en-US" altLang="en-US" sz="1700" b="1" dirty="0"/>
              <a:t> time</a:t>
            </a:r>
            <a:r>
              <a:rPr lang="en-US" altLang="en-US" sz="1700" dirty="0"/>
              <a:t> '09:00:30.75'</a:t>
            </a:r>
          </a:p>
          <a:p>
            <a:pPr>
              <a:tabLst>
                <a:tab pos="1250950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timestamp:</a:t>
            </a:r>
            <a:r>
              <a:rPr lang="en-US" altLang="en-US" sz="1700" dirty="0"/>
              <a:t> date plus time of day</a:t>
            </a:r>
          </a:p>
          <a:p>
            <a:pPr lvl="1">
              <a:tabLst>
                <a:tab pos="1250950" algn="l"/>
              </a:tabLst>
            </a:pPr>
            <a:r>
              <a:rPr lang="en-US" altLang="en-US" sz="1700" dirty="0"/>
              <a:t>Example:  </a:t>
            </a:r>
            <a:r>
              <a:rPr lang="en-US" altLang="en-US" sz="1700" b="1" dirty="0"/>
              <a:t>timestamp</a:t>
            </a:r>
            <a:r>
              <a:rPr lang="en-US" altLang="en-US" sz="1700" dirty="0"/>
              <a:t>  '2005-7-27 09:00:30.75'</a:t>
            </a:r>
          </a:p>
          <a:p>
            <a:pPr>
              <a:tabLst>
                <a:tab pos="1250950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interval:</a:t>
            </a:r>
            <a:r>
              <a:rPr lang="en-US" altLang="en-US" sz="1700" dirty="0"/>
              <a:t>  period of time</a:t>
            </a:r>
          </a:p>
          <a:p>
            <a:pPr lvl="1">
              <a:tabLst>
                <a:tab pos="1250950" algn="l"/>
              </a:tabLst>
            </a:pPr>
            <a:r>
              <a:rPr lang="en-US" altLang="en-US" sz="1700" dirty="0"/>
              <a:t>Example:   interval  '1' day</a:t>
            </a:r>
          </a:p>
          <a:p>
            <a:pPr lvl="1">
              <a:tabLst>
                <a:tab pos="1250950" algn="l"/>
              </a:tabLst>
            </a:pPr>
            <a:r>
              <a:rPr lang="en-US" altLang="en-US" sz="1700" dirty="0"/>
              <a:t>Subtracting a date/time/timestamp value from another gives an interval value</a:t>
            </a:r>
          </a:p>
          <a:p>
            <a:pPr lvl="1">
              <a:tabLst>
                <a:tab pos="1250950" algn="l"/>
              </a:tabLst>
            </a:pPr>
            <a:r>
              <a:rPr lang="en-US" altLang="en-US" sz="1700" dirty="0"/>
              <a:t>Interval values can be added to date/time/timestamp values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Large-Object Types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9"/>
            <a:ext cx="7629926" cy="3868356"/>
          </a:xfrm>
        </p:spPr>
        <p:txBody>
          <a:bodyPr/>
          <a:lstStyle/>
          <a:p>
            <a:r>
              <a:rPr lang="en-US" altLang="en-US" sz="1700" dirty="0"/>
              <a:t>Large objects (photos, videos, CAD files, etc.) are stored as a </a:t>
            </a:r>
            <a:r>
              <a:rPr lang="en-US" altLang="en-US" sz="1700" i="1" dirty="0"/>
              <a:t>large object</a:t>
            </a:r>
            <a:r>
              <a:rPr lang="en-US" altLang="en-US" sz="1700" dirty="0"/>
              <a:t>: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</a:rPr>
              <a:t>blob</a:t>
            </a:r>
            <a:r>
              <a:rPr lang="en-US" altLang="en-US" sz="1700" dirty="0"/>
              <a:t>: binary large object -- object is a large collection of uninterpreted binary data (whose interpretation is left to an application outside of the database system)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</a:rPr>
              <a:t>clob</a:t>
            </a:r>
            <a:r>
              <a:rPr lang="en-US" altLang="en-US" sz="1700" dirty="0"/>
              <a:t>: character large object -- object is a large collection of character data</a:t>
            </a:r>
          </a:p>
          <a:p>
            <a:r>
              <a:rPr lang="en-US" altLang="en-US" sz="1700" dirty="0"/>
              <a:t>When a query returns a large object, a pointer is returned rather than the large object itself.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1186434"/>
            <a:ext cx="109728" cy="109728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3" name="Text 1"/>
          <p:cNvSpPr txBox="1"/>
          <p:nvPr/>
        </p:nvSpPr>
        <p:spPr>
          <a:xfrm>
            <a:off x="534924" y="110413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342900" y="1323594"/>
            <a:ext cx="845591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75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Large-Object Types — BLOB &amp; CLOB</a:t>
            </a:r>
            <a:endParaRPr lang="en-US" sz="2175" dirty="0"/>
          </a:p>
        </p:txBody>
      </p:sp>
      <p:sp>
        <p:nvSpPr>
          <p:cNvPr id="5" name="Text 3"/>
          <p:cNvSpPr txBox="1"/>
          <p:nvPr/>
        </p:nvSpPr>
        <p:spPr>
          <a:xfrm>
            <a:off x="342900" y="1831086"/>
            <a:ext cx="8455914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7175" indent="-257175">
              <a:spcAft>
                <a:spcPts val="600"/>
              </a:spcAft>
              <a:buSzPct val="100000"/>
              <a:buChar char="▪"/>
            </a:pPr>
            <a:r>
              <a:rPr lang="en-US" sz="1088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photos, videos, CAD files, and other large or non-traditional data</a:t>
            </a:r>
            <a:endParaRPr lang="en-US" sz="1088" dirty="0"/>
          </a:p>
          <a:p>
            <a:pPr marL="257175" indent="-257175">
              <a:spcAft>
                <a:spcPts val="600"/>
              </a:spcAft>
              <a:buSzPct val="100000"/>
              <a:buChar char="▪"/>
            </a:pPr>
            <a:r>
              <a:rPr lang="en-US" sz="1088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(Binary Large Object) — uninterpreted binary data; the application, not the DBMS, interprets it</a:t>
            </a:r>
            <a:endParaRPr lang="en-US" sz="1088" dirty="0"/>
          </a:p>
          <a:p>
            <a:pPr marL="257175" indent="-257175">
              <a:spcAft>
                <a:spcPts val="600"/>
              </a:spcAft>
              <a:buSzPct val="100000"/>
              <a:buChar char="▪"/>
            </a:pPr>
            <a:r>
              <a:rPr lang="en-US" sz="1088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clob (Character Large Object) — a large collection of character/text data</a:t>
            </a:r>
            <a:endParaRPr lang="en-US" sz="1088" dirty="0"/>
          </a:p>
          <a:p>
            <a:pPr marL="257175" indent="-257175">
              <a:spcAft>
                <a:spcPts val="600"/>
              </a:spcAft>
              <a:buSzPct val="100000"/>
              <a:buChar char="▪"/>
            </a:pPr>
            <a:r>
              <a:rPr lang="en-US" sz="1088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query returns a pointer to the large object, not the object itself</a:t>
            </a:r>
            <a:endParaRPr lang="en-US" sz="1088" dirty="0"/>
          </a:p>
        </p:txBody>
      </p:sp>
      <p:sp>
        <p:nvSpPr>
          <p:cNvPr id="6" name="Shape 4"/>
          <p:cNvSpPr/>
          <p:nvPr/>
        </p:nvSpPr>
        <p:spPr>
          <a:xfrm>
            <a:off x="342900" y="3374136"/>
            <a:ext cx="8455914" cy="2318004"/>
          </a:xfrm>
          <a:prstGeom prst="roundRect">
            <a:avLst>
              <a:gd name="adj" fmla="val 2367"/>
            </a:avLst>
          </a:prstGeom>
          <a:solidFill>
            <a:srgbClr val="12193F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1200"/>
          </a:p>
        </p:txBody>
      </p:sp>
      <p:sp>
        <p:nvSpPr>
          <p:cNvPr id="7" name="Text 5"/>
          <p:cNvSpPr txBox="1"/>
          <p:nvPr/>
        </p:nvSpPr>
        <p:spPr>
          <a:xfrm>
            <a:off x="514350" y="3497580"/>
            <a:ext cx="8113014" cy="2071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50"/>
              </a:spcAft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employee (</a:t>
            </a:r>
            <a:endParaRPr lang="en-US" sz="1050" dirty="0"/>
          </a:p>
          <a:p>
            <a:pPr>
              <a:spcAft>
                <a:spcPts val="150"/>
              </a:spcAft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      varchar(5),</a:t>
            </a:r>
            <a:endParaRPr lang="en-US" sz="1050" dirty="0"/>
          </a:p>
          <a:p>
            <a:pPr>
              <a:spcAft>
                <a:spcPts val="150"/>
              </a:spcAft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photo    blob,     -- raw binary image data</a:t>
            </a:r>
            <a:endParaRPr lang="en-US" sz="1050" dirty="0"/>
          </a:p>
          <a:p>
            <a:pPr>
              <a:spcAft>
                <a:spcPts val="150"/>
              </a:spcAft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resume   clob      -- long text document</a:t>
            </a:r>
            <a:endParaRPr lang="en-US" sz="1050" dirty="0"/>
          </a:p>
          <a:p>
            <a:pPr>
              <a:spcAft>
                <a:spcPts val="150"/>
              </a:spcAft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User-Defined Types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35063"/>
            <a:ext cx="7619746" cy="2949257"/>
          </a:xfrm>
        </p:spPr>
        <p:txBody>
          <a:bodyPr/>
          <a:lstStyle/>
          <a:p>
            <a:pPr>
              <a:tabLst>
                <a:tab pos="1146175" algn="l"/>
                <a:tab pos="1890713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create type </a:t>
            </a:r>
            <a:r>
              <a:rPr lang="en-US" altLang="en-US" sz="1700" dirty="0"/>
              <a:t>construct in SQL creates user-defined type</a:t>
            </a:r>
          </a:p>
          <a:p>
            <a:pPr>
              <a:buFont typeface="Monotype Sorts" charset="2"/>
              <a:buNone/>
              <a:tabLst>
                <a:tab pos="1146175" algn="l"/>
                <a:tab pos="1890713" algn="l"/>
              </a:tabLst>
            </a:pPr>
            <a:r>
              <a:rPr lang="en-US" altLang="en-US" sz="800" dirty="0"/>
              <a:t> </a:t>
            </a:r>
          </a:p>
          <a:p>
            <a:pPr lvl="1">
              <a:buFont typeface="Monotype Sorts" charset="2"/>
              <a:buNone/>
              <a:tabLst>
                <a:tab pos="1146175" algn="l"/>
                <a:tab pos="1890713" algn="l"/>
              </a:tabLst>
            </a:pPr>
            <a:r>
              <a:rPr lang="en-US" altLang="en-US" sz="1700" b="1" dirty="0"/>
              <a:t>		create type </a:t>
            </a:r>
            <a:r>
              <a:rPr lang="en-US" altLang="en-US" sz="1700" i="1" dirty="0"/>
              <a:t>Dollars</a:t>
            </a:r>
            <a:r>
              <a:rPr lang="en-US" altLang="en-US" sz="1700" b="1" dirty="0"/>
              <a:t> as numeric (12,2) final </a:t>
            </a:r>
            <a:br>
              <a:rPr lang="en-US" altLang="en-US" sz="1700" b="1" dirty="0"/>
            </a:br>
            <a:r>
              <a:rPr lang="en-US" altLang="en-US" sz="800" b="1" dirty="0"/>
              <a:t> </a:t>
            </a:r>
            <a:endParaRPr lang="en-US" altLang="en-US" sz="800" dirty="0"/>
          </a:p>
          <a:p>
            <a:pPr>
              <a:tabLst>
                <a:tab pos="1146175" algn="l"/>
                <a:tab pos="1890713" algn="l"/>
              </a:tabLst>
            </a:pPr>
            <a:r>
              <a:rPr lang="en-US" altLang="en-US" sz="1700" dirty="0"/>
              <a:t>Example:</a:t>
            </a:r>
          </a:p>
          <a:p>
            <a:pPr>
              <a:buNone/>
              <a:tabLst>
                <a:tab pos="1146175" algn="l"/>
                <a:tab pos="1890713" algn="l"/>
              </a:tabLst>
            </a:pPr>
            <a:r>
              <a:rPr lang="en-US" altLang="en-US" sz="1700" b="1" dirty="0"/>
              <a:t>               create table </a:t>
            </a:r>
            <a:r>
              <a:rPr lang="en-US" altLang="en-US" sz="1700" i="1" dirty="0"/>
              <a:t>department</a:t>
            </a:r>
            <a:br>
              <a:rPr lang="en-US" altLang="en-US" sz="1700" i="1" dirty="0"/>
            </a:br>
            <a:r>
              <a:rPr lang="en-US" altLang="en-US" sz="1700" i="1" dirty="0"/>
              <a:t>          </a:t>
            </a:r>
            <a:r>
              <a:rPr lang="en-US" altLang="en-US" sz="1700" dirty="0"/>
              <a:t>(</a:t>
            </a:r>
            <a:r>
              <a:rPr lang="en-US" altLang="en-US" sz="1700" i="1" dirty="0"/>
              <a:t>dept_name </a:t>
            </a:r>
            <a:r>
              <a:rPr lang="en-US" altLang="en-US" sz="1700" b="1" dirty="0" err="1"/>
              <a:t>varchar</a:t>
            </a:r>
            <a:r>
              <a:rPr lang="en-US" altLang="en-US" sz="1700" b="1" dirty="0"/>
              <a:t> </a:t>
            </a:r>
            <a:r>
              <a:rPr lang="en-US" altLang="en-US" sz="1700" dirty="0"/>
              <a:t>(20),</a:t>
            </a:r>
            <a:br>
              <a:rPr lang="en-US" altLang="en-US" sz="1700" dirty="0"/>
            </a:br>
            <a:r>
              <a:rPr lang="en-US" altLang="en-US" sz="1700" dirty="0"/>
              <a:t>          </a:t>
            </a:r>
            <a:r>
              <a:rPr lang="en-US" altLang="en-US" sz="1700" i="1" dirty="0"/>
              <a:t>building </a:t>
            </a:r>
            <a:r>
              <a:rPr lang="en-US" altLang="en-US" sz="1700" b="1" dirty="0" err="1"/>
              <a:t>varchar</a:t>
            </a:r>
            <a:r>
              <a:rPr lang="en-US" altLang="en-US" sz="1700" b="1" dirty="0"/>
              <a:t> </a:t>
            </a:r>
            <a:r>
              <a:rPr lang="en-US" altLang="en-US" sz="1700" dirty="0"/>
              <a:t>(15),</a:t>
            </a:r>
            <a:br>
              <a:rPr lang="en-US" altLang="en-US" sz="1700" dirty="0"/>
            </a:br>
            <a:r>
              <a:rPr lang="en-US" altLang="en-US" sz="1700" dirty="0"/>
              <a:t>          </a:t>
            </a:r>
            <a:r>
              <a:rPr lang="en-US" altLang="en-US" sz="1700" i="1" dirty="0"/>
              <a:t>budget Dollars</a:t>
            </a:r>
            <a:r>
              <a:rPr lang="en-US" altLang="en-US" sz="1700" dirty="0"/>
              <a:t>);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1186434"/>
            <a:ext cx="109728" cy="109728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3" name="Text 1"/>
          <p:cNvSpPr txBox="1"/>
          <p:nvPr/>
        </p:nvSpPr>
        <p:spPr>
          <a:xfrm>
            <a:off x="534924" y="110413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342900" y="1323594"/>
            <a:ext cx="845591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75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User-Defined Types — CREATE TYPE</a:t>
            </a:r>
            <a:endParaRPr lang="en-US" sz="2175" dirty="0"/>
          </a:p>
        </p:txBody>
      </p:sp>
      <p:sp>
        <p:nvSpPr>
          <p:cNvPr id="5" name="Text 3"/>
          <p:cNvSpPr txBox="1"/>
          <p:nvPr/>
        </p:nvSpPr>
        <p:spPr>
          <a:xfrm>
            <a:off x="342900" y="1831086"/>
            <a:ext cx="8455914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7175" indent="-257175">
              <a:spcAft>
                <a:spcPts val="600"/>
              </a:spcAft>
              <a:buSzPct val="100000"/>
              <a:buChar char="▪"/>
            </a:pPr>
            <a:r>
              <a:rPr lang="en-US" sz="1088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type gives a meaningful name to an existing base type</a:t>
            </a:r>
            <a:endParaRPr lang="en-US" sz="1088" dirty="0"/>
          </a:p>
          <a:p>
            <a:pPr marL="257175" indent="-257175">
              <a:spcAft>
                <a:spcPts val="600"/>
              </a:spcAft>
              <a:buSzPct val="100000"/>
              <a:buChar char="▪"/>
            </a:pPr>
            <a:r>
              <a:rPr lang="en-US" sz="1088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— the type cannot be extended/inherited by another type</a:t>
            </a:r>
            <a:endParaRPr lang="en-US" sz="1088" dirty="0"/>
          </a:p>
          <a:p>
            <a:pPr marL="257175" indent="-257175">
              <a:spcAft>
                <a:spcPts val="600"/>
              </a:spcAft>
              <a:buSzPct val="100000"/>
              <a:buChar char="▪"/>
            </a:pPr>
            <a:r>
              <a:rPr lang="en-US" sz="1088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readability and prevents accidentally mixing incompatible values</a:t>
            </a:r>
            <a:endParaRPr lang="en-US" sz="1088" dirty="0"/>
          </a:p>
        </p:txBody>
      </p:sp>
      <p:sp>
        <p:nvSpPr>
          <p:cNvPr id="6" name="Shape 4"/>
          <p:cNvSpPr/>
          <p:nvPr/>
        </p:nvSpPr>
        <p:spPr>
          <a:xfrm>
            <a:off x="342900" y="2996946"/>
            <a:ext cx="8455914" cy="2695194"/>
          </a:xfrm>
          <a:prstGeom prst="roundRect">
            <a:avLst>
              <a:gd name="adj" fmla="val 2036"/>
            </a:avLst>
          </a:prstGeom>
          <a:solidFill>
            <a:srgbClr val="12193F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1200"/>
          </a:p>
        </p:txBody>
      </p:sp>
      <p:sp>
        <p:nvSpPr>
          <p:cNvPr id="7" name="Text 5"/>
          <p:cNvSpPr txBox="1"/>
          <p:nvPr/>
        </p:nvSpPr>
        <p:spPr>
          <a:xfrm>
            <a:off x="514350" y="3120390"/>
            <a:ext cx="8113014" cy="2448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50"/>
              </a:spcAft>
            </a:pPr>
            <a:r>
              <a:rPr lang="en-US" sz="1088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type Dollars as numeric(12,2) final;</a:t>
            </a:r>
            <a:endParaRPr lang="en-US" sz="1088" dirty="0"/>
          </a:p>
          <a:p>
            <a:pPr>
              <a:spcAft>
                <a:spcPts val="150"/>
              </a:spcAft>
            </a:pPr>
            <a:r>
              <a:rPr lang="en-US" sz="1088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88" dirty="0"/>
          </a:p>
          <a:p>
            <a:pPr>
              <a:spcAft>
                <a:spcPts val="150"/>
              </a:spcAft>
            </a:pPr>
            <a:r>
              <a:rPr lang="en-US" sz="1088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department (</a:t>
            </a:r>
            <a:endParaRPr lang="en-US" sz="1088" dirty="0"/>
          </a:p>
          <a:p>
            <a:pPr>
              <a:spcAft>
                <a:spcPts val="150"/>
              </a:spcAft>
            </a:pPr>
            <a:r>
              <a:rPr lang="en-US" sz="1088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dept_name  varchar(20),</a:t>
            </a:r>
            <a:endParaRPr lang="en-US" sz="1088" dirty="0"/>
          </a:p>
          <a:p>
            <a:pPr>
              <a:spcAft>
                <a:spcPts val="150"/>
              </a:spcAft>
            </a:pPr>
            <a:r>
              <a:rPr lang="en-US" sz="1088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building   varchar(15),</a:t>
            </a:r>
            <a:endParaRPr lang="en-US" sz="1088" dirty="0"/>
          </a:p>
          <a:p>
            <a:pPr>
              <a:spcAft>
                <a:spcPts val="150"/>
              </a:spcAft>
            </a:pPr>
            <a:r>
              <a:rPr lang="en-US" sz="1088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budget     Dollars</a:t>
            </a:r>
            <a:endParaRPr lang="en-US" sz="1088" dirty="0"/>
          </a:p>
          <a:p>
            <a:pPr>
              <a:spcAft>
                <a:spcPts val="150"/>
              </a:spcAft>
            </a:pPr>
            <a:r>
              <a:rPr lang="en-US" sz="1088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88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18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7763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Domains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0833"/>
            <a:ext cx="7034531" cy="5039558"/>
          </a:xfrm>
        </p:spPr>
        <p:txBody>
          <a:bodyPr/>
          <a:lstStyle/>
          <a:p>
            <a:r>
              <a:rPr lang="en-US" altLang="en-US" sz="1700" b="1" dirty="0">
                <a:solidFill>
                  <a:srgbClr val="002060"/>
                </a:solidFill>
              </a:rPr>
              <a:t>create domain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construct in SQL-92 creates user-defined domain types</a:t>
            </a:r>
          </a:p>
          <a:p>
            <a:pPr>
              <a:buFont typeface="Monotype Sorts" charset="2"/>
              <a:buNone/>
            </a:pPr>
            <a:r>
              <a:rPr lang="en-US" altLang="en-US" sz="800" dirty="0"/>
              <a:t> </a:t>
            </a:r>
          </a:p>
          <a:p>
            <a:pPr lvl="1">
              <a:buFont typeface="Monotype Sorts" charset="2"/>
              <a:buNone/>
            </a:pPr>
            <a:r>
              <a:rPr lang="en-US" altLang="en-US" sz="1700" b="1" dirty="0"/>
              <a:t>		create domain </a:t>
            </a:r>
            <a:r>
              <a:rPr lang="en-US" altLang="en-US" sz="1700" i="1" dirty="0" err="1"/>
              <a:t>person_name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char</a:t>
            </a:r>
            <a:r>
              <a:rPr lang="en-US" altLang="en-US" sz="1700" dirty="0"/>
              <a:t>(20) </a:t>
            </a:r>
            <a:r>
              <a:rPr lang="en-US" altLang="en-US" sz="1700" b="1" dirty="0"/>
              <a:t>not null</a:t>
            </a:r>
          </a:p>
          <a:p>
            <a:pPr lvl="1">
              <a:buFont typeface="Monotype Sorts" charset="2"/>
              <a:buNone/>
            </a:pPr>
            <a:r>
              <a:rPr lang="en-US" altLang="en-US" sz="800" dirty="0"/>
              <a:t> </a:t>
            </a:r>
          </a:p>
          <a:p>
            <a:r>
              <a:rPr lang="en-US" altLang="en-US" sz="1700" dirty="0"/>
              <a:t>Types and domains are similar.  Domains can have constraints, such as </a:t>
            </a:r>
            <a:r>
              <a:rPr lang="en-US" altLang="en-US" sz="1700" b="1" dirty="0"/>
              <a:t>not null</a:t>
            </a:r>
            <a:r>
              <a:rPr lang="en-US" altLang="en-US" sz="1700" dirty="0"/>
              <a:t>, specified on them.</a:t>
            </a:r>
          </a:p>
          <a:p>
            <a:r>
              <a:rPr lang="en-US" altLang="en-US" sz="1700" dirty="0"/>
              <a:t>Example:</a:t>
            </a:r>
            <a:endParaRPr lang="en-US" altLang="en-US" sz="1700" b="1" dirty="0"/>
          </a:p>
          <a:p>
            <a:pPr>
              <a:buNone/>
            </a:pPr>
            <a:r>
              <a:rPr lang="en-US" altLang="en-US" sz="1700" b="1" dirty="0"/>
              <a:t>        create domain </a:t>
            </a:r>
            <a:r>
              <a:rPr lang="en-US" altLang="en-US" sz="1700" i="1" dirty="0" err="1"/>
              <a:t>degree_level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varchar</a:t>
            </a:r>
            <a:r>
              <a:rPr lang="en-US" altLang="en-US" sz="1700" dirty="0"/>
              <a:t>(10)</a:t>
            </a:r>
            <a:br>
              <a:rPr lang="en-US" altLang="en-US" sz="1700" dirty="0"/>
            </a:br>
            <a:r>
              <a:rPr lang="en-US" altLang="en-US" sz="1700" dirty="0"/>
              <a:t>       </a:t>
            </a:r>
            <a:r>
              <a:rPr lang="en-US" altLang="en-US" sz="1700" b="1" dirty="0"/>
              <a:t>constraint </a:t>
            </a:r>
            <a:r>
              <a:rPr lang="en-US" altLang="en-US" sz="1700" i="1" dirty="0" err="1"/>
              <a:t>degree_level_test</a:t>
            </a:r>
            <a:br>
              <a:rPr lang="en-US" altLang="en-US" sz="1700" i="1" dirty="0"/>
            </a:br>
            <a:r>
              <a:rPr lang="en-US" altLang="en-US" sz="1700" i="1" dirty="0"/>
              <a:t>            </a:t>
            </a:r>
            <a:r>
              <a:rPr lang="en-US" altLang="en-US" sz="1700" b="1" dirty="0"/>
              <a:t>check </a:t>
            </a:r>
            <a:r>
              <a:rPr lang="en-US" altLang="en-US" sz="1700" dirty="0"/>
              <a:t>(</a:t>
            </a:r>
            <a:r>
              <a:rPr lang="en-US" altLang="en-US" sz="1700" b="1" dirty="0"/>
              <a:t>value in </a:t>
            </a:r>
            <a:r>
              <a:rPr lang="en-US" altLang="en-US" sz="1700" dirty="0"/>
              <a:t>('Bachelors', 'Masters', 'Doctorate'));</a:t>
            </a:r>
          </a:p>
          <a:p>
            <a:endParaRPr lang="en-US" altLang="en-US" sz="1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F3D6F1-1909-BAF8-673F-A5CC7FDDC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72" y="4117245"/>
            <a:ext cx="4880955" cy="2336744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Index Creation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93789"/>
            <a:ext cx="7638802" cy="4112195"/>
          </a:xfrm>
        </p:spPr>
        <p:txBody>
          <a:bodyPr/>
          <a:lstStyle/>
          <a:p>
            <a:r>
              <a:rPr lang="en-US" altLang="en-US" sz="1700" dirty="0"/>
              <a:t>Many queries reference only a small proportion of the records in a table. </a:t>
            </a:r>
          </a:p>
          <a:p>
            <a:r>
              <a:rPr lang="en-US" altLang="en-US" sz="1700" dirty="0"/>
              <a:t>It is inefficient for the system to read every record to find  a record with  particular value</a:t>
            </a:r>
          </a:p>
          <a:p>
            <a:r>
              <a:rPr lang="en-US" altLang="en-US" sz="1700" dirty="0"/>
              <a:t>An </a:t>
            </a:r>
            <a:r>
              <a:rPr lang="en-US" altLang="en-US" sz="1700" b="1" dirty="0">
                <a:solidFill>
                  <a:srgbClr val="002060"/>
                </a:solidFill>
              </a:rPr>
              <a:t>index</a:t>
            </a:r>
            <a:r>
              <a:rPr lang="en-US" altLang="en-US" sz="1700" dirty="0"/>
              <a:t> on an attribute of a relation is a data structure that allows the database system to find those tuples in the relation that have a specified value for that attribute efficiently, without scanning through all the tuples of the relation.</a:t>
            </a:r>
          </a:p>
          <a:p>
            <a:r>
              <a:rPr lang="en-US" altLang="en-US" sz="1700" dirty="0"/>
              <a:t>We create an index with the </a:t>
            </a:r>
            <a:r>
              <a:rPr lang="en-US" altLang="en-US" sz="1700" b="1" dirty="0"/>
              <a:t>create index </a:t>
            </a:r>
            <a:r>
              <a:rPr lang="en-US" altLang="en-US" sz="1700" dirty="0"/>
              <a:t>command</a:t>
            </a:r>
          </a:p>
          <a:p>
            <a:pPr>
              <a:buNone/>
            </a:pPr>
            <a:r>
              <a:rPr lang="en-US" altLang="en-US" sz="1700" dirty="0"/>
              <a:t>         </a:t>
            </a:r>
            <a:r>
              <a:rPr lang="en-US" altLang="en-US" sz="1700" b="1" dirty="0"/>
              <a:t>create index </a:t>
            </a:r>
            <a:r>
              <a:rPr lang="en-US" altLang="en-US" sz="1700" dirty="0"/>
              <a:t>&lt;name&gt; </a:t>
            </a:r>
            <a:r>
              <a:rPr lang="en-US" altLang="en-US" sz="1700" b="1" dirty="0"/>
              <a:t>on </a:t>
            </a:r>
            <a:r>
              <a:rPr lang="en-US" altLang="en-US" sz="1700" dirty="0"/>
              <a:t>&lt;relation-name&gt; (attribute);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1186434"/>
            <a:ext cx="109728" cy="109728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3" name="Text 1"/>
          <p:cNvSpPr txBox="1"/>
          <p:nvPr/>
        </p:nvSpPr>
        <p:spPr>
          <a:xfrm>
            <a:off x="534924" y="110413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342900" y="1323594"/>
            <a:ext cx="845591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75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&amp; How We Create Indexes</a:t>
            </a:r>
            <a:endParaRPr lang="en-US" sz="2175" dirty="0"/>
          </a:p>
        </p:txBody>
      </p:sp>
      <p:sp>
        <p:nvSpPr>
          <p:cNvPr id="5" name="Text 3"/>
          <p:cNvSpPr txBox="1"/>
          <p:nvPr/>
        </p:nvSpPr>
        <p:spPr>
          <a:xfrm>
            <a:off x="342900" y="1831086"/>
            <a:ext cx="8455914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7175" indent="-257175">
              <a:spcAft>
                <a:spcPts val="600"/>
              </a:spcAft>
              <a:buSzPct val="100000"/>
              <a:buChar char="▪"/>
            </a:pPr>
            <a:r>
              <a:rPr lang="en-US" sz="1088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queries reference only a small proportion of the records in a table</a:t>
            </a:r>
            <a:endParaRPr lang="en-US" sz="1088" dirty="0"/>
          </a:p>
          <a:p>
            <a:pPr marL="257175" indent="-257175">
              <a:spcAft>
                <a:spcPts val="600"/>
              </a:spcAft>
              <a:buSzPct val="100000"/>
              <a:buChar char="▪"/>
            </a:pPr>
            <a:r>
              <a:rPr lang="en-US" sz="1088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an index the system must scan every record to find a match — inefficient</a:t>
            </a:r>
            <a:endParaRPr lang="en-US" sz="1088" dirty="0"/>
          </a:p>
          <a:p>
            <a:pPr marL="257175" indent="-257175">
              <a:spcAft>
                <a:spcPts val="600"/>
              </a:spcAft>
              <a:buSzPct val="100000"/>
              <a:buChar char="▪"/>
            </a:pPr>
            <a:r>
              <a:rPr lang="en-US" sz="1088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index is a data structure that lets the DBMS locate matching tuples directly, without scanning the whole relation</a:t>
            </a:r>
            <a:endParaRPr lang="en-US" sz="1088" dirty="0"/>
          </a:p>
        </p:txBody>
      </p:sp>
      <p:sp>
        <p:nvSpPr>
          <p:cNvPr id="6" name="Shape 4"/>
          <p:cNvSpPr/>
          <p:nvPr/>
        </p:nvSpPr>
        <p:spPr>
          <a:xfrm>
            <a:off x="342900" y="3236976"/>
            <a:ext cx="8455914" cy="2455164"/>
          </a:xfrm>
          <a:prstGeom prst="roundRect">
            <a:avLst>
              <a:gd name="adj" fmla="val 2235"/>
            </a:avLst>
          </a:prstGeom>
          <a:solidFill>
            <a:srgbClr val="12193F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1200"/>
          </a:p>
        </p:txBody>
      </p:sp>
      <p:sp>
        <p:nvSpPr>
          <p:cNvPr id="7" name="Text 5"/>
          <p:cNvSpPr txBox="1"/>
          <p:nvPr/>
        </p:nvSpPr>
        <p:spPr>
          <a:xfrm>
            <a:off x="514350" y="3360420"/>
            <a:ext cx="8113014" cy="2208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50"/>
              </a:spcAft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&lt;name&gt; on &lt;relation-name&gt; (attribute);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Index Creation Example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93789"/>
            <a:ext cx="7497826" cy="4563300"/>
          </a:xfrm>
        </p:spPr>
        <p:txBody>
          <a:bodyPr/>
          <a:lstStyle/>
          <a:p>
            <a:r>
              <a:rPr lang="en-US" altLang="en-US" sz="1700" b="1" dirty="0"/>
              <a:t>create table </a:t>
            </a:r>
            <a:r>
              <a:rPr lang="en-US" altLang="en-US" sz="1700" i="1" dirty="0"/>
              <a:t>student	</a:t>
            </a:r>
            <a:br>
              <a:rPr lang="en-US" altLang="en-US" sz="1700" i="1" dirty="0"/>
            </a:br>
            <a:r>
              <a:rPr lang="en-US" altLang="en-US" sz="1700" dirty="0"/>
              <a:t>(</a:t>
            </a:r>
            <a:r>
              <a:rPr lang="en-US" altLang="en-US" sz="1700" i="1" dirty="0"/>
              <a:t>ID </a:t>
            </a:r>
            <a:r>
              <a:rPr lang="en-US" altLang="en-US" sz="1700" b="1" dirty="0" err="1"/>
              <a:t>varchar</a:t>
            </a:r>
            <a:r>
              <a:rPr lang="en-US" altLang="en-US" sz="1700" b="1" dirty="0"/>
              <a:t> </a:t>
            </a:r>
            <a:r>
              <a:rPr lang="en-US" altLang="en-US" sz="1700" dirty="0"/>
              <a:t>(5),</a:t>
            </a:r>
            <a:br>
              <a:rPr lang="en-US" altLang="en-US" sz="1700" dirty="0"/>
            </a:br>
            <a:r>
              <a:rPr lang="en-US" altLang="en-US" sz="1700" i="1" dirty="0"/>
              <a:t>name </a:t>
            </a:r>
            <a:r>
              <a:rPr lang="en-US" altLang="en-US" sz="1700" b="1" dirty="0" err="1"/>
              <a:t>varchar</a:t>
            </a:r>
            <a:r>
              <a:rPr lang="en-US" altLang="en-US" sz="1700" b="1" dirty="0"/>
              <a:t> </a:t>
            </a:r>
            <a:r>
              <a:rPr lang="en-US" altLang="en-US" sz="1700" dirty="0"/>
              <a:t>(20) </a:t>
            </a:r>
            <a:r>
              <a:rPr lang="en-US" altLang="en-US" sz="1700" b="1" dirty="0"/>
              <a:t>not null</a:t>
            </a:r>
            <a:r>
              <a:rPr lang="en-US" altLang="en-US" sz="1700" dirty="0"/>
              <a:t>,</a:t>
            </a:r>
            <a:br>
              <a:rPr lang="en-US" altLang="en-US" sz="1700" dirty="0"/>
            </a:br>
            <a:r>
              <a:rPr lang="en-US" altLang="en-US" sz="1700" i="1" dirty="0"/>
              <a:t>dept_name </a:t>
            </a:r>
            <a:r>
              <a:rPr lang="en-US" altLang="en-US" sz="1700" b="1" dirty="0" err="1"/>
              <a:t>varchar</a:t>
            </a:r>
            <a:r>
              <a:rPr lang="en-US" altLang="en-US" sz="1700" b="1" dirty="0"/>
              <a:t> </a:t>
            </a:r>
            <a:r>
              <a:rPr lang="en-US" altLang="en-US" sz="1700" dirty="0"/>
              <a:t>(20),</a:t>
            </a:r>
            <a:br>
              <a:rPr lang="en-US" altLang="en-US" sz="1700" dirty="0"/>
            </a:br>
            <a:r>
              <a:rPr lang="en-US" altLang="en-US" sz="1700" i="1" dirty="0"/>
              <a:t>tot_cred </a:t>
            </a:r>
            <a:r>
              <a:rPr lang="en-US" altLang="en-US" sz="1700" b="1" dirty="0"/>
              <a:t>numeric </a:t>
            </a:r>
            <a:r>
              <a:rPr lang="en-US" altLang="en-US" sz="1700" dirty="0"/>
              <a:t>(3,0) </a:t>
            </a:r>
            <a:r>
              <a:rPr lang="en-US" altLang="en-US" sz="1700" b="1" dirty="0"/>
              <a:t>default </a:t>
            </a:r>
            <a:r>
              <a:rPr lang="en-US" altLang="en-US" sz="1700" dirty="0"/>
              <a:t>0,</a:t>
            </a:r>
            <a:br>
              <a:rPr lang="en-US" altLang="en-US" sz="1700" dirty="0"/>
            </a:br>
            <a:r>
              <a:rPr lang="en-US" altLang="en-US" sz="1700" b="1" dirty="0"/>
              <a:t>primary key </a:t>
            </a:r>
            <a:r>
              <a:rPr lang="en-US" altLang="en-US" sz="1700" dirty="0"/>
              <a:t>(</a:t>
            </a:r>
            <a:r>
              <a:rPr lang="en-US" altLang="en-US" sz="1700" i="1" dirty="0"/>
              <a:t>ID</a:t>
            </a:r>
            <a:r>
              <a:rPr lang="en-US" altLang="en-US" sz="1700" dirty="0"/>
              <a:t>))</a:t>
            </a:r>
          </a:p>
          <a:p>
            <a:r>
              <a:rPr lang="en-US" altLang="en-US" sz="1700" b="1" dirty="0"/>
              <a:t>create index </a:t>
            </a:r>
            <a:r>
              <a:rPr lang="en-US" altLang="en-US" sz="1700" i="1" dirty="0" err="1"/>
              <a:t>studentID_index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on </a:t>
            </a:r>
            <a:r>
              <a:rPr lang="en-US" altLang="en-US" sz="1700" i="1" dirty="0"/>
              <a:t>student</a:t>
            </a:r>
            <a:r>
              <a:rPr lang="en-US" altLang="en-US" sz="1700" dirty="0"/>
              <a:t>(</a:t>
            </a:r>
            <a:r>
              <a:rPr lang="en-US" altLang="en-US" sz="1700" i="1" dirty="0"/>
              <a:t>ID</a:t>
            </a:r>
            <a:r>
              <a:rPr lang="en-US" altLang="en-US" sz="1700" dirty="0"/>
              <a:t>)</a:t>
            </a:r>
          </a:p>
          <a:p>
            <a:r>
              <a:rPr lang="en-US" altLang="en-US" sz="1700" dirty="0"/>
              <a:t>The query:</a:t>
            </a:r>
          </a:p>
          <a:p>
            <a:pPr>
              <a:buNone/>
            </a:pPr>
            <a:r>
              <a:rPr lang="en-US" altLang="en-US" sz="1700" b="1" dirty="0"/>
              <a:t>            select * </a:t>
            </a:r>
            <a:br>
              <a:rPr lang="en-US" altLang="en-US" sz="1700" b="1" dirty="0"/>
            </a:br>
            <a:r>
              <a:rPr lang="en-US" altLang="en-US" sz="1700" b="1" dirty="0"/>
              <a:t>       from </a:t>
            </a:r>
            <a:r>
              <a:rPr lang="en-US" altLang="en-US" sz="1700" dirty="0"/>
              <a:t> </a:t>
            </a:r>
            <a:r>
              <a:rPr lang="en-US" altLang="en-US" sz="1700" i="1" dirty="0"/>
              <a:t>student</a:t>
            </a:r>
            <a:br>
              <a:rPr lang="en-US" altLang="en-US" sz="1700" i="1" dirty="0"/>
            </a:br>
            <a:r>
              <a:rPr lang="en-US" altLang="en-US" sz="1700" i="1" dirty="0"/>
              <a:t>    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 ID = </a:t>
            </a:r>
            <a:r>
              <a:rPr lang="en-US" altLang="en-US" sz="1700" dirty="0"/>
              <a:t>'12345'</a:t>
            </a:r>
          </a:p>
          <a:p>
            <a:pPr>
              <a:buNone/>
            </a:pPr>
            <a:r>
              <a:rPr lang="en-US" altLang="en-US" sz="1700" dirty="0"/>
              <a:t>     can be executed by using the index to find the required record,  without looking at all records of </a:t>
            </a:r>
            <a:r>
              <a:rPr lang="en-US" altLang="en-US" sz="1700" i="1" dirty="0"/>
              <a:t>student</a:t>
            </a:r>
            <a:endParaRPr lang="en-US" altLang="en-US" sz="17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Authorization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9"/>
            <a:ext cx="7612169" cy="4758372"/>
          </a:xfrm>
        </p:spPr>
        <p:txBody>
          <a:bodyPr/>
          <a:lstStyle/>
          <a:p>
            <a:r>
              <a:rPr lang="en-US" altLang="en-US" sz="1700" dirty="0"/>
              <a:t>We may assign a user several forms of authorizations on parts of the database.</a:t>
            </a:r>
          </a:p>
          <a:p>
            <a:pPr lvl="1">
              <a:lnSpc>
                <a:spcPct val="160000"/>
              </a:lnSpc>
            </a:pPr>
            <a:r>
              <a:rPr lang="en-US" altLang="en-US" sz="1700" b="1" dirty="0"/>
              <a:t>Read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  <a:r>
              <a:rPr lang="en-US" altLang="en-US" sz="1700" dirty="0"/>
              <a:t>- allows reading, but not modification of data.</a:t>
            </a:r>
          </a:p>
          <a:p>
            <a:pPr lvl="1"/>
            <a:r>
              <a:rPr lang="en-US" altLang="en-US" sz="1700" b="1" dirty="0"/>
              <a:t>Insert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  <a:r>
              <a:rPr lang="en-US" altLang="en-US" sz="1700" dirty="0"/>
              <a:t>- allows insertion of new data, but not modification of existing data.</a:t>
            </a:r>
          </a:p>
          <a:p>
            <a:pPr lvl="1"/>
            <a:r>
              <a:rPr lang="en-US" altLang="en-US" sz="1700" b="1" dirty="0"/>
              <a:t>Update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  <a:r>
              <a:rPr lang="en-US" altLang="en-US" sz="1700" dirty="0"/>
              <a:t>- allows modification, but not deletion of data.</a:t>
            </a:r>
          </a:p>
          <a:p>
            <a:pPr lvl="1"/>
            <a:r>
              <a:rPr lang="en-US" altLang="en-US" sz="1700" b="1" dirty="0"/>
              <a:t>Delete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  <a:r>
              <a:rPr lang="en-US" altLang="en-US" sz="1700" dirty="0"/>
              <a:t>- allows deletion of data.</a:t>
            </a:r>
          </a:p>
          <a:p>
            <a:r>
              <a:rPr lang="en-US" altLang="en-US" sz="1700" dirty="0"/>
              <a:t>Each of these types of authorizations is called a </a:t>
            </a:r>
            <a:r>
              <a:rPr lang="en-US" altLang="en-US" sz="1700" b="1" dirty="0">
                <a:solidFill>
                  <a:srgbClr val="002060"/>
                </a:solidFill>
              </a:rPr>
              <a:t>privilege</a:t>
            </a:r>
            <a:r>
              <a:rPr lang="en-US" altLang="en-US" sz="1700" dirty="0"/>
              <a:t>. We may authorize the user all, none, or a combination of these types of privileges on specified parts of a database, such as a relation or a view.</a:t>
            </a:r>
          </a:p>
          <a:p>
            <a:endParaRPr lang="en-US" altLang="en-US" sz="2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Authorization (Cont.)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9"/>
            <a:ext cx="7590445" cy="2807652"/>
          </a:xfrm>
        </p:spPr>
        <p:txBody>
          <a:bodyPr/>
          <a:lstStyle/>
          <a:p>
            <a:r>
              <a:rPr lang="en-US" altLang="en-US" sz="1700" dirty="0"/>
              <a:t>Forms of authorization to modify the database schema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</a:rPr>
              <a:t>Index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  <a:r>
              <a:rPr lang="en-US" altLang="en-US" sz="1700" dirty="0"/>
              <a:t>- allows creation and deletion of indices.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</a:rPr>
              <a:t>Resources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  <a:r>
              <a:rPr lang="en-US" altLang="en-US" sz="1700" dirty="0"/>
              <a:t>- allows creation of new relations.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</a:rPr>
              <a:t>Alteration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  <a:r>
              <a:rPr lang="en-US" altLang="en-US" sz="1700" dirty="0"/>
              <a:t>- allows addition or deletion of attributes in a relation.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</a:rPr>
              <a:t>Drop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  <a:r>
              <a:rPr lang="en-US" altLang="en-US" sz="1700" dirty="0"/>
              <a:t>- allows deletion of relations.</a:t>
            </a:r>
          </a:p>
          <a:p>
            <a:endParaRPr lang="en-US" altLang="en-US" sz="2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1186434"/>
            <a:ext cx="109728" cy="109728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3" name="Text 1"/>
          <p:cNvSpPr txBox="1"/>
          <p:nvPr/>
        </p:nvSpPr>
        <p:spPr>
          <a:xfrm>
            <a:off x="534924" y="110413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342900" y="1323594"/>
            <a:ext cx="845591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75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Schema-Level Privileges</a:t>
            </a:r>
            <a:endParaRPr lang="en-US" sz="2175" dirty="0"/>
          </a:p>
        </p:txBody>
      </p:sp>
      <p:sp>
        <p:nvSpPr>
          <p:cNvPr id="5" name="Text 3"/>
          <p:cNvSpPr txBox="1"/>
          <p:nvPr/>
        </p:nvSpPr>
        <p:spPr>
          <a:xfrm>
            <a:off x="342900" y="1831086"/>
            <a:ext cx="8455914" cy="1611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7175" indent="-257175">
              <a:spcAft>
                <a:spcPts val="600"/>
              </a:spcAft>
              <a:buSzPct val="100000"/>
              <a:buChar char="▪"/>
            </a:pPr>
            <a:r>
              <a:rPr lang="en-US" sz="1088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— allows creation and deletion of indices</a:t>
            </a:r>
            <a:endParaRPr lang="en-US" sz="1088" dirty="0"/>
          </a:p>
          <a:p>
            <a:pPr marL="257175" indent="-257175">
              <a:spcAft>
                <a:spcPts val="600"/>
              </a:spcAft>
              <a:buSzPct val="100000"/>
              <a:buChar char="▪"/>
            </a:pPr>
            <a:r>
              <a:rPr lang="en-US" sz="1088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— allows creation of new relations</a:t>
            </a:r>
            <a:endParaRPr lang="en-US" sz="1088" dirty="0"/>
          </a:p>
          <a:p>
            <a:pPr marL="257175" indent="-257175">
              <a:spcAft>
                <a:spcPts val="600"/>
              </a:spcAft>
              <a:buSzPct val="100000"/>
              <a:buChar char="▪"/>
            </a:pPr>
            <a:r>
              <a:rPr lang="en-US" sz="1088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Alteration — allows addition or deletion of attributes in a relation</a:t>
            </a:r>
            <a:endParaRPr lang="en-US" sz="1088" dirty="0"/>
          </a:p>
          <a:p>
            <a:pPr marL="257175" indent="-257175">
              <a:spcAft>
                <a:spcPts val="600"/>
              </a:spcAft>
              <a:buSzPct val="100000"/>
              <a:buChar char="▪"/>
            </a:pPr>
            <a:r>
              <a:rPr lang="en-US" sz="1088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— allows deletion of relations</a:t>
            </a:r>
            <a:endParaRPr lang="en-US" sz="1088" dirty="0"/>
          </a:p>
          <a:p>
            <a:pPr marL="257175" indent="-257175">
              <a:spcAft>
                <a:spcPts val="600"/>
              </a:spcAft>
              <a:buSzPct val="100000"/>
              <a:buChar char="▪"/>
            </a:pPr>
            <a:r>
              <a:rPr lang="en-US" sz="1088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reserved for the database administrator, not ordinary users</a:t>
            </a:r>
            <a:endParaRPr lang="en-US" sz="1088" dirty="0"/>
          </a:p>
        </p:txBody>
      </p:sp>
      <p:sp>
        <p:nvSpPr>
          <p:cNvPr id="6" name="Shape 4"/>
          <p:cNvSpPr/>
          <p:nvPr/>
        </p:nvSpPr>
        <p:spPr>
          <a:xfrm>
            <a:off x="342900" y="3545586"/>
            <a:ext cx="8455914" cy="2146554"/>
          </a:xfrm>
          <a:prstGeom prst="roundRect">
            <a:avLst>
              <a:gd name="adj" fmla="val 2556"/>
            </a:avLst>
          </a:prstGeom>
          <a:solidFill>
            <a:srgbClr val="12193F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1200"/>
          </a:p>
        </p:txBody>
      </p:sp>
      <p:sp>
        <p:nvSpPr>
          <p:cNvPr id="7" name="Text 5"/>
          <p:cNvSpPr txBox="1"/>
          <p:nvPr/>
        </p:nvSpPr>
        <p:spPr>
          <a:xfrm>
            <a:off x="514350" y="3669030"/>
            <a:ext cx="8113014" cy="1899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50"/>
              </a:spcAft>
            </a:pPr>
            <a:r>
              <a:rPr lang="en-US" sz="1013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studentID_index on student(ID);      -- Index</a:t>
            </a:r>
            <a:endParaRPr lang="en-US" sz="1013" dirty="0"/>
          </a:p>
          <a:p>
            <a:pPr>
              <a:spcAft>
                <a:spcPts val="150"/>
              </a:spcAft>
            </a:pPr>
            <a:r>
              <a:rPr lang="en-US" sz="1013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new_relation ( ... );                -- Resources</a:t>
            </a:r>
            <a:endParaRPr lang="en-US" sz="1013" dirty="0"/>
          </a:p>
          <a:p>
            <a:pPr>
              <a:spcAft>
                <a:spcPts val="150"/>
              </a:spcAft>
            </a:pPr>
            <a:r>
              <a:rPr lang="en-US" sz="1013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student add column phone varchar(15); -- Alteration</a:t>
            </a:r>
            <a:endParaRPr lang="en-US" sz="1013" dirty="0"/>
          </a:p>
          <a:p>
            <a:pPr>
              <a:spcAft>
                <a:spcPts val="150"/>
              </a:spcAft>
            </a:pPr>
            <a:r>
              <a:rPr lang="en-US" sz="1013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table old_relation;                          -- Drop</a:t>
            </a:r>
            <a:endParaRPr lang="en-US" sz="1013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Authorization Specification in SQL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5980"/>
            <a:ext cx="7612169" cy="4903787"/>
          </a:xfrm>
        </p:spPr>
        <p:txBody>
          <a:bodyPr/>
          <a:lstStyle/>
          <a:p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grant</a:t>
            </a:r>
            <a:r>
              <a:rPr lang="en-US" altLang="en-US" sz="1700" dirty="0"/>
              <a:t> statement is used to confer authorization</a:t>
            </a:r>
          </a:p>
          <a:p>
            <a:pPr>
              <a:buFont typeface="Monotype Sorts" charset="2"/>
              <a:buNone/>
            </a:pPr>
            <a:r>
              <a:rPr lang="en-US" altLang="en-US" sz="1700" dirty="0"/>
              <a:t>	   </a:t>
            </a:r>
            <a:r>
              <a:rPr lang="en-US" altLang="en-US" sz="1700" b="1" dirty="0"/>
              <a:t>grant</a:t>
            </a:r>
            <a:r>
              <a:rPr lang="en-US" altLang="en-US" sz="1700" dirty="0"/>
              <a:t> &lt;privilege list&gt; </a:t>
            </a:r>
            <a:r>
              <a:rPr lang="en-US" altLang="en-US" sz="1700" b="1" dirty="0"/>
              <a:t>on </a:t>
            </a:r>
            <a:r>
              <a:rPr lang="en-US" altLang="en-US" sz="1700" dirty="0"/>
              <a:t>&lt;relation or view &gt; </a:t>
            </a:r>
            <a:r>
              <a:rPr lang="en-US" altLang="en-US" sz="1700" b="1" dirty="0"/>
              <a:t>to</a:t>
            </a:r>
            <a:r>
              <a:rPr lang="en-US" altLang="en-US" sz="1700" dirty="0"/>
              <a:t> &lt;user list&gt;</a:t>
            </a:r>
          </a:p>
          <a:p>
            <a:r>
              <a:rPr lang="en-US" altLang="en-US" sz="1700" dirty="0"/>
              <a:t>&lt;user list&gt; is:</a:t>
            </a:r>
          </a:p>
          <a:p>
            <a:pPr lvl="1"/>
            <a:r>
              <a:rPr lang="en-US" altLang="en-US" sz="1700" dirty="0"/>
              <a:t>a user-id</a:t>
            </a:r>
          </a:p>
          <a:p>
            <a:pPr lvl="1"/>
            <a:r>
              <a:rPr lang="en-US" altLang="en-US" sz="1700" b="1" dirty="0"/>
              <a:t>public</a:t>
            </a:r>
            <a:r>
              <a:rPr lang="en-US" altLang="en-US" sz="1700" dirty="0"/>
              <a:t>, which allows all valid users the privilege granted</a:t>
            </a:r>
          </a:p>
          <a:p>
            <a:pPr lvl="1"/>
            <a:r>
              <a:rPr lang="en-US" altLang="en-US" sz="1700" dirty="0"/>
              <a:t>A role (more on this later)</a:t>
            </a:r>
          </a:p>
          <a:p>
            <a:r>
              <a:rPr lang="en-US" altLang="en-US" sz="1700" dirty="0"/>
              <a:t>Example:</a:t>
            </a:r>
          </a:p>
          <a:p>
            <a:pPr lvl="1"/>
            <a:r>
              <a:rPr lang="en-US" altLang="en-US" sz="1700" b="1" dirty="0"/>
              <a:t>grant</a:t>
            </a:r>
            <a:r>
              <a:rPr lang="en-US" altLang="en-US" sz="1700" dirty="0"/>
              <a:t>  </a:t>
            </a:r>
            <a:r>
              <a:rPr lang="en-US" altLang="en-US" sz="1700" b="1" dirty="0"/>
              <a:t>select on  </a:t>
            </a:r>
            <a:r>
              <a:rPr lang="en-US" altLang="en-US" sz="1700" i="1" dirty="0"/>
              <a:t>department</a:t>
            </a:r>
            <a:r>
              <a:rPr lang="en-US" altLang="en-US" sz="1700" b="1" dirty="0"/>
              <a:t> to</a:t>
            </a:r>
            <a:r>
              <a:rPr lang="en-US" altLang="en-US" sz="1700" dirty="0"/>
              <a:t> </a:t>
            </a:r>
            <a:r>
              <a:rPr lang="en-US" altLang="en-US" sz="1700" dirty="0" err="1"/>
              <a:t>Amit</a:t>
            </a:r>
            <a:r>
              <a:rPr lang="en-US" altLang="en-US" sz="1700" dirty="0"/>
              <a:t>,  Satoshi</a:t>
            </a:r>
          </a:p>
          <a:p>
            <a:r>
              <a:rPr lang="en-US" altLang="en-US" sz="1700" dirty="0"/>
              <a:t>Granting a privilege on a view does not imply granting any privileges on the underlying relations.</a:t>
            </a:r>
          </a:p>
          <a:p>
            <a:r>
              <a:rPr lang="en-US" altLang="en-US" sz="1700" dirty="0"/>
              <a:t>The grantor of the privilege must already hold the privilege on the specified item (or be the database administrator).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Privileges in SQL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93788"/>
            <a:ext cx="7327138" cy="4903787"/>
          </a:xfrm>
        </p:spPr>
        <p:txBody>
          <a:bodyPr/>
          <a:lstStyle/>
          <a:p>
            <a:r>
              <a:rPr lang="en-US" altLang="en-US" sz="1700" b="1" dirty="0">
                <a:solidFill>
                  <a:srgbClr val="002060"/>
                </a:solidFill>
              </a:rPr>
              <a:t>select</a:t>
            </a:r>
            <a:r>
              <a:rPr lang="en-US" altLang="en-US" sz="1700" dirty="0"/>
              <a:t>: allows read access to relation, or the ability to query using the view</a:t>
            </a:r>
          </a:p>
          <a:p>
            <a:pPr lvl="1"/>
            <a:r>
              <a:rPr lang="en-US" altLang="en-US" sz="1700" dirty="0"/>
              <a:t>Example: grant users </a:t>
            </a:r>
            <a:r>
              <a:rPr lang="en-US" altLang="en-US" sz="1700" i="1" dirty="0"/>
              <a:t>U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, </a:t>
            </a:r>
            <a:r>
              <a:rPr lang="en-US" altLang="en-US" sz="1700" i="1" dirty="0"/>
              <a:t>U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, and </a:t>
            </a:r>
            <a:r>
              <a:rPr lang="en-US" altLang="en-US" sz="1700" i="1" dirty="0"/>
              <a:t>U</a:t>
            </a:r>
            <a:r>
              <a:rPr lang="en-US" altLang="en-US" sz="1700" baseline="-25000" dirty="0"/>
              <a:t>3</a:t>
            </a:r>
            <a:r>
              <a:rPr lang="en-US" altLang="en-US" sz="1700" dirty="0"/>
              <a:t> </a:t>
            </a:r>
            <a:r>
              <a:rPr lang="en-US" altLang="en-US" sz="1700" b="1" dirty="0"/>
              <a:t>select</a:t>
            </a:r>
            <a:r>
              <a:rPr lang="en-US" altLang="en-US" sz="1700" dirty="0"/>
              <a:t> authorization on the </a:t>
            </a:r>
            <a:r>
              <a:rPr lang="en-US" altLang="en-US" sz="1700" i="1" dirty="0"/>
              <a:t>instructor </a:t>
            </a:r>
            <a:r>
              <a:rPr lang="en-US" altLang="en-US" sz="1700" dirty="0"/>
              <a:t>relation:</a:t>
            </a:r>
          </a:p>
          <a:p>
            <a:pPr>
              <a:buFont typeface="Monotype Sorts" charset="2"/>
              <a:buNone/>
            </a:pPr>
            <a:r>
              <a:rPr lang="en-US" altLang="en-US" sz="1700" dirty="0"/>
              <a:t>			</a:t>
            </a:r>
            <a:r>
              <a:rPr lang="en-US" altLang="en-US" sz="1700" b="1" dirty="0"/>
              <a:t>grant select on </a:t>
            </a:r>
            <a:r>
              <a:rPr lang="en-US" altLang="en-US" sz="1700" i="1" dirty="0"/>
              <a:t>instructor </a:t>
            </a:r>
            <a:r>
              <a:rPr lang="en-US" altLang="en-US" sz="1700" b="1" dirty="0"/>
              <a:t>to </a:t>
            </a:r>
            <a:r>
              <a:rPr lang="en-US" altLang="en-US" sz="1700" i="1" dirty="0"/>
              <a:t>U</a:t>
            </a:r>
            <a:r>
              <a:rPr lang="en-US" altLang="en-US" sz="1700" baseline="-25000" dirty="0"/>
              <a:t>1</a:t>
            </a:r>
            <a:r>
              <a:rPr lang="en-US" altLang="en-US" sz="1700" i="1" dirty="0"/>
              <a:t>, U</a:t>
            </a:r>
            <a:r>
              <a:rPr lang="en-US" altLang="en-US" sz="1700" baseline="-25000" dirty="0"/>
              <a:t>2</a:t>
            </a:r>
            <a:r>
              <a:rPr lang="en-US" altLang="en-US" sz="1700" i="1" dirty="0"/>
              <a:t>, U</a:t>
            </a:r>
            <a:r>
              <a:rPr lang="en-US" altLang="en-US" sz="1700" baseline="-25000" dirty="0"/>
              <a:t>3</a:t>
            </a:r>
            <a:endParaRPr lang="en-US" altLang="en-US" sz="1700" dirty="0"/>
          </a:p>
          <a:p>
            <a:r>
              <a:rPr lang="en-US" altLang="en-US" sz="1700" b="1" dirty="0">
                <a:solidFill>
                  <a:srgbClr val="002060"/>
                </a:solidFill>
              </a:rPr>
              <a:t>insert</a:t>
            </a:r>
            <a:r>
              <a:rPr lang="en-US" altLang="en-US" sz="1700" dirty="0"/>
              <a:t>: the ability to insert tuples</a:t>
            </a:r>
          </a:p>
          <a:p>
            <a:r>
              <a:rPr lang="en-US" altLang="en-US" sz="1700" b="1" dirty="0">
                <a:solidFill>
                  <a:srgbClr val="002060"/>
                </a:solidFill>
              </a:rPr>
              <a:t>update</a:t>
            </a:r>
            <a:r>
              <a:rPr lang="en-US" altLang="en-US" sz="1700" dirty="0"/>
              <a:t>: the ability  to update using the SQL update statement</a:t>
            </a:r>
          </a:p>
          <a:p>
            <a:r>
              <a:rPr lang="en-US" altLang="en-US" sz="1700" b="1" dirty="0">
                <a:solidFill>
                  <a:srgbClr val="002060"/>
                </a:solidFill>
              </a:rPr>
              <a:t>delete</a:t>
            </a:r>
            <a:r>
              <a:rPr lang="en-US" altLang="en-US" sz="1700" dirty="0"/>
              <a:t>: the ability to delete tuples.</a:t>
            </a:r>
          </a:p>
          <a:p>
            <a:r>
              <a:rPr lang="en-US" altLang="en-US" sz="1700" b="1" dirty="0">
                <a:solidFill>
                  <a:srgbClr val="002060"/>
                </a:solidFill>
              </a:rPr>
              <a:t>all privileges</a:t>
            </a:r>
            <a:r>
              <a:rPr lang="en-US" altLang="en-US" sz="1700" dirty="0"/>
              <a:t>: used as a short form for all the allowable privileges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1186434"/>
            <a:ext cx="109728" cy="109728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3" name="Text 1"/>
          <p:cNvSpPr txBox="1"/>
          <p:nvPr/>
        </p:nvSpPr>
        <p:spPr>
          <a:xfrm>
            <a:off x="534924" y="110413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342900" y="1323594"/>
            <a:ext cx="845591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75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GRANT Statement</a:t>
            </a:r>
            <a:endParaRPr lang="en-US" sz="2175" dirty="0"/>
          </a:p>
        </p:txBody>
      </p:sp>
      <p:sp>
        <p:nvSpPr>
          <p:cNvPr id="5" name="Text 3"/>
          <p:cNvSpPr txBox="1"/>
          <p:nvPr/>
        </p:nvSpPr>
        <p:spPr>
          <a:xfrm>
            <a:off x="342900" y="1831086"/>
            <a:ext cx="8455914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7175" indent="-257175">
              <a:spcAft>
                <a:spcPts val="600"/>
              </a:spcAft>
              <a:buSzPct val="100000"/>
              <a:buChar char="▪"/>
            </a:pPr>
            <a:r>
              <a:rPr lang="en-US" sz="1088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&lt;privilege list&gt; on &lt;relation or view&gt; to &lt;user list&gt;</a:t>
            </a:r>
            <a:endParaRPr lang="en-US" sz="1088" dirty="0"/>
          </a:p>
          <a:p>
            <a:pPr marL="257175" indent="-257175">
              <a:spcAft>
                <a:spcPts val="600"/>
              </a:spcAft>
              <a:buSzPct val="100000"/>
              <a:buChar char="▪"/>
            </a:pPr>
            <a:r>
              <a:rPr lang="en-US" sz="1088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&lt;user list&gt; can be: a user-id, public (all valid users), or a role</a:t>
            </a:r>
            <a:endParaRPr lang="en-US" sz="1088" dirty="0"/>
          </a:p>
          <a:p>
            <a:pPr marL="257175" indent="-257175">
              <a:spcAft>
                <a:spcPts val="600"/>
              </a:spcAft>
              <a:buSzPct val="100000"/>
              <a:buChar char="▪"/>
            </a:pPr>
            <a:r>
              <a:rPr lang="en-US" sz="1088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Granting a privilege on a view does not grant any privilege on the underlying relations</a:t>
            </a:r>
            <a:endParaRPr lang="en-US" sz="1088" dirty="0"/>
          </a:p>
          <a:p>
            <a:pPr marL="257175" indent="-257175">
              <a:spcAft>
                <a:spcPts val="600"/>
              </a:spcAft>
              <a:buSzPct val="100000"/>
              <a:buChar char="▪"/>
            </a:pPr>
            <a:r>
              <a:rPr lang="en-US" sz="1088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grantor must already hold the privilege (or be the database administrator)</a:t>
            </a:r>
            <a:endParaRPr lang="en-US" sz="1088" dirty="0"/>
          </a:p>
        </p:txBody>
      </p:sp>
      <p:sp>
        <p:nvSpPr>
          <p:cNvPr id="6" name="Shape 4"/>
          <p:cNvSpPr/>
          <p:nvPr/>
        </p:nvSpPr>
        <p:spPr>
          <a:xfrm>
            <a:off x="342900" y="3374136"/>
            <a:ext cx="8455914" cy="2318004"/>
          </a:xfrm>
          <a:prstGeom prst="roundRect">
            <a:avLst>
              <a:gd name="adj" fmla="val 2367"/>
            </a:avLst>
          </a:prstGeom>
          <a:solidFill>
            <a:srgbClr val="12193F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1200"/>
          </a:p>
        </p:txBody>
      </p:sp>
      <p:sp>
        <p:nvSpPr>
          <p:cNvPr id="7" name="Text 5"/>
          <p:cNvSpPr txBox="1"/>
          <p:nvPr/>
        </p:nvSpPr>
        <p:spPr>
          <a:xfrm>
            <a:off x="514350" y="3497580"/>
            <a:ext cx="8113014" cy="2071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50"/>
              </a:spcAft>
            </a:pPr>
            <a:r>
              <a:rPr lang="en-US" sz="1088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 &lt;privilege list&gt; on &lt;relation or view&gt; to &lt;user list&gt;;</a:t>
            </a:r>
            <a:endParaRPr lang="en-US" sz="1088" dirty="0"/>
          </a:p>
          <a:p>
            <a:pPr>
              <a:spcAft>
                <a:spcPts val="150"/>
              </a:spcAft>
            </a:pPr>
            <a:r>
              <a:rPr lang="en-US" sz="1088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88" dirty="0"/>
          </a:p>
          <a:p>
            <a:pPr>
              <a:spcAft>
                <a:spcPts val="150"/>
              </a:spcAft>
            </a:pPr>
            <a:r>
              <a:rPr lang="en-US" sz="1088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 select on department to Amit, Satoshi;</a:t>
            </a:r>
            <a:endParaRPr lang="en-US" sz="1088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1186434"/>
            <a:ext cx="109728" cy="109728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3" name="Text 1"/>
          <p:cNvSpPr txBox="1"/>
          <p:nvPr/>
        </p:nvSpPr>
        <p:spPr>
          <a:xfrm>
            <a:off x="534924" y="110413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342900" y="1323594"/>
            <a:ext cx="845591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75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Data-Level Privileges</a:t>
            </a:r>
            <a:endParaRPr lang="en-US" sz="2175" dirty="0"/>
          </a:p>
        </p:txBody>
      </p:sp>
      <p:sp>
        <p:nvSpPr>
          <p:cNvPr id="5" name="Text 3"/>
          <p:cNvSpPr txBox="1"/>
          <p:nvPr/>
        </p:nvSpPr>
        <p:spPr>
          <a:xfrm>
            <a:off x="342900" y="1831086"/>
            <a:ext cx="8455914" cy="1611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7175" indent="-257175">
              <a:spcAft>
                <a:spcPts val="600"/>
              </a:spcAft>
              <a:buSzPct val="100000"/>
              <a:buChar char="▪"/>
            </a:pPr>
            <a:r>
              <a:rPr lang="en-US" sz="1088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— allows reading, but not modification of data</a:t>
            </a:r>
            <a:endParaRPr lang="en-US" sz="1088" dirty="0"/>
          </a:p>
          <a:p>
            <a:pPr marL="257175" indent="-257175">
              <a:spcAft>
                <a:spcPts val="600"/>
              </a:spcAft>
              <a:buSzPct val="100000"/>
              <a:buChar char="▪"/>
            </a:pPr>
            <a:r>
              <a:rPr lang="en-US" sz="1088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— allows insertion of new data, but not modification of existing data</a:t>
            </a:r>
            <a:endParaRPr lang="en-US" sz="1088" dirty="0"/>
          </a:p>
          <a:p>
            <a:pPr marL="257175" indent="-257175">
              <a:spcAft>
                <a:spcPts val="600"/>
              </a:spcAft>
              <a:buSzPct val="100000"/>
              <a:buChar char="▪"/>
            </a:pPr>
            <a:r>
              <a:rPr lang="en-US" sz="1088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— allows modification, but not deletion of data</a:t>
            </a:r>
            <a:endParaRPr lang="en-US" sz="1088" dirty="0"/>
          </a:p>
          <a:p>
            <a:pPr marL="257175" indent="-257175">
              <a:spcAft>
                <a:spcPts val="600"/>
              </a:spcAft>
              <a:buSzPct val="100000"/>
              <a:buChar char="▪"/>
            </a:pPr>
            <a:r>
              <a:rPr lang="en-US" sz="1088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— allows deletion of data</a:t>
            </a:r>
            <a:endParaRPr lang="en-US" sz="1088" dirty="0"/>
          </a:p>
          <a:p>
            <a:pPr marL="257175" indent="-257175">
              <a:spcAft>
                <a:spcPts val="600"/>
              </a:spcAft>
              <a:buSzPct val="100000"/>
              <a:buChar char="▪"/>
            </a:pPr>
            <a:r>
              <a:rPr lang="en-US" sz="1088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type of authorization is called a privilege; a user may hold any combination</a:t>
            </a:r>
            <a:endParaRPr lang="en-US" sz="1088" dirty="0"/>
          </a:p>
        </p:txBody>
      </p:sp>
      <p:sp>
        <p:nvSpPr>
          <p:cNvPr id="6" name="Shape 4"/>
          <p:cNvSpPr/>
          <p:nvPr/>
        </p:nvSpPr>
        <p:spPr>
          <a:xfrm>
            <a:off x="342900" y="3545586"/>
            <a:ext cx="8455914" cy="2146554"/>
          </a:xfrm>
          <a:prstGeom prst="roundRect">
            <a:avLst>
              <a:gd name="adj" fmla="val 2556"/>
            </a:avLst>
          </a:prstGeom>
          <a:solidFill>
            <a:srgbClr val="12193F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1200"/>
          </a:p>
        </p:txBody>
      </p:sp>
      <p:sp>
        <p:nvSpPr>
          <p:cNvPr id="7" name="Text 5"/>
          <p:cNvSpPr txBox="1"/>
          <p:nvPr/>
        </p:nvSpPr>
        <p:spPr>
          <a:xfrm>
            <a:off x="514350" y="3669030"/>
            <a:ext cx="8113014" cy="1899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50"/>
              </a:spcAft>
            </a:pPr>
            <a:r>
              <a:rPr lang="en-US" sz="1125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 select on student to clerk1;</a:t>
            </a:r>
            <a:endParaRPr lang="en-US" sz="1125" dirty="0"/>
          </a:p>
          <a:p>
            <a:pPr>
              <a:spcAft>
                <a:spcPts val="150"/>
              </a:spcAft>
            </a:pPr>
            <a:r>
              <a:rPr lang="en-US" sz="1125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 select, insert on takes to clerk1;</a:t>
            </a:r>
            <a:endParaRPr lang="en-US" sz="1125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Revoking Authorization in SQL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42556"/>
            <a:ext cx="7558786" cy="4903787"/>
          </a:xfrm>
        </p:spPr>
        <p:txBody>
          <a:bodyPr/>
          <a:lstStyle/>
          <a:p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revoke</a:t>
            </a:r>
            <a:r>
              <a:rPr lang="en-US" altLang="en-US" sz="1700" b="1" dirty="0"/>
              <a:t> </a:t>
            </a:r>
            <a:r>
              <a:rPr lang="en-US" altLang="en-US" sz="1700" dirty="0"/>
              <a:t>statement is used to revoke authorization.</a:t>
            </a:r>
          </a:p>
          <a:p>
            <a:pPr lvl="1">
              <a:buFont typeface="Monotype Sorts" charset="2"/>
              <a:buNone/>
            </a:pPr>
            <a:r>
              <a:rPr lang="en-US" altLang="en-US" sz="1700" b="1" dirty="0"/>
              <a:t>revoke </a:t>
            </a:r>
            <a:r>
              <a:rPr lang="en-US" altLang="en-US" sz="1700" dirty="0"/>
              <a:t>&lt;privilege list&gt; </a:t>
            </a:r>
            <a:r>
              <a:rPr lang="en-US" altLang="en-US" sz="1700" b="1" dirty="0"/>
              <a:t>on </a:t>
            </a:r>
            <a:r>
              <a:rPr lang="en-US" altLang="en-US" sz="1700" dirty="0"/>
              <a:t>&lt;relation or view&gt; </a:t>
            </a:r>
            <a:r>
              <a:rPr lang="en-US" altLang="en-US" sz="1700" b="1" dirty="0"/>
              <a:t>from </a:t>
            </a:r>
            <a:r>
              <a:rPr lang="en-US" altLang="en-US" sz="1700" dirty="0"/>
              <a:t>&lt;user list&gt;</a:t>
            </a:r>
          </a:p>
          <a:p>
            <a:r>
              <a:rPr lang="en-US" altLang="en-US" sz="1700" dirty="0"/>
              <a:t>Example:</a:t>
            </a:r>
          </a:p>
          <a:p>
            <a:pPr lvl="1">
              <a:buFont typeface="Monotype Sorts" charset="2"/>
              <a:buNone/>
            </a:pPr>
            <a:r>
              <a:rPr lang="en-US" altLang="en-US" sz="1700" b="1" dirty="0"/>
              <a:t>revoke select on </a:t>
            </a:r>
            <a:r>
              <a:rPr lang="en-US" altLang="en-US" sz="1700" i="1" dirty="0"/>
              <a:t>student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U</a:t>
            </a:r>
            <a:r>
              <a:rPr lang="en-US" altLang="en-US" sz="1700" i="1" baseline="-25000" dirty="0"/>
              <a:t>1</a:t>
            </a:r>
            <a:r>
              <a:rPr lang="en-US" altLang="en-US" sz="1700" i="1" dirty="0"/>
              <a:t>, U</a:t>
            </a:r>
            <a:r>
              <a:rPr lang="en-US" altLang="en-US" sz="1700" i="1" baseline="-25000" dirty="0"/>
              <a:t>2</a:t>
            </a:r>
            <a:r>
              <a:rPr lang="en-US" altLang="en-US" sz="1700" i="1" dirty="0"/>
              <a:t>, U</a:t>
            </a:r>
            <a:r>
              <a:rPr lang="en-US" altLang="en-US" sz="1700" i="1" baseline="-25000" dirty="0"/>
              <a:t>3</a:t>
            </a:r>
          </a:p>
          <a:p>
            <a:r>
              <a:rPr lang="en-US" altLang="en-US" sz="1700" dirty="0"/>
              <a:t>&lt;privilege-list&gt; may be </a:t>
            </a:r>
            <a:r>
              <a:rPr lang="en-US" altLang="en-US" sz="1700" b="1" dirty="0"/>
              <a:t>all </a:t>
            </a:r>
            <a:r>
              <a:rPr lang="en-US" altLang="en-US" sz="1700" dirty="0"/>
              <a:t>to revoke all privileges the </a:t>
            </a:r>
            <a:r>
              <a:rPr lang="en-US" altLang="en-US" sz="1700" dirty="0" err="1"/>
              <a:t>revokee</a:t>
            </a:r>
            <a:r>
              <a:rPr lang="en-US" altLang="en-US" sz="1700" dirty="0"/>
              <a:t> may hold.</a:t>
            </a:r>
          </a:p>
          <a:p>
            <a:r>
              <a:rPr lang="en-US" altLang="en-US" sz="1700" dirty="0"/>
              <a:t>If &lt;</a:t>
            </a:r>
            <a:r>
              <a:rPr lang="en-US" altLang="en-US" sz="1700" dirty="0" err="1"/>
              <a:t>revokee</a:t>
            </a:r>
            <a:r>
              <a:rPr lang="en-US" altLang="en-US" sz="1700" dirty="0"/>
              <a:t>-list&gt; includes </a:t>
            </a:r>
            <a:r>
              <a:rPr lang="en-US" altLang="en-US" sz="1700" b="1" dirty="0"/>
              <a:t>public, </a:t>
            </a:r>
            <a:r>
              <a:rPr lang="en-US" altLang="en-US" sz="1700" dirty="0"/>
              <a:t>all users lose the privilege except those granted it explicitly.</a:t>
            </a:r>
          </a:p>
          <a:p>
            <a:r>
              <a:rPr lang="en-US" altLang="en-US" sz="1700" dirty="0"/>
              <a:t>If the same privilege was granted twice to the same user by different grantees, the user may retain the privilege after the revocation.</a:t>
            </a:r>
          </a:p>
          <a:p>
            <a:r>
              <a:rPr lang="en-US" altLang="en-US" sz="1700" dirty="0"/>
              <a:t>All privileges that depend on the privilege being revoked are also revoked.</a:t>
            </a:r>
          </a:p>
          <a:p>
            <a:endParaRPr lang="en-US" altLang="en-US" sz="2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1186434"/>
            <a:ext cx="109728" cy="109728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3" name="Text 1"/>
          <p:cNvSpPr txBox="1"/>
          <p:nvPr/>
        </p:nvSpPr>
        <p:spPr>
          <a:xfrm>
            <a:off x="534924" y="110413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342900" y="1323594"/>
            <a:ext cx="845591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75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REVOKE Statement</a:t>
            </a:r>
            <a:endParaRPr lang="en-US" sz="2175" dirty="0"/>
          </a:p>
        </p:txBody>
      </p:sp>
      <p:sp>
        <p:nvSpPr>
          <p:cNvPr id="5" name="Text 3"/>
          <p:cNvSpPr txBox="1"/>
          <p:nvPr/>
        </p:nvSpPr>
        <p:spPr>
          <a:xfrm>
            <a:off x="342900" y="1831086"/>
            <a:ext cx="8455914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7175" indent="-257175">
              <a:spcAft>
                <a:spcPts val="600"/>
              </a:spcAft>
              <a:buSzPct val="100000"/>
              <a:buChar char="▪"/>
            </a:pPr>
            <a:r>
              <a:rPr lang="en-US" sz="1088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 &lt;privilege list&gt; on &lt;relation or view&gt; from &lt;user list&gt;</a:t>
            </a:r>
            <a:endParaRPr lang="en-US" sz="1088" dirty="0"/>
          </a:p>
          <a:p>
            <a:pPr marL="257175" indent="-257175">
              <a:spcAft>
                <a:spcPts val="600"/>
              </a:spcAft>
              <a:buSzPct val="100000"/>
              <a:buChar char="▪"/>
            </a:pPr>
            <a:r>
              <a:rPr lang="en-US" sz="1088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&lt;privilege list&gt; may be all, to revoke every privilege the revokee holds</a:t>
            </a:r>
            <a:endParaRPr lang="en-US" sz="1088" dirty="0"/>
          </a:p>
          <a:p>
            <a:pPr marL="257175" indent="-257175">
              <a:spcAft>
                <a:spcPts val="600"/>
              </a:spcAft>
              <a:buSzPct val="100000"/>
              <a:buChar char="▪"/>
            </a:pPr>
            <a:r>
              <a:rPr lang="en-US" sz="1088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Revoking from public still leaves users who were granted the privilege explicitly</a:t>
            </a:r>
            <a:endParaRPr lang="en-US" sz="1088" dirty="0"/>
          </a:p>
          <a:p>
            <a:pPr marL="257175" indent="-257175">
              <a:spcAft>
                <a:spcPts val="600"/>
              </a:spcAft>
              <a:buSzPct val="100000"/>
              <a:buChar char="▪"/>
            </a:pPr>
            <a:r>
              <a:rPr lang="en-US" sz="1088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privileges that depend on the revoked privilege are also revoked (cascades)</a:t>
            </a:r>
            <a:endParaRPr lang="en-US" sz="1088" dirty="0"/>
          </a:p>
        </p:txBody>
      </p:sp>
      <p:sp>
        <p:nvSpPr>
          <p:cNvPr id="6" name="Shape 4"/>
          <p:cNvSpPr/>
          <p:nvPr/>
        </p:nvSpPr>
        <p:spPr>
          <a:xfrm>
            <a:off x="342900" y="3374136"/>
            <a:ext cx="8455914" cy="2318004"/>
          </a:xfrm>
          <a:prstGeom prst="roundRect">
            <a:avLst>
              <a:gd name="adj" fmla="val 2367"/>
            </a:avLst>
          </a:prstGeom>
          <a:solidFill>
            <a:srgbClr val="12193F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1200"/>
          </a:p>
        </p:txBody>
      </p:sp>
      <p:sp>
        <p:nvSpPr>
          <p:cNvPr id="7" name="Text 5"/>
          <p:cNvSpPr txBox="1"/>
          <p:nvPr/>
        </p:nvSpPr>
        <p:spPr>
          <a:xfrm>
            <a:off x="514350" y="3497580"/>
            <a:ext cx="8113014" cy="2071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50"/>
              </a:spcAft>
            </a:pPr>
            <a:r>
              <a:rPr lang="en-US" sz="1088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revoke select on student from U1, U2, U3;</a:t>
            </a:r>
            <a:endParaRPr lang="en-US" sz="1088" dirty="0"/>
          </a:p>
          <a:p>
            <a:pPr>
              <a:spcAft>
                <a:spcPts val="150"/>
              </a:spcAft>
            </a:pPr>
            <a:r>
              <a:rPr lang="en-US" sz="1088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revoke select on student from public;</a:t>
            </a:r>
            <a:endParaRPr lang="en-US" sz="1088" dirty="0"/>
          </a:p>
          <a:p>
            <a:pPr>
              <a:spcAft>
                <a:spcPts val="150"/>
              </a:spcAft>
            </a:pPr>
            <a:r>
              <a:rPr lang="en-US" sz="1088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revoke all on student from U1;</a:t>
            </a:r>
            <a:endParaRPr lang="en-US" sz="1088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/>
              </a:rPr>
              <a:t>Roles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18173"/>
            <a:ext cx="7629925" cy="3161220"/>
          </a:xfrm>
        </p:spPr>
        <p:txBody>
          <a:bodyPr/>
          <a:lstStyle/>
          <a:p>
            <a:r>
              <a:rPr lang="en-US" altLang="en-US" sz="1700" dirty="0"/>
              <a:t>A</a:t>
            </a:r>
            <a:r>
              <a:rPr lang="en-US" altLang="en-US" sz="1700" b="1" dirty="0">
                <a:solidFill>
                  <a:srgbClr val="000099"/>
                </a:solidFill>
              </a:rPr>
              <a:t> </a:t>
            </a:r>
            <a:r>
              <a:rPr lang="en-US" altLang="en-US" sz="1700" b="1" dirty="0">
                <a:solidFill>
                  <a:srgbClr val="002060"/>
                </a:solidFill>
              </a:rPr>
              <a:t>role</a:t>
            </a:r>
            <a:r>
              <a:rPr lang="en-US" altLang="en-US" sz="1700" b="1" dirty="0">
                <a:solidFill>
                  <a:srgbClr val="000099"/>
                </a:solidFill>
              </a:rPr>
              <a:t> </a:t>
            </a:r>
            <a:r>
              <a:rPr lang="en-US" altLang="en-US" sz="1700" dirty="0"/>
              <a:t>is</a:t>
            </a:r>
            <a:r>
              <a:rPr lang="en-US" altLang="en-US" sz="1700" b="1" dirty="0">
                <a:solidFill>
                  <a:srgbClr val="000099"/>
                </a:solidFill>
              </a:rPr>
              <a:t> </a:t>
            </a:r>
            <a:r>
              <a:rPr lang="en-US" altLang="en-US" sz="1700" dirty="0"/>
              <a:t>a way to distinguish among various users as far as what  these users can access/update in the database.</a:t>
            </a:r>
          </a:p>
          <a:p>
            <a:r>
              <a:rPr lang="en-US" altLang="en-US" sz="1700" dirty="0"/>
              <a:t>To create a role we use:</a:t>
            </a:r>
          </a:p>
          <a:p>
            <a:pPr>
              <a:buNone/>
            </a:pPr>
            <a:r>
              <a:rPr lang="en-US" altLang="en-US" sz="1700" b="1" dirty="0"/>
              <a:t>        create a role </a:t>
            </a:r>
            <a:r>
              <a:rPr lang="en-US" altLang="en-US" sz="1700" dirty="0"/>
              <a:t>&lt;name&gt;</a:t>
            </a:r>
          </a:p>
          <a:p>
            <a:r>
              <a:rPr lang="en-US" altLang="en-US" sz="1700" dirty="0"/>
              <a:t>Example:</a:t>
            </a:r>
          </a:p>
          <a:p>
            <a:pPr lvl="1"/>
            <a:r>
              <a:rPr lang="en-US" altLang="en-US" sz="1700" dirty="0"/>
              <a:t>  </a:t>
            </a:r>
            <a:r>
              <a:rPr lang="en-US" altLang="en-US" sz="1700" b="1" dirty="0"/>
              <a:t>create role</a:t>
            </a:r>
            <a:r>
              <a:rPr lang="en-US" altLang="en-US" sz="1700" dirty="0"/>
              <a:t> instructor</a:t>
            </a:r>
          </a:p>
          <a:p>
            <a:r>
              <a:rPr lang="en-US" altLang="en-US" sz="1700" dirty="0"/>
              <a:t>Once a role is created we can assign “users” to the role using:</a:t>
            </a:r>
          </a:p>
          <a:p>
            <a:pPr lvl="1"/>
            <a:r>
              <a:rPr lang="en-US" altLang="en-US" sz="1700" b="1" dirty="0"/>
              <a:t>grant</a:t>
            </a:r>
            <a:r>
              <a:rPr lang="en-US" altLang="en-US" sz="1700" dirty="0"/>
              <a:t>  &lt;role&gt; </a:t>
            </a:r>
            <a:r>
              <a:rPr lang="en-US" altLang="en-US" sz="1700" b="1" dirty="0"/>
              <a:t>to </a:t>
            </a:r>
            <a:r>
              <a:rPr lang="en-US" altLang="en-US" sz="1700" dirty="0"/>
              <a:t>&lt;users&gt;</a:t>
            </a:r>
          </a:p>
          <a:p>
            <a:endParaRPr lang="en-US" altLang="en-US" sz="20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/>
              </a:rPr>
              <a:t>Roles Example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30364"/>
            <a:ext cx="7590445" cy="4903787"/>
          </a:xfrm>
        </p:spPr>
        <p:txBody>
          <a:bodyPr/>
          <a:lstStyle/>
          <a:p>
            <a:r>
              <a:rPr lang="en-US" altLang="en-US" sz="1700" b="1" dirty="0"/>
              <a:t>create role</a:t>
            </a:r>
            <a:r>
              <a:rPr lang="en-US" altLang="en-US" sz="1700" dirty="0"/>
              <a:t> instructor;</a:t>
            </a:r>
          </a:p>
          <a:p>
            <a:r>
              <a:rPr lang="en-US" altLang="en-US" sz="1700" b="1" dirty="0"/>
              <a:t>grant</a:t>
            </a:r>
            <a:r>
              <a:rPr lang="en-US" altLang="en-US" sz="1700" dirty="0"/>
              <a:t> </a:t>
            </a:r>
            <a:r>
              <a:rPr lang="en-US" altLang="en-US" sz="1700" i="1" dirty="0"/>
              <a:t>instructor</a:t>
            </a:r>
            <a:r>
              <a:rPr lang="en-US" altLang="en-US" sz="1700" b="1" dirty="0"/>
              <a:t> to </a:t>
            </a:r>
            <a:r>
              <a:rPr lang="en-US" altLang="en-US" sz="1700" dirty="0" err="1"/>
              <a:t>Amit</a:t>
            </a:r>
            <a:r>
              <a:rPr lang="en-US" altLang="en-US" sz="1700" b="1" dirty="0"/>
              <a:t>;</a:t>
            </a:r>
            <a:endParaRPr lang="en-US" altLang="en-US" sz="1700" dirty="0"/>
          </a:p>
          <a:p>
            <a:r>
              <a:rPr lang="en-US" altLang="en-US" sz="1700" dirty="0"/>
              <a:t>Privileges can be granted to roles:</a:t>
            </a:r>
          </a:p>
          <a:p>
            <a:pPr lvl="1"/>
            <a:r>
              <a:rPr lang="en-US" altLang="en-US" sz="1700" b="1" dirty="0"/>
              <a:t>grant</a:t>
            </a:r>
            <a:r>
              <a:rPr lang="en-US" altLang="en-US" sz="1700" dirty="0"/>
              <a:t> </a:t>
            </a:r>
            <a:r>
              <a:rPr lang="en-US" altLang="en-US" sz="1700" b="1" dirty="0"/>
              <a:t>select</a:t>
            </a:r>
            <a:r>
              <a:rPr lang="en-US" altLang="en-US" sz="1700" dirty="0"/>
              <a:t> </a:t>
            </a:r>
            <a:r>
              <a:rPr lang="en-US" altLang="en-US" sz="1700" b="1" dirty="0"/>
              <a:t>on</a:t>
            </a:r>
            <a:r>
              <a:rPr lang="en-US" altLang="en-US" sz="1700" dirty="0"/>
              <a:t> </a:t>
            </a:r>
            <a:r>
              <a:rPr lang="en-US" altLang="en-US" sz="1700" i="1" dirty="0"/>
              <a:t>takes</a:t>
            </a:r>
            <a:r>
              <a:rPr lang="en-US" altLang="en-US" sz="1700" dirty="0"/>
              <a:t> </a:t>
            </a:r>
            <a:r>
              <a:rPr lang="en-US" altLang="en-US" sz="1700" b="1" dirty="0"/>
              <a:t>to</a:t>
            </a:r>
            <a:r>
              <a:rPr lang="en-US" altLang="en-US" sz="1700" dirty="0"/>
              <a:t>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;</a:t>
            </a:r>
          </a:p>
          <a:p>
            <a:r>
              <a:rPr lang="en-US" altLang="en-US" sz="1700" dirty="0"/>
              <a:t>Roles can be granted to users, as well as to other roles</a:t>
            </a:r>
          </a:p>
          <a:p>
            <a:pPr lvl="1"/>
            <a:r>
              <a:rPr lang="en-US" altLang="en-US" sz="1700" b="1" dirty="0"/>
              <a:t>create</a:t>
            </a:r>
            <a:r>
              <a:rPr lang="en-US" altLang="en-US" sz="1700" dirty="0"/>
              <a:t> </a:t>
            </a:r>
            <a:r>
              <a:rPr lang="en-US" altLang="en-US" sz="1700" b="1" dirty="0"/>
              <a:t>role</a:t>
            </a:r>
            <a:r>
              <a:rPr lang="en-US" altLang="en-US" sz="1700" dirty="0"/>
              <a:t> </a:t>
            </a:r>
            <a:r>
              <a:rPr lang="en-US" altLang="en-US" sz="1700" i="1" dirty="0" err="1"/>
              <a:t>teaching_assistant</a:t>
            </a:r>
            <a:endParaRPr lang="en-US" altLang="en-US" sz="1700" i="1" dirty="0"/>
          </a:p>
          <a:p>
            <a:pPr lvl="1"/>
            <a:r>
              <a:rPr lang="en-US" altLang="en-US" sz="1700" b="1" dirty="0"/>
              <a:t>grant</a:t>
            </a:r>
            <a:r>
              <a:rPr lang="en-US" altLang="en-US" sz="1700" dirty="0"/>
              <a:t> </a:t>
            </a:r>
            <a:r>
              <a:rPr lang="en-US" altLang="en-US" sz="1700" i="1" dirty="0" err="1"/>
              <a:t>teaching_assistant</a:t>
            </a:r>
            <a:r>
              <a:rPr lang="en-US" altLang="en-US" sz="1700" dirty="0"/>
              <a:t> </a:t>
            </a:r>
            <a:r>
              <a:rPr lang="en-US" altLang="en-US" sz="1700" b="1" dirty="0"/>
              <a:t>to</a:t>
            </a:r>
            <a:r>
              <a:rPr lang="en-US" altLang="en-US" sz="1700" dirty="0"/>
              <a:t>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;</a:t>
            </a:r>
          </a:p>
          <a:p>
            <a:pPr lvl="2"/>
            <a:r>
              <a:rPr lang="en-US" altLang="en-US" sz="1700" i="1" dirty="0"/>
              <a:t>Instructor</a:t>
            </a:r>
            <a:r>
              <a:rPr lang="en-US" altLang="en-US" sz="1700" dirty="0"/>
              <a:t> inherits all privileges of </a:t>
            </a:r>
            <a:r>
              <a:rPr lang="en-US" altLang="en-US" sz="1700" i="1" dirty="0" err="1"/>
              <a:t>teaching_assistant</a:t>
            </a:r>
            <a:endParaRPr lang="en-US" altLang="en-US" sz="1700" i="1" dirty="0"/>
          </a:p>
          <a:p>
            <a:r>
              <a:rPr lang="en-US" altLang="en-US" sz="1700" dirty="0"/>
              <a:t>Chain of roles</a:t>
            </a:r>
          </a:p>
          <a:p>
            <a:pPr lvl="1"/>
            <a:r>
              <a:rPr lang="en-US" altLang="en-US" sz="1700" b="1" dirty="0"/>
              <a:t>create</a:t>
            </a:r>
            <a:r>
              <a:rPr lang="en-US" altLang="en-US" sz="1700" dirty="0"/>
              <a:t> </a:t>
            </a:r>
            <a:r>
              <a:rPr lang="en-US" altLang="en-US" sz="1700" b="1" dirty="0"/>
              <a:t>role</a:t>
            </a:r>
            <a:r>
              <a:rPr lang="en-US" altLang="en-US" sz="1700" dirty="0"/>
              <a:t> </a:t>
            </a:r>
            <a:r>
              <a:rPr lang="en-US" altLang="en-US" sz="1700" i="1" dirty="0"/>
              <a:t>dean</a:t>
            </a:r>
            <a:r>
              <a:rPr lang="en-US" altLang="en-US" sz="1700" dirty="0"/>
              <a:t>;</a:t>
            </a:r>
          </a:p>
          <a:p>
            <a:pPr lvl="1"/>
            <a:r>
              <a:rPr lang="en-US" altLang="en-US" sz="1700" b="1" dirty="0"/>
              <a:t>grant</a:t>
            </a:r>
            <a:r>
              <a:rPr lang="en-US" altLang="en-US" sz="1700" dirty="0"/>
              <a:t>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</a:t>
            </a:r>
            <a:r>
              <a:rPr lang="en-US" altLang="en-US" sz="1700" b="1" dirty="0"/>
              <a:t>to</a:t>
            </a:r>
            <a:r>
              <a:rPr lang="en-US" altLang="en-US" sz="1700" dirty="0"/>
              <a:t> </a:t>
            </a:r>
            <a:r>
              <a:rPr lang="en-US" altLang="en-US" sz="1700" i="1" dirty="0"/>
              <a:t>dean</a:t>
            </a:r>
            <a:r>
              <a:rPr lang="en-US" altLang="en-US" sz="1700" dirty="0"/>
              <a:t>;</a:t>
            </a:r>
          </a:p>
          <a:p>
            <a:pPr lvl="1"/>
            <a:r>
              <a:rPr lang="en-US" altLang="en-US" sz="1700" b="1" dirty="0"/>
              <a:t>grant</a:t>
            </a:r>
            <a:r>
              <a:rPr lang="en-US" altLang="en-US" sz="1700" dirty="0"/>
              <a:t> </a:t>
            </a:r>
            <a:r>
              <a:rPr lang="en-US" altLang="en-US" sz="1700" i="1" dirty="0"/>
              <a:t>dean</a:t>
            </a:r>
            <a:r>
              <a:rPr lang="en-US" altLang="en-US" sz="1700" dirty="0"/>
              <a:t> </a:t>
            </a:r>
            <a:r>
              <a:rPr lang="en-US" altLang="en-US" sz="1700" b="1" dirty="0"/>
              <a:t>to</a:t>
            </a:r>
            <a:r>
              <a:rPr lang="en-US" altLang="en-US" sz="1700" dirty="0"/>
              <a:t> Satoshi;</a:t>
            </a:r>
          </a:p>
          <a:p>
            <a:endParaRPr lang="en-US" altLang="en-US" sz="20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1186434"/>
            <a:ext cx="109728" cy="109728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3" name="Text 1"/>
          <p:cNvSpPr txBox="1"/>
          <p:nvPr/>
        </p:nvSpPr>
        <p:spPr>
          <a:xfrm>
            <a:off x="534924" y="110413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342900" y="1323594"/>
            <a:ext cx="845591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75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— Grouping Privileges</a:t>
            </a:r>
            <a:endParaRPr lang="en-US" sz="2175" dirty="0"/>
          </a:p>
        </p:txBody>
      </p:sp>
      <p:sp>
        <p:nvSpPr>
          <p:cNvPr id="5" name="Text 3"/>
          <p:cNvSpPr txBox="1"/>
          <p:nvPr/>
        </p:nvSpPr>
        <p:spPr>
          <a:xfrm>
            <a:off x="342900" y="1831086"/>
            <a:ext cx="8455914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7175" indent="-257175">
              <a:spcAft>
                <a:spcPts val="600"/>
              </a:spcAft>
              <a:buSzPct val="100000"/>
              <a:buChar char="▪"/>
            </a:pPr>
            <a:r>
              <a:rPr lang="en-US" sz="1088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role distinguishes among users by what they can access/update in the database</a:t>
            </a:r>
            <a:endParaRPr lang="en-US" sz="1088" dirty="0"/>
          </a:p>
          <a:p>
            <a:pPr marL="257175" indent="-257175">
              <a:spcAft>
                <a:spcPts val="600"/>
              </a:spcAft>
              <a:buSzPct val="100000"/>
              <a:buChar char="▪"/>
            </a:pPr>
            <a:r>
              <a:rPr lang="en-US" sz="1088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Privileges are granted to the role once; the role is then granted to any number of users</a:t>
            </a:r>
            <a:endParaRPr lang="en-US" sz="1088" dirty="0"/>
          </a:p>
          <a:p>
            <a:pPr marL="257175" indent="-257175">
              <a:spcAft>
                <a:spcPts val="600"/>
              </a:spcAft>
              <a:buSzPct val="100000"/>
              <a:buChar char="▪"/>
            </a:pPr>
            <a:r>
              <a:rPr lang="en-US" sz="1088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can be granted to users, as well as to other roles</a:t>
            </a:r>
            <a:endParaRPr lang="en-US" sz="1088" dirty="0"/>
          </a:p>
        </p:txBody>
      </p:sp>
      <p:sp>
        <p:nvSpPr>
          <p:cNvPr id="6" name="Shape 4"/>
          <p:cNvSpPr/>
          <p:nvPr/>
        </p:nvSpPr>
        <p:spPr>
          <a:xfrm>
            <a:off x="342900" y="2996946"/>
            <a:ext cx="8455914" cy="2695194"/>
          </a:xfrm>
          <a:prstGeom prst="roundRect">
            <a:avLst>
              <a:gd name="adj" fmla="val 2036"/>
            </a:avLst>
          </a:prstGeom>
          <a:solidFill>
            <a:srgbClr val="12193F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1200"/>
          </a:p>
        </p:txBody>
      </p:sp>
      <p:sp>
        <p:nvSpPr>
          <p:cNvPr id="7" name="Text 5"/>
          <p:cNvSpPr txBox="1"/>
          <p:nvPr/>
        </p:nvSpPr>
        <p:spPr>
          <a:xfrm>
            <a:off x="514350" y="3120390"/>
            <a:ext cx="8113014" cy="2448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50"/>
              </a:spcAft>
            </a:pPr>
            <a:r>
              <a:rPr lang="en-US" sz="1125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role instructor;</a:t>
            </a:r>
            <a:endParaRPr lang="en-US" sz="1125" dirty="0"/>
          </a:p>
          <a:p>
            <a:pPr>
              <a:spcAft>
                <a:spcPts val="150"/>
              </a:spcAft>
            </a:pPr>
            <a:r>
              <a:rPr lang="en-US" sz="1125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 select on takes to instructor;</a:t>
            </a:r>
            <a:endParaRPr lang="en-US" sz="1125" dirty="0"/>
          </a:p>
          <a:p>
            <a:pPr>
              <a:spcAft>
                <a:spcPts val="150"/>
              </a:spcAft>
            </a:pPr>
            <a:r>
              <a:rPr lang="en-US" sz="1125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25" dirty="0"/>
          </a:p>
          <a:p>
            <a:pPr>
              <a:spcAft>
                <a:spcPts val="150"/>
              </a:spcAft>
            </a:pPr>
            <a:r>
              <a:rPr lang="en-US" sz="1125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 instructor to Amit, Satoshi, Ali;</a:t>
            </a:r>
            <a:endParaRPr lang="en-US" sz="1125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1186434"/>
            <a:ext cx="109728" cy="109728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3" name="Text 1"/>
          <p:cNvSpPr txBox="1"/>
          <p:nvPr/>
        </p:nvSpPr>
        <p:spPr>
          <a:xfrm>
            <a:off x="534924" y="110413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342900" y="1323594"/>
            <a:ext cx="845591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75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Example — Chain of Roles</a:t>
            </a:r>
            <a:endParaRPr lang="en-US" sz="2175" dirty="0"/>
          </a:p>
        </p:txBody>
      </p:sp>
      <p:sp>
        <p:nvSpPr>
          <p:cNvPr id="5" name="Text 3"/>
          <p:cNvSpPr txBox="1"/>
          <p:nvPr/>
        </p:nvSpPr>
        <p:spPr>
          <a:xfrm>
            <a:off x="342900" y="1831086"/>
            <a:ext cx="84559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7175" indent="-257175">
              <a:spcAft>
                <a:spcPts val="600"/>
              </a:spcAft>
              <a:buSzPct val="100000"/>
              <a:buChar char="▪"/>
            </a:pPr>
            <a:r>
              <a:rPr lang="en-US" sz="1088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role granted to another role builds an inheritance chain</a:t>
            </a:r>
            <a:endParaRPr lang="en-US" sz="1088" dirty="0"/>
          </a:p>
          <a:p>
            <a:pPr marL="257175" indent="-257175">
              <a:spcAft>
                <a:spcPts val="600"/>
              </a:spcAft>
              <a:buSzPct val="100000"/>
              <a:buChar char="▪"/>
            </a:pPr>
            <a:r>
              <a:rPr lang="en-US" sz="1088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inherits every privilege of every role below it in the chain</a:t>
            </a:r>
            <a:endParaRPr lang="en-US" sz="1088" dirty="0"/>
          </a:p>
        </p:txBody>
      </p:sp>
      <p:sp>
        <p:nvSpPr>
          <p:cNvPr id="6" name="Shape 4"/>
          <p:cNvSpPr/>
          <p:nvPr/>
        </p:nvSpPr>
        <p:spPr>
          <a:xfrm>
            <a:off x="342900" y="2619756"/>
            <a:ext cx="8455914" cy="3072384"/>
          </a:xfrm>
          <a:prstGeom prst="roundRect">
            <a:avLst>
              <a:gd name="adj" fmla="val 1786"/>
            </a:avLst>
          </a:prstGeom>
          <a:solidFill>
            <a:srgbClr val="12193F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1200"/>
          </a:p>
        </p:txBody>
      </p:sp>
      <p:sp>
        <p:nvSpPr>
          <p:cNvPr id="7" name="Text 5"/>
          <p:cNvSpPr txBox="1"/>
          <p:nvPr/>
        </p:nvSpPr>
        <p:spPr>
          <a:xfrm>
            <a:off x="514350" y="2743200"/>
            <a:ext cx="8113014" cy="282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50"/>
              </a:spcAft>
            </a:pPr>
            <a:r>
              <a:rPr lang="en-US" sz="938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role instructor;             grant instructor to Amit;</a:t>
            </a:r>
            <a:endParaRPr lang="en-US" sz="938" dirty="0"/>
          </a:p>
          <a:p>
            <a:pPr>
              <a:spcAft>
                <a:spcPts val="150"/>
              </a:spcAft>
            </a:pPr>
            <a:r>
              <a:rPr lang="en-US" sz="938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 select on takes to instructor;</a:t>
            </a:r>
            <a:endParaRPr lang="en-US" sz="938" dirty="0"/>
          </a:p>
          <a:p>
            <a:pPr>
              <a:spcAft>
                <a:spcPts val="150"/>
              </a:spcAft>
            </a:pPr>
            <a:r>
              <a:rPr lang="en-US" sz="938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38" dirty="0"/>
          </a:p>
          <a:p>
            <a:pPr>
              <a:spcAft>
                <a:spcPts val="150"/>
              </a:spcAft>
            </a:pPr>
            <a:r>
              <a:rPr lang="en-US" sz="938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role teaching_assistant;</a:t>
            </a:r>
            <a:endParaRPr lang="en-US" sz="938" dirty="0"/>
          </a:p>
          <a:p>
            <a:pPr>
              <a:spcAft>
                <a:spcPts val="150"/>
              </a:spcAft>
            </a:pPr>
            <a:r>
              <a:rPr lang="en-US" sz="938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 teaching_assistant to instructor;</a:t>
            </a:r>
            <a:endParaRPr lang="en-US" sz="938" dirty="0"/>
          </a:p>
          <a:p>
            <a:pPr>
              <a:spcAft>
                <a:spcPts val="150"/>
              </a:spcAft>
            </a:pPr>
            <a:r>
              <a:rPr lang="en-US" sz="938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instructor now inherits all privileges of teaching_assistant</a:t>
            </a:r>
            <a:endParaRPr lang="en-US" sz="938" dirty="0"/>
          </a:p>
          <a:p>
            <a:pPr>
              <a:spcAft>
                <a:spcPts val="150"/>
              </a:spcAft>
            </a:pPr>
            <a:r>
              <a:rPr lang="en-US" sz="938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38" dirty="0"/>
          </a:p>
          <a:p>
            <a:pPr>
              <a:spcAft>
                <a:spcPts val="150"/>
              </a:spcAft>
            </a:pPr>
            <a:r>
              <a:rPr lang="en-US" sz="938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role dean;</a:t>
            </a:r>
            <a:endParaRPr lang="en-US" sz="938" dirty="0"/>
          </a:p>
          <a:p>
            <a:pPr>
              <a:spcAft>
                <a:spcPts val="150"/>
              </a:spcAft>
            </a:pPr>
            <a:r>
              <a:rPr lang="en-US" sz="938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 instructor to dean;           grant dean to Satoshi;</a:t>
            </a:r>
            <a:endParaRPr lang="en-US" sz="938" dirty="0"/>
          </a:p>
          <a:p>
            <a:pPr>
              <a:spcAft>
                <a:spcPts val="150"/>
              </a:spcAft>
            </a:pPr>
            <a:r>
              <a:rPr lang="en-US" sz="938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Satoshi inherits: dean -&gt; instructor -&gt; teaching_assistant</a:t>
            </a:r>
            <a:endParaRPr lang="en-US" sz="938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Authorization on Views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79132"/>
            <a:ext cx="7612170" cy="3730219"/>
          </a:xfrm>
        </p:spPr>
        <p:txBody>
          <a:bodyPr/>
          <a:lstStyle/>
          <a:p>
            <a:r>
              <a:rPr lang="en-US" altLang="en-US" sz="1700" b="1" dirty="0"/>
              <a:t>create view  </a:t>
            </a:r>
            <a:r>
              <a:rPr lang="en-US" altLang="en-US" sz="1700" i="1" dirty="0" err="1"/>
              <a:t>geo_instructor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as</a:t>
            </a:r>
            <a:br>
              <a:rPr lang="en-US" altLang="en-US" sz="1700" b="1" dirty="0"/>
            </a:br>
            <a:r>
              <a:rPr lang="en-US" altLang="en-US" sz="1700" dirty="0"/>
              <a:t>(</a:t>
            </a:r>
            <a:r>
              <a:rPr lang="en-US" altLang="en-US" sz="1700" b="1" dirty="0"/>
              <a:t>select </a:t>
            </a:r>
            <a:r>
              <a:rPr lang="en-US" altLang="en-US" sz="1700" dirty="0"/>
              <a:t>*</a:t>
            </a:r>
            <a:br>
              <a:rPr lang="en-US" altLang="en-US" sz="1700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b="1" dirty="0"/>
              <a:t>where </a:t>
            </a:r>
            <a:r>
              <a:rPr lang="en-US" altLang="en-US" sz="1700" i="1" dirty="0"/>
              <a:t>dept_name </a:t>
            </a:r>
            <a:r>
              <a:rPr lang="en-US" altLang="en-US" sz="1700" dirty="0"/>
              <a:t>= 'Geology');</a:t>
            </a:r>
          </a:p>
          <a:p>
            <a:r>
              <a:rPr lang="en-US" altLang="en-US" sz="1700" b="1" dirty="0"/>
              <a:t>grant select on </a:t>
            </a:r>
            <a:r>
              <a:rPr lang="en-US" altLang="en-US" sz="1700" i="1" dirty="0" err="1"/>
              <a:t>geo_instructor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to </a:t>
            </a:r>
            <a:r>
              <a:rPr lang="en-US" altLang="en-US" sz="1700" i="1" dirty="0"/>
              <a:t> </a:t>
            </a:r>
            <a:r>
              <a:rPr lang="en-US" altLang="en-US" sz="1700" i="1" dirty="0" err="1"/>
              <a:t>geo_staff</a:t>
            </a:r>
            <a:endParaRPr lang="en-US" altLang="en-US" sz="1700" i="1" dirty="0"/>
          </a:p>
          <a:p>
            <a:r>
              <a:rPr lang="en-US" altLang="en-US" sz="1700" dirty="0"/>
              <a:t>Suppose that a  </a:t>
            </a:r>
            <a:r>
              <a:rPr lang="en-US" altLang="en-US" sz="1700" i="1" dirty="0" err="1"/>
              <a:t>geo_staff</a:t>
            </a:r>
            <a:r>
              <a:rPr lang="en-US" altLang="en-US" sz="1700" dirty="0"/>
              <a:t> member issues</a:t>
            </a:r>
          </a:p>
          <a:p>
            <a:pPr lvl="1"/>
            <a:r>
              <a:rPr lang="en-US" altLang="en-US" sz="1700" b="1" dirty="0"/>
              <a:t>select </a:t>
            </a:r>
            <a:r>
              <a:rPr lang="en-US" altLang="en-US" sz="1700" dirty="0"/>
              <a:t>*</a:t>
            </a:r>
            <a:br>
              <a:rPr lang="en-US" altLang="en-US" sz="1700" dirty="0"/>
            </a:br>
            <a:r>
              <a:rPr lang="en-US" altLang="en-US" sz="1700" b="1" dirty="0"/>
              <a:t>from </a:t>
            </a:r>
            <a:r>
              <a:rPr lang="en-US" altLang="en-US" sz="1700" i="1" dirty="0" err="1"/>
              <a:t>geo_instructor</a:t>
            </a:r>
            <a:r>
              <a:rPr lang="en-US" altLang="en-US" sz="1700" dirty="0"/>
              <a:t>;</a:t>
            </a:r>
          </a:p>
          <a:p>
            <a:r>
              <a:rPr lang="en-US" altLang="en-US" sz="1700" dirty="0"/>
              <a:t>What if </a:t>
            </a:r>
          </a:p>
          <a:p>
            <a:pPr lvl="1"/>
            <a:r>
              <a:rPr lang="en-US" altLang="en-US" sz="1700" i="1" dirty="0" err="1"/>
              <a:t>geo_staff</a:t>
            </a:r>
            <a:r>
              <a:rPr lang="en-US" altLang="en-US" sz="1700" dirty="0"/>
              <a:t> does not have permissions on </a:t>
            </a:r>
            <a:r>
              <a:rPr lang="en-US" altLang="en-US" sz="1700" i="1" dirty="0"/>
              <a:t>instructor?</a:t>
            </a:r>
          </a:p>
          <a:p>
            <a:pPr lvl="1"/>
            <a:r>
              <a:rPr lang="en-US" altLang="en-US" sz="1700" dirty="0"/>
              <a:t>Creator of view did not have some permissions on </a:t>
            </a:r>
            <a:r>
              <a:rPr lang="en-US" altLang="en-US" sz="1700" i="1" dirty="0"/>
              <a:t>instructor?</a:t>
            </a:r>
            <a:endParaRPr lang="en-US" altLang="en-US" sz="1700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1186434"/>
            <a:ext cx="109728" cy="109728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3" name="Text 1"/>
          <p:cNvSpPr txBox="1"/>
          <p:nvPr/>
        </p:nvSpPr>
        <p:spPr>
          <a:xfrm>
            <a:off x="534924" y="110413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342900" y="1323594"/>
            <a:ext cx="845591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75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Authorization on Views</a:t>
            </a:r>
            <a:endParaRPr lang="en-US" sz="2175" dirty="0"/>
          </a:p>
        </p:txBody>
      </p:sp>
      <p:sp>
        <p:nvSpPr>
          <p:cNvPr id="5" name="Text 3"/>
          <p:cNvSpPr txBox="1"/>
          <p:nvPr/>
        </p:nvSpPr>
        <p:spPr>
          <a:xfrm>
            <a:off x="342900" y="1831086"/>
            <a:ext cx="8455914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7175" indent="-257175">
              <a:spcAft>
                <a:spcPts val="600"/>
              </a:spcAft>
              <a:buSzPct val="100000"/>
              <a:buChar char="▪"/>
            </a:pPr>
            <a:r>
              <a:rPr lang="en-US" sz="1088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can query a view without holding a direct privilege on the underlying table</a:t>
            </a:r>
            <a:endParaRPr lang="en-US" sz="1088" dirty="0"/>
          </a:p>
          <a:p>
            <a:pPr marL="257175" indent="-257175">
              <a:spcAft>
                <a:spcPts val="600"/>
              </a:spcAft>
              <a:buSzPct val="100000"/>
              <a:buChar char="▪"/>
            </a:pPr>
            <a:r>
              <a:rPr lang="en-US" sz="1088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is granted “on behalf of” the view's creator and their own permissions</a:t>
            </a:r>
            <a:endParaRPr lang="en-US" sz="1088" dirty="0"/>
          </a:p>
          <a:p>
            <a:pPr marL="257175" indent="-257175">
              <a:spcAft>
                <a:spcPts val="600"/>
              </a:spcAft>
              <a:buSzPct val="100000"/>
              <a:buChar char="▪"/>
            </a:pPr>
            <a:r>
              <a:rPr lang="en-US" sz="1088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creator's access to the underlying relation is later reduced, the view can break</a:t>
            </a:r>
            <a:endParaRPr lang="en-US" sz="1088" dirty="0"/>
          </a:p>
        </p:txBody>
      </p:sp>
      <p:sp>
        <p:nvSpPr>
          <p:cNvPr id="6" name="Shape 4"/>
          <p:cNvSpPr/>
          <p:nvPr/>
        </p:nvSpPr>
        <p:spPr>
          <a:xfrm>
            <a:off x="342900" y="2996946"/>
            <a:ext cx="8455914" cy="2695194"/>
          </a:xfrm>
          <a:prstGeom prst="roundRect">
            <a:avLst>
              <a:gd name="adj" fmla="val 2036"/>
            </a:avLst>
          </a:prstGeom>
          <a:solidFill>
            <a:srgbClr val="12193F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1200"/>
          </a:p>
        </p:txBody>
      </p:sp>
      <p:sp>
        <p:nvSpPr>
          <p:cNvPr id="7" name="Text 5"/>
          <p:cNvSpPr txBox="1"/>
          <p:nvPr/>
        </p:nvSpPr>
        <p:spPr>
          <a:xfrm>
            <a:off x="514350" y="3120390"/>
            <a:ext cx="8113014" cy="2448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50"/>
              </a:spcAft>
            </a:pPr>
            <a:r>
              <a:rPr lang="en-US" sz="1013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view geo_instructor as</a:t>
            </a:r>
            <a:endParaRPr lang="en-US" sz="1013" dirty="0"/>
          </a:p>
          <a:p>
            <a:pPr>
              <a:spcAft>
                <a:spcPts val="150"/>
              </a:spcAft>
            </a:pPr>
            <a:r>
              <a:rPr lang="en-US" sz="1013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(select * from instructor where dept_name = 'Geology');</a:t>
            </a:r>
            <a:endParaRPr lang="en-US" sz="1013" dirty="0"/>
          </a:p>
          <a:p>
            <a:pPr>
              <a:spcAft>
                <a:spcPts val="150"/>
              </a:spcAft>
            </a:pPr>
            <a:r>
              <a:rPr lang="en-US" sz="1013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13" dirty="0"/>
          </a:p>
          <a:p>
            <a:pPr>
              <a:spcAft>
                <a:spcPts val="150"/>
              </a:spcAft>
            </a:pPr>
            <a:r>
              <a:rPr lang="en-US" sz="1013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 select on geo_instructor to geo_staff;</a:t>
            </a:r>
            <a:endParaRPr lang="en-US" sz="1013" dirty="0"/>
          </a:p>
          <a:p>
            <a:pPr>
              <a:spcAft>
                <a:spcPts val="150"/>
              </a:spcAft>
            </a:pPr>
            <a:r>
              <a:rPr lang="en-US" sz="1013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13" dirty="0"/>
          </a:p>
          <a:p>
            <a:pPr>
              <a:spcAft>
                <a:spcPts val="150"/>
              </a:spcAft>
            </a:pPr>
            <a:r>
              <a:rPr lang="en-US" sz="1013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geo_staff can run this, with no direct privilege on instructor:</a:t>
            </a:r>
            <a:endParaRPr lang="en-US" sz="1013" dirty="0"/>
          </a:p>
          <a:p>
            <a:pPr>
              <a:spcAft>
                <a:spcPts val="150"/>
              </a:spcAft>
            </a:pPr>
            <a:r>
              <a:rPr lang="en-US" sz="1013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geo_instructor;</a:t>
            </a:r>
            <a:endParaRPr lang="en-US" sz="1013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Other Authorization Features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9"/>
            <a:ext cx="7709825" cy="3685476"/>
          </a:xfrm>
        </p:spPr>
        <p:txBody>
          <a:bodyPr/>
          <a:lstStyle/>
          <a:p>
            <a:r>
              <a:rPr lang="en-US" altLang="en-US" sz="1700" b="1" dirty="0"/>
              <a:t>references</a:t>
            </a:r>
            <a:r>
              <a:rPr lang="en-US" altLang="en-US" sz="1700" dirty="0"/>
              <a:t> privilege to create foreign key</a:t>
            </a:r>
          </a:p>
          <a:p>
            <a:pPr lvl="1"/>
            <a:r>
              <a:rPr lang="en-US" altLang="en-US" sz="1700" b="1" dirty="0"/>
              <a:t>grant reference </a:t>
            </a:r>
            <a:r>
              <a:rPr lang="en-US" altLang="en-US" sz="1700" dirty="0"/>
              <a:t>(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) </a:t>
            </a:r>
            <a:r>
              <a:rPr lang="en-US" altLang="en-US" sz="1700" b="1" dirty="0"/>
              <a:t>on </a:t>
            </a:r>
            <a:r>
              <a:rPr lang="en-US" altLang="en-US" sz="1700" i="1" dirty="0"/>
              <a:t>department </a:t>
            </a:r>
            <a:r>
              <a:rPr lang="en-US" altLang="en-US" sz="1700" b="1" dirty="0"/>
              <a:t>to </a:t>
            </a:r>
            <a:r>
              <a:rPr lang="en-US" altLang="en-US" sz="1700" dirty="0"/>
              <a:t>Mariano;</a:t>
            </a:r>
          </a:p>
          <a:p>
            <a:pPr lvl="1"/>
            <a:r>
              <a:rPr lang="en-US" altLang="en-US" sz="1700" dirty="0"/>
              <a:t>Why is this required?</a:t>
            </a:r>
          </a:p>
          <a:p>
            <a:r>
              <a:rPr lang="en-US" altLang="en-US" sz="1700" dirty="0"/>
              <a:t>transfer of privileges</a:t>
            </a:r>
          </a:p>
          <a:p>
            <a:pPr lvl="1"/>
            <a:r>
              <a:rPr lang="en-US" altLang="en-US" sz="1700" b="1" dirty="0"/>
              <a:t>grant select on </a:t>
            </a:r>
            <a:r>
              <a:rPr lang="en-US" altLang="en-US" sz="1700" i="1" dirty="0"/>
              <a:t>department </a:t>
            </a:r>
            <a:r>
              <a:rPr lang="en-US" altLang="en-US" sz="1700" b="1" dirty="0"/>
              <a:t>to </a:t>
            </a:r>
            <a:r>
              <a:rPr lang="en-US" altLang="en-US" sz="1700" dirty="0" err="1"/>
              <a:t>Amit</a:t>
            </a:r>
            <a:r>
              <a:rPr lang="en-US" altLang="en-US" sz="1700" dirty="0"/>
              <a:t> </a:t>
            </a:r>
            <a:r>
              <a:rPr lang="en-US" altLang="en-US" sz="1700" b="1" dirty="0"/>
              <a:t>with grant option</a:t>
            </a:r>
            <a:r>
              <a:rPr lang="en-US" altLang="en-US" sz="1700" dirty="0"/>
              <a:t>;</a:t>
            </a:r>
          </a:p>
          <a:p>
            <a:pPr lvl="1"/>
            <a:r>
              <a:rPr lang="en-US" altLang="en-US" sz="1700" b="1" dirty="0"/>
              <a:t>revoke select on </a:t>
            </a:r>
            <a:r>
              <a:rPr lang="en-US" altLang="en-US" sz="1700" i="1" dirty="0"/>
              <a:t>department </a:t>
            </a:r>
            <a:r>
              <a:rPr lang="en-US" altLang="en-US" sz="1700" b="1" dirty="0"/>
              <a:t>from </a:t>
            </a:r>
            <a:r>
              <a:rPr lang="en-US" altLang="en-US" sz="1700" dirty="0" err="1"/>
              <a:t>Amit</a:t>
            </a:r>
            <a:r>
              <a:rPr lang="en-US" altLang="en-US" sz="1700" dirty="0"/>
              <a:t>, Satoshi </a:t>
            </a:r>
            <a:r>
              <a:rPr lang="en-US" altLang="en-US" sz="1700" b="1" dirty="0"/>
              <a:t>cascade</a:t>
            </a:r>
            <a:r>
              <a:rPr lang="en-US" altLang="en-US" sz="1700" dirty="0"/>
              <a:t>;</a:t>
            </a:r>
          </a:p>
          <a:p>
            <a:pPr lvl="1"/>
            <a:r>
              <a:rPr lang="en-US" altLang="en-US" sz="1700" b="1" dirty="0"/>
              <a:t>revoke select on </a:t>
            </a:r>
            <a:r>
              <a:rPr lang="en-US" altLang="en-US" sz="1700" i="1" dirty="0"/>
              <a:t>department </a:t>
            </a:r>
            <a:r>
              <a:rPr lang="en-US" altLang="en-US" sz="1700" b="1" dirty="0"/>
              <a:t>from </a:t>
            </a:r>
            <a:r>
              <a:rPr lang="en-US" altLang="en-US" sz="1700" dirty="0" err="1"/>
              <a:t>Amit</a:t>
            </a:r>
            <a:r>
              <a:rPr lang="en-US" altLang="en-US" sz="1700" dirty="0"/>
              <a:t>, Satoshi </a:t>
            </a:r>
            <a:r>
              <a:rPr lang="en-US" altLang="en-US" sz="1700" b="1" dirty="0"/>
              <a:t>restrict</a:t>
            </a:r>
            <a:r>
              <a:rPr lang="en-US" altLang="en-US" sz="1700" dirty="0"/>
              <a:t>;</a:t>
            </a:r>
          </a:p>
          <a:p>
            <a:pPr lvl="1"/>
            <a:r>
              <a:rPr lang="en-US" altLang="en-US" sz="1700" dirty="0"/>
              <a:t>And more!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1186434"/>
            <a:ext cx="109728" cy="109728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3" name="Text 1"/>
          <p:cNvSpPr txBox="1"/>
          <p:nvPr/>
        </p:nvSpPr>
        <p:spPr>
          <a:xfrm>
            <a:off x="534924" y="110413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342900" y="1323594"/>
            <a:ext cx="845591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75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References, Grant Option &amp; Revoke Modes</a:t>
            </a:r>
            <a:endParaRPr lang="en-US" sz="2175" dirty="0"/>
          </a:p>
        </p:txBody>
      </p:sp>
      <p:sp>
        <p:nvSpPr>
          <p:cNvPr id="5" name="Text 3"/>
          <p:cNvSpPr txBox="1"/>
          <p:nvPr/>
        </p:nvSpPr>
        <p:spPr>
          <a:xfrm>
            <a:off x="342900" y="1831086"/>
            <a:ext cx="8455914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7175" indent="-257175">
              <a:spcAft>
                <a:spcPts val="600"/>
              </a:spcAft>
              <a:buSzPct val="100000"/>
              <a:buChar char="▪"/>
            </a:pPr>
            <a:r>
              <a:rPr lang="en-US" sz="1088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— required to create a foreign key referencing another user's table</a:t>
            </a:r>
            <a:endParaRPr lang="en-US" sz="1088" dirty="0"/>
          </a:p>
          <a:p>
            <a:pPr marL="257175" indent="-257175">
              <a:spcAft>
                <a:spcPts val="600"/>
              </a:spcAft>
              <a:buSzPct val="100000"/>
              <a:buChar char="▪"/>
            </a:pPr>
            <a:r>
              <a:rPr lang="en-US" sz="1088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grant option — lets the grantee re-grant the privilege to others</a:t>
            </a:r>
            <a:endParaRPr lang="en-US" sz="1088" dirty="0"/>
          </a:p>
          <a:p>
            <a:pPr marL="257175" indent="-257175">
              <a:spcAft>
                <a:spcPts val="600"/>
              </a:spcAft>
              <a:buSzPct val="100000"/>
              <a:buChar char="▪"/>
            </a:pPr>
            <a:r>
              <a:rPr lang="en-US" sz="1088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— revoking also revokes everything granted downstream from it</a:t>
            </a:r>
            <a:endParaRPr lang="en-US" sz="1088" dirty="0"/>
          </a:p>
          <a:p>
            <a:pPr marL="257175" indent="-257175">
              <a:spcAft>
                <a:spcPts val="600"/>
              </a:spcAft>
              <a:buSzPct val="100000"/>
              <a:buChar char="▪"/>
            </a:pPr>
            <a:r>
              <a:rPr lang="en-US" sz="1088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— blocks the revoke instead of letting it cascade</a:t>
            </a:r>
            <a:endParaRPr lang="en-US" sz="1088" dirty="0"/>
          </a:p>
        </p:txBody>
      </p:sp>
      <p:sp>
        <p:nvSpPr>
          <p:cNvPr id="6" name="Shape 4"/>
          <p:cNvSpPr/>
          <p:nvPr/>
        </p:nvSpPr>
        <p:spPr>
          <a:xfrm>
            <a:off x="342900" y="3374136"/>
            <a:ext cx="8455914" cy="2318004"/>
          </a:xfrm>
          <a:prstGeom prst="roundRect">
            <a:avLst>
              <a:gd name="adj" fmla="val 2367"/>
            </a:avLst>
          </a:prstGeom>
          <a:solidFill>
            <a:srgbClr val="12193F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1200"/>
          </a:p>
        </p:txBody>
      </p:sp>
      <p:sp>
        <p:nvSpPr>
          <p:cNvPr id="7" name="Text 5"/>
          <p:cNvSpPr txBox="1"/>
          <p:nvPr/>
        </p:nvSpPr>
        <p:spPr>
          <a:xfrm>
            <a:off x="514350" y="3497580"/>
            <a:ext cx="8113014" cy="2071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50"/>
              </a:spcAft>
            </a:pPr>
            <a:r>
              <a:rPr lang="en-US" sz="975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 reference (dept_name) on department to Mariano;</a:t>
            </a:r>
            <a:endParaRPr lang="en-US" sz="975" dirty="0"/>
          </a:p>
          <a:p>
            <a:pPr>
              <a:spcAft>
                <a:spcPts val="150"/>
              </a:spcAft>
            </a:pPr>
            <a:r>
              <a:rPr lang="en-US" sz="975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75" dirty="0"/>
          </a:p>
          <a:p>
            <a:pPr>
              <a:spcAft>
                <a:spcPts val="150"/>
              </a:spcAft>
            </a:pPr>
            <a:r>
              <a:rPr lang="en-US" sz="975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 select on department to Amit with grant option;</a:t>
            </a:r>
            <a:endParaRPr lang="en-US" sz="975" dirty="0"/>
          </a:p>
          <a:p>
            <a:pPr>
              <a:spcAft>
                <a:spcPts val="150"/>
              </a:spcAft>
            </a:pPr>
            <a:r>
              <a:rPr lang="en-US" sz="975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75" dirty="0"/>
          </a:p>
          <a:p>
            <a:pPr>
              <a:spcAft>
                <a:spcPts val="150"/>
              </a:spcAft>
            </a:pPr>
            <a:r>
              <a:rPr lang="en-US" sz="975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revoke select on department from Amit, Satoshi cascade;</a:t>
            </a:r>
            <a:endParaRPr lang="en-US" sz="975" dirty="0"/>
          </a:p>
          <a:p>
            <a:pPr>
              <a:spcAft>
                <a:spcPts val="150"/>
              </a:spcAft>
            </a:pPr>
            <a:r>
              <a:rPr lang="en-US" sz="975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revoke select on department from Amit, Satoshi restrict;</a:t>
            </a:r>
            <a:endParaRPr lang="en-US" sz="975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</a:rPr>
              <a:t>End of Chapter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92975</TotalTime>
  <Words>5390</Words>
  <Application>Microsoft Office PowerPoint</Application>
  <PresentationFormat>On-screen Show (4:3)</PresentationFormat>
  <Paragraphs>633</Paragraphs>
  <Slides>75</Slides>
  <Notes>53</Notes>
  <HiddenSlides>3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  <vt:variant>
        <vt:lpstr>Custom Shows</vt:lpstr>
      </vt:variant>
      <vt:variant>
        <vt:i4>1</vt:i4>
      </vt:variant>
    </vt:vector>
  </HeadingPairs>
  <TitlesOfParts>
    <vt:vector size="88" baseType="lpstr">
      <vt:lpstr>ＭＳ Ｐゴシック</vt:lpstr>
      <vt:lpstr>Arial</vt:lpstr>
      <vt:lpstr>Calibri</vt:lpstr>
      <vt:lpstr>Cambria</vt:lpstr>
      <vt:lpstr>Courier New</vt:lpstr>
      <vt:lpstr>Helvetica</vt:lpstr>
      <vt:lpstr>Monotype Sorts</vt:lpstr>
      <vt:lpstr>Symbol</vt:lpstr>
      <vt:lpstr>Times New Roman</vt:lpstr>
      <vt:lpstr>Webdings</vt:lpstr>
      <vt:lpstr>Wingdings</vt:lpstr>
      <vt:lpstr>2_db-5-grey</vt:lpstr>
      <vt:lpstr>Chapter 4 : Intermediate SQL</vt:lpstr>
      <vt:lpstr>Outline</vt:lpstr>
      <vt:lpstr>Joined Relations</vt:lpstr>
      <vt:lpstr>Natural Join in SQL</vt:lpstr>
      <vt:lpstr>Natural Join in SQL (Cont.)</vt:lpstr>
      <vt:lpstr>Student Relation</vt:lpstr>
      <vt:lpstr>Takes Relation</vt:lpstr>
      <vt:lpstr>student natural join takes</vt:lpstr>
      <vt:lpstr>Dangerous in Natural Join</vt:lpstr>
      <vt:lpstr>Natural Join with Using Clause</vt:lpstr>
      <vt:lpstr>Join Condition</vt:lpstr>
      <vt:lpstr>Join Condition (Cont.)</vt:lpstr>
      <vt:lpstr>Outer Join</vt:lpstr>
      <vt:lpstr>Outer Join Examples</vt:lpstr>
      <vt:lpstr>Left Outer Join</vt:lpstr>
      <vt:lpstr>Right Outer Join</vt:lpstr>
      <vt:lpstr>Full Outer Join</vt:lpstr>
      <vt:lpstr>Joined Types and Conditions</vt:lpstr>
      <vt:lpstr>Joined Relations – Examples</vt:lpstr>
      <vt:lpstr>Joined Relations – Examples </vt:lpstr>
      <vt:lpstr>Joined Relations – Examples</vt:lpstr>
      <vt:lpstr>Views</vt:lpstr>
      <vt:lpstr>View Definition</vt:lpstr>
      <vt:lpstr>PowerPoint Presentation</vt:lpstr>
      <vt:lpstr>View Definition and Use</vt:lpstr>
      <vt:lpstr>Views Defined Using Other Views</vt:lpstr>
      <vt:lpstr>Views Defined Using Other Views</vt:lpstr>
      <vt:lpstr>View Expansion</vt:lpstr>
      <vt:lpstr>View Expansion (Cont.)</vt:lpstr>
      <vt:lpstr>Materialized Views</vt:lpstr>
      <vt:lpstr>Update of a View</vt:lpstr>
      <vt:lpstr>Some Updates Cannot be Translated Uniquely</vt:lpstr>
      <vt:lpstr>And Some Not at All</vt:lpstr>
      <vt:lpstr>View Updates in SQL </vt:lpstr>
      <vt:lpstr>Transactions</vt:lpstr>
      <vt:lpstr>Integrity Constraints</vt:lpstr>
      <vt:lpstr> Constraints on a Single Relation </vt:lpstr>
      <vt:lpstr>Not Null Constraints </vt:lpstr>
      <vt:lpstr>Unique Constraints </vt:lpstr>
      <vt:lpstr>The check clause</vt:lpstr>
      <vt:lpstr>Referential Integrity</vt:lpstr>
      <vt:lpstr>Referential Integrity (Cont.)</vt:lpstr>
      <vt:lpstr>Cascading Actions in Referential Integrity</vt:lpstr>
      <vt:lpstr>Integrity Constraint Violation During Transactions</vt:lpstr>
      <vt:lpstr>Complex Check Conditions</vt:lpstr>
      <vt:lpstr>Assertions</vt:lpstr>
      <vt:lpstr>What Is an Assertion?</vt:lpstr>
      <vt:lpstr>Example — Enforcing tot_cred Correctness</vt:lpstr>
      <vt:lpstr>Built-in Data Types in SQL </vt:lpstr>
      <vt:lpstr>Large-Object Types</vt:lpstr>
      <vt:lpstr>PowerPoint Presentation</vt:lpstr>
      <vt:lpstr>User-Defined Types</vt:lpstr>
      <vt:lpstr>PowerPoint Presentation</vt:lpstr>
      <vt:lpstr>Domains</vt:lpstr>
      <vt:lpstr>Index Creation</vt:lpstr>
      <vt:lpstr>PowerPoint Presentation</vt:lpstr>
      <vt:lpstr>Index Creation Example</vt:lpstr>
      <vt:lpstr>Authorization</vt:lpstr>
      <vt:lpstr>Authorization (Cont.)</vt:lpstr>
      <vt:lpstr>PowerPoint Presentation</vt:lpstr>
      <vt:lpstr>Authorization Specification in SQL</vt:lpstr>
      <vt:lpstr>Privileges in SQL</vt:lpstr>
      <vt:lpstr>PowerPoint Presentation</vt:lpstr>
      <vt:lpstr>PowerPoint Presentation</vt:lpstr>
      <vt:lpstr>Revoking Authorization in SQL</vt:lpstr>
      <vt:lpstr>PowerPoint Presentation</vt:lpstr>
      <vt:lpstr>Roles</vt:lpstr>
      <vt:lpstr>Roles Example</vt:lpstr>
      <vt:lpstr>PowerPoint Presentation</vt:lpstr>
      <vt:lpstr>PowerPoint Presentation</vt:lpstr>
      <vt:lpstr>Authorization on Views</vt:lpstr>
      <vt:lpstr>PowerPoint Presentation</vt:lpstr>
      <vt:lpstr>Other Authorization Features</vt:lpstr>
      <vt:lpstr>PowerPoint Presentation</vt:lpstr>
      <vt:lpstr>End of Chapter 4</vt:lpstr>
      <vt:lpstr>Custom Show 1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Ahsan Shah</cp:lastModifiedBy>
  <cp:revision>500</cp:revision>
  <cp:lastPrinted>1999-06-28T19:27:31Z</cp:lastPrinted>
  <dcterms:created xsi:type="dcterms:W3CDTF">2009-12-21T15:40:22Z</dcterms:created>
  <dcterms:modified xsi:type="dcterms:W3CDTF">2026-09-17T05:27:25Z</dcterms:modified>
</cp:coreProperties>
</file>