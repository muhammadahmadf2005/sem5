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1"/>
  </p:notesMasterIdLst>
  <p:handoutMasterIdLst>
    <p:handoutMasterId r:id="rId42"/>
  </p:handoutMasterIdLst>
  <p:sldIdLst>
    <p:sldId id="336" r:id="rId2"/>
    <p:sldId id="337" r:id="rId3"/>
    <p:sldId id="405" r:id="rId4"/>
    <p:sldId id="366" r:id="rId5"/>
    <p:sldId id="367" r:id="rId6"/>
    <p:sldId id="368" r:id="rId7"/>
    <p:sldId id="395" r:id="rId8"/>
    <p:sldId id="397" r:id="rId9"/>
    <p:sldId id="470" r:id="rId10"/>
    <p:sldId id="477" r:id="rId11"/>
    <p:sldId id="471" r:id="rId12"/>
    <p:sldId id="372" r:id="rId13"/>
    <p:sldId id="473" r:id="rId14"/>
    <p:sldId id="472" r:id="rId15"/>
    <p:sldId id="476" r:id="rId16"/>
    <p:sldId id="399" r:id="rId17"/>
    <p:sldId id="474" r:id="rId18"/>
    <p:sldId id="378" r:id="rId19"/>
    <p:sldId id="379" r:id="rId20"/>
    <p:sldId id="475" r:id="rId21"/>
    <p:sldId id="402" r:id="rId22"/>
    <p:sldId id="381" r:id="rId23"/>
    <p:sldId id="382" r:id="rId24"/>
    <p:sldId id="478" r:id="rId25"/>
    <p:sldId id="479" r:id="rId26"/>
    <p:sldId id="480" r:id="rId27"/>
    <p:sldId id="481" r:id="rId28"/>
    <p:sldId id="444" r:id="rId29"/>
    <p:sldId id="445" r:id="rId30"/>
    <p:sldId id="482" r:id="rId31"/>
    <p:sldId id="446" r:id="rId32"/>
    <p:sldId id="447" r:id="rId33"/>
    <p:sldId id="483" r:id="rId34"/>
    <p:sldId id="453" r:id="rId35"/>
    <p:sldId id="454" r:id="rId36"/>
    <p:sldId id="455" r:id="rId37"/>
    <p:sldId id="456" r:id="rId38"/>
    <p:sldId id="457" r:id="rId39"/>
    <p:sldId id="469" r:id="rId40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4" autoAdjust="0"/>
    <p:restoredTop sz="94737" autoAdjust="0"/>
  </p:normalViewPr>
  <p:slideViewPr>
    <p:cSldViewPr snapToGrid="0">
      <p:cViewPr varScale="1">
        <p:scale>
          <a:sx n="59" d="100"/>
          <a:sy n="59" d="100"/>
        </p:scale>
        <p:origin x="1188" y="5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84C445-B1F5-490F-A9C4-D80A2FD64200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350AA7-056F-4860-8F4F-423CF851BA6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6F0339C-7A5B-4860-8D42-52F584D09780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EA8CD4-BE8A-459D-9D31-26FCFAB06D2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040340-971D-4A83-83E8-822FA67F93DB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D3EC4A-6F15-43AE-AA3C-5A809172836D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0A2931-304C-4865-B2DC-2F6371DEAF73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AC97B1-25CD-474B-98A6-5180BA18AE28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FD31E9-BE10-4267-BC2D-73ADA680375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04CF4B-324E-46D0-BA47-9EB6AD9CA672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C5C2D2E6-F3AE-4706-AA7C-A27CB5881B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63E3BA3E-1163-4871-A1C5-DDC284DA4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11377A80-0AAD-447B-BE0B-51EE48D2E4B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88492A6-4F00-4007-87E0-225E8D3BDEF7}" type="slidenum">
              <a:rPr lang="en-US" altLang="en-US" sz="1200"/>
              <a:pPr algn="r"/>
              <a:t>29</a:t>
            </a:fld>
            <a:endParaRPr lang="en-US" altLang="en-US" sz="12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8A5EF8-1EA2-40F7-ACE3-511711E5D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52C85F7F-263F-4BCA-A748-E7BF53C31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63C515C3-4144-46F2-9488-0C2F9C995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DE7844-086F-44A6-BD23-B7F220B0A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1B3BA81C-442A-4230-A20A-E595EBE42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648B2855-8CA5-440D-9408-4CE865C84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7A787AF7-66B7-4972-B7D6-364DAE18B2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20F94DD8-2809-4B5A-B4AF-08400FB9E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5AB8FDEF-5BD6-4003-AB54-905620D33D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C5CFC35-B157-4AC7-8AB7-E1A48B0EE199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54499535-6F71-45E0-8F21-448C498DF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B18A5756-94E4-49C3-ABAF-2FB7113AD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375DABD8-6F94-4383-A073-09A69F57DC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6D0486-2383-464C-8F37-EE396CDFE6B7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C61A5E75-BCB2-4DC1-A7EA-5EA6F3ECE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A51625C8-428E-42A3-A2E9-C899D2160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48FBFC0-4311-421C-BC03-F76D62307A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F7C2E8-7F0D-4256-96FD-C289296D7A78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A3C93AC7-CA99-43E4-AE8F-91CDBA14C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4F316149-E36D-4BAF-878D-B38887B1C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23DF8502-8D0D-46C4-9475-8D9E378F01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34B156-CC36-4057-9BA9-DAFF2ADAEBE0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E2B9470B-BE2B-461E-A82C-20E238B200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559F1B65-B0E5-4571-87D7-11F1FDB4B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1D77FF02-3555-47C0-A739-7773DB249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950C1B-400B-4121-9FED-A7A42814D2A9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DF4FB788-3F7E-4D41-B04A-400256640C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AA17D98E-B593-469A-9179-1066E959B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5.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Chapter 5: Advanced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9351"/>
            <a:ext cx="7205218" cy="3995674"/>
          </a:xfrm>
        </p:spPr>
        <p:txBody>
          <a:bodyPr/>
          <a:lstStyle/>
          <a:p>
            <a:r>
              <a:rPr lang="en-US" altLang="en-US" sz="1700" dirty="0"/>
              <a:t>Functions and Procedures</a:t>
            </a:r>
          </a:p>
          <a:p>
            <a:r>
              <a:rPr lang="en-US" altLang="en-US" sz="1700" dirty="0"/>
              <a:t>Triggers</a:t>
            </a:r>
          </a:p>
          <a:p>
            <a:r>
              <a:rPr lang="en-US" altLang="en-US" sz="1700" dirty="0"/>
              <a:t>Advanced Aggregation Features</a:t>
            </a:r>
          </a:p>
          <a:p>
            <a:endParaRPr lang="en-US" altLang="en-US" dirty="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5879" y="2664651"/>
            <a:ext cx="5671930" cy="1430271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latin typeface="+mj-lt"/>
              </a:rPr>
              <a:t>Functions and Procedures</a:t>
            </a: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Functions and Procedures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692069" cy="4876800"/>
          </a:xfrm>
        </p:spPr>
        <p:txBody>
          <a:bodyPr/>
          <a:lstStyle/>
          <a:p>
            <a:r>
              <a:rPr lang="en-US" altLang="en-US" dirty="0"/>
              <a:t>Functions and procedures allow  “business logic”  to be stored in the database and executed from SQL statements.</a:t>
            </a:r>
          </a:p>
          <a:p>
            <a:r>
              <a:rPr lang="en-US" altLang="en-US" dirty="0"/>
              <a:t>These can be defined either by the procedural component of SQL or  by an external programming language such as Java, C, or C++.</a:t>
            </a:r>
          </a:p>
          <a:p>
            <a:r>
              <a:rPr lang="en-US" altLang="en-US" dirty="0"/>
              <a:t>The syntax we present here is defined by the SQL standard.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Most databases implement nonstandard versions of this syntax.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Declaring SQL Functions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3150"/>
            <a:ext cx="7775575" cy="4903788"/>
          </a:xfrm>
        </p:spPr>
        <p:txBody>
          <a:bodyPr/>
          <a:lstStyle/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Define a function that, given the name of a department, returns the count of the number of instructors in that department.</a:t>
            </a:r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The function </a:t>
            </a:r>
            <a:r>
              <a:rPr lang="en-US" altLang="en-US" i="1" dirty="0" err="1"/>
              <a:t>dept_</a:t>
            </a:r>
            <a:r>
              <a:rPr lang="en-US" altLang="en-US" dirty="0" err="1"/>
              <a:t>count</a:t>
            </a:r>
            <a:r>
              <a:rPr lang="en-US" altLang="en-US" dirty="0"/>
              <a:t> can be used to find the department names and budget of all departments with more that 12 instructors.</a:t>
            </a:r>
          </a:p>
          <a:p>
            <a:pPr>
              <a:buFont typeface="Monotype Sorts" charset="2"/>
              <a:buNone/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18C3F-9226-B7FF-3C2A-C2A43CC11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315" y="5158630"/>
            <a:ext cx="3810569" cy="14593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37AF5-AA36-6988-3ECA-C6807C02E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247" y="1632106"/>
            <a:ext cx="4485506" cy="2801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Table Functions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0300"/>
            <a:ext cx="8362950" cy="55086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The SQL standard supports functions that can return tables as results; such functions are called </a:t>
            </a:r>
            <a:r>
              <a:rPr lang="en-US" altLang="en-US" b="1" dirty="0">
                <a:solidFill>
                  <a:srgbClr val="002060"/>
                </a:solidFill>
              </a:rPr>
              <a:t>table functions</a:t>
            </a:r>
          </a:p>
          <a:p>
            <a:pPr>
              <a:defRPr/>
            </a:pPr>
            <a:r>
              <a:rPr lang="en-US" altLang="en-US" dirty="0"/>
              <a:t>Example: Return all instructors in a given department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7E6545-A77B-B957-C094-CE78AB2D0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2065083"/>
            <a:ext cx="7607299" cy="442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SQL Procedures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780845" cy="4903787"/>
          </a:xfrm>
        </p:spPr>
        <p:txBody>
          <a:bodyPr lIns="91440"/>
          <a:lstStyle/>
          <a:p>
            <a:r>
              <a:rPr lang="en-US" altLang="en-US" dirty="0"/>
              <a:t>The </a:t>
            </a:r>
            <a:r>
              <a:rPr lang="en-US" altLang="en-US" i="1" dirty="0" err="1"/>
              <a:t>dept_count</a:t>
            </a:r>
            <a:r>
              <a:rPr lang="en-US" altLang="en-US" i="1" dirty="0"/>
              <a:t> </a:t>
            </a:r>
            <a:r>
              <a:rPr lang="en-US" altLang="en-US" dirty="0"/>
              <a:t>function could instead be written as procedure: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B210E-0E35-B8BD-EE69-4A109BDF0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4" y="1564732"/>
            <a:ext cx="8344806" cy="479762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for Procedures &amp; Functions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727580" cy="5074998"/>
          </a:xfrm>
        </p:spPr>
        <p:txBody>
          <a:bodyPr lIns="91440"/>
          <a:lstStyle/>
          <a:p>
            <a:pPr>
              <a:defRPr/>
            </a:pPr>
            <a:r>
              <a:rPr lang="en-US" altLang="en-US" dirty="0"/>
              <a:t>SQL supports constructs that gives it almost all the power of a general-purpose programming language.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Warning: most database systems implement their own variant of the standard syntax below.</a:t>
            </a:r>
          </a:p>
          <a:p>
            <a:pPr>
              <a:defRPr/>
            </a:pPr>
            <a:r>
              <a:rPr lang="en-US" altLang="en-US" dirty="0"/>
              <a:t>Compound statement: </a:t>
            </a:r>
            <a:r>
              <a:rPr lang="en-US" altLang="en-US" b="1" dirty="0"/>
              <a:t>begin</a:t>
            </a:r>
            <a:r>
              <a:rPr lang="en-US" altLang="en-US" dirty="0"/>
              <a:t> … </a:t>
            </a:r>
            <a:r>
              <a:rPr lang="en-US" altLang="en-US" b="1" dirty="0"/>
              <a:t>end,</a:t>
            </a:r>
            <a:r>
              <a:rPr lang="en-US" altLang="en-US" dirty="0"/>
              <a:t> 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May contain multiple SQL statements between </a:t>
            </a:r>
            <a:r>
              <a:rPr lang="en-US" altLang="en-US" b="1" dirty="0">
                <a:ea typeface="ＭＳ Ｐゴシック" pitchFamily="34" charset="-128"/>
              </a:rPr>
              <a:t>begin</a:t>
            </a:r>
            <a:r>
              <a:rPr lang="en-US" altLang="en-US" dirty="0">
                <a:ea typeface="ＭＳ Ｐゴシック" pitchFamily="34" charset="-128"/>
              </a:rPr>
              <a:t> and </a:t>
            </a:r>
            <a:r>
              <a:rPr lang="en-US" altLang="en-US" b="1" dirty="0">
                <a:ea typeface="ＭＳ Ｐゴシック" pitchFamily="34" charset="-128"/>
              </a:rPr>
              <a:t>end</a:t>
            </a:r>
            <a:r>
              <a:rPr lang="en-US" altLang="en-US" dirty="0">
                <a:ea typeface="ＭＳ Ｐゴシック" pitchFamily="34" charset="-128"/>
              </a:rPr>
              <a:t>.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Local variables can be declared within a compound statements</a:t>
            </a:r>
          </a:p>
          <a:p>
            <a:pPr>
              <a:defRPr/>
            </a:pPr>
            <a:r>
              <a:rPr lang="en-US" altLang="en-US" dirty="0"/>
              <a:t>While and repeat statements: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  </a:t>
            </a:r>
            <a:r>
              <a:rPr lang="en-US" altLang="en-US" b="1" dirty="0">
                <a:ea typeface="ＭＳ Ｐゴシック" pitchFamily="34" charset="-128"/>
              </a:rPr>
              <a:t>while</a:t>
            </a:r>
            <a:r>
              <a:rPr lang="en-US" altLang="en-US" dirty="0">
                <a:ea typeface="ＭＳ Ｐゴシック" pitchFamily="34" charset="-128"/>
              </a:rPr>
              <a:t> </a:t>
            </a:r>
            <a:r>
              <a:rPr lang="en-US" altLang="en-US" dirty="0" err="1">
                <a:ea typeface="ＭＳ Ｐゴシック" pitchFamily="34" charset="-128"/>
              </a:rPr>
              <a:t>boolean</a:t>
            </a:r>
            <a:r>
              <a:rPr lang="en-US" altLang="en-US" dirty="0">
                <a:ea typeface="ＭＳ Ｐゴシック" pitchFamily="34" charset="-128"/>
              </a:rPr>
              <a:t> expression  </a:t>
            </a:r>
            <a:r>
              <a:rPr lang="en-US" altLang="en-US" b="1" dirty="0">
                <a:ea typeface="ＭＳ Ｐゴシック" pitchFamily="34" charset="-128"/>
              </a:rPr>
              <a:t>do</a:t>
            </a:r>
          </a:p>
          <a:p>
            <a:pPr lvl="2">
              <a:lnSpc>
                <a:spcPct val="70000"/>
              </a:lnSpc>
              <a:buFont typeface="Webdings" panose="05030102010509060703" pitchFamily="18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           sequence of statements ;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</a:t>
            </a:r>
            <a:r>
              <a:rPr lang="en-US" altLang="en-US" b="1" dirty="0">
                <a:ea typeface="ＭＳ Ｐゴシック" pitchFamily="34" charset="-128"/>
              </a:rPr>
              <a:t>end while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sz="800" dirty="0">
                <a:ea typeface="ＭＳ Ｐゴシック" pitchFamily="34" charset="-128"/>
              </a:rPr>
              <a:t> 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 </a:t>
            </a:r>
            <a:r>
              <a:rPr lang="en-US" altLang="en-US" b="1" dirty="0">
                <a:ea typeface="ＭＳ Ｐゴシック" pitchFamily="34" charset="-128"/>
              </a:rPr>
              <a:t>repeat</a:t>
            </a:r>
          </a:p>
          <a:p>
            <a:pPr lvl="2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         sequence of statements ;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until </a:t>
            </a:r>
            <a:r>
              <a:rPr lang="en-US" altLang="en-US" dirty="0" err="1">
                <a:ea typeface="ＭＳ Ｐゴシック" pitchFamily="34" charset="-128"/>
              </a:rPr>
              <a:t>boolean</a:t>
            </a:r>
            <a:r>
              <a:rPr lang="en-US" altLang="en-US" dirty="0">
                <a:ea typeface="ＭＳ Ｐゴシック" pitchFamily="34" charset="-128"/>
              </a:rPr>
              <a:t> expression 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</a:t>
            </a:r>
            <a:r>
              <a:rPr lang="en-US" altLang="en-US" b="1" dirty="0">
                <a:ea typeface="ＭＳ Ｐゴシック" pitchFamily="34" charset="-128"/>
              </a:rPr>
              <a:t>end repeat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A085-4E19-22E9-B056-C0793017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98978A-BD4F-4B2E-C47E-9F9B2CC7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958782"/>
            <a:ext cx="5124713" cy="2654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87243-E4EC-FEA6-7CD4-FC058E92F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005" y="3748708"/>
            <a:ext cx="5150115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1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932D1B-624B-6F26-0658-F650A63469E0}"/>
              </a:ext>
            </a:extLst>
          </p:cNvPr>
          <p:cNvSpPr txBox="1"/>
          <p:nvPr/>
        </p:nvSpPr>
        <p:spPr>
          <a:xfrm>
            <a:off x="816429" y="728317"/>
            <a:ext cx="810985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procedure </a:t>
            </a:r>
            <a:r>
              <a:rPr lang="en-US" dirty="0" err="1"/>
              <a:t>raise_all_salaries</a:t>
            </a:r>
            <a:r>
              <a:rPr lang="en-US" dirty="0"/>
              <a:t> (in </a:t>
            </a:r>
            <a:r>
              <a:rPr lang="en-US" dirty="0" err="1"/>
              <a:t>dept_name</a:t>
            </a:r>
            <a:r>
              <a:rPr lang="en-US" dirty="0"/>
              <a:t> varchar(20), in percent numeric(4,2))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declare done int default 0;</a:t>
            </a:r>
          </a:p>
          <a:p>
            <a:r>
              <a:rPr lang="en-US" dirty="0"/>
              <a:t>    declare </a:t>
            </a:r>
            <a:r>
              <a:rPr lang="en-US" dirty="0" err="1"/>
              <a:t>emp_id</a:t>
            </a:r>
            <a:r>
              <a:rPr lang="en-US" dirty="0"/>
              <a:t> varchar(5);</a:t>
            </a:r>
          </a:p>
          <a:p>
            <a:r>
              <a:rPr lang="en-US" dirty="0"/>
              <a:t>    declare </a:t>
            </a:r>
            <a:r>
              <a:rPr lang="en-US" dirty="0" err="1"/>
              <a:t>curr_salary</a:t>
            </a:r>
            <a:r>
              <a:rPr lang="en-US" dirty="0"/>
              <a:t> numeric(8,2);</a:t>
            </a:r>
          </a:p>
          <a:p>
            <a:endParaRPr lang="en-US" dirty="0"/>
          </a:p>
          <a:p>
            <a:r>
              <a:rPr lang="en-US" dirty="0"/>
              <a:t>    declare </a:t>
            </a:r>
            <a:r>
              <a:rPr lang="en-US" dirty="0" err="1"/>
              <a:t>emp_cursor</a:t>
            </a:r>
            <a:r>
              <a:rPr lang="en-US" dirty="0"/>
              <a:t> cursor for</a:t>
            </a:r>
          </a:p>
          <a:p>
            <a:r>
              <a:rPr lang="en-US" dirty="0"/>
              <a:t>        select ID, salary from instructor</a:t>
            </a:r>
          </a:p>
          <a:p>
            <a:r>
              <a:rPr lang="en-US" dirty="0"/>
              <a:t>        where </a:t>
            </a:r>
            <a:r>
              <a:rPr lang="en-US" dirty="0" err="1"/>
              <a:t>instructor.dept_name</a:t>
            </a:r>
            <a:r>
              <a:rPr lang="en-US" dirty="0"/>
              <a:t> = </a:t>
            </a:r>
            <a:r>
              <a:rPr lang="en-US" dirty="0" err="1"/>
              <a:t>raise_all_salaries.dept_name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declare continue handler for not found set done = 1;</a:t>
            </a:r>
          </a:p>
          <a:p>
            <a:endParaRPr lang="en-US" dirty="0"/>
          </a:p>
          <a:p>
            <a:r>
              <a:rPr lang="en-US" dirty="0"/>
              <a:t>    open </a:t>
            </a:r>
            <a:r>
              <a:rPr lang="en-US" dirty="0" err="1"/>
              <a:t>emp_cursor</a:t>
            </a:r>
            <a:r>
              <a:rPr lang="en-US" dirty="0"/>
              <a:t>;</a:t>
            </a:r>
          </a:p>
          <a:p>
            <a:r>
              <a:rPr lang="en-US" dirty="0"/>
              <a:t>    fetch </a:t>
            </a:r>
            <a:r>
              <a:rPr lang="en-US" dirty="0" err="1"/>
              <a:t>emp_cursor</a:t>
            </a:r>
            <a:r>
              <a:rPr lang="en-US" dirty="0"/>
              <a:t> into </a:t>
            </a:r>
            <a:r>
              <a:rPr lang="en-US" dirty="0" err="1"/>
              <a:t>emp_id</a:t>
            </a:r>
            <a:r>
              <a:rPr lang="en-US" dirty="0"/>
              <a:t>, </a:t>
            </a:r>
            <a:r>
              <a:rPr lang="en-US" dirty="0" err="1"/>
              <a:t>curr_salary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while done = 0 do</a:t>
            </a:r>
          </a:p>
          <a:p>
            <a:r>
              <a:rPr lang="en-US" dirty="0"/>
              <a:t>        update instructor set salary = </a:t>
            </a:r>
            <a:r>
              <a:rPr lang="en-US" dirty="0" err="1"/>
              <a:t>curr_salary</a:t>
            </a:r>
            <a:r>
              <a:rPr lang="en-US" dirty="0"/>
              <a:t> * (1 + percent/100)</a:t>
            </a:r>
          </a:p>
          <a:p>
            <a:r>
              <a:rPr lang="en-US" dirty="0"/>
              <a:t>            where ID = </a:t>
            </a:r>
            <a:r>
              <a:rPr lang="en-US" dirty="0" err="1"/>
              <a:t>emp_id</a:t>
            </a:r>
            <a:r>
              <a:rPr lang="en-US" dirty="0"/>
              <a:t>;</a:t>
            </a:r>
          </a:p>
          <a:p>
            <a:r>
              <a:rPr lang="en-US" dirty="0"/>
              <a:t>        fetch </a:t>
            </a:r>
            <a:r>
              <a:rPr lang="en-US" dirty="0" err="1"/>
              <a:t>emp_cursor</a:t>
            </a:r>
            <a:r>
              <a:rPr lang="en-US" dirty="0"/>
              <a:t> into </a:t>
            </a:r>
            <a:r>
              <a:rPr lang="en-US" dirty="0" err="1"/>
              <a:t>emp_id</a:t>
            </a:r>
            <a:r>
              <a:rPr lang="en-US" dirty="0"/>
              <a:t>, </a:t>
            </a:r>
            <a:r>
              <a:rPr lang="en-US" dirty="0" err="1"/>
              <a:t>curr_salary</a:t>
            </a:r>
            <a:r>
              <a:rPr lang="en-US" dirty="0"/>
              <a:t>;</a:t>
            </a:r>
          </a:p>
          <a:p>
            <a:r>
              <a:rPr lang="en-US" dirty="0"/>
              <a:t>    end while;</a:t>
            </a:r>
          </a:p>
          <a:p>
            <a:endParaRPr lang="en-US" dirty="0"/>
          </a:p>
          <a:p>
            <a:r>
              <a:rPr lang="en-US" dirty="0"/>
              <a:t>    close </a:t>
            </a:r>
            <a:r>
              <a:rPr lang="en-US" dirty="0" err="1"/>
              <a:t>emp_cursor</a:t>
            </a:r>
            <a:r>
              <a:rPr lang="en-US" dirty="0"/>
              <a:t>;</a:t>
            </a:r>
          </a:p>
          <a:p>
            <a:r>
              <a:rPr lang="en-US" dirty="0"/>
              <a:t>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326A8-E435-AFCF-0407-4795E402CCD3}"/>
              </a:ext>
            </a:extLst>
          </p:cNvPr>
          <p:cNvSpPr txBox="1"/>
          <p:nvPr/>
        </p:nvSpPr>
        <p:spPr>
          <a:xfrm>
            <a:off x="1763486" y="143428"/>
            <a:ext cx="7380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SQL/Persistent Stored Modules Standard</a:t>
            </a:r>
          </a:p>
        </p:txBody>
      </p:sp>
    </p:spTree>
    <p:extLst>
      <p:ext uri="{BB962C8B-B14F-4D97-AF65-F5344CB8AC3E}">
        <p14:creationId xmlns:p14="http://schemas.microsoft.com/office/powerpoint/2010/main" val="498145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20B9-EB52-9CC8-C170-630E0F0C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pgSQL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3C1EB-5110-DD35-0CE7-224FB55CC136}"/>
              </a:ext>
            </a:extLst>
          </p:cNvPr>
          <p:cNvSpPr txBox="1"/>
          <p:nvPr/>
        </p:nvSpPr>
        <p:spPr>
          <a:xfrm>
            <a:off x="990601" y="1074509"/>
            <a:ext cx="1110342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or replace procedure </a:t>
            </a:r>
            <a:r>
              <a:rPr lang="en-US" sz="1200" dirty="0" err="1"/>
              <a:t>raise_all_salaries_while</a:t>
            </a:r>
            <a:r>
              <a:rPr lang="en-US" sz="1200" dirty="0"/>
              <a:t>(</a:t>
            </a:r>
            <a:r>
              <a:rPr lang="en-US" sz="1200" dirty="0" err="1"/>
              <a:t>p_dept_name</a:t>
            </a:r>
            <a:r>
              <a:rPr lang="en-US" sz="1200" dirty="0"/>
              <a:t> varchar(20), </a:t>
            </a:r>
            <a:r>
              <a:rPr lang="en-US" sz="1200" dirty="0" err="1"/>
              <a:t>p_percent</a:t>
            </a:r>
            <a:r>
              <a:rPr lang="en-US" sz="1200" dirty="0"/>
              <a:t> numeric(4,2))</a:t>
            </a:r>
          </a:p>
          <a:p>
            <a:r>
              <a:rPr lang="en-US" sz="1200" dirty="0"/>
              <a:t>as $$</a:t>
            </a:r>
          </a:p>
          <a:p>
            <a:r>
              <a:rPr lang="en-US" sz="1200" dirty="0"/>
              <a:t>declare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emp_id</a:t>
            </a:r>
            <a:r>
              <a:rPr lang="en-US" sz="1200" dirty="0"/>
              <a:t>       varchar(5);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curr_salary</a:t>
            </a:r>
            <a:r>
              <a:rPr lang="en-US" sz="1200" dirty="0"/>
              <a:t>  numeric(8,2);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emp_cursor</a:t>
            </a:r>
            <a:r>
              <a:rPr lang="en-US" sz="1200" dirty="0"/>
              <a:t> cursor for</a:t>
            </a:r>
          </a:p>
          <a:p>
            <a:r>
              <a:rPr lang="en-US" sz="1200" dirty="0"/>
              <a:t>        select id, salary from instructor</a:t>
            </a:r>
          </a:p>
          <a:p>
            <a:r>
              <a:rPr lang="en-US" sz="1200" dirty="0"/>
              <a:t>        where </a:t>
            </a:r>
            <a:r>
              <a:rPr lang="en-US" sz="1200" dirty="0" err="1"/>
              <a:t>instructor.dept_name</a:t>
            </a:r>
            <a:r>
              <a:rPr lang="en-US" sz="1200" dirty="0"/>
              <a:t> = </a:t>
            </a:r>
            <a:r>
              <a:rPr lang="en-US" sz="1200" dirty="0" err="1"/>
              <a:t>p_dept_name</a:t>
            </a:r>
            <a:r>
              <a:rPr lang="en-US" sz="1200" dirty="0"/>
              <a:t>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v_found</a:t>
            </a:r>
            <a:r>
              <a:rPr lang="en-US" sz="1200" dirty="0"/>
              <a:t> </a:t>
            </a:r>
            <a:r>
              <a:rPr lang="en-US" sz="1200" dirty="0" err="1"/>
              <a:t>boolean</a:t>
            </a:r>
            <a:r>
              <a:rPr lang="en-US" sz="1200" dirty="0"/>
              <a:t> := true;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open </a:t>
            </a:r>
            <a:r>
              <a:rPr lang="en-US" sz="1200" dirty="0" err="1"/>
              <a:t>emp_cursor</a:t>
            </a:r>
            <a:r>
              <a:rPr lang="en-US" sz="1200" dirty="0"/>
              <a:t>;</a:t>
            </a:r>
          </a:p>
          <a:p>
            <a:r>
              <a:rPr lang="en-US" sz="1200" dirty="0"/>
              <a:t>    fetch </a:t>
            </a:r>
            <a:r>
              <a:rPr lang="en-US" sz="1200" dirty="0" err="1"/>
              <a:t>emp_cursor</a:t>
            </a:r>
            <a:r>
              <a:rPr lang="en-US" sz="1200" dirty="0"/>
              <a:t> into </a:t>
            </a:r>
            <a:r>
              <a:rPr lang="en-US" sz="1200" dirty="0" err="1"/>
              <a:t>emp_id</a:t>
            </a:r>
            <a:r>
              <a:rPr lang="en-US" sz="1200" dirty="0"/>
              <a:t>, </a:t>
            </a:r>
            <a:r>
              <a:rPr lang="en-US" sz="1200" dirty="0" err="1"/>
              <a:t>curr_salary</a:t>
            </a:r>
            <a:r>
              <a:rPr lang="en-US" sz="1200" dirty="0"/>
              <a:t>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v_found</a:t>
            </a:r>
            <a:r>
              <a:rPr lang="en-US" sz="1200" dirty="0"/>
              <a:t> := found;</a:t>
            </a:r>
          </a:p>
          <a:p>
            <a:endParaRPr lang="en-US" sz="1200" dirty="0"/>
          </a:p>
          <a:p>
            <a:r>
              <a:rPr lang="en-US" sz="1200" dirty="0"/>
              <a:t>    while </a:t>
            </a:r>
            <a:r>
              <a:rPr lang="en-US" sz="1200" dirty="0" err="1"/>
              <a:t>v_found</a:t>
            </a:r>
            <a:r>
              <a:rPr lang="en-US" sz="1200" dirty="0"/>
              <a:t> loop</a:t>
            </a:r>
          </a:p>
          <a:p>
            <a:r>
              <a:rPr lang="en-US" sz="1200" dirty="0"/>
              <a:t>        update instructor</a:t>
            </a:r>
          </a:p>
          <a:p>
            <a:r>
              <a:rPr lang="en-US" sz="1200" dirty="0"/>
              <a:t>        set salary = </a:t>
            </a:r>
            <a:r>
              <a:rPr lang="en-US" sz="1200" dirty="0" err="1"/>
              <a:t>curr_salary</a:t>
            </a:r>
            <a:r>
              <a:rPr lang="en-US" sz="1200" dirty="0"/>
              <a:t> * (1 + </a:t>
            </a:r>
            <a:r>
              <a:rPr lang="en-US" sz="1200" dirty="0" err="1"/>
              <a:t>p_percent</a:t>
            </a:r>
            <a:r>
              <a:rPr lang="en-US" sz="1200" dirty="0"/>
              <a:t> / 100)</a:t>
            </a:r>
          </a:p>
          <a:p>
            <a:r>
              <a:rPr lang="en-US" sz="1200" dirty="0"/>
              <a:t>        where id = </a:t>
            </a:r>
            <a:r>
              <a:rPr lang="en-US" sz="1200" dirty="0" err="1"/>
              <a:t>emp_id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    fetch </a:t>
            </a:r>
            <a:r>
              <a:rPr lang="en-US" sz="1200" dirty="0" err="1"/>
              <a:t>emp_cursor</a:t>
            </a:r>
            <a:r>
              <a:rPr lang="en-US" sz="1200" dirty="0"/>
              <a:t> into </a:t>
            </a:r>
            <a:r>
              <a:rPr lang="en-US" sz="1200" dirty="0" err="1"/>
              <a:t>emp_id</a:t>
            </a:r>
            <a:r>
              <a:rPr lang="en-US" sz="1200" dirty="0"/>
              <a:t>, </a:t>
            </a:r>
            <a:r>
              <a:rPr lang="en-US" sz="1200" dirty="0" err="1"/>
              <a:t>curr_salary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v_found</a:t>
            </a:r>
            <a:r>
              <a:rPr lang="en-US" sz="1200" dirty="0"/>
              <a:t> := found;</a:t>
            </a:r>
          </a:p>
          <a:p>
            <a:r>
              <a:rPr lang="en-US" sz="1200" dirty="0"/>
              <a:t>    end loop;</a:t>
            </a:r>
          </a:p>
          <a:p>
            <a:r>
              <a:rPr lang="en-US" sz="1200" dirty="0"/>
              <a:t>    close </a:t>
            </a:r>
            <a:r>
              <a:rPr lang="en-US" sz="1200" dirty="0" err="1"/>
              <a:t>emp_cursor</a:t>
            </a:r>
            <a:r>
              <a:rPr lang="en-US" sz="1200" dirty="0"/>
              <a:t>;</a:t>
            </a:r>
          </a:p>
          <a:p>
            <a:r>
              <a:rPr lang="en-US" sz="1200" dirty="0"/>
              <a:t>end;</a:t>
            </a:r>
          </a:p>
          <a:p>
            <a:r>
              <a:rPr lang="en-US" sz="1200" dirty="0"/>
              <a:t>$$ language </a:t>
            </a:r>
            <a:r>
              <a:rPr lang="en-US" sz="1200" dirty="0" err="1"/>
              <a:t>plpgsql</a:t>
            </a:r>
            <a:r>
              <a:rPr lang="en-US" sz="1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4076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734300" cy="49037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latin typeface="Tahoma" panose="020B0604030504040204" pitchFamily="34" charset="0"/>
              </a:rPr>
              <a:t>For</a:t>
            </a:r>
            <a:r>
              <a:rPr lang="en-US" altLang="en-US" dirty="0">
                <a:latin typeface="Tahoma" panose="020B0604030504040204" pitchFamily="34" charset="0"/>
              </a:rPr>
              <a:t> loop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Permits iteration over all results of a query</a:t>
            </a:r>
          </a:p>
          <a:p>
            <a:r>
              <a:rPr lang="en-US" altLang="en-US" dirty="0">
                <a:latin typeface="Tahoma" panose="020B0604030504040204" pitchFamily="34" charset="0"/>
              </a:rPr>
              <a:t>Example:   Find the budget of Music departments</a:t>
            </a:r>
            <a:br>
              <a:rPr lang="en-US" altLang="en-US" dirty="0">
                <a:latin typeface="Tahoma" panose="020B0604030504040204" pitchFamily="34" charset="0"/>
              </a:rPr>
            </a:br>
            <a:br>
              <a:rPr lang="en-US" altLang="en-US" dirty="0">
                <a:latin typeface="Tahoma" panose="020B0604030504040204" pitchFamily="34" charset="0"/>
              </a:rPr>
            </a:b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0BA4F-ABDB-7E86-0AA6-5CFD4DEA2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2264854"/>
            <a:ext cx="7432770" cy="34580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9080-CEB8-EA8C-6868-AD019419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and While/Repeat Difference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82212B-C4FE-E98E-4921-D0B123A9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00" y="1417638"/>
            <a:ext cx="6830000" cy="456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89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11607-33EE-ADCD-AC33-7D55D766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71723-7C94-86FD-CD84-B57F9BA2C3FC}"/>
              </a:ext>
            </a:extLst>
          </p:cNvPr>
          <p:cNvSpPr txBox="1"/>
          <p:nvPr/>
        </p:nvSpPr>
        <p:spPr>
          <a:xfrm>
            <a:off x="0" y="1248485"/>
            <a:ext cx="92419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or replace procedure </a:t>
            </a:r>
            <a:r>
              <a:rPr lang="en-US" dirty="0" err="1"/>
              <a:t>raise_all_salaries</a:t>
            </a:r>
            <a:r>
              <a:rPr lang="en-US" dirty="0"/>
              <a:t>(</a:t>
            </a:r>
            <a:r>
              <a:rPr lang="en-US" dirty="0" err="1"/>
              <a:t>p_dept_name</a:t>
            </a:r>
            <a:r>
              <a:rPr lang="en-US" dirty="0"/>
              <a:t> varchar(20), </a:t>
            </a:r>
            <a:r>
              <a:rPr lang="en-US" dirty="0" err="1"/>
              <a:t>p_percent</a:t>
            </a:r>
            <a:r>
              <a:rPr lang="en-US" dirty="0"/>
              <a:t> numeric(4,2))</a:t>
            </a:r>
          </a:p>
          <a:p>
            <a:r>
              <a:rPr lang="en-US" dirty="0"/>
              <a:t>as $$</a:t>
            </a:r>
          </a:p>
          <a:p>
            <a:r>
              <a:rPr lang="en-US" dirty="0"/>
              <a:t>declare</a:t>
            </a:r>
          </a:p>
          <a:p>
            <a:r>
              <a:rPr lang="en-US" dirty="0"/>
              <a:t>    r record;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for r in</a:t>
            </a:r>
          </a:p>
          <a:p>
            <a:r>
              <a:rPr lang="en-US" dirty="0"/>
              <a:t>        select id from instructor</a:t>
            </a:r>
          </a:p>
          <a:p>
            <a:r>
              <a:rPr lang="en-US" dirty="0"/>
              <a:t>        where </a:t>
            </a:r>
            <a:r>
              <a:rPr lang="en-US" dirty="0" err="1"/>
              <a:t>instructor.dept_name</a:t>
            </a:r>
            <a:r>
              <a:rPr lang="en-US" dirty="0"/>
              <a:t> = </a:t>
            </a:r>
            <a:r>
              <a:rPr lang="en-US" dirty="0" err="1"/>
              <a:t>p_dept_name</a:t>
            </a:r>
            <a:endParaRPr lang="en-US" dirty="0"/>
          </a:p>
          <a:p>
            <a:r>
              <a:rPr lang="en-US" dirty="0"/>
              <a:t>    loop</a:t>
            </a:r>
          </a:p>
          <a:p>
            <a:r>
              <a:rPr lang="en-US" dirty="0"/>
              <a:t>        update instructor</a:t>
            </a:r>
          </a:p>
          <a:p>
            <a:r>
              <a:rPr lang="en-US" dirty="0"/>
              <a:t>        set salary = salary * (1 + </a:t>
            </a:r>
            <a:r>
              <a:rPr lang="en-US" dirty="0" err="1"/>
              <a:t>p_percent</a:t>
            </a:r>
            <a:r>
              <a:rPr lang="en-US" dirty="0"/>
              <a:t> / 100)</a:t>
            </a:r>
          </a:p>
          <a:p>
            <a:r>
              <a:rPr lang="en-US" dirty="0"/>
              <a:t>        where id = r.id;</a:t>
            </a:r>
          </a:p>
          <a:p>
            <a:r>
              <a:rPr lang="en-US" dirty="0"/>
              <a:t>    end loop;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$$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154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65C4-917B-D6E5-B222-4C284C1A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EE72F-8C1C-22D3-B9D1-2D67F1A78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71" y="713476"/>
            <a:ext cx="7289857" cy="543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78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– if-then-else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8119618" cy="4903787"/>
          </a:xfrm>
        </p:spPr>
        <p:txBody>
          <a:bodyPr lIns="91440"/>
          <a:lstStyle/>
          <a:p>
            <a:r>
              <a:rPr lang="en-US" altLang="en-US" dirty="0"/>
              <a:t>Conditional statements  (</a:t>
            </a:r>
            <a:r>
              <a:rPr lang="en-US" altLang="en-US" b="1" dirty="0"/>
              <a:t>if-then-else</a:t>
            </a:r>
            <a:r>
              <a:rPr lang="en-US" altLang="en-US" dirty="0"/>
              <a:t>)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 err="1"/>
              <a:t>boolean</a:t>
            </a:r>
            <a:r>
              <a:rPr lang="en-US" altLang="en-US" i="1" dirty="0"/>
              <a:t>  expression </a:t>
            </a:r>
            <a:br>
              <a:rPr lang="en-US" altLang="en-US" b="1" dirty="0"/>
            </a:br>
            <a:r>
              <a:rPr lang="en-US" altLang="en-US" b="1" dirty="0"/>
              <a:t>	    then </a:t>
            </a:r>
            <a:r>
              <a:rPr lang="en-US" altLang="en-US" i="1" dirty="0"/>
              <a:t>statement or compound statement 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 err="1"/>
              <a:t>elseif</a:t>
            </a:r>
            <a:r>
              <a:rPr lang="en-US" altLang="en-US" b="1" dirty="0"/>
              <a:t> </a:t>
            </a:r>
            <a:r>
              <a:rPr lang="en-US" altLang="en-US" i="1" dirty="0" err="1"/>
              <a:t>boolean</a:t>
            </a:r>
            <a:r>
              <a:rPr lang="en-US" altLang="en-US" i="1" dirty="0"/>
              <a:t>  expression </a:t>
            </a:r>
            <a:br>
              <a:rPr lang="en-US" altLang="en-US" b="1" dirty="0"/>
            </a:br>
            <a:r>
              <a:rPr lang="en-US" altLang="en-US" b="1" dirty="0"/>
              <a:t>	</a:t>
            </a:r>
            <a:r>
              <a:rPr lang="en-US" altLang="en-US" dirty="0"/>
              <a:t>    </a:t>
            </a:r>
            <a:r>
              <a:rPr lang="en-US" altLang="en-US" b="1" dirty="0"/>
              <a:t>then </a:t>
            </a:r>
            <a:r>
              <a:rPr lang="en-US" altLang="en-US" i="1" dirty="0"/>
              <a:t>statement or compound statement </a:t>
            </a:r>
            <a:br>
              <a:rPr lang="en-US" altLang="en-US" dirty="0"/>
            </a:br>
            <a:r>
              <a:rPr lang="en-US" altLang="en-US" dirty="0"/>
              <a:t>         </a:t>
            </a: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i="1" dirty="0"/>
              <a:t>statement or compound statement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end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023C-3575-3D8B-BC15-0F97371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778E1-BC61-D451-50F1-4E42E06E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1124627"/>
            <a:ext cx="8577942" cy="52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8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8004" y="2607785"/>
            <a:ext cx="4398700" cy="1858963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Triggers</a:t>
            </a:r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Triggers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700"/>
            <a:ext cx="7647681" cy="4833938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trigger</a:t>
            </a:r>
            <a:r>
              <a:rPr lang="en-US" altLang="en-US" dirty="0"/>
              <a:t> is a statement that is executed automatically by the system as a side effect of a modification to the database.</a:t>
            </a:r>
          </a:p>
          <a:p>
            <a:r>
              <a:rPr lang="en-US" altLang="en-US" dirty="0"/>
              <a:t>To design a trigger mechanism, we must: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Specify the conditions under which the trigger is to be executed.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Specify the actions to be taken when the trigger executes.</a:t>
            </a:r>
          </a:p>
          <a:p>
            <a:r>
              <a:rPr lang="en-US" altLang="en-US" dirty="0"/>
              <a:t>Triggers introduced to SQL standard in SQL:1999, but supported even earlier using non-standard syntax by most databases.		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Syntax illustrated here may not work exactly on your database system; check the system manuals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35DE-8A04-DE6E-7406-9B78F58C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and Procedure/Function Difference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23E63-F356-927D-720F-B2C039DEF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6" y="1143000"/>
            <a:ext cx="8077199" cy="46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8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Triggering Events and Actions in SQL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718701" cy="4903787"/>
          </a:xfrm>
        </p:spPr>
        <p:txBody>
          <a:bodyPr lIns="91440"/>
          <a:lstStyle/>
          <a:p>
            <a:pPr>
              <a:lnSpc>
                <a:spcPct val="90000"/>
              </a:lnSpc>
            </a:pPr>
            <a:r>
              <a:rPr lang="en-US" altLang="en-US" dirty="0"/>
              <a:t>Triggering event can be </a:t>
            </a:r>
            <a:r>
              <a:rPr lang="en-US" altLang="en-US" b="1" dirty="0"/>
              <a:t>insert</a:t>
            </a:r>
            <a:r>
              <a:rPr lang="en-US" altLang="en-US" dirty="0"/>
              <a:t>, </a:t>
            </a:r>
            <a:r>
              <a:rPr lang="en-US" altLang="en-US" b="1" dirty="0"/>
              <a:t>delete</a:t>
            </a:r>
            <a:r>
              <a:rPr lang="en-US" altLang="en-US" dirty="0"/>
              <a:t> or </a:t>
            </a:r>
            <a:r>
              <a:rPr lang="en-US" altLang="en-US" b="1" dirty="0"/>
              <a:t>update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Triggers on update can be restricted to specific attributes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For example, </a:t>
            </a:r>
            <a:r>
              <a:rPr lang="en-US" altLang="en-US" b="1" dirty="0">
                <a:ea typeface="ＭＳ Ｐゴシック" panose="020B0600070205080204" pitchFamily="34" charset="-128"/>
              </a:rPr>
              <a:t> after update of </a:t>
            </a:r>
            <a:r>
              <a:rPr lang="en-US" altLang="en-US" i="1" dirty="0">
                <a:ea typeface="ＭＳ Ｐゴシック" panose="020B0600070205080204" pitchFamily="34" charset="-128"/>
              </a:rPr>
              <a:t>takes </a:t>
            </a:r>
            <a:r>
              <a:rPr lang="en-US" altLang="en-US" b="1" dirty="0">
                <a:ea typeface="ＭＳ Ｐゴシック" panose="020B0600070205080204" pitchFamily="34" charset="-128"/>
              </a:rPr>
              <a:t>on</a:t>
            </a:r>
            <a:r>
              <a:rPr lang="en-US" altLang="en-US" i="1" dirty="0">
                <a:ea typeface="ＭＳ Ｐゴシック" panose="020B0600070205080204" pitchFamily="34" charset="-128"/>
              </a:rPr>
              <a:t> grade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Values of attributes before and after an update can be referenced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referencing old row as</a:t>
            </a:r>
            <a:r>
              <a:rPr lang="en-US" altLang="en-US" dirty="0">
                <a:ea typeface="ＭＳ Ｐゴシック" panose="020B0600070205080204" pitchFamily="34" charset="-128"/>
              </a:rPr>
              <a:t>   </a:t>
            </a:r>
            <a:r>
              <a:rPr lang="en-US" altLang="en-US" b="1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ea typeface="ＭＳ Ｐゴシック" panose="020B0600070205080204" pitchFamily="34" charset="-128"/>
              </a:rPr>
              <a:t> for deletes and updates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referencing new row as  : </a:t>
            </a:r>
            <a:r>
              <a:rPr lang="en-US" altLang="en-US" dirty="0">
                <a:ea typeface="ＭＳ Ｐゴシック" panose="020B0600070205080204" pitchFamily="34" charset="-128"/>
              </a:rPr>
              <a:t>for inserts and updates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Triggers can be activated before an event, which can serve as extra constraints.  For example,  convert blank grades to null.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b="1" dirty="0"/>
              <a:t>		</a:t>
            </a: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E5ABE-23A4-9C32-10FC-46A2056BA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5" y="3545683"/>
            <a:ext cx="4025070" cy="2927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2CFD6-3818-4DA8-BD5F-1332F0A19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935" y="3950388"/>
            <a:ext cx="4512043" cy="141739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2757" y="-118953"/>
            <a:ext cx="8077200" cy="609600"/>
          </a:xfrm>
        </p:spPr>
        <p:txBody>
          <a:bodyPr/>
          <a:lstStyle/>
          <a:p>
            <a:r>
              <a:rPr lang="en-US" altLang="en-US" dirty="0">
                <a:effectLst/>
              </a:rPr>
              <a:t>Trigger to Maintain </a:t>
            </a:r>
            <a:r>
              <a:rPr lang="en-US" altLang="en-US" dirty="0" err="1">
                <a:effectLst/>
              </a:rPr>
              <a:t>credits_earned</a:t>
            </a:r>
            <a:r>
              <a:rPr lang="en-US" altLang="en-US" dirty="0">
                <a:effectLst/>
              </a:rPr>
              <a:t>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CB6C6-316C-CC41-A6C7-EE09C0790DF5}"/>
              </a:ext>
            </a:extLst>
          </p:cNvPr>
          <p:cNvSpPr txBox="1"/>
          <p:nvPr/>
        </p:nvSpPr>
        <p:spPr>
          <a:xfrm>
            <a:off x="234043" y="4856271"/>
            <a:ext cx="86759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/>
              <a:t>Two key differences between Assertion and Trigger:</a:t>
            </a:r>
            <a:endParaRPr lang="en-US" dirty="0"/>
          </a:p>
          <a:p>
            <a:pPr marL="342900" lvl="0" indent="-342900" rtl="0">
              <a:buFont typeface="+mj-lt"/>
              <a:buAutoNum type="arabicPeriod"/>
            </a:pPr>
            <a:r>
              <a:rPr lang="en-US" b="1" dirty="0"/>
              <a:t>Scope of checking</a:t>
            </a:r>
            <a:r>
              <a:rPr lang="en-US" dirty="0"/>
              <a:t> — An assertion re-evaluates its condition across the </a:t>
            </a:r>
            <a:r>
              <a:rPr lang="en-US" b="1" dirty="0"/>
              <a:t>entire relevant data</a:t>
            </a:r>
            <a:r>
              <a:rPr lang="en-US" dirty="0"/>
              <a:t> every time something changes; a trigger only acts on the </a:t>
            </a:r>
            <a:r>
              <a:rPr lang="en-US" b="1" dirty="0"/>
              <a:t>specific row/event</a:t>
            </a:r>
            <a:r>
              <a:rPr lang="en-US" dirty="0"/>
              <a:t> that changed.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US" b="1" dirty="0"/>
              <a:t>Behavior</a:t>
            </a:r>
            <a:r>
              <a:rPr lang="en-US" dirty="0"/>
              <a:t> — An assertion </a:t>
            </a:r>
            <a:r>
              <a:rPr lang="en-US" b="1" dirty="0"/>
              <a:t>passively checks</a:t>
            </a:r>
            <a:r>
              <a:rPr lang="en-US" dirty="0"/>
              <a:t> and rejects the operation if the condition is violated; a trigger </a:t>
            </a:r>
            <a:r>
              <a:rPr lang="en-US" b="1" dirty="0"/>
              <a:t>actively performs an action</a:t>
            </a:r>
            <a:r>
              <a:rPr lang="en-US" dirty="0"/>
              <a:t> (like updating a value) in response to the event — it doesn't just check, it fixes/maintains data automatically.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4E971-3780-0ED3-07FD-CA1DC760E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74" y="534347"/>
            <a:ext cx="6627052" cy="42782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Statement Level Triggers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93800"/>
            <a:ext cx="7692069" cy="4903788"/>
          </a:xfrm>
        </p:spPr>
        <p:txBody>
          <a:bodyPr/>
          <a:lstStyle/>
          <a:p>
            <a:r>
              <a:rPr lang="en-US" altLang="en-US" dirty="0"/>
              <a:t>Instead of executing a separate action for each affected row, a single action can be executed for all rows affected by a transaction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     </a:t>
            </a:r>
            <a:r>
              <a:rPr lang="en-US" altLang="en-US" b="1" dirty="0">
                <a:ea typeface="ＭＳ Ｐゴシック" panose="020B0600070205080204" pitchFamily="34" charset="-128"/>
              </a:rPr>
              <a:t>for each statement      </a:t>
            </a:r>
            <a:r>
              <a:rPr lang="en-US" altLang="en-US" dirty="0">
                <a:ea typeface="ＭＳ Ｐゴシック" panose="020B0600070205080204" pitchFamily="34" charset="-128"/>
              </a:rPr>
              <a:t>instead of    </a:t>
            </a:r>
            <a:r>
              <a:rPr lang="en-US" altLang="en-US" b="1" dirty="0">
                <a:ea typeface="ＭＳ Ｐゴシック" panose="020B0600070205080204" pitchFamily="34" charset="-128"/>
              </a:rPr>
              <a:t>for each row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     </a:t>
            </a:r>
            <a:r>
              <a:rPr lang="en-US" altLang="en-US" b="1" dirty="0">
                <a:ea typeface="ＭＳ Ｐゴシック" panose="020B0600070205080204" pitchFamily="34" charset="-128"/>
              </a:rPr>
              <a:t>referencing old table</a:t>
            </a:r>
            <a:r>
              <a:rPr lang="en-US" altLang="en-US" dirty="0">
                <a:ea typeface="ＭＳ Ｐゴシック" panose="020B0600070205080204" pitchFamily="34" charset="-128"/>
              </a:rPr>
              <a:t>   or   </a:t>
            </a:r>
            <a:r>
              <a:rPr lang="en-US" altLang="en-US" b="1" dirty="0">
                <a:ea typeface="ＭＳ Ｐゴシック" panose="020B0600070205080204" pitchFamily="34" charset="-128"/>
              </a:rPr>
              <a:t>referencing new table</a:t>
            </a:r>
            <a:r>
              <a:rPr lang="en-US" altLang="en-US" dirty="0">
                <a:ea typeface="ＭＳ Ｐゴシック" panose="020B0600070205080204" pitchFamily="34" charset="-128"/>
              </a:rPr>
              <a:t>   to refer to temporary tables  (called </a:t>
            </a:r>
            <a:r>
              <a:rPr lang="en-US" altLang="en-US" b="1" i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transition tables</a:t>
            </a:r>
            <a:r>
              <a:rPr lang="en-US" altLang="en-US" dirty="0">
                <a:ea typeface="ＭＳ Ｐゴシック" panose="020B0600070205080204" pitchFamily="34" charset="-128"/>
              </a:rPr>
              <a:t>) containing the affected rows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be more efficient when dealing with SQL statements that update a large number of rows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DE53-6EBB-8D84-5CFC-D5CF8B74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Level Triggers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77EB1-CA9B-0B31-1EBA-411DE481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8" y="727075"/>
            <a:ext cx="5417577" cy="4328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C2DAC8-B0A3-D556-F27A-1B9376E17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057" y="5055248"/>
            <a:ext cx="5417577" cy="117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22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3CDB-703F-BC02-AB07-8E949278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Level Triggers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29431-1439-59D0-E965-40B3405B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01" y="1360715"/>
            <a:ext cx="7946069" cy="275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03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A6FC-2665-FC77-2B0D-6EE6FB14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Summary — Row-Level Trigger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8E6C0-81E5-39A6-242B-94742419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2" y="985118"/>
            <a:ext cx="7930389" cy="428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71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DA2B-85B7-4662-A059-E27B0231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250825"/>
            <a:ext cx="8528050" cy="609600"/>
          </a:xfrm>
        </p:spPr>
        <p:txBody>
          <a:bodyPr/>
          <a:lstStyle/>
          <a:p>
            <a:r>
              <a:rPr lang="en-US" dirty="0"/>
              <a:t>Flow Summary — Statement-Level Trigger (with Transition Tables)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0BF56-44E9-37ED-F427-138E30E3B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9" y="1029489"/>
            <a:ext cx="8382841" cy="479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15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63BFFAA5-B47C-4947-A0E1-AAC77791CC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Advanced Aggregation Features</a:t>
            </a:r>
            <a:endParaRPr lang="en-IN" altLang="en-US">
              <a:effectLst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>
            <a:extLst>
              <a:ext uri="{FF2B5EF4-FFF2-40B4-BE49-F238E27FC236}">
                <a16:creationId xmlns:a16="http://schemas.microsoft.com/office/drawing/2014/main" id="{BC6585F4-FBFF-4706-BD64-1D9C1C3B1B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Ranking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06A4800-7FC7-45BD-BC3A-2F7B380A3A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09709"/>
            <a:ext cx="8021638" cy="5349829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Ranking is done in conjunction with an order by specification. 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Suppose we are given a relation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i="1" dirty="0" err="1"/>
              <a:t>student_grades</a:t>
            </a:r>
            <a:r>
              <a:rPr lang="en-US" altLang="en-US" i="1" dirty="0"/>
              <a:t>(ID, GPA) </a:t>
            </a:r>
            <a:br>
              <a:rPr lang="en-US" altLang="en-US" i="1" dirty="0"/>
            </a:br>
            <a:r>
              <a:rPr lang="en-US" altLang="en-US" dirty="0"/>
              <a:t>giving the grade-point average of each student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Find the rank of each student.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	       </a:t>
            </a:r>
            <a:r>
              <a:rPr lang="en-US" altLang="en-US" b="1" dirty="0"/>
              <a:t>select 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b="1" dirty="0"/>
              <a:t>rank</a:t>
            </a:r>
            <a:r>
              <a:rPr lang="en-US" altLang="en-US" dirty="0"/>
              <a:t>() </a:t>
            </a:r>
            <a:r>
              <a:rPr lang="en-US" altLang="en-US" b="1" dirty="0"/>
              <a:t>over </a:t>
            </a:r>
            <a:r>
              <a:rPr lang="en-US" altLang="en-US" dirty="0"/>
              <a:t>(</a:t>
            </a:r>
            <a:r>
              <a:rPr lang="en-US" altLang="en-US" b="1" dirty="0"/>
              <a:t>order by </a:t>
            </a:r>
            <a:r>
              <a:rPr lang="en-US" altLang="en-US" i="1" dirty="0"/>
              <a:t>GPA</a:t>
            </a:r>
            <a:r>
              <a:rPr lang="en-US" altLang="en-US" dirty="0"/>
              <a:t> </a:t>
            </a:r>
            <a:r>
              <a:rPr lang="en-US" altLang="en-US" b="1" dirty="0" err="1"/>
              <a:t>desc</a:t>
            </a:r>
            <a:r>
              <a:rPr lang="en-US" altLang="en-US" b="1" dirty="0"/>
              <a:t>) as </a:t>
            </a:r>
            <a:r>
              <a:rPr lang="en-US" altLang="en-US" i="1" dirty="0" err="1"/>
              <a:t>s_rank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/>
              <a:t>from </a:t>
            </a:r>
            <a:r>
              <a:rPr lang="en-US" altLang="en-US" i="1" dirty="0" err="1"/>
              <a:t>student_grades</a:t>
            </a:r>
            <a:endParaRPr lang="en-US" altLang="en-US" i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An extra </a:t>
            </a:r>
            <a:r>
              <a:rPr lang="en-US" altLang="en-US" b="1" dirty="0"/>
              <a:t>order by </a:t>
            </a:r>
            <a:r>
              <a:rPr lang="en-US" altLang="en-US" dirty="0"/>
              <a:t>clause is needed to get them in sorted order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	       </a:t>
            </a:r>
            <a:r>
              <a:rPr lang="en-US" altLang="en-US" b="1" dirty="0"/>
              <a:t>select 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b="1" dirty="0"/>
              <a:t>rank</a:t>
            </a:r>
            <a:r>
              <a:rPr lang="en-US" altLang="en-US" dirty="0"/>
              <a:t>() </a:t>
            </a:r>
            <a:r>
              <a:rPr lang="en-US" altLang="en-US" b="1" dirty="0"/>
              <a:t>over </a:t>
            </a:r>
            <a:r>
              <a:rPr lang="en-US" altLang="en-US" dirty="0"/>
              <a:t>(</a:t>
            </a:r>
            <a:r>
              <a:rPr lang="en-US" altLang="en-US" b="1" dirty="0"/>
              <a:t>order by </a:t>
            </a:r>
            <a:r>
              <a:rPr lang="en-US" altLang="en-US" i="1" dirty="0"/>
              <a:t>GPA</a:t>
            </a:r>
            <a:r>
              <a:rPr lang="en-US" altLang="en-US" dirty="0"/>
              <a:t> </a:t>
            </a:r>
            <a:r>
              <a:rPr lang="en-US" altLang="en-US" b="1" dirty="0" err="1"/>
              <a:t>desc</a:t>
            </a:r>
            <a:r>
              <a:rPr lang="en-US" altLang="en-US" b="1" dirty="0"/>
              <a:t>) as </a:t>
            </a:r>
            <a:r>
              <a:rPr lang="en-US" altLang="en-US" i="1" dirty="0" err="1"/>
              <a:t>s_rank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/>
              <a:t>from </a:t>
            </a:r>
            <a:r>
              <a:rPr lang="en-US" altLang="en-US" i="1" dirty="0" err="1"/>
              <a:t>student_grades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i="1" dirty="0"/>
              <a:t>       </a:t>
            </a:r>
            <a:r>
              <a:rPr lang="en-US" altLang="en-US" b="1" dirty="0"/>
              <a:t>order by </a:t>
            </a:r>
            <a:r>
              <a:rPr lang="en-US" altLang="en-US" i="1" dirty="0" err="1"/>
              <a:t>s_rank</a:t>
            </a:r>
            <a:endParaRPr lang="en-US" altLang="en-US" i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Ranking may leave gaps: e.g. if 2 students have the same top GPA, both have rank 1, and the next rank is 3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b="1" dirty="0" err="1">
                <a:ea typeface="ＭＳ Ｐゴシック" panose="020B0600070205080204" pitchFamily="34" charset="-128"/>
              </a:rPr>
              <a:t>dense_rank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does not leave gaps, so next dense rank would be 2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i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1F15-C990-B7F7-244B-3FBC121F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 vs. </a:t>
            </a:r>
            <a:r>
              <a:rPr lang="en-US" dirty="0" err="1"/>
              <a:t>Dense_Rank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6951C-B20A-FD73-EFFF-D4145F94E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179268"/>
            <a:ext cx="7786591" cy="139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CF34E-4BDF-1051-969B-316E23AB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71" y="2752651"/>
            <a:ext cx="7147057" cy="277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74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06634F7-4C21-4DA6-964C-1B1A442F3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Ranking</a:t>
            </a:r>
            <a:endParaRPr lang="en-IN" altLang="en-US">
              <a:effectLst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0D6413A-0B41-478D-9178-E41F7C60D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Ranking can be done using basic SQL aggregation, but resultant query is very inefficient</a:t>
            </a:r>
          </a:p>
          <a:p>
            <a:pPr lvl="1">
              <a:buFont typeface="Monotype Sorts" charset="2"/>
              <a:buNone/>
            </a:pPr>
            <a:r>
              <a:rPr lang="en-IN" altLang="en-US" b="1" dirty="0">
                <a:ea typeface="ＭＳ Ｐゴシック" panose="020B0600070205080204" pitchFamily="34" charset="-128"/>
              </a:rPr>
              <a:t>    select </a:t>
            </a:r>
            <a:r>
              <a:rPr lang="en-IN" altLang="en-US" i="1" dirty="0">
                <a:ea typeface="ＭＳ Ｐゴシック" panose="020B0600070205080204" pitchFamily="34" charset="-128"/>
              </a:rPr>
              <a:t>ID</a:t>
            </a:r>
            <a:r>
              <a:rPr lang="en-IN" altLang="en-US" dirty="0">
                <a:ea typeface="ＭＳ Ｐゴシック" panose="020B0600070205080204" pitchFamily="34" charset="-128"/>
              </a:rPr>
              <a:t>, (1 + (</a:t>
            </a:r>
            <a:r>
              <a:rPr lang="en-IN" altLang="en-US" b="1" dirty="0">
                <a:ea typeface="ＭＳ Ｐゴシック" panose="020B0600070205080204" pitchFamily="34" charset="-128"/>
              </a:rPr>
              <a:t>select count</a:t>
            </a:r>
            <a:r>
              <a:rPr lang="en-IN" altLang="en-US" dirty="0">
                <a:ea typeface="ＭＳ Ｐゴシック" panose="020B0600070205080204" pitchFamily="34" charset="-128"/>
              </a:rPr>
              <a:t>(*)</a:t>
            </a:r>
            <a:br>
              <a:rPr lang="en-IN" altLang="en-US" dirty="0">
                <a:ea typeface="ＭＳ Ｐゴシック" panose="020B0600070205080204" pitchFamily="34" charset="-128"/>
              </a:rPr>
            </a:br>
            <a:r>
              <a:rPr lang="en-IN" altLang="en-US" dirty="0">
                <a:ea typeface="ＭＳ Ｐゴシック" panose="020B0600070205080204" pitchFamily="34" charset="-128"/>
              </a:rPr>
              <a:t>                         </a:t>
            </a:r>
            <a:r>
              <a:rPr lang="en-IN" altLang="en-US" b="1" dirty="0">
                <a:ea typeface="ＭＳ Ｐゴシック" panose="020B0600070205080204" pitchFamily="34" charset="-128"/>
              </a:rPr>
              <a:t>from </a:t>
            </a:r>
            <a:r>
              <a:rPr lang="en-IN" altLang="en-US" i="1" dirty="0" err="1">
                <a:ea typeface="ＭＳ Ｐゴシック" panose="020B0600070205080204" pitchFamily="34" charset="-128"/>
              </a:rPr>
              <a:t>student_grades</a:t>
            </a:r>
            <a:r>
              <a:rPr lang="en-IN" altLang="en-US" i="1" dirty="0">
                <a:ea typeface="ＭＳ Ｐゴシック" panose="020B0600070205080204" pitchFamily="34" charset="-128"/>
              </a:rPr>
              <a:t> B</a:t>
            </a:r>
            <a:br>
              <a:rPr lang="en-IN" altLang="en-US" i="1" dirty="0">
                <a:ea typeface="ＭＳ Ｐゴシック" panose="020B0600070205080204" pitchFamily="34" charset="-128"/>
              </a:rPr>
            </a:br>
            <a:r>
              <a:rPr lang="en-IN" altLang="en-US" i="1" dirty="0">
                <a:ea typeface="ＭＳ Ｐゴシック" panose="020B0600070205080204" pitchFamily="34" charset="-128"/>
              </a:rPr>
              <a:t>                         </a:t>
            </a:r>
            <a:r>
              <a:rPr lang="en-IN" altLang="en-US" b="1" dirty="0">
                <a:ea typeface="ＭＳ Ｐゴシック" panose="020B0600070205080204" pitchFamily="34" charset="-128"/>
              </a:rPr>
              <a:t>where </a:t>
            </a:r>
            <a:r>
              <a:rPr lang="en-IN" altLang="en-US" i="1" dirty="0">
                <a:ea typeface="ＭＳ Ｐゴシック" panose="020B0600070205080204" pitchFamily="34" charset="-128"/>
              </a:rPr>
              <a:t>B</a:t>
            </a:r>
            <a:r>
              <a:rPr lang="en-IN" altLang="en-US" dirty="0">
                <a:ea typeface="ＭＳ Ｐゴシック" panose="020B0600070205080204" pitchFamily="34" charset="-128"/>
              </a:rPr>
              <a:t>.</a:t>
            </a:r>
            <a:r>
              <a:rPr lang="en-IN" altLang="en-US" i="1" dirty="0">
                <a:ea typeface="ＭＳ Ｐゴシック" panose="020B0600070205080204" pitchFamily="34" charset="-128"/>
              </a:rPr>
              <a:t>GPA </a:t>
            </a:r>
            <a:r>
              <a:rPr lang="en-IN" altLang="en-US" dirty="0">
                <a:ea typeface="ＭＳ Ｐゴシック" panose="020B0600070205080204" pitchFamily="34" charset="-128"/>
              </a:rPr>
              <a:t>&gt; </a:t>
            </a:r>
            <a:r>
              <a:rPr lang="en-IN" altLang="en-US" i="1" dirty="0">
                <a:ea typeface="ＭＳ Ｐゴシック" panose="020B0600070205080204" pitchFamily="34" charset="-128"/>
              </a:rPr>
              <a:t>A</a:t>
            </a:r>
            <a:r>
              <a:rPr lang="en-IN" altLang="en-US" dirty="0">
                <a:ea typeface="ＭＳ Ｐゴシック" panose="020B0600070205080204" pitchFamily="34" charset="-128"/>
              </a:rPr>
              <a:t>.</a:t>
            </a:r>
            <a:r>
              <a:rPr lang="en-IN" altLang="en-US" i="1" dirty="0">
                <a:ea typeface="ＭＳ Ｐゴシック" panose="020B0600070205080204" pitchFamily="34" charset="-128"/>
              </a:rPr>
              <a:t>GPA</a:t>
            </a:r>
            <a:r>
              <a:rPr lang="en-IN" altLang="en-US" dirty="0">
                <a:ea typeface="ＭＳ Ｐゴシック" panose="020B0600070205080204" pitchFamily="34" charset="-128"/>
              </a:rPr>
              <a:t>)) </a:t>
            </a:r>
            <a:r>
              <a:rPr lang="en-IN" altLang="en-US" b="1" dirty="0">
                <a:ea typeface="ＭＳ Ｐゴシック" panose="020B0600070205080204" pitchFamily="34" charset="-128"/>
              </a:rPr>
              <a:t>as </a:t>
            </a:r>
            <a:r>
              <a:rPr lang="en-IN" altLang="en-US" i="1" dirty="0" err="1">
                <a:ea typeface="ＭＳ Ｐゴシック" panose="020B0600070205080204" pitchFamily="34" charset="-128"/>
              </a:rPr>
              <a:t>s_rank</a:t>
            </a:r>
            <a:br>
              <a:rPr lang="en-IN" altLang="en-US" i="1" dirty="0">
                <a:ea typeface="ＭＳ Ｐゴシック" panose="020B0600070205080204" pitchFamily="34" charset="-128"/>
              </a:rPr>
            </a:br>
            <a:r>
              <a:rPr lang="en-IN" altLang="en-US" b="1" dirty="0">
                <a:ea typeface="ＭＳ Ｐゴシック" panose="020B0600070205080204" pitchFamily="34" charset="-128"/>
              </a:rPr>
              <a:t>from </a:t>
            </a:r>
            <a:r>
              <a:rPr lang="en-IN" altLang="en-US" i="1" dirty="0" err="1">
                <a:ea typeface="ＭＳ Ｐゴシック" panose="020B0600070205080204" pitchFamily="34" charset="-128"/>
              </a:rPr>
              <a:t>student_grades</a:t>
            </a:r>
            <a:r>
              <a:rPr lang="en-IN" altLang="en-US" i="1" dirty="0">
                <a:ea typeface="ＭＳ Ｐゴシック" panose="020B0600070205080204" pitchFamily="34" charset="-128"/>
              </a:rPr>
              <a:t> A</a:t>
            </a:r>
            <a:br>
              <a:rPr lang="en-IN" altLang="en-US" i="1" dirty="0">
                <a:ea typeface="ＭＳ Ｐゴシック" panose="020B0600070205080204" pitchFamily="34" charset="-128"/>
              </a:rPr>
            </a:br>
            <a:r>
              <a:rPr lang="en-IN" altLang="en-US" b="1" dirty="0">
                <a:ea typeface="ＭＳ Ｐゴシック" panose="020B0600070205080204" pitchFamily="34" charset="-128"/>
              </a:rPr>
              <a:t>order by </a:t>
            </a:r>
            <a:r>
              <a:rPr lang="en-IN" altLang="en-US" i="1" dirty="0" err="1">
                <a:ea typeface="ＭＳ Ｐゴシック" panose="020B0600070205080204" pitchFamily="34" charset="-128"/>
              </a:rPr>
              <a:t>s_rank</a:t>
            </a:r>
            <a:r>
              <a:rPr lang="en-IN" altLang="en-US" dirty="0">
                <a:ea typeface="ＭＳ Ｐゴシック" panose="020B0600070205080204" pitchFamily="34" charset="-128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855B8998-10B5-4A7D-B740-78BB9A45C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Ranking (Cont.)</a:t>
            </a:r>
            <a:endParaRPr lang="en-I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E022C26-7E6F-46F2-8709-AABBBED22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83192" cy="4903787"/>
          </a:xfrm>
        </p:spPr>
        <p:txBody>
          <a:bodyPr/>
          <a:lstStyle/>
          <a:p>
            <a:r>
              <a:rPr lang="en-US" altLang="en-US" dirty="0"/>
              <a:t>Ranking can be done within partition of the data.</a:t>
            </a:r>
          </a:p>
          <a:p>
            <a:r>
              <a:rPr lang="en-US" altLang="en-US" dirty="0"/>
              <a:t>“Find the rank of students within each department.”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select 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</a:t>
            </a:r>
            <a:br>
              <a:rPr lang="en-US" altLang="en-US" dirty="0"/>
            </a:br>
            <a:r>
              <a:rPr lang="en-US" altLang="en-US" dirty="0"/>
              <a:t>           </a:t>
            </a:r>
            <a:r>
              <a:rPr lang="en-US" altLang="en-US" b="1" dirty="0"/>
              <a:t>rank </a:t>
            </a:r>
            <a:r>
              <a:rPr lang="en-US" altLang="en-US" dirty="0"/>
              <a:t>() </a:t>
            </a:r>
            <a:r>
              <a:rPr lang="en-US" altLang="en-US" b="1" dirty="0"/>
              <a:t>over </a:t>
            </a:r>
            <a:r>
              <a:rPr lang="en-US" altLang="en-US" dirty="0"/>
              <a:t>(</a:t>
            </a:r>
            <a:r>
              <a:rPr lang="en-US" altLang="en-US" b="1" dirty="0"/>
              <a:t>partition by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b="1" dirty="0"/>
              <a:t>order by </a:t>
            </a:r>
            <a:r>
              <a:rPr lang="en-US" altLang="en-US" i="1" dirty="0"/>
              <a:t>GPA </a:t>
            </a:r>
            <a:r>
              <a:rPr lang="en-US" altLang="en-US" b="1" dirty="0" err="1"/>
              <a:t>desc</a:t>
            </a:r>
            <a:r>
              <a:rPr lang="en-US" altLang="en-US" dirty="0"/>
              <a:t>) </a:t>
            </a:r>
            <a:br>
              <a:rPr lang="en-US" altLang="en-US" dirty="0"/>
            </a:br>
            <a:r>
              <a:rPr lang="en-US" altLang="en-US" dirty="0"/>
              <a:t>                        </a:t>
            </a:r>
            <a:r>
              <a:rPr lang="en-US" altLang="en-US" b="1" dirty="0"/>
              <a:t>as </a:t>
            </a:r>
            <a:r>
              <a:rPr lang="en-US" altLang="en-US" i="1" dirty="0" err="1"/>
              <a:t>dept_rank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from </a:t>
            </a:r>
            <a:r>
              <a:rPr lang="en-US" altLang="en-US" i="1" dirty="0" err="1"/>
              <a:t>dept_grades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order by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 err="1"/>
              <a:t>dept_rank</a:t>
            </a:r>
            <a:r>
              <a:rPr lang="en-US" altLang="en-US" dirty="0"/>
              <a:t>;</a:t>
            </a:r>
          </a:p>
          <a:p>
            <a:r>
              <a:rPr lang="en-US" altLang="en-US" dirty="0"/>
              <a:t>Multiple </a:t>
            </a:r>
            <a:r>
              <a:rPr lang="en-US" altLang="en-US" b="1" dirty="0"/>
              <a:t>rank</a:t>
            </a:r>
            <a:r>
              <a:rPr lang="en-US" altLang="en-US" dirty="0"/>
              <a:t> clauses can occur in a single </a:t>
            </a:r>
            <a:r>
              <a:rPr lang="en-US" altLang="en-US" b="1" dirty="0"/>
              <a:t>select</a:t>
            </a:r>
            <a:r>
              <a:rPr lang="en-US" altLang="en-US" dirty="0"/>
              <a:t> clause.</a:t>
            </a:r>
          </a:p>
          <a:p>
            <a:r>
              <a:rPr lang="en-US" altLang="en-US" dirty="0"/>
              <a:t>Ranking is done </a:t>
            </a:r>
            <a:r>
              <a:rPr lang="en-US" altLang="en-US" i="1" dirty="0"/>
              <a:t>after</a:t>
            </a:r>
            <a:r>
              <a:rPr lang="en-US" altLang="en-US" dirty="0"/>
              <a:t> applying </a:t>
            </a:r>
            <a:r>
              <a:rPr lang="en-US" altLang="en-US" b="1" dirty="0"/>
              <a:t>group by</a:t>
            </a:r>
            <a:r>
              <a:rPr lang="en-US" altLang="en-US" dirty="0"/>
              <a:t> clause/aggregation</a:t>
            </a:r>
          </a:p>
          <a:p>
            <a:r>
              <a:rPr lang="en-US" altLang="en-US" dirty="0"/>
              <a:t>Can be used to find top-n results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More general than the </a:t>
            </a:r>
            <a:r>
              <a:rPr lang="en-US" altLang="en-US" b="1" dirty="0">
                <a:ea typeface="ＭＳ Ｐゴシック" panose="020B0600070205080204" pitchFamily="34" charset="-128"/>
              </a:rPr>
              <a:t>limit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clause supported by many databases, since it allows top-n within each partition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AFD2-0FE8-2281-3F30-D72610B8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D4C54-EEE1-3B0A-F590-6E012039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273629"/>
            <a:ext cx="7933098" cy="34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48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>
            <a:extLst>
              <a:ext uri="{FF2B5EF4-FFF2-40B4-BE49-F238E27FC236}">
                <a16:creationId xmlns:a16="http://schemas.microsoft.com/office/drawing/2014/main" id="{FC3F6036-E2F9-44E1-AD52-50D8EECD28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OLAP</a:t>
            </a:r>
            <a:endParaRPr lang="en-IN" altLang="en-US">
              <a:effectLst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>
            <a:extLst>
              <a:ext uri="{FF2B5EF4-FFF2-40B4-BE49-F238E27FC236}">
                <a16:creationId xmlns:a16="http://schemas.microsoft.com/office/drawing/2014/main" id="{6501EE5C-1DE8-4363-BDBC-F65681AE4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Data Analysis and OLAP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29619C2-DC6F-4BB0-89B7-0CDB37A12C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8349" y="1093788"/>
            <a:ext cx="7674315" cy="4903787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rgbClr val="000099"/>
                </a:solidFill>
              </a:rPr>
              <a:t>Online Analytical Processing (OLAP)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Interactive analysis of data, allowing data to be summarized and viewed in different ways in an online fashion (with negligible delay)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Data that can be modeled as dimension attributes and measure attributes are called </a:t>
            </a:r>
            <a:r>
              <a:rPr lang="en-US" altLang="en-US" b="1" dirty="0">
                <a:solidFill>
                  <a:srgbClr val="000099"/>
                </a:solidFill>
              </a:rPr>
              <a:t>multidimensional data</a:t>
            </a:r>
            <a:r>
              <a:rPr lang="en-US" altLang="en-US" dirty="0"/>
              <a:t>.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Measure attributes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measure some value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can be aggregated upon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e.g., the attribute </a:t>
            </a:r>
            <a:r>
              <a:rPr lang="en-US" altLang="en-US" i="1" dirty="0">
                <a:ea typeface="ＭＳ Ｐゴシック" panose="020B0600070205080204" pitchFamily="34" charset="-128"/>
              </a:rPr>
              <a:t>number </a:t>
            </a:r>
            <a:r>
              <a:rPr lang="en-US" altLang="en-US" dirty="0">
                <a:ea typeface="ＭＳ Ｐゴシック" panose="020B0600070205080204" pitchFamily="34" charset="-128"/>
              </a:rPr>
              <a:t>of the </a:t>
            </a:r>
            <a:r>
              <a:rPr lang="en-US" altLang="en-US" i="1" dirty="0">
                <a:ea typeface="ＭＳ Ｐゴシック" panose="020B0600070205080204" pitchFamily="34" charset="-128"/>
              </a:rPr>
              <a:t>sales </a:t>
            </a:r>
            <a:r>
              <a:rPr lang="en-US" altLang="en-US" dirty="0">
                <a:ea typeface="ＭＳ Ｐゴシック" panose="020B0600070205080204" pitchFamily="34" charset="-128"/>
              </a:rPr>
              <a:t>relation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Dimension attributes</a:t>
            </a:r>
            <a:endParaRPr lang="en-US" altLang="en-US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define the dimensions on which measure attributes (or aggregates thereof) are viewed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e.g., attributes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item_name</a:t>
            </a:r>
            <a:r>
              <a:rPr lang="en-US" altLang="en-US" i="1" dirty="0">
                <a:ea typeface="ＭＳ Ｐゴシック" panose="020B0600070205080204" pitchFamily="34" charset="-128"/>
              </a:rPr>
              <a:t>, color, </a:t>
            </a:r>
            <a:r>
              <a:rPr lang="en-US" altLang="en-US" dirty="0">
                <a:ea typeface="ＭＳ Ｐゴシック" panose="020B0600070205080204" pitchFamily="34" charset="-128"/>
              </a:rPr>
              <a:t>and</a:t>
            </a:r>
            <a:r>
              <a:rPr lang="en-US" altLang="en-US" i="1" dirty="0">
                <a:ea typeface="ＭＳ Ｐゴシック" panose="020B0600070205080204" pitchFamily="34" charset="-128"/>
              </a:rPr>
              <a:t> size </a:t>
            </a:r>
            <a:r>
              <a:rPr lang="en-US" altLang="en-US" dirty="0">
                <a:ea typeface="ＭＳ Ｐゴシック" panose="020B0600070205080204" pitchFamily="34" charset="-128"/>
              </a:rPr>
              <a:t>of the </a:t>
            </a:r>
            <a:r>
              <a:rPr lang="en-US" altLang="en-US" i="1" dirty="0">
                <a:ea typeface="ＭＳ Ｐゴシック" panose="020B0600070205080204" pitchFamily="34" charset="-128"/>
              </a:rPr>
              <a:t>sales </a:t>
            </a:r>
            <a:r>
              <a:rPr lang="en-US" altLang="en-US" dirty="0">
                <a:ea typeface="ＭＳ Ｐゴシック" panose="020B0600070205080204" pitchFamily="34" charset="-128"/>
              </a:rPr>
              <a:t>relation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A63B9AE9-C0A9-4225-987D-6ED26CBFD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Example sales relation </a:t>
            </a:r>
          </a:p>
        </p:txBody>
      </p:sp>
      <p:pic>
        <p:nvPicPr>
          <p:cNvPr id="54275" name="Picture 3" descr="5">
            <a:extLst>
              <a:ext uri="{FF2B5EF4-FFF2-40B4-BE49-F238E27FC236}">
                <a16:creationId xmlns:a16="http://schemas.microsoft.com/office/drawing/2014/main" id="{A5E4AEB3-3001-430E-B4D0-3B01B7EDE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46"/>
          <a:stretch>
            <a:fillRect/>
          </a:stretch>
        </p:blipFill>
        <p:spPr bwMode="auto">
          <a:xfrm>
            <a:off x="2374900" y="884238"/>
            <a:ext cx="4046538" cy="535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Text Box 4">
            <a:extLst>
              <a:ext uri="{FF2B5EF4-FFF2-40B4-BE49-F238E27FC236}">
                <a16:creationId xmlns:a16="http://schemas.microsoft.com/office/drawing/2014/main" id="{78FA38AA-448A-4638-B870-5D7615B78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6276975"/>
            <a:ext cx="355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...</a:t>
            </a:r>
          </a:p>
          <a:p>
            <a:r>
              <a:rPr lang="en-US" altLang="en-US"/>
              <a:t>...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C5A69B33-12CE-4097-BFA7-E33F9222C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6276975"/>
            <a:ext cx="355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...</a:t>
            </a:r>
          </a:p>
          <a:p>
            <a:r>
              <a:rPr lang="en-US" altLang="en-US"/>
              <a:t>...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BC7B81AD-31C6-4BA3-8678-CF7267600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6276975"/>
            <a:ext cx="355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...</a:t>
            </a:r>
          </a:p>
          <a:p>
            <a:r>
              <a:rPr lang="en-US" altLang="en-US"/>
              <a:t>...</a:t>
            </a: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2E91BCD7-99DA-4750-AF74-95B7B2A28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6276975"/>
            <a:ext cx="355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...</a:t>
            </a:r>
          </a:p>
          <a:p>
            <a:r>
              <a:rPr lang="en-US" altLang="en-US"/>
              <a:t>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169D6A57-912A-4326-A4E8-2A2DB9293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663" y="52388"/>
            <a:ext cx="8604250" cy="609600"/>
          </a:xfrm>
        </p:spPr>
        <p:txBody>
          <a:bodyPr/>
          <a:lstStyle/>
          <a:p>
            <a:pPr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Cross Tabulation of </a:t>
            </a:r>
            <a:r>
              <a:rPr lang="en-US" sz="2800" b="0" i="1">
                <a:effectLst>
                  <a:outerShdw blurRad="38100" dist="38100" dir="2700000" algn="tl">
                    <a:srgbClr val="C0C0C0"/>
                  </a:outerShdw>
                </a:effectLst>
              </a:rPr>
              <a:t>sales</a:t>
            </a: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by </a:t>
            </a:r>
            <a:r>
              <a:rPr lang="en-US" sz="2800" b="0" i="1">
                <a:effectLst>
                  <a:outerShdw blurRad="38100" dist="38100" dir="2700000" algn="tl">
                    <a:srgbClr val="C0C0C0"/>
                  </a:outerShdw>
                </a:effectLst>
              </a:rPr>
              <a:t>item_name </a:t>
            </a: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and </a:t>
            </a:r>
            <a:r>
              <a:rPr lang="en-US" sz="2800" b="0" i="1">
                <a:effectLst>
                  <a:outerShdw blurRad="38100" dist="38100" dir="2700000" algn="tl">
                    <a:srgbClr val="C0C0C0"/>
                  </a:outerShdw>
                </a:effectLst>
              </a:rPr>
              <a:t>color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ECCC4B4-1F18-4776-A684-B679A9F506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16746" y="3959225"/>
            <a:ext cx="7844654" cy="2674938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dirty="0"/>
              <a:t>The table above is an example of a </a:t>
            </a:r>
            <a:r>
              <a:rPr lang="en-US" altLang="en-US" b="1" dirty="0">
                <a:solidFill>
                  <a:srgbClr val="000099"/>
                </a:solidFill>
              </a:rPr>
              <a:t>cross-tabulation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0099"/>
                </a:solidFill>
              </a:rPr>
              <a:t>cross-tab</a:t>
            </a:r>
            <a:r>
              <a:rPr lang="en-US" altLang="en-US" dirty="0"/>
              <a:t>), also referred to as a </a:t>
            </a:r>
            <a:r>
              <a:rPr lang="en-US" altLang="en-US" b="1" dirty="0">
                <a:solidFill>
                  <a:srgbClr val="000099"/>
                </a:solidFill>
              </a:rPr>
              <a:t>pivot-table</a:t>
            </a:r>
            <a:r>
              <a:rPr lang="en-US" altLang="en-US" dirty="0"/>
              <a:t>.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Values for one of the dimension attributes form the row headers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Values for another dimension attribute form the column headers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Other dimension attributes are listed on top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Values in individual cells are (aggregates of) the values of the 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dimension attributes that specify the cell.</a:t>
            </a:r>
          </a:p>
        </p:txBody>
      </p:sp>
      <p:pic>
        <p:nvPicPr>
          <p:cNvPr id="55300" name="Picture 7">
            <a:extLst>
              <a:ext uri="{FF2B5EF4-FFF2-40B4-BE49-F238E27FC236}">
                <a16:creationId xmlns:a16="http://schemas.microsoft.com/office/drawing/2014/main" id="{09C53CDB-1095-4FA4-8F57-748A2353E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307" y="985443"/>
            <a:ext cx="6181386" cy="278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EC789CC1-5222-4A5C-B5D2-2CC408EA7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Data Cube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D6E34C8-9CCF-4DB9-8931-D467C82C4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5059363"/>
            <a:ext cx="8181975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IN" altLang="en-US" sz="2000" b="1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EC7BB68F-1F0E-4D96-B843-EBD71EDA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162975"/>
            <a:ext cx="8016875" cy="72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A </a:t>
            </a:r>
            <a:r>
              <a:rPr kumimoji="1" lang="en-US" altLang="en-US" sz="1700" b="1" dirty="0">
                <a:solidFill>
                  <a:srgbClr val="000099"/>
                </a:solidFill>
              </a:rPr>
              <a:t>data cube</a:t>
            </a:r>
            <a:r>
              <a:rPr kumimoji="1" lang="en-US" altLang="en-US" sz="1700" dirty="0"/>
              <a:t> is a multidimensional generalization of a cross-tab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Can have </a:t>
            </a:r>
            <a:r>
              <a:rPr kumimoji="1" lang="en-US" altLang="en-US" sz="1700" i="1" dirty="0"/>
              <a:t>n </a:t>
            </a:r>
            <a:r>
              <a:rPr kumimoji="1" lang="en-US" altLang="en-US" sz="1700" dirty="0"/>
              <a:t> dimensions; we show 3 below 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Cross-tabs can be used as views on a data cube</a:t>
            </a:r>
          </a:p>
        </p:txBody>
      </p:sp>
      <p:pic>
        <p:nvPicPr>
          <p:cNvPr id="56325" name="Picture 7" descr="5">
            <a:extLst>
              <a:ext uri="{FF2B5EF4-FFF2-40B4-BE49-F238E27FC236}">
                <a16:creationId xmlns:a16="http://schemas.microsoft.com/office/drawing/2014/main" id="{AA4E7A54-E5A2-4F68-9E32-EF1A9DE6D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2503488"/>
            <a:ext cx="4538662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>
            <a:extLst>
              <a:ext uri="{FF2B5EF4-FFF2-40B4-BE49-F238E27FC236}">
                <a16:creationId xmlns:a16="http://schemas.microsoft.com/office/drawing/2014/main" id="{D4F88ED0-9ED9-4BC3-8A98-213849EED2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End of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92949</TotalTime>
  <Words>1792</Words>
  <Application>Microsoft Office PowerPoint</Application>
  <PresentationFormat>On-screen Show (4:3)</PresentationFormat>
  <Paragraphs>229</Paragraphs>
  <Slides>39</Slides>
  <Notes>25</Notes>
  <HiddenSlides>4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  <vt:variant>
        <vt:lpstr>Custom Shows</vt:lpstr>
      </vt:variant>
      <vt:variant>
        <vt:i4>1</vt:i4>
      </vt:variant>
    </vt:vector>
  </HeadingPairs>
  <TitlesOfParts>
    <vt:vector size="49" baseType="lpstr">
      <vt:lpstr>ＭＳ Ｐゴシック</vt:lpstr>
      <vt:lpstr>Arial</vt:lpstr>
      <vt:lpstr>Helvetica</vt:lpstr>
      <vt:lpstr>Monotype Sorts</vt:lpstr>
      <vt:lpstr>Tahoma</vt:lpstr>
      <vt:lpstr>Times New Roman</vt:lpstr>
      <vt:lpstr>Webdings</vt:lpstr>
      <vt:lpstr>Wingdings</vt:lpstr>
      <vt:lpstr>2_db-5-grey</vt:lpstr>
      <vt:lpstr>Chapter 5: Advanced SQL</vt:lpstr>
      <vt:lpstr>Outline</vt:lpstr>
      <vt:lpstr>PowerPoint Presentation</vt:lpstr>
      <vt:lpstr>Functions and Procedures</vt:lpstr>
      <vt:lpstr>Declaring SQL Functions</vt:lpstr>
      <vt:lpstr>Table Functions</vt:lpstr>
      <vt:lpstr>SQL Procedures</vt:lpstr>
      <vt:lpstr>Language Constructs for Procedures &amp; Functions</vt:lpstr>
      <vt:lpstr>Examples</vt:lpstr>
      <vt:lpstr>PowerPoint Presentation</vt:lpstr>
      <vt:lpstr>Example pgSQL</vt:lpstr>
      <vt:lpstr>Language Constructs (Cont.)</vt:lpstr>
      <vt:lpstr>For and While/Repeat Difference</vt:lpstr>
      <vt:lpstr>Same Example</vt:lpstr>
      <vt:lpstr>Example</vt:lpstr>
      <vt:lpstr>Language Constructs – if-then-else</vt:lpstr>
      <vt:lpstr>Example</vt:lpstr>
      <vt:lpstr>PowerPoint Presentation</vt:lpstr>
      <vt:lpstr>Triggers</vt:lpstr>
      <vt:lpstr>Triggers and Procedure/Function Difference</vt:lpstr>
      <vt:lpstr>Triggering Events and Actions in SQL</vt:lpstr>
      <vt:lpstr>Trigger to Maintain credits_earned value</vt:lpstr>
      <vt:lpstr>Statement Level Triggers</vt:lpstr>
      <vt:lpstr>Statement Level Triggers</vt:lpstr>
      <vt:lpstr>Statement Level Triggers (cont’)</vt:lpstr>
      <vt:lpstr>Flow Summary — Row-Level Trigger</vt:lpstr>
      <vt:lpstr>Flow Summary — Statement-Level Trigger (with Transition Tables)</vt:lpstr>
      <vt:lpstr>Advanced Aggregation Features</vt:lpstr>
      <vt:lpstr>Ranking</vt:lpstr>
      <vt:lpstr>Rank() vs. Dense_Rank()</vt:lpstr>
      <vt:lpstr>Ranking</vt:lpstr>
      <vt:lpstr>Ranking (Cont.)</vt:lpstr>
      <vt:lpstr>Example</vt:lpstr>
      <vt:lpstr>OLAP</vt:lpstr>
      <vt:lpstr>Data Analysis and OLAP</vt:lpstr>
      <vt:lpstr>Example sales relation </vt:lpstr>
      <vt:lpstr>Cross Tabulation of sales by item_name and color</vt:lpstr>
      <vt:lpstr>Data Cube</vt:lpstr>
      <vt:lpstr>End of Chapter 5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Ahsan Shah</cp:lastModifiedBy>
  <cp:revision>524</cp:revision>
  <cp:lastPrinted>1999-06-28T19:27:31Z</cp:lastPrinted>
  <dcterms:created xsi:type="dcterms:W3CDTF">2009-12-21T15:40:22Z</dcterms:created>
  <dcterms:modified xsi:type="dcterms:W3CDTF">2026-09-24T05:30:13Z</dcterms:modified>
</cp:coreProperties>
</file>