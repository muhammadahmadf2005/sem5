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59" r:id="rId8"/>
    <p:sldId id="262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61" r:id="rId19"/>
    <p:sldId id="275" r:id="rId20"/>
    <p:sldId id="263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64" r:id="rId31"/>
    <p:sldId id="285" r:id="rId3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4244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244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244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244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00050"/>
            <a:ext cx="5410200" cy="50800"/>
          </a:xfrm>
          <a:custGeom>
            <a:avLst/>
            <a:gdLst/>
            <a:ahLst/>
            <a:cxnLst/>
            <a:rect l="l" t="t" r="r" b="b"/>
            <a:pathLst>
              <a:path w="5410200" h="50800">
                <a:moveTo>
                  <a:pt x="0" y="50800"/>
                </a:moveTo>
                <a:lnTo>
                  <a:pt x="5410200" y="50800"/>
                </a:lnTo>
                <a:lnTo>
                  <a:pt x="5410200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43808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307975"/>
          </a:xfrm>
          <a:custGeom>
            <a:avLst/>
            <a:gdLst/>
            <a:ahLst/>
            <a:cxnLst/>
            <a:rect l="l" t="t" r="r" b="b"/>
            <a:pathLst>
              <a:path w="9144000" h="307975">
                <a:moveTo>
                  <a:pt x="0" y="307975"/>
                </a:moveTo>
                <a:lnTo>
                  <a:pt x="9144000" y="307975"/>
                </a:lnTo>
                <a:lnTo>
                  <a:pt x="9144000" y="0"/>
                </a:lnTo>
                <a:lnTo>
                  <a:pt x="0" y="0"/>
                </a:lnTo>
                <a:lnTo>
                  <a:pt x="0" y="307975"/>
                </a:lnTo>
                <a:close/>
              </a:path>
            </a:pathLst>
          </a:custGeom>
          <a:solidFill>
            <a:srgbClr val="4244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307974"/>
            <a:ext cx="9144000" cy="142875"/>
          </a:xfrm>
          <a:custGeom>
            <a:avLst/>
            <a:gdLst/>
            <a:ahLst/>
            <a:cxnLst/>
            <a:rect l="l" t="t" r="r" b="b"/>
            <a:pathLst>
              <a:path w="9144000" h="142875">
                <a:moveTo>
                  <a:pt x="9144000" y="0"/>
                </a:moveTo>
                <a:lnTo>
                  <a:pt x="0" y="0"/>
                </a:lnTo>
                <a:lnTo>
                  <a:pt x="0" y="92075"/>
                </a:lnTo>
                <a:lnTo>
                  <a:pt x="5410200" y="92075"/>
                </a:lnTo>
                <a:lnTo>
                  <a:pt x="5410200" y="142875"/>
                </a:lnTo>
                <a:lnTo>
                  <a:pt x="9144000" y="142875"/>
                </a:lnTo>
                <a:lnTo>
                  <a:pt x="9144000" y="92075"/>
                </a:lnTo>
                <a:lnTo>
                  <a:pt x="9144000" y="52387"/>
                </a:lnTo>
                <a:lnTo>
                  <a:pt x="9144000" y="0"/>
                </a:lnTo>
                <a:close/>
              </a:path>
            </a:pathLst>
          </a:custGeom>
          <a:solidFill>
            <a:srgbClr val="4380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410200" y="439801"/>
            <a:ext cx="3733800" cy="180975"/>
          </a:xfrm>
          <a:custGeom>
            <a:avLst/>
            <a:gdLst/>
            <a:ahLst/>
            <a:cxnLst/>
            <a:rect l="l" t="t" r="r" b="b"/>
            <a:pathLst>
              <a:path w="3733800" h="180975">
                <a:moveTo>
                  <a:pt x="3733800" y="0"/>
                </a:moveTo>
                <a:lnTo>
                  <a:pt x="0" y="0"/>
                </a:lnTo>
                <a:lnTo>
                  <a:pt x="0" y="180975"/>
                </a:lnTo>
                <a:lnTo>
                  <a:pt x="3733800" y="180975"/>
                </a:lnTo>
                <a:lnTo>
                  <a:pt x="3733800" y="0"/>
                </a:lnTo>
                <a:close/>
              </a:path>
            </a:pathLst>
          </a:custGeom>
          <a:solidFill>
            <a:srgbClr val="43808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5407025" y="496950"/>
            <a:ext cx="3567429" cy="128905"/>
          </a:xfrm>
          <a:custGeom>
            <a:avLst/>
            <a:gdLst/>
            <a:ahLst/>
            <a:cxnLst/>
            <a:rect l="l" t="t" r="r" b="b"/>
            <a:pathLst>
              <a:path w="3567429" h="128904">
                <a:moveTo>
                  <a:pt x="3063875" y="2032"/>
                </a:moveTo>
                <a:lnTo>
                  <a:pt x="3061716" y="0"/>
                </a:lnTo>
                <a:lnTo>
                  <a:pt x="2159" y="0"/>
                </a:lnTo>
                <a:lnTo>
                  <a:pt x="0" y="2032"/>
                </a:lnTo>
                <a:lnTo>
                  <a:pt x="0" y="4699"/>
                </a:lnTo>
                <a:lnTo>
                  <a:pt x="0" y="26416"/>
                </a:lnTo>
                <a:lnTo>
                  <a:pt x="2159" y="28575"/>
                </a:lnTo>
                <a:lnTo>
                  <a:pt x="3061716" y="28575"/>
                </a:lnTo>
                <a:lnTo>
                  <a:pt x="3063875" y="26416"/>
                </a:lnTo>
                <a:lnTo>
                  <a:pt x="3063875" y="2032"/>
                </a:lnTo>
                <a:close/>
              </a:path>
              <a:path w="3567429" h="128904">
                <a:moveTo>
                  <a:pt x="3567176" y="94742"/>
                </a:moveTo>
                <a:lnTo>
                  <a:pt x="3564382" y="92075"/>
                </a:lnTo>
                <a:lnTo>
                  <a:pt x="1969643" y="92075"/>
                </a:lnTo>
                <a:lnTo>
                  <a:pt x="1966976" y="94742"/>
                </a:lnTo>
                <a:lnTo>
                  <a:pt x="1966976" y="98044"/>
                </a:lnTo>
                <a:lnTo>
                  <a:pt x="1966976" y="125857"/>
                </a:lnTo>
                <a:lnTo>
                  <a:pt x="1969643" y="128524"/>
                </a:lnTo>
                <a:lnTo>
                  <a:pt x="3564382" y="128524"/>
                </a:lnTo>
                <a:lnTo>
                  <a:pt x="3567176" y="125857"/>
                </a:lnTo>
                <a:lnTo>
                  <a:pt x="3567176" y="947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044051" y="-1587"/>
            <a:ext cx="98425" cy="621030"/>
          </a:xfrm>
          <a:custGeom>
            <a:avLst/>
            <a:gdLst/>
            <a:ahLst/>
            <a:cxnLst/>
            <a:rect l="l" t="t" r="r" b="b"/>
            <a:pathLst>
              <a:path w="98425" h="621030">
                <a:moveTo>
                  <a:pt x="28575" y="0"/>
                </a:moveTo>
                <a:lnTo>
                  <a:pt x="0" y="0"/>
                </a:lnTo>
                <a:lnTo>
                  <a:pt x="0" y="620712"/>
                </a:lnTo>
                <a:lnTo>
                  <a:pt x="28575" y="620712"/>
                </a:lnTo>
                <a:lnTo>
                  <a:pt x="28575" y="0"/>
                </a:lnTo>
                <a:close/>
              </a:path>
              <a:path w="98425" h="621030">
                <a:moveTo>
                  <a:pt x="98425" y="0"/>
                </a:moveTo>
                <a:lnTo>
                  <a:pt x="41275" y="0"/>
                </a:lnTo>
                <a:lnTo>
                  <a:pt x="41275" y="620712"/>
                </a:lnTo>
                <a:lnTo>
                  <a:pt x="98425" y="620712"/>
                </a:lnTo>
                <a:lnTo>
                  <a:pt x="98425" y="0"/>
                </a:lnTo>
                <a:close/>
              </a:path>
            </a:pathLst>
          </a:custGeom>
          <a:solidFill>
            <a:srgbClr val="FFFFFF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025001" y="-1587"/>
            <a:ext cx="9525" cy="621030"/>
          </a:xfrm>
          <a:custGeom>
            <a:avLst/>
            <a:gdLst/>
            <a:ahLst/>
            <a:cxnLst/>
            <a:rect l="l" t="t" r="r" b="b"/>
            <a:pathLst>
              <a:path w="9525" h="621030">
                <a:moveTo>
                  <a:pt x="9525" y="0"/>
                </a:moveTo>
                <a:lnTo>
                  <a:pt x="0" y="0"/>
                </a:lnTo>
                <a:lnTo>
                  <a:pt x="0" y="620712"/>
                </a:lnTo>
                <a:lnTo>
                  <a:pt x="9525" y="620712"/>
                </a:lnTo>
                <a:lnTo>
                  <a:pt x="9525" y="0"/>
                </a:lnTo>
                <a:close/>
              </a:path>
            </a:pathLst>
          </a:custGeom>
          <a:solidFill>
            <a:srgbClr val="FFFFFF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975725" y="-1587"/>
            <a:ext cx="27305" cy="621030"/>
          </a:xfrm>
          <a:custGeom>
            <a:avLst/>
            <a:gdLst/>
            <a:ahLst/>
            <a:cxnLst/>
            <a:rect l="l" t="t" r="r" b="b"/>
            <a:pathLst>
              <a:path w="27304" h="621030">
                <a:moveTo>
                  <a:pt x="26988" y="0"/>
                </a:moveTo>
                <a:lnTo>
                  <a:pt x="0" y="0"/>
                </a:lnTo>
                <a:lnTo>
                  <a:pt x="0" y="620712"/>
                </a:lnTo>
                <a:lnTo>
                  <a:pt x="26988" y="620712"/>
                </a:lnTo>
                <a:lnTo>
                  <a:pt x="26988" y="0"/>
                </a:lnTo>
                <a:close/>
              </a:path>
            </a:pathLst>
          </a:custGeom>
          <a:solidFill>
            <a:srgbClr val="FFFF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915400" y="63"/>
            <a:ext cx="55880" cy="586105"/>
          </a:xfrm>
          <a:custGeom>
            <a:avLst/>
            <a:gdLst/>
            <a:ahLst/>
            <a:cxnLst/>
            <a:rect l="l" t="t" r="r" b="b"/>
            <a:pathLst>
              <a:path w="55879" h="586105">
                <a:moveTo>
                  <a:pt x="55563" y="0"/>
                </a:moveTo>
                <a:lnTo>
                  <a:pt x="0" y="0"/>
                </a:lnTo>
                <a:lnTo>
                  <a:pt x="0" y="585787"/>
                </a:lnTo>
                <a:lnTo>
                  <a:pt x="55563" y="585787"/>
                </a:lnTo>
                <a:lnTo>
                  <a:pt x="55563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874125" y="63"/>
            <a:ext cx="8255" cy="586105"/>
          </a:xfrm>
          <a:custGeom>
            <a:avLst/>
            <a:gdLst/>
            <a:ahLst/>
            <a:cxnLst/>
            <a:rect l="l" t="t" r="r" b="b"/>
            <a:pathLst>
              <a:path w="8254" h="586105">
                <a:moveTo>
                  <a:pt x="7938" y="0"/>
                </a:moveTo>
                <a:lnTo>
                  <a:pt x="0" y="0"/>
                </a:lnTo>
                <a:lnTo>
                  <a:pt x="0" y="585787"/>
                </a:lnTo>
                <a:lnTo>
                  <a:pt x="7938" y="585787"/>
                </a:lnTo>
                <a:lnTo>
                  <a:pt x="7938" y="0"/>
                </a:lnTo>
                <a:close/>
              </a:path>
            </a:pathLst>
          </a:custGeom>
          <a:solidFill>
            <a:srgbClr val="FFFFFF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6244" y="736168"/>
            <a:ext cx="8071510" cy="1244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4244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5972" y="2228581"/>
            <a:ext cx="6471284" cy="4196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4208780"/>
            <a:chOff x="0" y="0"/>
            <a:chExt cx="9144000" cy="4208780"/>
          </a:xfrm>
        </p:grpSpPr>
        <p:sp>
          <p:nvSpPr>
            <p:cNvPr id="3" name="object 3"/>
            <p:cNvSpPr/>
            <p:nvPr/>
          </p:nvSpPr>
          <p:spPr>
            <a:xfrm>
              <a:off x="5410200" y="3810063"/>
              <a:ext cx="3733800" cy="90805"/>
            </a:xfrm>
            <a:custGeom>
              <a:avLst/>
              <a:gdLst/>
              <a:ahLst/>
              <a:cxnLst/>
              <a:rect l="l" t="t" r="r" b="b"/>
              <a:pathLst>
                <a:path w="3733800" h="90804">
                  <a:moveTo>
                    <a:pt x="3733800" y="0"/>
                  </a:moveTo>
                  <a:lnTo>
                    <a:pt x="0" y="0"/>
                  </a:lnTo>
                  <a:lnTo>
                    <a:pt x="0" y="90487"/>
                  </a:lnTo>
                  <a:lnTo>
                    <a:pt x="3733800" y="90487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4380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410200" y="3897312"/>
              <a:ext cx="3733800" cy="192405"/>
            </a:xfrm>
            <a:custGeom>
              <a:avLst/>
              <a:gdLst/>
              <a:ahLst/>
              <a:cxnLst/>
              <a:rect l="l" t="t" r="r" b="b"/>
              <a:pathLst>
                <a:path w="3733800" h="192404">
                  <a:moveTo>
                    <a:pt x="3733800" y="0"/>
                  </a:moveTo>
                  <a:lnTo>
                    <a:pt x="0" y="0"/>
                  </a:lnTo>
                  <a:lnTo>
                    <a:pt x="0" y="192087"/>
                  </a:lnTo>
                  <a:lnTo>
                    <a:pt x="3733800" y="192087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43808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10200" y="4114800"/>
              <a:ext cx="3733800" cy="9525"/>
            </a:xfrm>
            <a:custGeom>
              <a:avLst/>
              <a:gdLst/>
              <a:ahLst/>
              <a:cxnLst/>
              <a:rect l="l" t="t" r="r" b="b"/>
              <a:pathLst>
                <a:path w="3733800" h="9525">
                  <a:moveTo>
                    <a:pt x="37338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733800" y="9525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43808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10200" y="4164076"/>
              <a:ext cx="1965325" cy="19050"/>
            </a:xfrm>
            <a:custGeom>
              <a:avLst/>
              <a:gdLst/>
              <a:ahLst/>
              <a:cxnLst/>
              <a:rect l="l" t="t" r="r" b="b"/>
              <a:pathLst>
                <a:path w="1965325" h="19050">
                  <a:moveTo>
                    <a:pt x="1965325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1965325" y="19050"/>
                  </a:lnTo>
                  <a:lnTo>
                    <a:pt x="1965325" y="0"/>
                  </a:lnTo>
                  <a:close/>
                </a:path>
              </a:pathLst>
            </a:custGeom>
            <a:solidFill>
              <a:srgbClr val="438085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10200" y="4199001"/>
              <a:ext cx="1965325" cy="9525"/>
            </a:xfrm>
            <a:custGeom>
              <a:avLst/>
              <a:gdLst/>
              <a:ahLst/>
              <a:cxnLst/>
              <a:rect l="l" t="t" r="r" b="b"/>
              <a:pathLst>
                <a:path w="1965325" h="9525">
                  <a:moveTo>
                    <a:pt x="19653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965325" y="9525"/>
                  </a:lnTo>
                  <a:lnTo>
                    <a:pt x="1965325" y="0"/>
                  </a:lnTo>
                  <a:close/>
                </a:path>
              </a:pathLst>
            </a:custGeom>
            <a:solidFill>
              <a:srgbClr val="43808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10200" y="3962400"/>
              <a:ext cx="3567429" cy="135255"/>
            </a:xfrm>
            <a:custGeom>
              <a:avLst/>
              <a:gdLst/>
              <a:ahLst/>
              <a:cxnLst/>
              <a:rect l="l" t="t" r="r" b="b"/>
              <a:pathLst>
                <a:path w="3567429" h="135254">
                  <a:moveTo>
                    <a:pt x="3063875" y="2032"/>
                  </a:moveTo>
                  <a:lnTo>
                    <a:pt x="3061843" y="0"/>
                  </a:lnTo>
                  <a:lnTo>
                    <a:pt x="2032" y="0"/>
                  </a:lnTo>
                  <a:lnTo>
                    <a:pt x="0" y="2032"/>
                  </a:lnTo>
                  <a:lnTo>
                    <a:pt x="0" y="4445"/>
                  </a:lnTo>
                  <a:lnTo>
                    <a:pt x="0" y="25019"/>
                  </a:lnTo>
                  <a:lnTo>
                    <a:pt x="2032" y="27051"/>
                  </a:lnTo>
                  <a:lnTo>
                    <a:pt x="3061843" y="27051"/>
                  </a:lnTo>
                  <a:lnTo>
                    <a:pt x="3063875" y="25019"/>
                  </a:lnTo>
                  <a:lnTo>
                    <a:pt x="3063875" y="2032"/>
                  </a:lnTo>
                  <a:close/>
                </a:path>
                <a:path w="3567429" h="135254">
                  <a:moveTo>
                    <a:pt x="3567176" y="101092"/>
                  </a:moveTo>
                  <a:lnTo>
                    <a:pt x="3564382" y="98425"/>
                  </a:lnTo>
                  <a:lnTo>
                    <a:pt x="1969643" y="98425"/>
                  </a:lnTo>
                  <a:lnTo>
                    <a:pt x="1966976" y="101092"/>
                  </a:lnTo>
                  <a:lnTo>
                    <a:pt x="1966976" y="104521"/>
                  </a:lnTo>
                  <a:lnTo>
                    <a:pt x="1966976" y="132207"/>
                  </a:lnTo>
                  <a:lnTo>
                    <a:pt x="1969643" y="135001"/>
                  </a:lnTo>
                  <a:lnTo>
                    <a:pt x="3564382" y="135001"/>
                  </a:lnTo>
                  <a:lnTo>
                    <a:pt x="3567176" y="132207"/>
                  </a:lnTo>
                  <a:lnTo>
                    <a:pt x="3567176" y="1010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816350"/>
              <a:ext cx="9144000" cy="78105"/>
            </a:xfrm>
            <a:custGeom>
              <a:avLst/>
              <a:gdLst/>
              <a:ahLst/>
              <a:cxnLst/>
              <a:rect l="l" t="t" r="r" b="b"/>
              <a:pathLst>
                <a:path w="9144000" h="78104">
                  <a:moveTo>
                    <a:pt x="0" y="77850"/>
                  </a:moveTo>
                  <a:lnTo>
                    <a:pt x="9144000" y="7785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7850"/>
                  </a:lnTo>
                  <a:close/>
                </a:path>
              </a:pathLst>
            </a:custGeom>
            <a:solidFill>
              <a:srgbClr val="43808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702050"/>
              <a:ext cx="9144000" cy="189230"/>
            </a:xfrm>
            <a:custGeom>
              <a:avLst/>
              <a:gdLst/>
              <a:ahLst/>
              <a:cxnLst/>
              <a:rect l="l" t="t" r="r" b="b"/>
              <a:pathLst>
                <a:path w="9144000" h="189229">
                  <a:moveTo>
                    <a:pt x="9144000" y="0"/>
                  </a:moveTo>
                  <a:lnTo>
                    <a:pt x="6413500" y="0"/>
                  </a:lnTo>
                  <a:lnTo>
                    <a:pt x="0" y="0"/>
                  </a:lnTo>
                  <a:lnTo>
                    <a:pt x="0" y="114300"/>
                  </a:lnTo>
                  <a:lnTo>
                    <a:pt x="6413500" y="114300"/>
                  </a:lnTo>
                  <a:lnTo>
                    <a:pt x="6413500" y="188976"/>
                  </a:lnTo>
                  <a:lnTo>
                    <a:pt x="9144000" y="188976"/>
                  </a:lnTo>
                  <a:lnTo>
                    <a:pt x="9144000" y="1143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380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0"/>
              <a:ext cx="9144000" cy="3702050"/>
            </a:xfrm>
            <a:custGeom>
              <a:avLst/>
              <a:gdLst/>
              <a:ahLst/>
              <a:cxnLst/>
              <a:rect l="l" t="t" r="r" b="b"/>
              <a:pathLst>
                <a:path w="9144000" h="3702050">
                  <a:moveTo>
                    <a:pt x="9144000" y="0"/>
                  </a:moveTo>
                  <a:lnTo>
                    <a:pt x="0" y="0"/>
                  </a:lnTo>
                  <a:lnTo>
                    <a:pt x="0" y="3702050"/>
                  </a:lnTo>
                  <a:lnTo>
                    <a:pt x="9144000" y="37020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44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36244" y="2460447"/>
            <a:ext cx="589407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>
                <a:solidFill>
                  <a:srgbClr val="FFFFFF"/>
                </a:solidFill>
              </a:rPr>
              <a:t>Software</a:t>
            </a:r>
            <a:r>
              <a:rPr sz="4400" spc="-275" dirty="0">
                <a:solidFill>
                  <a:srgbClr val="FFFFFF"/>
                </a:solidFill>
              </a:rPr>
              <a:t> </a:t>
            </a:r>
            <a:r>
              <a:rPr sz="4400" dirty="0">
                <a:solidFill>
                  <a:srgbClr val="FFFFFF"/>
                </a:solidFill>
              </a:rPr>
              <a:t>Process</a:t>
            </a:r>
            <a:r>
              <a:rPr sz="4400" spc="-235" dirty="0">
                <a:solidFill>
                  <a:srgbClr val="FFFFFF"/>
                </a:solidFill>
              </a:rPr>
              <a:t> </a:t>
            </a:r>
            <a:r>
              <a:rPr sz="4400" spc="-10" dirty="0">
                <a:solidFill>
                  <a:srgbClr val="FFFFFF"/>
                </a:solidFill>
              </a:rPr>
              <a:t>Model</a:t>
            </a:r>
            <a:endParaRPr sz="4400" dirty="0"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230DA288-46C4-014F-A36F-CEA64FBC3DC6}"/>
              </a:ext>
            </a:extLst>
          </p:cNvPr>
          <p:cNvSpPr txBox="1">
            <a:spLocks/>
          </p:cNvSpPr>
          <p:nvPr/>
        </p:nvSpPr>
        <p:spPr>
          <a:xfrm>
            <a:off x="498792" y="4648200"/>
            <a:ext cx="589407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4000" b="0" i="0">
                <a:solidFill>
                  <a:srgbClr val="424455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sz="4400" dirty="0">
                <a:solidFill>
                  <a:schemeClr val="tx1"/>
                </a:solidFill>
              </a:rPr>
              <a:t>Week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2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45972" y="2228581"/>
            <a:ext cx="6471284" cy="3810658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434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dirty="0"/>
              <a:t>SDLC</a:t>
            </a:r>
            <a:r>
              <a:rPr spc="-55" dirty="0"/>
              <a:t> </a:t>
            </a:r>
            <a:r>
              <a:rPr spc="-10" dirty="0"/>
              <a:t>Models</a:t>
            </a:r>
          </a:p>
          <a:p>
            <a:pPr marL="571500" marR="3272154" lvl="1" indent="-571500" algn="r">
              <a:lnSpc>
                <a:spcPct val="100000"/>
              </a:lnSpc>
              <a:spcBef>
                <a:spcPts val="300"/>
              </a:spcBef>
              <a:buClr>
                <a:srgbClr val="438085"/>
              </a:buClr>
              <a:buAutoNum type="arabicPeriod"/>
              <a:tabLst>
                <a:tab pos="571500" algn="l"/>
              </a:tabLst>
            </a:pPr>
            <a:r>
              <a:rPr sz="2600" b="1" dirty="0">
                <a:solidFill>
                  <a:srgbClr val="9293BD"/>
                </a:solidFill>
                <a:latin typeface="Times New Roman"/>
                <a:cs typeface="Times New Roman"/>
              </a:rPr>
              <a:t>Sequential</a:t>
            </a:r>
            <a:r>
              <a:rPr sz="2600" b="1" spc="-140" dirty="0">
                <a:solidFill>
                  <a:srgbClr val="9293BD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9293BD"/>
                </a:solidFill>
                <a:latin typeface="Times New Roman"/>
                <a:cs typeface="Times New Roman"/>
              </a:rPr>
              <a:t>model</a:t>
            </a:r>
            <a:endParaRPr sz="2600" dirty="0">
              <a:latin typeface="Times New Roman"/>
              <a:cs typeface="Times New Roman"/>
            </a:endParaRPr>
          </a:p>
          <a:p>
            <a:pPr marL="571500" marR="3249930" lvl="2" indent="-571500" algn="r">
              <a:lnSpc>
                <a:spcPct val="100000"/>
              </a:lnSpc>
              <a:spcBef>
                <a:spcPts val="325"/>
              </a:spcBef>
              <a:buClr>
                <a:srgbClr val="525389"/>
              </a:buClr>
              <a:buFont typeface="Wingdings"/>
              <a:buChar char=""/>
              <a:tabLst>
                <a:tab pos="571500" algn="l"/>
              </a:tabLst>
            </a:pP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Waterfall</a:t>
            </a:r>
            <a:r>
              <a:rPr sz="2400" b="1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model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1032510" lvl="2" indent="-571500">
              <a:lnSpc>
                <a:spcPct val="100000"/>
              </a:lnSpc>
              <a:spcBef>
                <a:spcPts val="290"/>
              </a:spcBef>
              <a:buClr>
                <a:srgbClr val="525389"/>
              </a:buClr>
              <a:buFont typeface="Wingdings"/>
              <a:buChar char=""/>
              <a:tabLst>
                <a:tab pos="1032510" algn="l"/>
              </a:tabLst>
            </a:pPr>
            <a:r>
              <a:rPr sz="2400" b="1" spc="-114" dirty="0">
                <a:solidFill>
                  <a:srgbClr val="FF0000"/>
                </a:solidFill>
                <a:latin typeface="Times New Roman"/>
                <a:cs typeface="Times New Roman"/>
              </a:rPr>
              <a:t>V-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model</a:t>
            </a:r>
            <a:endParaRPr sz="2400" dirty="0">
              <a:latin typeface="Times New Roman"/>
              <a:cs typeface="Times New Roman"/>
            </a:endParaRPr>
          </a:p>
          <a:p>
            <a:pPr marL="767080" lvl="1" indent="-572135">
              <a:lnSpc>
                <a:spcPct val="100000"/>
              </a:lnSpc>
              <a:spcBef>
                <a:spcPts val="305"/>
              </a:spcBef>
              <a:buClr>
                <a:srgbClr val="438085"/>
              </a:buClr>
              <a:buAutoNum type="arabicPeriod"/>
              <a:tabLst>
                <a:tab pos="767080" algn="l"/>
              </a:tabLst>
            </a:pPr>
            <a:r>
              <a:rPr sz="2600" b="1" spc="-10" dirty="0">
                <a:solidFill>
                  <a:srgbClr val="9293BD"/>
                </a:solidFill>
                <a:latin typeface="Times New Roman"/>
                <a:cs typeface="Times New Roman"/>
              </a:rPr>
              <a:t>Incremental</a:t>
            </a:r>
            <a:r>
              <a:rPr sz="2600" b="1" spc="-114" dirty="0">
                <a:solidFill>
                  <a:srgbClr val="9293BD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9293BD"/>
                </a:solidFill>
                <a:latin typeface="Times New Roman"/>
                <a:cs typeface="Times New Roman"/>
              </a:rPr>
              <a:t>model</a:t>
            </a:r>
            <a:endParaRPr sz="2600" dirty="0">
              <a:latin typeface="Times New Roman"/>
              <a:cs typeface="Times New Roman"/>
            </a:endParaRPr>
          </a:p>
          <a:p>
            <a:pPr marL="1032510" lvl="2" indent="-571500">
              <a:lnSpc>
                <a:spcPct val="100000"/>
              </a:lnSpc>
              <a:spcBef>
                <a:spcPts val="320"/>
              </a:spcBef>
              <a:buClr>
                <a:srgbClr val="525389"/>
              </a:buClr>
              <a:buFont typeface="Wingdings"/>
              <a:buChar char=""/>
              <a:tabLst>
                <a:tab pos="103251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Evolutionary</a:t>
            </a:r>
            <a:r>
              <a:rPr sz="2400" b="1" spc="-1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Model</a:t>
            </a:r>
            <a:endParaRPr sz="2400" dirty="0">
              <a:latin typeface="Times New Roman"/>
              <a:cs typeface="Times New Roman"/>
            </a:endParaRPr>
          </a:p>
          <a:p>
            <a:pPr marL="1032510" lvl="2" indent="-571500">
              <a:lnSpc>
                <a:spcPct val="100000"/>
              </a:lnSpc>
              <a:spcBef>
                <a:spcPts val="290"/>
              </a:spcBef>
              <a:buClr>
                <a:srgbClr val="525389"/>
              </a:buClr>
              <a:buFont typeface="Wingdings"/>
              <a:buChar char=""/>
              <a:tabLst>
                <a:tab pos="1032510" algn="l"/>
              </a:tabLst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Incremental</a:t>
            </a:r>
            <a:r>
              <a:rPr sz="2400" b="1" spc="-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Development</a:t>
            </a:r>
            <a:endParaRPr sz="2400" dirty="0">
              <a:latin typeface="Times New Roman"/>
              <a:cs typeface="Times New Roman"/>
            </a:endParaRPr>
          </a:p>
          <a:p>
            <a:pPr marL="1032510" lvl="2" indent="-571500">
              <a:lnSpc>
                <a:spcPct val="100000"/>
              </a:lnSpc>
              <a:spcBef>
                <a:spcPts val="325"/>
              </a:spcBef>
              <a:buClr>
                <a:srgbClr val="525389"/>
              </a:buClr>
              <a:buFont typeface="Wingdings"/>
              <a:buChar char=""/>
              <a:tabLst>
                <a:tab pos="103251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Spiral</a:t>
            </a:r>
            <a:r>
              <a:rPr sz="240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model</a:t>
            </a:r>
            <a:endParaRPr sz="2400" dirty="0">
              <a:latin typeface="Times New Roman"/>
              <a:cs typeface="Times New Roman"/>
            </a:endParaRPr>
          </a:p>
          <a:p>
            <a:pPr marL="1032510" lvl="2" indent="-571500">
              <a:lnSpc>
                <a:spcPct val="100000"/>
              </a:lnSpc>
              <a:spcBef>
                <a:spcPts val="285"/>
              </a:spcBef>
              <a:buClr>
                <a:srgbClr val="525389"/>
              </a:buClr>
              <a:buFont typeface="Wingdings"/>
              <a:buChar char=""/>
              <a:tabLst>
                <a:tab pos="1032510" algn="l"/>
              </a:tabLst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Agile</a:t>
            </a:r>
            <a:r>
              <a:rPr sz="2400" b="1" spc="-6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Development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1785" rIns="0" bIns="0" rtlCol="0">
            <a:spAutoFit/>
          </a:bodyPr>
          <a:lstStyle/>
          <a:p>
            <a:pPr marL="1687195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Agile</a:t>
            </a:r>
            <a:r>
              <a:rPr sz="4400" spc="-140" dirty="0"/>
              <a:t> </a:t>
            </a:r>
            <a:r>
              <a:rPr sz="4400" spc="-10" dirty="0"/>
              <a:t>Development</a:t>
            </a:r>
            <a:endParaRPr sz="4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400" y="2285936"/>
            <a:ext cx="4224411" cy="42482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2045" rIns="0" bIns="0" rtlCol="0">
            <a:spAutoFit/>
          </a:bodyPr>
          <a:lstStyle/>
          <a:p>
            <a:pPr marL="2478405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114" dirty="0"/>
              <a:t> </a:t>
            </a:r>
            <a:r>
              <a:rPr dirty="0"/>
              <a:t>is</a:t>
            </a:r>
            <a:r>
              <a:rPr spc="-275" dirty="0"/>
              <a:t> </a:t>
            </a:r>
            <a:r>
              <a:rPr spc="-10" dirty="0"/>
              <a:t>Agile?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972" y="2274773"/>
            <a:ext cx="7973059" cy="262571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66700" marR="5080" indent="-254635" algn="just">
              <a:lnSpc>
                <a:spcPct val="100000"/>
              </a:lnSpc>
              <a:spcBef>
                <a:spcPts val="115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Agile</a:t>
            </a:r>
            <a:r>
              <a:rPr sz="2400" spc="24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software</a:t>
            </a:r>
            <a:r>
              <a:rPr sz="2400" spc="24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development</a:t>
            </a:r>
            <a:r>
              <a:rPr sz="2400" spc="254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is</a:t>
            </a:r>
            <a:r>
              <a:rPr sz="2400" spc="25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a</a:t>
            </a:r>
            <a:r>
              <a:rPr sz="2400" spc="254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group</a:t>
            </a:r>
            <a:r>
              <a:rPr sz="2400" spc="24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254" dirty="0">
                <a:latin typeface="Georgia"/>
                <a:cs typeface="Georgia"/>
              </a:rPr>
              <a:t>  </a:t>
            </a:r>
            <a:r>
              <a:rPr sz="2400" spc="-10" dirty="0">
                <a:latin typeface="Georgia"/>
                <a:cs typeface="Georgia"/>
              </a:rPr>
              <a:t>software 	</a:t>
            </a:r>
            <a:r>
              <a:rPr sz="2400" dirty="0">
                <a:latin typeface="Georgia"/>
                <a:cs typeface="Georgia"/>
              </a:rPr>
              <a:t>development</a:t>
            </a:r>
            <a:r>
              <a:rPr sz="2400" spc="18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methodologies</a:t>
            </a:r>
            <a:r>
              <a:rPr sz="2400" spc="18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based</a:t>
            </a:r>
            <a:r>
              <a:rPr sz="2400" spc="17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on</a:t>
            </a:r>
            <a:r>
              <a:rPr sz="2400" spc="185" dirty="0">
                <a:latin typeface="Georgia"/>
                <a:cs typeface="Georgia"/>
              </a:rPr>
              <a:t>  </a:t>
            </a:r>
            <a:r>
              <a:rPr sz="2400" b="1" dirty="0">
                <a:latin typeface="Georgia"/>
                <a:cs typeface="Georgia"/>
              </a:rPr>
              <a:t>iterative</a:t>
            </a:r>
            <a:r>
              <a:rPr sz="2400" b="1" spc="150" dirty="0">
                <a:latin typeface="Georgia"/>
                <a:cs typeface="Georgia"/>
              </a:rPr>
              <a:t>  </a:t>
            </a:r>
            <a:r>
              <a:rPr sz="2400" spc="-25" dirty="0">
                <a:latin typeface="Georgia"/>
                <a:cs typeface="Georgia"/>
              </a:rPr>
              <a:t>and 	</a:t>
            </a:r>
            <a:r>
              <a:rPr sz="2400" b="1" dirty="0">
                <a:latin typeface="Georgia"/>
                <a:cs typeface="Georgia"/>
              </a:rPr>
              <a:t>incremental</a:t>
            </a:r>
            <a:r>
              <a:rPr sz="2400" b="1" spc="12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development,</a:t>
            </a:r>
            <a:r>
              <a:rPr sz="2400" spc="15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where</a:t>
            </a:r>
            <a:r>
              <a:rPr sz="2400" spc="16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requirements</a:t>
            </a:r>
            <a:r>
              <a:rPr sz="2400" spc="160" dirty="0">
                <a:latin typeface="Georgia"/>
                <a:cs typeface="Georgia"/>
              </a:rPr>
              <a:t>  </a:t>
            </a:r>
            <a:r>
              <a:rPr sz="2400" spc="-25" dirty="0">
                <a:latin typeface="Georgia"/>
                <a:cs typeface="Georgia"/>
              </a:rPr>
              <a:t>and 	</a:t>
            </a:r>
            <a:r>
              <a:rPr sz="2400" dirty="0">
                <a:latin typeface="Georgia"/>
                <a:cs typeface="Georgia"/>
              </a:rPr>
              <a:t>solutions</a:t>
            </a:r>
            <a:r>
              <a:rPr sz="2400" spc="3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evolve</a:t>
            </a:r>
            <a:r>
              <a:rPr sz="2400" spc="3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through</a:t>
            </a:r>
            <a:r>
              <a:rPr sz="2400" spc="315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collaboration</a:t>
            </a:r>
            <a:r>
              <a:rPr sz="2400" b="1" spc="29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between</a:t>
            </a:r>
            <a:r>
              <a:rPr sz="2400" spc="330" dirty="0">
                <a:latin typeface="Georgia"/>
                <a:cs typeface="Georgia"/>
              </a:rPr>
              <a:t> </a:t>
            </a:r>
            <a:r>
              <a:rPr sz="2400" b="1" spc="-10" dirty="0">
                <a:latin typeface="Georgia"/>
                <a:cs typeface="Georgia"/>
              </a:rPr>
              <a:t>self- 	</a:t>
            </a:r>
            <a:r>
              <a:rPr sz="2400" b="1" dirty="0">
                <a:latin typeface="Georgia"/>
                <a:cs typeface="Georgia"/>
              </a:rPr>
              <a:t>organizing</a:t>
            </a:r>
            <a:r>
              <a:rPr sz="2400" dirty="0">
                <a:latin typeface="Georgia"/>
                <a:cs typeface="Georgia"/>
              </a:rPr>
              <a:t>,</a:t>
            </a:r>
            <a:r>
              <a:rPr sz="2400" spc="335" dirty="0">
                <a:latin typeface="Georgia"/>
                <a:cs typeface="Georgia"/>
              </a:rPr>
              <a:t>  </a:t>
            </a:r>
            <a:r>
              <a:rPr sz="2400" b="1" spc="-10" dirty="0">
                <a:latin typeface="Georgia"/>
                <a:cs typeface="Georgia"/>
              </a:rPr>
              <a:t>cross-</a:t>
            </a:r>
            <a:r>
              <a:rPr sz="2400" b="1" dirty="0">
                <a:latin typeface="Georgia"/>
                <a:cs typeface="Georgia"/>
              </a:rPr>
              <a:t>functional</a:t>
            </a:r>
            <a:r>
              <a:rPr sz="2400" b="1" spc="31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teams.</a:t>
            </a:r>
            <a:r>
              <a:rPr sz="2400" spc="355" dirty="0">
                <a:latin typeface="Georgia"/>
                <a:cs typeface="Georgia"/>
              </a:rPr>
              <a:t>  </a:t>
            </a:r>
            <a:endParaRPr lang="en-US" sz="2400" spc="355" dirty="0">
              <a:latin typeface="Georgia"/>
              <a:cs typeface="Georgia"/>
            </a:endParaRPr>
          </a:p>
          <a:p>
            <a:pPr marL="266700" marR="5080" indent="-254635" algn="just">
              <a:lnSpc>
                <a:spcPct val="100000"/>
              </a:lnSpc>
              <a:spcBef>
                <a:spcPts val="115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lang="en-US" sz="2400" dirty="0"/>
              <a:t>Delivering </a:t>
            </a:r>
            <a:r>
              <a:rPr lang="en-US" sz="2400" b="1" dirty="0"/>
              <a:t>working software quickly</a:t>
            </a:r>
          </a:p>
          <a:p>
            <a:pPr marL="266700" marR="5080" indent="-254635" algn="just">
              <a:lnSpc>
                <a:spcPct val="100000"/>
              </a:lnSpc>
              <a:spcBef>
                <a:spcPts val="115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lang="en-US" sz="2400" dirty="0"/>
              <a:t>Welcoming </a:t>
            </a:r>
            <a:r>
              <a:rPr lang="en-US" sz="2400" b="1" dirty="0"/>
              <a:t>changes anytime</a:t>
            </a:r>
            <a:endParaRPr sz="24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1143000"/>
            <a:ext cx="816406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93616" y="659968"/>
            <a:ext cx="15557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SCRUM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972" y="1396441"/>
            <a:ext cx="7825105" cy="502740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8605" marR="669290" indent="-256540">
              <a:lnSpc>
                <a:spcPct val="100299"/>
              </a:lnSpc>
              <a:spcBef>
                <a:spcPts val="9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200" dirty="0">
                <a:latin typeface="Georgia"/>
                <a:cs typeface="Georgia"/>
              </a:rPr>
              <a:t>Scrum</a:t>
            </a:r>
            <a:r>
              <a:rPr sz="2200" spc="-8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is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b="1" dirty="0">
                <a:latin typeface="Georgia"/>
                <a:cs typeface="Georgia"/>
              </a:rPr>
              <a:t>an</a:t>
            </a:r>
            <a:r>
              <a:rPr sz="2200" b="1" spc="-55" dirty="0">
                <a:latin typeface="Georgia"/>
                <a:cs typeface="Georgia"/>
              </a:rPr>
              <a:t> </a:t>
            </a:r>
            <a:r>
              <a:rPr sz="2200" b="1" dirty="0">
                <a:latin typeface="Georgia"/>
                <a:cs typeface="Georgia"/>
              </a:rPr>
              <a:t>iterative,</a:t>
            </a:r>
            <a:r>
              <a:rPr sz="2200" b="1" spc="-80" dirty="0">
                <a:latin typeface="Georgia"/>
                <a:cs typeface="Georgia"/>
              </a:rPr>
              <a:t> </a:t>
            </a:r>
            <a:r>
              <a:rPr sz="2200" b="1" spc="-10" dirty="0">
                <a:latin typeface="Georgia"/>
                <a:cs typeface="Georgia"/>
              </a:rPr>
              <a:t>incremental</a:t>
            </a:r>
            <a:r>
              <a:rPr sz="2200" b="1" spc="-25" dirty="0">
                <a:latin typeface="Georgia"/>
                <a:cs typeface="Georgia"/>
              </a:rPr>
              <a:t> </a:t>
            </a:r>
            <a:r>
              <a:rPr sz="2200" b="1" dirty="0">
                <a:latin typeface="Georgia"/>
                <a:cs typeface="Georgia"/>
              </a:rPr>
              <a:t>framework</a:t>
            </a:r>
            <a:r>
              <a:rPr sz="2200" b="1" spc="-4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seen</a:t>
            </a:r>
            <a:r>
              <a:rPr sz="2200" spc="-1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in</a:t>
            </a:r>
            <a:r>
              <a:rPr sz="2200" spc="-9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agile</a:t>
            </a:r>
            <a:r>
              <a:rPr sz="2200" spc="-6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software development</a:t>
            </a:r>
            <a:endParaRPr sz="22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05"/>
              </a:spcBef>
              <a:buClr>
                <a:srgbClr val="9F4DA2"/>
              </a:buClr>
              <a:buFont typeface="Georgia"/>
              <a:buChar char="•"/>
            </a:pPr>
            <a:endParaRPr sz="2200" dirty="0">
              <a:latin typeface="Georgia"/>
              <a:cs typeface="Georgia"/>
            </a:endParaRPr>
          </a:p>
          <a:p>
            <a:pPr marL="268605" marR="163195" indent="-256540">
              <a:lnSpc>
                <a:spcPct val="101000"/>
              </a:lnSpc>
              <a:buChar char="•"/>
              <a:tabLst>
                <a:tab pos="268605" algn="l"/>
                <a:tab pos="332740" algn="l"/>
              </a:tabLst>
            </a:pPr>
            <a:r>
              <a:rPr sz="2200" dirty="0">
                <a:solidFill>
                  <a:srgbClr val="9F4DA2"/>
                </a:solidFill>
                <a:latin typeface="Georgia"/>
                <a:cs typeface="Georgia"/>
              </a:rPr>
              <a:t>	</a:t>
            </a:r>
            <a:r>
              <a:rPr sz="2200" dirty="0">
                <a:latin typeface="Georgia"/>
                <a:cs typeface="Georgia"/>
              </a:rPr>
              <a:t>It</a:t>
            </a:r>
            <a:r>
              <a:rPr sz="2200" spc="-7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defines</a:t>
            </a:r>
            <a:r>
              <a:rPr sz="2200" spc="-3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a</a:t>
            </a:r>
            <a:r>
              <a:rPr sz="2200" spc="-3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set</a:t>
            </a:r>
            <a:r>
              <a:rPr sz="2200" spc="-4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of</a:t>
            </a:r>
            <a:r>
              <a:rPr sz="2200" spc="-3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activities</a:t>
            </a:r>
            <a:r>
              <a:rPr sz="2200" spc="-3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that</a:t>
            </a:r>
            <a:r>
              <a:rPr sz="2200" spc="-7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can</a:t>
            </a:r>
            <a:r>
              <a:rPr sz="2200" spc="-7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help</a:t>
            </a:r>
            <a:r>
              <a:rPr sz="2200" spc="-3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your</a:t>
            </a:r>
            <a:r>
              <a:rPr sz="2200" spc="-5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team</a:t>
            </a:r>
            <a:r>
              <a:rPr sz="2200" spc="20" dirty="0">
                <a:latin typeface="Georgia"/>
                <a:cs typeface="Georgia"/>
              </a:rPr>
              <a:t> </a:t>
            </a:r>
            <a:r>
              <a:rPr sz="2200" b="1" spc="-10" dirty="0">
                <a:latin typeface="Georgia"/>
                <a:cs typeface="Georgia"/>
              </a:rPr>
              <a:t>deliver </a:t>
            </a:r>
            <a:r>
              <a:rPr sz="2200" b="1" dirty="0">
                <a:latin typeface="Georgia"/>
                <a:cs typeface="Georgia"/>
              </a:rPr>
              <a:t>more</a:t>
            </a:r>
            <a:r>
              <a:rPr sz="2200" b="1" spc="-90" dirty="0">
                <a:latin typeface="Georgia"/>
                <a:cs typeface="Georgia"/>
              </a:rPr>
              <a:t> </a:t>
            </a:r>
            <a:r>
              <a:rPr sz="2200" b="1" dirty="0">
                <a:latin typeface="Georgia"/>
                <a:cs typeface="Georgia"/>
              </a:rPr>
              <a:t>value</a:t>
            </a:r>
            <a:r>
              <a:rPr sz="2200" b="1" spc="-85" dirty="0">
                <a:latin typeface="Georgia"/>
                <a:cs typeface="Georgia"/>
              </a:rPr>
              <a:t> </a:t>
            </a:r>
            <a:r>
              <a:rPr sz="2200" b="1" dirty="0">
                <a:latin typeface="Georgia"/>
                <a:cs typeface="Georgia"/>
              </a:rPr>
              <a:t>to</a:t>
            </a:r>
            <a:r>
              <a:rPr sz="2200" b="1" spc="-55" dirty="0">
                <a:latin typeface="Georgia"/>
                <a:cs typeface="Georgia"/>
              </a:rPr>
              <a:t> </a:t>
            </a:r>
            <a:r>
              <a:rPr sz="2200" b="1" dirty="0">
                <a:latin typeface="Georgia"/>
                <a:cs typeface="Georgia"/>
              </a:rPr>
              <a:t>your</a:t>
            </a:r>
            <a:r>
              <a:rPr sz="2200" b="1" spc="-60" dirty="0">
                <a:latin typeface="Georgia"/>
                <a:cs typeface="Georgia"/>
              </a:rPr>
              <a:t> </a:t>
            </a:r>
            <a:r>
              <a:rPr sz="2200" b="1" dirty="0">
                <a:latin typeface="Georgia"/>
                <a:cs typeface="Georgia"/>
              </a:rPr>
              <a:t>customers</a:t>
            </a:r>
            <a:r>
              <a:rPr sz="2200" b="1" spc="-35" dirty="0">
                <a:latin typeface="Georgia"/>
                <a:cs typeface="Georgia"/>
              </a:rPr>
              <a:t> </a:t>
            </a:r>
            <a:r>
              <a:rPr sz="2200" b="1" spc="-10" dirty="0">
                <a:latin typeface="Georgia"/>
                <a:cs typeface="Georgia"/>
              </a:rPr>
              <a:t>faster</a:t>
            </a:r>
            <a:r>
              <a:rPr sz="2200" spc="-10" dirty="0">
                <a:latin typeface="Georgia"/>
                <a:cs typeface="Georgia"/>
              </a:rPr>
              <a:t>.</a:t>
            </a:r>
            <a:endParaRPr sz="22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25"/>
              </a:spcBef>
              <a:buClr>
                <a:srgbClr val="9F4DA2"/>
              </a:buClr>
              <a:buFont typeface="Georgia"/>
              <a:buChar char="•"/>
            </a:pPr>
            <a:endParaRPr sz="2200" dirty="0">
              <a:latin typeface="Georgia"/>
              <a:cs typeface="Georgia"/>
            </a:endParaRPr>
          </a:p>
          <a:p>
            <a:pPr marL="268605" marR="5080" indent="-256540">
              <a:lnSpc>
                <a:spcPct val="100299"/>
              </a:lnSpc>
              <a:buChar char="•"/>
              <a:tabLst>
                <a:tab pos="268605" algn="l"/>
                <a:tab pos="332740" algn="l"/>
              </a:tabLst>
            </a:pPr>
            <a:r>
              <a:rPr sz="2200" dirty="0">
                <a:solidFill>
                  <a:srgbClr val="9F4DA2"/>
                </a:solidFill>
                <a:latin typeface="Georgia"/>
                <a:cs typeface="Georgia"/>
              </a:rPr>
              <a:t>	</a:t>
            </a:r>
            <a:r>
              <a:rPr sz="2200" dirty="0">
                <a:latin typeface="Georgia"/>
                <a:cs typeface="Georgia"/>
              </a:rPr>
              <a:t>These</a:t>
            </a:r>
            <a:r>
              <a:rPr sz="2200" spc="-9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activities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provide</a:t>
            </a:r>
            <a:r>
              <a:rPr sz="2200" spc="-8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your</a:t>
            </a:r>
            <a:r>
              <a:rPr sz="2200" spc="-7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customers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with</a:t>
            </a:r>
            <a:r>
              <a:rPr sz="2200" spc="-8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the</a:t>
            </a:r>
            <a:r>
              <a:rPr sz="2200" spc="-9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opportunity </a:t>
            </a:r>
            <a:r>
              <a:rPr sz="2200" dirty="0">
                <a:latin typeface="Georgia"/>
                <a:cs typeface="Georgia"/>
              </a:rPr>
              <a:t>to</a:t>
            </a:r>
            <a:r>
              <a:rPr sz="2200" spc="-80" dirty="0">
                <a:latin typeface="Georgia"/>
                <a:cs typeface="Georgia"/>
              </a:rPr>
              <a:t> </a:t>
            </a:r>
            <a:r>
              <a:rPr sz="2200" b="1" dirty="0">
                <a:latin typeface="Georgia"/>
                <a:cs typeface="Georgia"/>
              </a:rPr>
              <a:t>review,</a:t>
            </a:r>
            <a:r>
              <a:rPr sz="2200" b="1" spc="-80" dirty="0">
                <a:latin typeface="Georgia"/>
                <a:cs typeface="Georgia"/>
              </a:rPr>
              <a:t> </a:t>
            </a:r>
            <a:r>
              <a:rPr sz="2200" b="1" dirty="0">
                <a:latin typeface="Georgia"/>
                <a:cs typeface="Georgia"/>
              </a:rPr>
              <a:t>guide</a:t>
            </a:r>
            <a:r>
              <a:rPr sz="2200" b="1" spc="-45" dirty="0">
                <a:latin typeface="Georgia"/>
                <a:cs typeface="Georgia"/>
              </a:rPr>
              <a:t> </a:t>
            </a:r>
            <a:r>
              <a:rPr sz="2200" b="1" dirty="0">
                <a:latin typeface="Georgia"/>
                <a:cs typeface="Georgia"/>
              </a:rPr>
              <a:t>and</a:t>
            </a:r>
            <a:r>
              <a:rPr sz="2200" b="1" spc="-35" dirty="0">
                <a:latin typeface="Georgia"/>
                <a:cs typeface="Georgia"/>
              </a:rPr>
              <a:t> </a:t>
            </a:r>
            <a:r>
              <a:rPr sz="2200" b="1" dirty="0">
                <a:latin typeface="Georgia"/>
                <a:cs typeface="Georgia"/>
              </a:rPr>
              <a:t>influence</a:t>
            </a:r>
            <a:r>
              <a:rPr sz="2200" b="1" spc="-4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your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team's</a:t>
            </a:r>
            <a:r>
              <a:rPr sz="2200" spc="-7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work</a:t>
            </a:r>
            <a:r>
              <a:rPr sz="2200" spc="-3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as</a:t>
            </a:r>
            <a:r>
              <a:rPr sz="2200" spc="-70" dirty="0">
                <a:latin typeface="Georgia"/>
                <a:cs typeface="Georgia"/>
              </a:rPr>
              <a:t> </a:t>
            </a:r>
            <a:r>
              <a:rPr sz="2200" spc="-25" dirty="0">
                <a:latin typeface="Georgia"/>
                <a:cs typeface="Georgia"/>
              </a:rPr>
              <a:t>it </a:t>
            </a:r>
            <a:r>
              <a:rPr sz="2200" spc="-10" dirty="0">
                <a:latin typeface="Georgia"/>
                <a:cs typeface="Georgia"/>
              </a:rPr>
              <a:t>progresses.</a:t>
            </a:r>
            <a:endParaRPr sz="22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30"/>
              </a:spcBef>
              <a:buClr>
                <a:srgbClr val="9F4DA2"/>
              </a:buClr>
              <a:buFont typeface="Georgia"/>
              <a:buChar char="•"/>
            </a:pPr>
            <a:endParaRPr sz="2200" dirty="0">
              <a:latin typeface="Georgia"/>
              <a:cs typeface="Georgia"/>
            </a:endParaRPr>
          </a:p>
          <a:p>
            <a:pPr marL="268605" marR="67945" indent="-256540">
              <a:lnSpc>
                <a:spcPct val="100099"/>
              </a:lnSpc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200" dirty="0">
                <a:latin typeface="Georgia"/>
                <a:cs typeface="Georgia"/>
              </a:rPr>
              <a:t>This</a:t>
            </a:r>
            <a:r>
              <a:rPr sz="2200" spc="-130" dirty="0">
                <a:latin typeface="Georgia"/>
                <a:cs typeface="Georgia"/>
              </a:rPr>
              <a:t> </a:t>
            </a:r>
            <a:r>
              <a:rPr sz="2200" b="1" dirty="0">
                <a:latin typeface="Georgia"/>
                <a:cs typeface="Georgia"/>
              </a:rPr>
              <a:t>approach</a:t>
            </a:r>
            <a:r>
              <a:rPr sz="2200" b="1" spc="20" dirty="0">
                <a:latin typeface="Georgia"/>
                <a:cs typeface="Georgia"/>
              </a:rPr>
              <a:t> </a:t>
            </a:r>
            <a:r>
              <a:rPr sz="2200" b="1" dirty="0">
                <a:latin typeface="Georgia"/>
                <a:cs typeface="Georgia"/>
              </a:rPr>
              <a:t>does</a:t>
            </a:r>
            <a:r>
              <a:rPr sz="2200" b="1" spc="-70" dirty="0">
                <a:latin typeface="Georgia"/>
                <a:cs typeface="Georgia"/>
              </a:rPr>
              <a:t> </a:t>
            </a:r>
            <a:r>
              <a:rPr sz="2200" b="1" dirty="0">
                <a:latin typeface="Georgia"/>
                <a:cs typeface="Georgia"/>
              </a:rPr>
              <a:t>not</a:t>
            </a:r>
            <a:r>
              <a:rPr sz="2200" b="1" spc="-65" dirty="0">
                <a:latin typeface="Georgia"/>
                <a:cs typeface="Georgia"/>
              </a:rPr>
              <a:t> </a:t>
            </a:r>
            <a:r>
              <a:rPr sz="2200" b="1" dirty="0">
                <a:latin typeface="Georgia"/>
                <a:cs typeface="Georgia"/>
              </a:rPr>
              <a:t>attempt</a:t>
            </a:r>
            <a:r>
              <a:rPr sz="2200" b="1" spc="-45" dirty="0">
                <a:latin typeface="Georgia"/>
                <a:cs typeface="Georgia"/>
              </a:rPr>
              <a:t> </a:t>
            </a:r>
            <a:r>
              <a:rPr sz="2200" b="1" dirty="0">
                <a:latin typeface="Georgia"/>
                <a:cs typeface="Georgia"/>
              </a:rPr>
              <a:t>to</a:t>
            </a:r>
            <a:r>
              <a:rPr sz="2200" b="1" spc="-55" dirty="0">
                <a:latin typeface="Georgia"/>
                <a:cs typeface="Georgia"/>
              </a:rPr>
              <a:t> </a:t>
            </a:r>
            <a:r>
              <a:rPr sz="2200" b="1" dirty="0">
                <a:latin typeface="Georgia"/>
                <a:cs typeface="Georgia"/>
              </a:rPr>
              <a:t>define</a:t>
            </a:r>
            <a:r>
              <a:rPr sz="2200" b="1" spc="-60" dirty="0">
                <a:latin typeface="Georgia"/>
                <a:cs typeface="Georgia"/>
              </a:rPr>
              <a:t> </a:t>
            </a:r>
            <a:r>
              <a:rPr sz="2200" b="1" spc="-10" dirty="0">
                <a:latin typeface="Georgia"/>
                <a:cs typeface="Georgia"/>
              </a:rPr>
              <a:t>everything </a:t>
            </a:r>
            <a:r>
              <a:rPr sz="2200" b="1" dirty="0">
                <a:latin typeface="Georgia"/>
                <a:cs typeface="Georgia"/>
              </a:rPr>
              <a:t>at</a:t>
            </a:r>
            <a:r>
              <a:rPr sz="2200" b="1" spc="-85" dirty="0">
                <a:latin typeface="Georgia"/>
                <a:cs typeface="Georgia"/>
              </a:rPr>
              <a:t> </a:t>
            </a:r>
            <a:r>
              <a:rPr sz="2200" b="1" dirty="0">
                <a:latin typeface="Georgia"/>
                <a:cs typeface="Georgia"/>
              </a:rPr>
              <a:t>the</a:t>
            </a:r>
            <a:r>
              <a:rPr sz="2200" b="1" spc="-10" dirty="0">
                <a:latin typeface="Georgia"/>
                <a:cs typeface="Georgia"/>
              </a:rPr>
              <a:t> </a:t>
            </a:r>
            <a:r>
              <a:rPr sz="2200" b="1" dirty="0">
                <a:latin typeface="Georgia"/>
                <a:cs typeface="Georgia"/>
              </a:rPr>
              <a:t>start</a:t>
            </a:r>
            <a:r>
              <a:rPr sz="2200" b="1" spc="-3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of</a:t>
            </a:r>
            <a:r>
              <a:rPr sz="2200" spc="-7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a</a:t>
            </a:r>
            <a:r>
              <a:rPr sz="2200" spc="-4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project.</a:t>
            </a:r>
            <a:r>
              <a:rPr sz="2200" spc="-7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Instead,</a:t>
            </a:r>
            <a:r>
              <a:rPr sz="2200" spc="-3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your</a:t>
            </a:r>
            <a:r>
              <a:rPr sz="2200" spc="-4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team</a:t>
            </a:r>
            <a:r>
              <a:rPr sz="2200" spc="-4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works</a:t>
            </a:r>
            <a:r>
              <a:rPr sz="2200" spc="-6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in</a:t>
            </a:r>
            <a:r>
              <a:rPr sz="2200" spc="-7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short iterations</a:t>
            </a:r>
            <a:r>
              <a:rPr sz="2200" spc="-6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(also</a:t>
            </a:r>
            <a:r>
              <a:rPr sz="2200" spc="-4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called</a:t>
            </a:r>
            <a:r>
              <a:rPr sz="2200" spc="45" dirty="0">
                <a:latin typeface="Georgia"/>
                <a:cs typeface="Georgia"/>
              </a:rPr>
              <a:t> </a:t>
            </a:r>
            <a:r>
              <a:rPr sz="2200" b="1" dirty="0">
                <a:latin typeface="Georgia"/>
                <a:cs typeface="Georgia"/>
              </a:rPr>
              <a:t>sprints</a:t>
            </a:r>
            <a:r>
              <a:rPr sz="2200" dirty="0">
                <a:latin typeface="Georgia"/>
                <a:cs typeface="Georgia"/>
              </a:rPr>
              <a:t>)</a:t>
            </a:r>
            <a:r>
              <a:rPr sz="2200" spc="-4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and</a:t>
            </a:r>
            <a:r>
              <a:rPr sz="2200" spc="-75" dirty="0">
                <a:latin typeface="Georgia"/>
                <a:cs typeface="Georgia"/>
              </a:rPr>
              <a:t> </a:t>
            </a:r>
            <a:r>
              <a:rPr sz="2200" b="1" dirty="0">
                <a:latin typeface="Georgia"/>
                <a:cs typeface="Georgia"/>
              </a:rPr>
              <a:t>refines</a:t>
            </a:r>
            <a:r>
              <a:rPr sz="2200" b="1" spc="-55" dirty="0">
                <a:latin typeface="Georgia"/>
                <a:cs typeface="Georgia"/>
              </a:rPr>
              <a:t> </a:t>
            </a:r>
            <a:r>
              <a:rPr sz="2200" b="1" dirty="0">
                <a:latin typeface="Georgia"/>
                <a:cs typeface="Georgia"/>
              </a:rPr>
              <a:t>the</a:t>
            </a:r>
            <a:r>
              <a:rPr sz="2200" b="1" spc="-10" dirty="0">
                <a:latin typeface="Georgia"/>
                <a:cs typeface="Georgia"/>
              </a:rPr>
              <a:t> </a:t>
            </a:r>
            <a:r>
              <a:rPr sz="2200" b="1" dirty="0">
                <a:latin typeface="Georgia"/>
                <a:cs typeface="Georgia"/>
              </a:rPr>
              <a:t>plan</a:t>
            </a:r>
            <a:r>
              <a:rPr sz="2200" b="1" spc="-2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as</a:t>
            </a:r>
            <a:r>
              <a:rPr sz="2200" spc="-60" dirty="0">
                <a:latin typeface="Georgia"/>
                <a:cs typeface="Georgia"/>
              </a:rPr>
              <a:t> </a:t>
            </a:r>
            <a:r>
              <a:rPr sz="2200" spc="-25" dirty="0">
                <a:latin typeface="Georgia"/>
                <a:cs typeface="Georgia"/>
              </a:rPr>
              <a:t>the </a:t>
            </a:r>
            <a:r>
              <a:rPr sz="2200" dirty="0">
                <a:latin typeface="Georgia"/>
                <a:cs typeface="Georgia"/>
              </a:rPr>
              <a:t>team</a:t>
            </a:r>
            <a:r>
              <a:rPr sz="2200" spc="-8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makes</a:t>
            </a:r>
            <a:r>
              <a:rPr sz="2200" spc="-8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progress.</a:t>
            </a:r>
            <a:endParaRPr sz="22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16027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-275" dirty="0"/>
              <a:t> </a:t>
            </a:r>
            <a:r>
              <a:rPr dirty="0"/>
              <a:t>Model</a:t>
            </a:r>
            <a:r>
              <a:rPr spc="-7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10" dirty="0"/>
              <a:t>SCRUM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425" y="1752600"/>
            <a:ext cx="7667941" cy="472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4208780"/>
            <a:chOff x="0" y="0"/>
            <a:chExt cx="9144000" cy="4208780"/>
          </a:xfrm>
        </p:grpSpPr>
        <p:sp>
          <p:nvSpPr>
            <p:cNvPr id="3" name="object 3"/>
            <p:cNvSpPr/>
            <p:nvPr/>
          </p:nvSpPr>
          <p:spPr>
            <a:xfrm>
              <a:off x="5410200" y="3810063"/>
              <a:ext cx="3733800" cy="90805"/>
            </a:xfrm>
            <a:custGeom>
              <a:avLst/>
              <a:gdLst/>
              <a:ahLst/>
              <a:cxnLst/>
              <a:rect l="l" t="t" r="r" b="b"/>
              <a:pathLst>
                <a:path w="3733800" h="90804">
                  <a:moveTo>
                    <a:pt x="3733800" y="0"/>
                  </a:moveTo>
                  <a:lnTo>
                    <a:pt x="0" y="0"/>
                  </a:lnTo>
                  <a:lnTo>
                    <a:pt x="0" y="90487"/>
                  </a:lnTo>
                  <a:lnTo>
                    <a:pt x="3733800" y="90487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4380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410200" y="3897312"/>
              <a:ext cx="3733800" cy="192405"/>
            </a:xfrm>
            <a:custGeom>
              <a:avLst/>
              <a:gdLst/>
              <a:ahLst/>
              <a:cxnLst/>
              <a:rect l="l" t="t" r="r" b="b"/>
              <a:pathLst>
                <a:path w="3733800" h="192404">
                  <a:moveTo>
                    <a:pt x="3733800" y="0"/>
                  </a:moveTo>
                  <a:lnTo>
                    <a:pt x="0" y="0"/>
                  </a:lnTo>
                  <a:lnTo>
                    <a:pt x="0" y="192087"/>
                  </a:lnTo>
                  <a:lnTo>
                    <a:pt x="3733800" y="192087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43808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10200" y="4114800"/>
              <a:ext cx="3733800" cy="9525"/>
            </a:xfrm>
            <a:custGeom>
              <a:avLst/>
              <a:gdLst/>
              <a:ahLst/>
              <a:cxnLst/>
              <a:rect l="l" t="t" r="r" b="b"/>
              <a:pathLst>
                <a:path w="3733800" h="9525">
                  <a:moveTo>
                    <a:pt x="37338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733800" y="9525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43808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10200" y="4164076"/>
              <a:ext cx="1965325" cy="19050"/>
            </a:xfrm>
            <a:custGeom>
              <a:avLst/>
              <a:gdLst/>
              <a:ahLst/>
              <a:cxnLst/>
              <a:rect l="l" t="t" r="r" b="b"/>
              <a:pathLst>
                <a:path w="1965325" h="19050">
                  <a:moveTo>
                    <a:pt x="1965325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1965325" y="19050"/>
                  </a:lnTo>
                  <a:lnTo>
                    <a:pt x="1965325" y="0"/>
                  </a:lnTo>
                  <a:close/>
                </a:path>
              </a:pathLst>
            </a:custGeom>
            <a:solidFill>
              <a:srgbClr val="438085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10200" y="4199001"/>
              <a:ext cx="1965325" cy="9525"/>
            </a:xfrm>
            <a:custGeom>
              <a:avLst/>
              <a:gdLst/>
              <a:ahLst/>
              <a:cxnLst/>
              <a:rect l="l" t="t" r="r" b="b"/>
              <a:pathLst>
                <a:path w="1965325" h="9525">
                  <a:moveTo>
                    <a:pt x="19653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965325" y="9525"/>
                  </a:lnTo>
                  <a:lnTo>
                    <a:pt x="1965325" y="0"/>
                  </a:lnTo>
                  <a:close/>
                </a:path>
              </a:pathLst>
            </a:custGeom>
            <a:solidFill>
              <a:srgbClr val="43808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10200" y="3962400"/>
              <a:ext cx="3567429" cy="135255"/>
            </a:xfrm>
            <a:custGeom>
              <a:avLst/>
              <a:gdLst/>
              <a:ahLst/>
              <a:cxnLst/>
              <a:rect l="l" t="t" r="r" b="b"/>
              <a:pathLst>
                <a:path w="3567429" h="135254">
                  <a:moveTo>
                    <a:pt x="3063875" y="2032"/>
                  </a:moveTo>
                  <a:lnTo>
                    <a:pt x="3061843" y="0"/>
                  </a:lnTo>
                  <a:lnTo>
                    <a:pt x="2032" y="0"/>
                  </a:lnTo>
                  <a:lnTo>
                    <a:pt x="0" y="2032"/>
                  </a:lnTo>
                  <a:lnTo>
                    <a:pt x="0" y="4445"/>
                  </a:lnTo>
                  <a:lnTo>
                    <a:pt x="0" y="25019"/>
                  </a:lnTo>
                  <a:lnTo>
                    <a:pt x="2032" y="27051"/>
                  </a:lnTo>
                  <a:lnTo>
                    <a:pt x="3061843" y="27051"/>
                  </a:lnTo>
                  <a:lnTo>
                    <a:pt x="3063875" y="25019"/>
                  </a:lnTo>
                  <a:lnTo>
                    <a:pt x="3063875" y="2032"/>
                  </a:lnTo>
                  <a:close/>
                </a:path>
                <a:path w="3567429" h="135254">
                  <a:moveTo>
                    <a:pt x="3567176" y="101092"/>
                  </a:moveTo>
                  <a:lnTo>
                    <a:pt x="3564382" y="98425"/>
                  </a:lnTo>
                  <a:lnTo>
                    <a:pt x="1969643" y="98425"/>
                  </a:lnTo>
                  <a:lnTo>
                    <a:pt x="1966976" y="101092"/>
                  </a:lnTo>
                  <a:lnTo>
                    <a:pt x="1966976" y="104521"/>
                  </a:lnTo>
                  <a:lnTo>
                    <a:pt x="1966976" y="132207"/>
                  </a:lnTo>
                  <a:lnTo>
                    <a:pt x="1969643" y="135001"/>
                  </a:lnTo>
                  <a:lnTo>
                    <a:pt x="3564382" y="135001"/>
                  </a:lnTo>
                  <a:lnTo>
                    <a:pt x="3567176" y="132207"/>
                  </a:lnTo>
                  <a:lnTo>
                    <a:pt x="3567176" y="1010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816350"/>
              <a:ext cx="9144000" cy="78105"/>
            </a:xfrm>
            <a:custGeom>
              <a:avLst/>
              <a:gdLst/>
              <a:ahLst/>
              <a:cxnLst/>
              <a:rect l="l" t="t" r="r" b="b"/>
              <a:pathLst>
                <a:path w="9144000" h="78104">
                  <a:moveTo>
                    <a:pt x="0" y="77850"/>
                  </a:moveTo>
                  <a:lnTo>
                    <a:pt x="9144000" y="7785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7850"/>
                  </a:lnTo>
                  <a:close/>
                </a:path>
              </a:pathLst>
            </a:custGeom>
            <a:solidFill>
              <a:srgbClr val="43808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702050"/>
              <a:ext cx="9144000" cy="189230"/>
            </a:xfrm>
            <a:custGeom>
              <a:avLst/>
              <a:gdLst/>
              <a:ahLst/>
              <a:cxnLst/>
              <a:rect l="l" t="t" r="r" b="b"/>
              <a:pathLst>
                <a:path w="9144000" h="189229">
                  <a:moveTo>
                    <a:pt x="9144000" y="0"/>
                  </a:moveTo>
                  <a:lnTo>
                    <a:pt x="6413500" y="0"/>
                  </a:lnTo>
                  <a:lnTo>
                    <a:pt x="0" y="0"/>
                  </a:lnTo>
                  <a:lnTo>
                    <a:pt x="0" y="114300"/>
                  </a:lnTo>
                  <a:lnTo>
                    <a:pt x="6413500" y="114300"/>
                  </a:lnTo>
                  <a:lnTo>
                    <a:pt x="6413500" y="188976"/>
                  </a:lnTo>
                  <a:lnTo>
                    <a:pt x="9144000" y="188976"/>
                  </a:lnTo>
                  <a:lnTo>
                    <a:pt x="9144000" y="1143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380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0"/>
              <a:ext cx="9144000" cy="3702050"/>
            </a:xfrm>
            <a:custGeom>
              <a:avLst/>
              <a:gdLst/>
              <a:ahLst/>
              <a:cxnLst/>
              <a:rect l="l" t="t" r="r" b="b"/>
              <a:pathLst>
                <a:path w="9144000" h="3702050">
                  <a:moveTo>
                    <a:pt x="9144000" y="0"/>
                  </a:moveTo>
                  <a:lnTo>
                    <a:pt x="0" y="0"/>
                  </a:lnTo>
                  <a:lnTo>
                    <a:pt x="0" y="3702050"/>
                  </a:lnTo>
                  <a:lnTo>
                    <a:pt x="9144000" y="37020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44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36244" y="2024329"/>
            <a:ext cx="301752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>
                <a:solidFill>
                  <a:srgbClr val="FFFFFF"/>
                </a:solidFill>
              </a:rPr>
              <a:t>Scrum</a:t>
            </a:r>
            <a:r>
              <a:rPr sz="4400" spc="-160" dirty="0">
                <a:solidFill>
                  <a:srgbClr val="FFFFFF"/>
                </a:solidFill>
              </a:rPr>
              <a:t> </a:t>
            </a:r>
            <a:r>
              <a:rPr sz="4400" spc="-20" dirty="0">
                <a:solidFill>
                  <a:srgbClr val="FFFFFF"/>
                </a:solidFill>
              </a:rPr>
              <a:t>Roles</a:t>
            </a:r>
            <a:endParaRPr sz="4400"/>
          </a:p>
        </p:txBody>
      </p:sp>
      <p:sp>
        <p:nvSpPr>
          <p:cNvPr id="13" name="object 13"/>
          <p:cNvSpPr txBox="1"/>
          <p:nvPr/>
        </p:nvSpPr>
        <p:spPr>
          <a:xfrm>
            <a:off x="600252" y="3885498"/>
            <a:ext cx="3449320" cy="1786889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74015" indent="-361950">
              <a:lnSpc>
                <a:spcPct val="100000"/>
              </a:lnSpc>
              <a:spcBef>
                <a:spcPts val="390"/>
              </a:spcBef>
              <a:buClr>
                <a:srgbClr val="9F4DA2"/>
              </a:buClr>
              <a:buSzPct val="97222"/>
              <a:buFont typeface="Wingdings"/>
              <a:buChar char=""/>
              <a:tabLst>
                <a:tab pos="374015" algn="l"/>
              </a:tabLst>
            </a:pPr>
            <a:r>
              <a:rPr sz="3600" dirty="0">
                <a:solidFill>
                  <a:srgbClr val="424455"/>
                </a:solidFill>
                <a:latin typeface="Georgia"/>
                <a:cs typeface="Georgia"/>
              </a:rPr>
              <a:t>Scrum</a:t>
            </a:r>
            <a:r>
              <a:rPr sz="3600" spc="-17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3600" spc="-10" dirty="0">
                <a:solidFill>
                  <a:srgbClr val="424455"/>
                </a:solidFill>
                <a:latin typeface="Georgia"/>
                <a:cs typeface="Georgia"/>
              </a:rPr>
              <a:t>Master</a:t>
            </a:r>
            <a:endParaRPr sz="3600">
              <a:latin typeface="Georgia"/>
              <a:cs typeface="Georgia"/>
            </a:endParaRPr>
          </a:p>
          <a:p>
            <a:pPr marL="374015" indent="-361950">
              <a:lnSpc>
                <a:spcPct val="100000"/>
              </a:lnSpc>
              <a:spcBef>
                <a:spcPts val="290"/>
              </a:spcBef>
              <a:buClr>
                <a:srgbClr val="9F4DA2"/>
              </a:buClr>
              <a:buSzPct val="97222"/>
              <a:buFont typeface="Wingdings"/>
              <a:buChar char=""/>
              <a:tabLst>
                <a:tab pos="374015" algn="l"/>
              </a:tabLst>
            </a:pPr>
            <a:r>
              <a:rPr sz="3600" spc="-20" dirty="0">
                <a:solidFill>
                  <a:srgbClr val="424455"/>
                </a:solidFill>
                <a:latin typeface="Georgia"/>
                <a:cs typeface="Georgia"/>
              </a:rPr>
              <a:t>Team</a:t>
            </a:r>
            <a:endParaRPr sz="3600">
              <a:latin typeface="Georgia"/>
              <a:cs typeface="Georgia"/>
            </a:endParaRPr>
          </a:p>
          <a:p>
            <a:pPr marL="374015" indent="-361950">
              <a:lnSpc>
                <a:spcPct val="100000"/>
              </a:lnSpc>
              <a:spcBef>
                <a:spcPts val="325"/>
              </a:spcBef>
              <a:buClr>
                <a:srgbClr val="9F4DA2"/>
              </a:buClr>
              <a:buSzPct val="97222"/>
              <a:buFont typeface="Wingdings"/>
              <a:buChar char=""/>
              <a:tabLst>
                <a:tab pos="374015" algn="l"/>
              </a:tabLst>
            </a:pPr>
            <a:r>
              <a:rPr sz="3600" dirty="0">
                <a:solidFill>
                  <a:srgbClr val="424455"/>
                </a:solidFill>
                <a:latin typeface="Georgia"/>
                <a:cs typeface="Georgia"/>
              </a:rPr>
              <a:t>Product</a:t>
            </a:r>
            <a:r>
              <a:rPr sz="3600" spc="-11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3600" spc="-20" dirty="0">
                <a:solidFill>
                  <a:srgbClr val="424455"/>
                </a:solidFill>
                <a:latin typeface="Georgia"/>
                <a:cs typeface="Georgia"/>
              </a:rPr>
              <a:t>Owner</a:t>
            </a:r>
            <a:endParaRPr sz="3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938655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125" dirty="0"/>
              <a:t> </a:t>
            </a:r>
            <a:r>
              <a:rPr dirty="0"/>
              <a:t>SCRUM</a:t>
            </a:r>
            <a:r>
              <a:rPr spc="-70" dirty="0"/>
              <a:t> </a:t>
            </a:r>
            <a:r>
              <a:rPr spc="-10" dirty="0"/>
              <a:t>Master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972" y="2006600"/>
            <a:ext cx="4860925" cy="417652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68605" indent="-255904">
              <a:lnSpc>
                <a:spcPts val="2390"/>
              </a:lnSpc>
              <a:spcBef>
                <a:spcPts val="114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000" dirty="0">
                <a:latin typeface="Georgia"/>
                <a:cs typeface="Georgia"/>
              </a:rPr>
              <a:t>In</a:t>
            </a:r>
            <a:r>
              <a:rPr sz="2000" spc="-7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-4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Scrum</a:t>
            </a:r>
            <a:r>
              <a:rPr sz="2000" spc="-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process,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lang="en-US" sz="2000" dirty="0">
                <a:latin typeface="Georgia" panose="02040502050405020303" pitchFamily="18" charset="0"/>
              </a:rPr>
              <a:t>Facilitates the process, removes obstacles, ensures Scrum rules are followed.</a:t>
            </a:r>
          </a:p>
          <a:p>
            <a:pPr marL="268605" indent="-255904">
              <a:lnSpc>
                <a:spcPts val="2390"/>
              </a:lnSpc>
              <a:spcBef>
                <a:spcPts val="114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000" dirty="0">
                <a:latin typeface="Georgia"/>
                <a:cs typeface="Georgia"/>
              </a:rPr>
              <a:t>The</a:t>
            </a:r>
            <a:r>
              <a:rPr sz="2000" spc="-9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job of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-2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scrum master</a:t>
            </a:r>
            <a:r>
              <a:rPr sz="2000" spc="-2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is</a:t>
            </a:r>
            <a:r>
              <a:rPr sz="2000" spc="1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to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spc="-20" dirty="0">
                <a:latin typeface="Georgia"/>
                <a:cs typeface="Georgia"/>
              </a:rPr>
              <a:t>make </a:t>
            </a:r>
            <a:r>
              <a:rPr sz="2000" dirty="0">
                <a:latin typeface="Georgia"/>
                <a:cs typeface="Georgia"/>
              </a:rPr>
              <a:t>sure</a:t>
            </a:r>
            <a:r>
              <a:rPr sz="2000" spc="-6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that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project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is</a:t>
            </a:r>
            <a:r>
              <a:rPr sz="2000" spc="-5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progressing smoothly</a:t>
            </a:r>
            <a:endParaRPr sz="2000" dirty="0">
              <a:latin typeface="Georgia"/>
              <a:cs typeface="Georgia"/>
            </a:endParaRPr>
          </a:p>
          <a:p>
            <a:pPr marL="268605" indent="-255904">
              <a:lnSpc>
                <a:spcPts val="2390"/>
              </a:lnSpc>
              <a:spcBef>
                <a:spcPts val="305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000" dirty="0">
                <a:latin typeface="Georgia"/>
                <a:cs typeface="Georgia"/>
              </a:rPr>
              <a:t>He</a:t>
            </a:r>
            <a:r>
              <a:rPr sz="2000" spc="-9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sets</a:t>
            </a:r>
            <a:r>
              <a:rPr sz="2000" spc="1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-5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meetings,</a:t>
            </a:r>
            <a:r>
              <a:rPr sz="2000" spc="-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monitor</a:t>
            </a:r>
            <a:r>
              <a:rPr sz="2000" spc="-1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-25" dirty="0">
                <a:latin typeface="Georgia"/>
                <a:cs typeface="Georgia"/>
              </a:rPr>
              <a:t> </a:t>
            </a:r>
            <a:r>
              <a:rPr sz="2000" spc="-20" dirty="0">
                <a:latin typeface="Georgia"/>
                <a:cs typeface="Georgia"/>
              </a:rPr>
              <a:t>work</a:t>
            </a:r>
            <a:endParaRPr sz="2000" dirty="0">
              <a:latin typeface="Georgia"/>
              <a:cs typeface="Georgia"/>
            </a:endParaRPr>
          </a:p>
          <a:p>
            <a:pPr marL="268605">
              <a:lnSpc>
                <a:spcPts val="2390"/>
              </a:lnSpc>
            </a:pPr>
            <a:r>
              <a:rPr sz="2000" dirty="0">
                <a:latin typeface="Georgia"/>
                <a:cs typeface="Georgia"/>
              </a:rPr>
              <a:t>and</a:t>
            </a:r>
            <a:r>
              <a:rPr sz="2000" spc="-6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facilitate</a:t>
            </a:r>
            <a:r>
              <a:rPr sz="2000" spc="-25" dirty="0">
                <a:latin typeface="Georgia"/>
                <a:cs typeface="Georgia"/>
              </a:rPr>
              <a:t> </a:t>
            </a:r>
            <a:endParaRPr lang="en-US" sz="2000" spc="-25" dirty="0">
              <a:latin typeface="Georgia"/>
              <a:cs typeface="Georgia"/>
            </a:endParaRPr>
          </a:p>
          <a:p>
            <a:pPr marL="268605">
              <a:lnSpc>
                <a:spcPts val="2390"/>
              </a:lnSpc>
            </a:pPr>
            <a:r>
              <a:rPr sz="2000" dirty="0">
                <a:latin typeface="Georgia"/>
                <a:cs typeface="Georgia"/>
              </a:rPr>
              <a:t>Two</a:t>
            </a:r>
            <a:r>
              <a:rPr sz="2000" spc="-8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important</a:t>
            </a:r>
            <a:r>
              <a:rPr sz="2000" spc="-5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task</a:t>
            </a:r>
            <a:r>
              <a:rPr sz="2000" spc="-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of</a:t>
            </a:r>
            <a:r>
              <a:rPr sz="2000" spc="-5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scrum</a:t>
            </a:r>
            <a:r>
              <a:rPr sz="2000" spc="-2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master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sz="2000" spc="-20" dirty="0">
                <a:latin typeface="Georgia"/>
                <a:cs typeface="Georgia"/>
              </a:rPr>
              <a:t>are:</a:t>
            </a:r>
            <a:endParaRPr sz="2000" dirty="0">
              <a:latin typeface="Georgia"/>
              <a:cs typeface="Georgia"/>
            </a:endParaRPr>
          </a:p>
          <a:p>
            <a:pPr marL="561340" marR="532765" indent="-247015">
              <a:lnSpc>
                <a:spcPct val="100600"/>
              </a:lnSpc>
              <a:spcBef>
                <a:spcPts val="290"/>
              </a:spcBef>
              <a:tabLst>
                <a:tab pos="620395" algn="l"/>
              </a:tabLst>
            </a:pPr>
            <a:r>
              <a:rPr sz="20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000" dirty="0">
                <a:solidFill>
                  <a:srgbClr val="438085"/>
                </a:solidFill>
                <a:latin typeface="Georgia"/>
                <a:cs typeface="Georgia"/>
              </a:rPr>
              <a:t>		Protecting</a:t>
            </a:r>
            <a:r>
              <a:rPr sz="2000" spc="-4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438085"/>
                </a:solidFill>
                <a:latin typeface="Georgia"/>
                <a:cs typeface="Georgia"/>
              </a:rPr>
              <a:t>the</a:t>
            </a:r>
            <a:r>
              <a:rPr sz="2000" spc="-8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438085"/>
                </a:solidFill>
                <a:latin typeface="Georgia"/>
                <a:cs typeface="Georgia"/>
              </a:rPr>
              <a:t>team</a:t>
            </a:r>
            <a:r>
              <a:rPr sz="2000" spc="-3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438085"/>
                </a:solidFill>
                <a:latin typeface="Georgia"/>
                <a:cs typeface="Georgia"/>
              </a:rPr>
              <a:t>from</a:t>
            </a:r>
            <a:r>
              <a:rPr sz="2000" spc="-6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438085"/>
                </a:solidFill>
                <a:latin typeface="Georgia"/>
                <a:cs typeface="Georgia"/>
              </a:rPr>
              <a:t>outside disturbance</a:t>
            </a:r>
            <a:endParaRPr sz="2000" dirty="0">
              <a:latin typeface="Georgia"/>
              <a:cs typeface="Georgia"/>
            </a:endParaRPr>
          </a:p>
          <a:p>
            <a:pPr marL="561340" marR="176530" indent="-247015">
              <a:lnSpc>
                <a:spcPct val="100600"/>
              </a:lnSpc>
              <a:spcBef>
                <a:spcPts val="285"/>
              </a:spcBef>
              <a:tabLst>
                <a:tab pos="620395" algn="l"/>
              </a:tabLst>
            </a:pPr>
            <a:r>
              <a:rPr sz="20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000" dirty="0">
                <a:solidFill>
                  <a:srgbClr val="438085"/>
                </a:solidFill>
                <a:latin typeface="Georgia"/>
                <a:cs typeface="Georgia"/>
              </a:rPr>
              <a:t>		Clears</a:t>
            </a:r>
            <a:r>
              <a:rPr sz="2000" spc="-3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438085"/>
                </a:solidFill>
                <a:latin typeface="Georgia"/>
                <a:cs typeface="Georgia"/>
              </a:rPr>
              <a:t>the</a:t>
            </a:r>
            <a:r>
              <a:rPr sz="2000" spc="-6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438085"/>
                </a:solidFill>
                <a:latin typeface="Georgia"/>
                <a:cs typeface="Georgia"/>
              </a:rPr>
              <a:t>ways</a:t>
            </a:r>
            <a:r>
              <a:rPr sz="2000" spc="-3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438085"/>
                </a:solidFill>
                <a:latin typeface="Georgia"/>
                <a:cs typeface="Georgia"/>
              </a:rPr>
              <a:t>for</a:t>
            </a:r>
            <a:r>
              <a:rPr sz="2000" spc="1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438085"/>
                </a:solidFill>
                <a:latin typeface="Georgia"/>
                <a:cs typeface="Georgia"/>
              </a:rPr>
              <a:t>the</a:t>
            </a:r>
            <a:r>
              <a:rPr sz="2000" spc="-6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438085"/>
                </a:solidFill>
                <a:latin typeface="Georgia"/>
                <a:cs typeface="Georgia"/>
              </a:rPr>
              <a:t>team </a:t>
            </a:r>
            <a:r>
              <a:rPr sz="2000" spc="-25" dirty="0">
                <a:solidFill>
                  <a:srgbClr val="438085"/>
                </a:solidFill>
                <a:latin typeface="Georgia"/>
                <a:cs typeface="Georgia"/>
              </a:rPr>
              <a:t>by </a:t>
            </a:r>
            <a:r>
              <a:rPr sz="2000" dirty="0">
                <a:solidFill>
                  <a:srgbClr val="438085"/>
                </a:solidFill>
                <a:latin typeface="Georgia"/>
                <a:cs typeface="Georgia"/>
              </a:rPr>
              <a:t>helping</a:t>
            </a:r>
            <a:r>
              <a:rPr sz="2000" spc="-8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438085"/>
                </a:solidFill>
                <a:latin typeface="Georgia"/>
                <a:cs typeface="Georgia"/>
              </a:rPr>
              <a:t>them</a:t>
            </a:r>
            <a:r>
              <a:rPr sz="2000" spc="-7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438085"/>
                </a:solidFill>
                <a:latin typeface="Georgia"/>
                <a:cs typeface="Georgia"/>
              </a:rPr>
              <a:t>to</a:t>
            </a:r>
            <a:r>
              <a:rPr sz="2000" spc="1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438085"/>
                </a:solidFill>
                <a:latin typeface="Georgia"/>
                <a:cs typeface="Georgia"/>
              </a:rPr>
              <a:t>solve</a:t>
            </a:r>
            <a:r>
              <a:rPr sz="2000" spc="-5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438085"/>
                </a:solidFill>
                <a:latin typeface="Georgia"/>
                <a:cs typeface="Georgia"/>
              </a:rPr>
              <a:t>their</a:t>
            </a:r>
            <a:r>
              <a:rPr sz="2000" spc="-1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438085"/>
                </a:solidFill>
                <a:latin typeface="Georgia"/>
                <a:cs typeface="Georgia"/>
              </a:rPr>
              <a:t>problems</a:t>
            </a:r>
            <a:endParaRPr sz="2000" dirty="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3600" y="1904987"/>
            <a:ext cx="2664190" cy="44156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7502" y="1269949"/>
            <a:ext cx="38938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145" dirty="0"/>
              <a:t> </a:t>
            </a:r>
            <a:r>
              <a:rPr dirty="0"/>
              <a:t>SCRUM</a:t>
            </a:r>
            <a:r>
              <a:rPr spc="-140" dirty="0"/>
              <a:t> </a:t>
            </a:r>
            <a:r>
              <a:rPr spc="-484" dirty="0"/>
              <a:t>T</a:t>
            </a:r>
            <a:r>
              <a:rPr spc="60" dirty="0"/>
              <a:t>e</a:t>
            </a:r>
            <a:r>
              <a:rPr spc="40" dirty="0"/>
              <a:t>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972" y="2158949"/>
            <a:ext cx="7803515" cy="44932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115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In</a:t>
            </a:r>
            <a:r>
              <a:rPr sz="2400" spc="-9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Scrum,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ideal</a:t>
            </a:r>
            <a:r>
              <a:rPr sz="2400" spc="-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team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would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include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seven</a:t>
            </a:r>
            <a:r>
              <a:rPr sz="2400" spc="-10" dirty="0">
                <a:latin typeface="Georgia"/>
                <a:cs typeface="Georgia"/>
              </a:rPr>
              <a:t> members, </a:t>
            </a:r>
            <a:r>
              <a:rPr sz="2400" dirty="0">
                <a:latin typeface="Georgia"/>
                <a:cs typeface="Georgia"/>
              </a:rPr>
              <a:t>plus</a:t>
            </a:r>
            <a:r>
              <a:rPr sz="2400" spc="-9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or</a:t>
            </a:r>
            <a:r>
              <a:rPr sz="2400" spc="-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minus</a:t>
            </a:r>
            <a:r>
              <a:rPr sz="2400" spc="-1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two.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Usually,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teams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are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comprised</a:t>
            </a:r>
            <a:r>
              <a:rPr sz="2400" spc="-10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of </a:t>
            </a:r>
            <a:r>
              <a:rPr sz="2400" b="1" spc="-10" dirty="0">
                <a:latin typeface="Georgia"/>
                <a:cs typeface="Georgia"/>
              </a:rPr>
              <a:t>cross-functional</a:t>
            </a:r>
            <a:r>
              <a:rPr sz="2400" b="1" spc="-125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members</a:t>
            </a:r>
            <a:r>
              <a:rPr sz="2400" dirty="0">
                <a:latin typeface="Georgia"/>
                <a:cs typeface="Georgia"/>
              </a:rPr>
              <a:t>,</a:t>
            </a:r>
            <a:r>
              <a:rPr sz="2400" spc="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including</a:t>
            </a:r>
            <a:r>
              <a:rPr sz="2400" spc="-10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software </a:t>
            </a:r>
            <a:r>
              <a:rPr sz="2400" dirty="0">
                <a:latin typeface="Georgia"/>
                <a:cs typeface="Georgia"/>
              </a:rPr>
              <a:t>engineers,</a:t>
            </a:r>
            <a:r>
              <a:rPr sz="2400" spc="-1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architects,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programmers,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analysts,</a:t>
            </a:r>
            <a:r>
              <a:rPr sz="2400" spc="-140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QA </a:t>
            </a:r>
            <a:r>
              <a:rPr sz="2400" dirty="0">
                <a:latin typeface="Georgia"/>
                <a:cs typeface="Georgia"/>
              </a:rPr>
              <a:t>experts,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testers,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UI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designers,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etc.</a:t>
            </a:r>
            <a:r>
              <a:rPr sz="2400" spc="-1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It</a:t>
            </a:r>
            <a:r>
              <a:rPr sz="2400" spc="-8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is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recommended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all </a:t>
            </a:r>
            <a:r>
              <a:rPr sz="2400" dirty="0">
                <a:latin typeface="Georgia"/>
                <a:cs typeface="Georgia"/>
              </a:rPr>
              <a:t>team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members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be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located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same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room,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called</a:t>
            </a:r>
            <a:r>
              <a:rPr sz="2400" spc="-20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the </a:t>
            </a:r>
            <a:r>
              <a:rPr sz="2400" b="1" dirty="0">
                <a:latin typeface="Georgia"/>
                <a:cs typeface="Georgia"/>
              </a:rPr>
              <a:t>team</a:t>
            </a:r>
            <a:r>
              <a:rPr sz="2400" b="1" spc="-75" dirty="0">
                <a:latin typeface="Georgia"/>
                <a:cs typeface="Georgia"/>
              </a:rPr>
              <a:t> </a:t>
            </a:r>
            <a:r>
              <a:rPr sz="2400" b="1" spc="-10" dirty="0">
                <a:latin typeface="Georgia"/>
                <a:cs typeface="Georgia"/>
              </a:rPr>
              <a:t>room</a:t>
            </a:r>
            <a:r>
              <a:rPr sz="2400" spc="-10" dirty="0">
                <a:latin typeface="Georgia"/>
                <a:cs typeface="Georgia"/>
              </a:rPr>
              <a:t>.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40"/>
              </a:spcBef>
              <a:buClr>
                <a:srgbClr val="9F4DA2"/>
              </a:buClr>
              <a:buFont typeface="Georgia"/>
              <a:buChar char="•"/>
            </a:pPr>
            <a:endParaRPr sz="2400">
              <a:latin typeface="Georgia"/>
              <a:cs typeface="Georgia"/>
            </a:endParaRPr>
          </a:p>
          <a:p>
            <a:pPr marL="268605" marR="113030" indent="-256540">
              <a:lnSpc>
                <a:spcPct val="100000"/>
              </a:lnSpc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The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team</a:t>
            </a:r>
            <a:r>
              <a:rPr sz="2400" spc="-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has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autonomy</a:t>
            </a:r>
            <a:r>
              <a:rPr sz="2400" b="1" spc="-1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to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determine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how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and </a:t>
            </a:r>
            <a:r>
              <a:rPr sz="2400" dirty="0">
                <a:latin typeface="Georgia"/>
                <a:cs typeface="Georgia"/>
              </a:rPr>
              <a:t>when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to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complete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its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work.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As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long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as</a:t>
            </a:r>
            <a:r>
              <a:rPr sz="2400" spc="-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team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finishes </a:t>
            </a:r>
            <a:r>
              <a:rPr sz="2400" dirty="0">
                <a:latin typeface="Georgia"/>
                <a:cs typeface="Georgia"/>
              </a:rPr>
              <a:t>its</a:t>
            </a:r>
            <a:r>
              <a:rPr sz="2400" spc="-9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work</a:t>
            </a:r>
            <a:r>
              <a:rPr sz="2400" spc="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by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deadline</a:t>
            </a:r>
            <a:r>
              <a:rPr sz="2400" spc="-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under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budget,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it</a:t>
            </a:r>
            <a:r>
              <a:rPr sz="2400" spc="-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is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entirely </a:t>
            </a:r>
            <a:r>
              <a:rPr sz="2400" dirty="0">
                <a:latin typeface="Georgia"/>
                <a:cs typeface="Georgia"/>
              </a:rPr>
              <a:t>up</a:t>
            </a:r>
            <a:r>
              <a:rPr sz="2400" spc="-10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to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team</a:t>
            </a:r>
            <a:r>
              <a:rPr sz="2400" spc="-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to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determine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how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that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happens.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5661" y="736168"/>
            <a:ext cx="43973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195" dirty="0"/>
              <a:t> </a:t>
            </a:r>
            <a:r>
              <a:rPr dirty="0"/>
              <a:t>Product</a:t>
            </a:r>
            <a:r>
              <a:rPr spc="-160" dirty="0"/>
              <a:t> </a:t>
            </a:r>
            <a:r>
              <a:rPr spc="-10" dirty="0"/>
              <a:t>Owner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972" y="1472641"/>
            <a:ext cx="7806055" cy="511101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68605" marR="1222375" indent="-256540">
              <a:lnSpc>
                <a:spcPct val="100000"/>
              </a:lnSpc>
              <a:spcBef>
                <a:spcPts val="115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In</a:t>
            </a:r>
            <a:r>
              <a:rPr sz="2400" spc="-8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Scrum,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Product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Owner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is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one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person </a:t>
            </a:r>
            <a:r>
              <a:rPr sz="2400" dirty="0">
                <a:latin typeface="Georgia"/>
                <a:cs typeface="Georgia"/>
              </a:rPr>
              <a:t>responsible</a:t>
            </a:r>
            <a:r>
              <a:rPr sz="2400" spc="-1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for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project’s</a:t>
            </a:r>
            <a:r>
              <a:rPr sz="2400" spc="-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success.</a:t>
            </a:r>
            <a:endParaRPr sz="24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35"/>
              </a:spcBef>
              <a:buClr>
                <a:srgbClr val="9F4DA2"/>
              </a:buClr>
              <a:buFont typeface="Georgia"/>
              <a:buChar char="•"/>
            </a:pPr>
            <a:endParaRPr sz="2400" dirty="0">
              <a:latin typeface="Georgia"/>
              <a:cs typeface="Georgia"/>
            </a:endParaRPr>
          </a:p>
          <a:p>
            <a:pPr marL="268605" marR="938530" indent="-256540">
              <a:lnSpc>
                <a:spcPct val="100000"/>
              </a:lnSpc>
              <a:buChar char="•"/>
              <a:tabLst>
                <a:tab pos="268605" algn="l"/>
                <a:tab pos="337185" algn="l"/>
              </a:tabLst>
            </a:pPr>
            <a:r>
              <a:rPr sz="2400" dirty="0">
                <a:solidFill>
                  <a:srgbClr val="9F4DA2"/>
                </a:solidFill>
                <a:latin typeface="Georgia"/>
                <a:cs typeface="Georgia"/>
              </a:rPr>
              <a:t>	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Product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Owner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outlines</a:t>
            </a:r>
            <a:r>
              <a:rPr sz="2400" spc="-9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work</a:t>
            </a:r>
            <a:r>
              <a:rPr sz="2400" spc="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</a:t>
            </a:r>
            <a:r>
              <a:rPr sz="2400" spc="-8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Georgia"/>
                <a:cs typeface="Georgia"/>
              </a:rPr>
              <a:t>Product backlog</a:t>
            </a:r>
            <a:endParaRPr sz="2400" dirty="0">
              <a:solidFill>
                <a:srgbClr val="FF0000"/>
              </a:solidFill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70"/>
              </a:spcBef>
              <a:buClr>
                <a:srgbClr val="9F4DA2"/>
              </a:buClr>
              <a:buFont typeface="Georgia"/>
              <a:buChar char="•"/>
            </a:pPr>
            <a:endParaRPr sz="2400" dirty="0">
              <a:latin typeface="Georgia"/>
              <a:cs typeface="Georgia"/>
            </a:endParaRPr>
          </a:p>
          <a:p>
            <a:pPr marL="268605" marR="661670" indent="-256540">
              <a:lnSpc>
                <a:spcPct val="100000"/>
              </a:lnSpc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Product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Owner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makes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sure</a:t>
            </a:r>
            <a:r>
              <a:rPr sz="2400" spc="-8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that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right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features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to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spc="-35" dirty="0">
                <a:latin typeface="Georgia"/>
                <a:cs typeface="Georgia"/>
              </a:rPr>
              <a:t>be </a:t>
            </a:r>
            <a:r>
              <a:rPr sz="2400" dirty="0">
                <a:latin typeface="Georgia"/>
                <a:cs typeface="Georgia"/>
              </a:rPr>
              <a:t>included</a:t>
            </a:r>
            <a:r>
              <a:rPr sz="2400" spc="-114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</a:t>
            </a:r>
            <a:r>
              <a:rPr sz="2400" spc="-9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20" dirty="0"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FF0000"/>
                </a:solidFill>
                <a:latin typeface="Georgia"/>
                <a:cs typeface="Georgia"/>
              </a:rPr>
              <a:t>product</a:t>
            </a:r>
            <a:r>
              <a:rPr sz="2400" spc="-3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Georgia"/>
                <a:cs typeface="Georgia"/>
              </a:rPr>
              <a:t>backlog</a:t>
            </a:r>
            <a:endParaRPr sz="2400" dirty="0">
              <a:solidFill>
                <a:srgbClr val="FF0000"/>
              </a:solidFill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70"/>
              </a:spcBef>
              <a:buClr>
                <a:srgbClr val="9F4DA2"/>
              </a:buClr>
              <a:buFont typeface="Georgia"/>
              <a:buChar char="•"/>
            </a:pPr>
            <a:endParaRPr sz="2400" dirty="0">
              <a:latin typeface="Georgia"/>
              <a:cs typeface="Georgia"/>
            </a:endParaRPr>
          </a:p>
          <a:p>
            <a:pPr marL="268605" marR="5080" indent="-256540">
              <a:lnSpc>
                <a:spcPct val="100000"/>
              </a:lnSpc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Of</a:t>
            </a:r>
            <a:r>
              <a:rPr sz="2400" spc="-9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course,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he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or</a:t>
            </a:r>
            <a:r>
              <a:rPr sz="2400" spc="-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she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must</a:t>
            </a:r>
            <a:r>
              <a:rPr sz="2400" spc="-9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also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consider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stakeholders </a:t>
            </a:r>
            <a:r>
              <a:rPr sz="2400" dirty="0">
                <a:latin typeface="Georgia"/>
                <a:cs typeface="Georgia"/>
              </a:rPr>
              <a:t>(to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make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sure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their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interests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are</a:t>
            </a:r>
            <a:r>
              <a:rPr sz="2400" spc="-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included</a:t>
            </a:r>
            <a:r>
              <a:rPr sz="2400" spc="-1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release)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-1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team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(to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make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sure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release</a:t>
            </a:r>
            <a:r>
              <a:rPr sz="2400" spc="-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is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developed</a:t>
            </a:r>
            <a:r>
              <a:rPr sz="2400" spc="15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by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8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deadline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within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budget).</a:t>
            </a:r>
            <a:endParaRPr sz="24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445" rIns="0" bIns="0" rtlCol="0">
            <a:spAutoFit/>
          </a:bodyPr>
          <a:lstStyle/>
          <a:p>
            <a:pPr marL="185166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195" dirty="0"/>
              <a:t> </a:t>
            </a:r>
            <a:r>
              <a:rPr dirty="0"/>
              <a:t>Product</a:t>
            </a:r>
            <a:r>
              <a:rPr spc="-160" dirty="0"/>
              <a:t> </a:t>
            </a:r>
            <a:r>
              <a:rPr spc="-10" dirty="0"/>
              <a:t>Owner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09203" y="26364"/>
            <a:ext cx="2489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965578"/>
            <a:ext cx="6629400" cy="48634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3130956"/>
            <a:ext cx="383412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>
                <a:solidFill>
                  <a:srgbClr val="FFFFFF"/>
                </a:solidFill>
                <a:latin typeface="Trebuchet MS"/>
                <a:cs typeface="Trebuchet MS"/>
              </a:rPr>
              <a:t>Scrum</a:t>
            </a:r>
            <a:r>
              <a:rPr sz="4400" spc="-2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Trebuchet MS"/>
                <a:cs typeface="Trebuchet MS"/>
              </a:rPr>
              <a:t>Artifacts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0252" y="3891814"/>
            <a:ext cx="2663190" cy="1640839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54000" indent="-244475">
              <a:lnSpc>
                <a:spcPct val="100000"/>
              </a:lnSpc>
              <a:spcBef>
                <a:spcPts val="385"/>
              </a:spcBef>
              <a:buClr>
                <a:srgbClr val="9F4DA2"/>
              </a:buClr>
              <a:buSzPct val="95833"/>
              <a:buFont typeface="Wingdings"/>
              <a:buChar char=""/>
              <a:tabLst>
                <a:tab pos="254000" algn="l"/>
              </a:tabLst>
            </a:pPr>
            <a:r>
              <a:rPr sz="2400" dirty="0">
                <a:solidFill>
                  <a:srgbClr val="424455"/>
                </a:solidFill>
                <a:latin typeface="Georgia"/>
                <a:cs typeface="Georgia"/>
              </a:rPr>
              <a:t>Product</a:t>
            </a:r>
            <a:r>
              <a:rPr sz="2400" spc="-8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424455"/>
                </a:solidFill>
                <a:latin typeface="Georgia"/>
                <a:cs typeface="Georgia"/>
              </a:rPr>
              <a:t>Backlog</a:t>
            </a:r>
            <a:endParaRPr sz="2400">
              <a:latin typeface="Georgia"/>
              <a:cs typeface="Georgia"/>
            </a:endParaRPr>
          </a:p>
          <a:p>
            <a:pPr marL="323215" indent="-310515">
              <a:lnSpc>
                <a:spcPct val="100000"/>
              </a:lnSpc>
              <a:spcBef>
                <a:spcPts val="290"/>
              </a:spcBef>
              <a:buClr>
                <a:srgbClr val="9F4DA2"/>
              </a:buClr>
              <a:buSzPct val="95833"/>
              <a:buFont typeface="Wingdings"/>
              <a:buChar char=""/>
              <a:tabLst>
                <a:tab pos="323215" algn="l"/>
              </a:tabLst>
            </a:pPr>
            <a:r>
              <a:rPr sz="2400" dirty="0">
                <a:solidFill>
                  <a:srgbClr val="424455"/>
                </a:solidFill>
                <a:latin typeface="Georgia"/>
                <a:cs typeface="Georgia"/>
              </a:rPr>
              <a:t>Sprint</a:t>
            </a:r>
            <a:r>
              <a:rPr sz="2400" spc="-5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424455"/>
                </a:solidFill>
                <a:latin typeface="Georgia"/>
                <a:cs typeface="Georgia"/>
              </a:rPr>
              <a:t>Backlog</a:t>
            </a:r>
            <a:endParaRPr sz="2400">
              <a:latin typeface="Georgia"/>
              <a:cs typeface="Georgia"/>
            </a:endParaRPr>
          </a:p>
          <a:p>
            <a:pPr marL="323215" indent="-310515">
              <a:lnSpc>
                <a:spcPct val="100000"/>
              </a:lnSpc>
              <a:spcBef>
                <a:spcPts val="290"/>
              </a:spcBef>
              <a:buClr>
                <a:srgbClr val="9F4DA2"/>
              </a:buClr>
              <a:buSzPct val="95833"/>
              <a:buFont typeface="Wingdings"/>
              <a:buChar char=""/>
              <a:tabLst>
                <a:tab pos="323215" algn="l"/>
              </a:tabLst>
            </a:pPr>
            <a:r>
              <a:rPr sz="2400" spc="-10" dirty="0">
                <a:solidFill>
                  <a:srgbClr val="424455"/>
                </a:solidFill>
                <a:latin typeface="Georgia"/>
                <a:cs typeface="Georgia"/>
              </a:rPr>
              <a:t>Sprint</a:t>
            </a:r>
            <a:endParaRPr sz="2400">
              <a:latin typeface="Georgia"/>
              <a:cs typeface="Georgia"/>
            </a:endParaRPr>
          </a:p>
          <a:p>
            <a:pPr marL="323215" indent="-310515">
              <a:lnSpc>
                <a:spcPct val="100000"/>
              </a:lnSpc>
              <a:spcBef>
                <a:spcPts val="325"/>
              </a:spcBef>
              <a:buClr>
                <a:srgbClr val="9F4DA2"/>
              </a:buClr>
              <a:buSzPct val="95833"/>
              <a:buFont typeface="Wingdings"/>
              <a:buChar char=""/>
              <a:tabLst>
                <a:tab pos="323215" algn="l"/>
              </a:tabLst>
            </a:pPr>
            <a:r>
              <a:rPr sz="2400" dirty="0">
                <a:solidFill>
                  <a:srgbClr val="424455"/>
                </a:solidFill>
                <a:latin typeface="Georgia"/>
                <a:cs typeface="Georgia"/>
              </a:rPr>
              <a:t>Burn</a:t>
            </a:r>
            <a:r>
              <a:rPr sz="2400" spc="-5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24455"/>
                </a:solidFill>
                <a:latin typeface="Georgia"/>
                <a:cs typeface="Georgia"/>
              </a:rPr>
              <a:t>down</a:t>
            </a:r>
            <a:r>
              <a:rPr sz="2400" spc="-5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-20" dirty="0">
                <a:solidFill>
                  <a:srgbClr val="424455"/>
                </a:solidFill>
                <a:latin typeface="Georgia"/>
                <a:cs typeface="Georgia"/>
              </a:rPr>
              <a:t>Chart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736168"/>
            <a:ext cx="36537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Product</a:t>
            </a:r>
            <a:r>
              <a:rPr spc="-280" dirty="0"/>
              <a:t> </a:t>
            </a:r>
            <a:r>
              <a:rPr spc="-10" dirty="0"/>
              <a:t>Backlog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972" y="1391869"/>
            <a:ext cx="7614920" cy="17760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67335" marR="5080" indent="-255270">
              <a:lnSpc>
                <a:spcPct val="100800"/>
              </a:lnSpc>
              <a:spcBef>
                <a:spcPts val="8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Contains</a:t>
            </a:r>
            <a:r>
              <a:rPr sz="2800" spc="-9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all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2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currently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known</a:t>
            </a:r>
            <a:r>
              <a:rPr sz="2800" spc="-9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requirements 	</a:t>
            </a:r>
            <a:r>
              <a:rPr sz="2800" dirty="0">
                <a:latin typeface="Georgia"/>
                <a:cs typeface="Georgia"/>
              </a:rPr>
              <a:t>for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product</a:t>
            </a:r>
            <a:endParaRPr sz="2800">
              <a:latin typeface="Georgia"/>
              <a:cs typeface="Georgia"/>
            </a:endParaRPr>
          </a:p>
          <a:p>
            <a:pPr marL="268605" marR="608330" indent="-256540">
              <a:lnSpc>
                <a:spcPct val="100800"/>
              </a:lnSpc>
              <a:spcBef>
                <a:spcPts val="254"/>
              </a:spcBef>
              <a:buChar char="•"/>
              <a:tabLst>
                <a:tab pos="268605" algn="l"/>
                <a:tab pos="351155" algn="l"/>
              </a:tabLst>
            </a:pPr>
            <a:r>
              <a:rPr sz="2800" dirty="0">
                <a:solidFill>
                  <a:srgbClr val="9F4DA2"/>
                </a:solidFill>
                <a:latin typeface="Georgia"/>
                <a:cs typeface="Georgia"/>
              </a:rPr>
              <a:t>	</a:t>
            </a:r>
            <a:r>
              <a:rPr sz="2800" dirty="0">
                <a:latin typeface="Georgia"/>
                <a:cs typeface="Georgia"/>
              </a:rPr>
              <a:t>Is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managed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by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Product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Owner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and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spc="-25" dirty="0">
                <a:latin typeface="Georgia"/>
                <a:cs typeface="Georgia"/>
              </a:rPr>
              <a:t>can </a:t>
            </a:r>
            <a:r>
              <a:rPr sz="2800" dirty="0">
                <a:latin typeface="Georgia"/>
                <a:cs typeface="Georgia"/>
              </a:rPr>
              <a:t>change</a:t>
            </a:r>
            <a:r>
              <a:rPr sz="2800" spc="-9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as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needed</a:t>
            </a:r>
            <a:endParaRPr sz="280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3276612"/>
            <a:ext cx="5257800" cy="34276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1346149"/>
            <a:ext cx="32613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Sprint</a:t>
            </a:r>
            <a:r>
              <a:rPr spc="-120" dirty="0"/>
              <a:t> </a:t>
            </a:r>
            <a:r>
              <a:rPr spc="-10" dirty="0"/>
              <a:t>Backlog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972" y="2270200"/>
            <a:ext cx="7588250" cy="88391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67335" marR="5080" indent="-255270">
              <a:lnSpc>
                <a:spcPct val="100800"/>
              </a:lnSpc>
              <a:spcBef>
                <a:spcPts val="8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Contains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set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prioritized</a:t>
            </a:r>
            <a:r>
              <a:rPr sz="2800" spc="-10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Product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Backlog 	</a:t>
            </a:r>
            <a:r>
              <a:rPr sz="2800" dirty="0">
                <a:latin typeface="Georgia"/>
                <a:cs typeface="Georgia"/>
              </a:rPr>
              <a:t>items</a:t>
            </a:r>
            <a:r>
              <a:rPr sz="2800" spc="-1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that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are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currently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being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worked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spc="-25" dirty="0">
                <a:latin typeface="Georgia"/>
                <a:cs typeface="Georgia"/>
              </a:rPr>
              <a:t>on</a:t>
            </a:r>
            <a:endParaRPr sz="280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3352812"/>
            <a:ext cx="7239000" cy="30245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444" y="736168"/>
            <a:ext cx="13741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Sprint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972" y="1549146"/>
            <a:ext cx="7839075" cy="4606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11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The</a:t>
            </a:r>
            <a:r>
              <a:rPr sz="2400" spc="-8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product is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developed</a:t>
            </a:r>
            <a:r>
              <a:rPr sz="2400" spc="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</a:t>
            </a:r>
            <a:r>
              <a:rPr sz="2400" spc="-8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</a:t>
            </a:r>
            <a:r>
              <a:rPr sz="2400" spc="-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series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1-</a:t>
            </a:r>
            <a:r>
              <a:rPr sz="2400" spc="-10" dirty="0">
                <a:latin typeface="Georgia"/>
                <a:cs typeface="Georgia"/>
              </a:rPr>
              <a:t>to-</a:t>
            </a:r>
            <a:r>
              <a:rPr sz="2400" dirty="0">
                <a:latin typeface="Georgia"/>
                <a:cs typeface="Georgia"/>
              </a:rPr>
              <a:t>4-</a:t>
            </a:r>
            <a:r>
              <a:rPr sz="2400" spc="-20" dirty="0">
                <a:latin typeface="Georgia"/>
                <a:cs typeface="Georgia"/>
              </a:rPr>
              <a:t>week </a:t>
            </a:r>
            <a:r>
              <a:rPr sz="2400" dirty="0">
                <a:latin typeface="Georgia"/>
                <a:cs typeface="Georgia"/>
              </a:rPr>
              <a:t>iterations,</a:t>
            </a:r>
            <a:r>
              <a:rPr sz="2400" spc="-1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or</a:t>
            </a:r>
            <a:r>
              <a:rPr sz="2400" spc="-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sprints.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Before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</a:t>
            </a:r>
            <a:r>
              <a:rPr sz="2400" spc="-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sprint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is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begun,</a:t>
            </a:r>
            <a:r>
              <a:rPr sz="2400" spc="-9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</a:t>
            </a:r>
            <a:r>
              <a:rPr sz="2400" spc="-10" dirty="0">
                <a:latin typeface="Georgia"/>
                <a:cs typeface="Georgia"/>
              </a:rPr>
              <a:t> Sprint </a:t>
            </a:r>
            <a:r>
              <a:rPr sz="2400" dirty="0">
                <a:latin typeface="Georgia"/>
                <a:cs typeface="Georgia"/>
              </a:rPr>
              <a:t>Planning</a:t>
            </a:r>
            <a:r>
              <a:rPr sz="2400" spc="-1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Meeting</a:t>
            </a:r>
            <a:r>
              <a:rPr sz="2400" spc="-8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is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held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to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determine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what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features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are </a:t>
            </a:r>
            <a:r>
              <a:rPr sz="2400" dirty="0">
                <a:latin typeface="Georgia"/>
                <a:cs typeface="Georgia"/>
              </a:rPr>
              <a:t>to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be</a:t>
            </a:r>
            <a:r>
              <a:rPr sz="2400" spc="-2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implemented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that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sprint.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sprint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has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4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major steps:</a:t>
            </a:r>
            <a:endParaRPr sz="2400">
              <a:latin typeface="Georgia"/>
              <a:cs typeface="Georgia"/>
            </a:endParaRPr>
          </a:p>
          <a:p>
            <a:pPr marL="561340" marR="467359" indent="-247015">
              <a:lnSpc>
                <a:spcPct val="100000"/>
              </a:lnSpc>
              <a:spcBef>
                <a:spcPts val="300"/>
              </a:spcBef>
              <a:tabLst>
                <a:tab pos="561340" algn="l"/>
              </a:tabLst>
            </a:pPr>
            <a:r>
              <a:rPr sz="24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	Develop</a:t>
            </a:r>
            <a:r>
              <a:rPr sz="2400" spc="-5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the</a:t>
            </a:r>
            <a:r>
              <a:rPr sz="2400" spc="-5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product</a:t>
            </a:r>
            <a:r>
              <a:rPr sz="2400" spc="-5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further</a:t>
            </a:r>
            <a:r>
              <a:rPr sz="2400" spc="-4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-</a:t>
            </a:r>
            <a:r>
              <a:rPr sz="2400" spc="-4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implement,</a:t>
            </a:r>
            <a:r>
              <a:rPr sz="2400" spc="-8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test,</a:t>
            </a:r>
            <a:r>
              <a:rPr sz="2400" spc="-5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438085"/>
                </a:solidFill>
                <a:latin typeface="Georgia"/>
                <a:cs typeface="Georgia"/>
              </a:rPr>
              <a:t>and </a:t>
            </a:r>
            <a:r>
              <a:rPr sz="2400" spc="-10" dirty="0">
                <a:solidFill>
                  <a:srgbClr val="438085"/>
                </a:solidFill>
                <a:latin typeface="Georgia"/>
                <a:cs typeface="Georgia"/>
              </a:rPr>
              <a:t>document.</a:t>
            </a:r>
            <a:endParaRPr sz="2400">
              <a:latin typeface="Georgia"/>
              <a:cs typeface="Georgia"/>
            </a:endParaRPr>
          </a:p>
          <a:p>
            <a:pPr marL="561340" marR="394335" indent="-247015">
              <a:lnSpc>
                <a:spcPct val="100000"/>
              </a:lnSpc>
              <a:spcBef>
                <a:spcPts val="290"/>
              </a:spcBef>
              <a:tabLst>
                <a:tab pos="561340" algn="l"/>
              </a:tabLst>
            </a:pPr>
            <a:r>
              <a:rPr sz="24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	Wrap</a:t>
            </a:r>
            <a:r>
              <a:rPr sz="2400" spc="-6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up</a:t>
            </a:r>
            <a:r>
              <a:rPr sz="2400" spc="-3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the</a:t>
            </a:r>
            <a:r>
              <a:rPr sz="2400" spc="-3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work</a:t>
            </a:r>
            <a:r>
              <a:rPr sz="2400" spc="-1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-</a:t>
            </a:r>
            <a:r>
              <a:rPr sz="2400" spc="-2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get</a:t>
            </a:r>
            <a:r>
              <a:rPr sz="2400" spc="-3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it</a:t>
            </a:r>
            <a:r>
              <a:rPr sz="2400" spc="-3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ready</a:t>
            </a:r>
            <a:r>
              <a:rPr sz="2400" spc="-2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to</a:t>
            </a:r>
            <a:r>
              <a:rPr sz="2400" spc="-3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be</a:t>
            </a:r>
            <a:r>
              <a:rPr sz="2400" spc="-3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evaluated</a:t>
            </a:r>
            <a:r>
              <a:rPr sz="2400" spc="-8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438085"/>
                </a:solidFill>
                <a:latin typeface="Georgia"/>
                <a:cs typeface="Georgia"/>
              </a:rPr>
              <a:t>and </a:t>
            </a:r>
            <a:r>
              <a:rPr sz="2400" spc="-10" dirty="0">
                <a:solidFill>
                  <a:srgbClr val="438085"/>
                </a:solidFill>
                <a:latin typeface="Georgia"/>
                <a:cs typeface="Georgia"/>
              </a:rPr>
              <a:t>integrated.</a:t>
            </a:r>
            <a:endParaRPr sz="240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spcBef>
                <a:spcPts val="330"/>
              </a:spcBef>
              <a:tabLst>
                <a:tab pos="561340" algn="l"/>
              </a:tabLst>
            </a:pPr>
            <a:r>
              <a:rPr sz="24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	Review</a:t>
            </a:r>
            <a:r>
              <a:rPr sz="2400" spc="-7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the</a:t>
            </a:r>
            <a:r>
              <a:rPr sz="2400" spc="-4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work</a:t>
            </a:r>
            <a:r>
              <a:rPr sz="2400" spc="1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done</a:t>
            </a:r>
            <a:r>
              <a:rPr sz="2400" spc="-3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in</a:t>
            </a:r>
            <a:r>
              <a:rPr sz="2400" spc="-8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this</a:t>
            </a:r>
            <a:r>
              <a:rPr sz="2400" spc="-5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438085"/>
                </a:solidFill>
                <a:latin typeface="Georgia"/>
                <a:cs typeface="Georgia"/>
              </a:rPr>
              <a:t>sprint.</a:t>
            </a:r>
            <a:endParaRPr sz="240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spcBef>
                <a:spcPts val="290"/>
              </a:spcBef>
              <a:tabLst>
                <a:tab pos="561340" algn="l"/>
              </a:tabLst>
            </a:pPr>
            <a:r>
              <a:rPr sz="24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	Adjust</a:t>
            </a:r>
            <a:r>
              <a:rPr sz="2400" spc="-13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for</a:t>
            </a:r>
            <a:r>
              <a:rPr sz="2400" spc="-3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any</a:t>
            </a:r>
            <a:r>
              <a:rPr sz="2400" spc="-5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changes</a:t>
            </a:r>
            <a:r>
              <a:rPr sz="2400" spc="-5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in</a:t>
            </a:r>
            <a:r>
              <a:rPr sz="2400" spc="-4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requirements</a:t>
            </a:r>
            <a:r>
              <a:rPr sz="2400" spc="-5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or</a:t>
            </a:r>
            <a:r>
              <a:rPr sz="2400" spc="-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438085"/>
                </a:solidFill>
                <a:latin typeface="Georgia"/>
                <a:cs typeface="Georgia"/>
              </a:rPr>
              <a:t>plans.</a:t>
            </a:r>
            <a:endParaRPr sz="240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29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Results</a:t>
            </a:r>
            <a:r>
              <a:rPr sz="2400" spc="-10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incremental</a:t>
            </a:r>
            <a:r>
              <a:rPr sz="2400" spc="-10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delivery</a:t>
            </a:r>
            <a:r>
              <a:rPr sz="2400" spc="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usable</a:t>
            </a:r>
            <a:r>
              <a:rPr sz="2400" spc="-8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product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929" y="2614913"/>
            <a:ext cx="7891322" cy="381192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645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Sprint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1346149"/>
            <a:ext cx="53162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Sprint</a:t>
            </a:r>
            <a:r>
              <a:rPr spc="-135" dirty="0"/>
              <a:t> </a:t>
            </a:r>
            <a:r>
              <a:rPr dirty="0"/>
              <a:t>Burn</a:t>
            </a:r>
            <a:r>
              <a:rPr spc="-70" dirty="0"/>
              <a:t> </a:t>
            </a:r>
            <a:r>
              <a:rPr dirty="0"/>
              <a:t>down</a:t>
            </a:r>
            <a:r>
              <a:rPr spc="-110" dirty="0"/>
              <a:t> </a:t>
            </a:r>
            <a:r>
              <a:rPr spc="-10" dirty="0"/>
              <a:t>Chart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972" y="2274773"/>
            <a:ext cx="7590790" cy="38023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68605" marR="226695" indent="-256540">
              <a:lnSpc>
                <a:spcPct val="100000"/>
              </a:lnSpc>
              <a:spcBef>
                <a:spcPts val="115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The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estimated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work</a:t>
            </a:r>
            <a:r>
              <a:rPr sz="2400" b="1" spc="-95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remaining</a:t>
            </a:r>
            <a:r>
              <a:rPr sz="2400" b="1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sprint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spc="-35" dirty="0">
                <a:latin typeface="Georgia"/>
                <a:cs typeface="Georgia"/>
              </a:rPr>
              <a:t>is </a:t>
            </a:r>
            <a:r>
              <a:rPr sz="2400" dirty="0">
                <a:latin typeface="Georgia"/>
                <a:cs typeface="Georgia"/>
              </a:rPr>
              <a:t>calculated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daily</a:t>
            </a:r>
            <a:r>
              <a:rPr sz="2400" b="1" spc="-85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and</a:t>
            </a:r>
            <a:r>
              <a:rPr sz="2400" b="1" spc="-30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graphed</a:t>
            </a:r>
            <a:r>
              <a:rPr sz="2400" dirty="0">
                <a:latin typeface="Georgia"/>
                <a:cs typeface="Georgia"/>
              </a:rPr>
              <a:t>,</a:t>
            </a:r>
            <a:r>
              <a:rPr sz="2400" spc="-9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resulting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</a:t>
            </a:r>
            <a:r>
              <a:rPr sz="2400" spc="-8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</a:t>
            </a:r>
            <a:r>
              <a:rPr sz="2400" spc="-1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Sprint </a:t>
            </a:r>
            <a:r>
              <a:rPr sz="2400" dirty="0">
                <a:latin typeface="Georgia"/>
                <a:cs typeface="Georgia"/>
              </a:rPr>
              <a:t>Burn</a:t>
            </a:r>
            <a:r>
              <a:rPr sz="2400" spc="-9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down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Chart</a:t>
            </a:r>
            <a:endParaRPr sz="240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295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The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vertical</a:t>
            </a:r>
            <a:r>
              <a:rPr sz="2400" b="1" spc="-80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axis</a:t>
            </a:r>
            <a:r>
              <a:rPr sz="2400" b="1" spc="-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displays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hours</a:t>
            </a:r>
            <a:r>
              <a:rPr sz="2400" b="1" spc="-50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of</a:t>
            </a:r>
            <a:r>
              <a:rPr sz="2400" b="1" spc="-55" dirty="0">
                <a:latin typeface="Georgia"/>
                <a:cs typeface="Georgia"/>
              </a:rPr>
              <a:t> </a:t>
            </a:r>
            <a:r>
              <a:rPr sz="2400" b="1" spc="-10" dirty="0">
                <a:latin typeface="Georgia"/>
                <a:cs typeface="Georgia"/>
              </a:rPr>
              <a:t>effort</a:t>
            </a:r>
            <a:endParaRPr sz="2400">
              <a:latin typeface="Georgia"/>
              <a:cs typeface="Georgia"/>
            </a:endParaRPr>
          </a:p>
          <a:p>
            <a:pPr marL="268605">
              <a:lnSpc>
                <a:spcPct val="100000"/>
              </a:lnSpc>
            </a:pPr>
            <a:r>
              <a:rPr sz="2400" dirty="0">
                <a:latin typeface="Georgia"/>
                <a:cs typeface="Georgia"/>
              </a:rPr>
              <a:t>remaining</a:t>
            </a:r>
            <a:r>
              <a:rPr sz="2400" spc="-1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for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1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Sprint.</a:t>
            </a:r>
            <a:endParaRPr sz="240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29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The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horizontal</a:t>
            </a:r>
            <a:r>
              <a:rPr sz="2400" b="1" spc="-114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axis</a:t>
            </a:r>
            <a:r>
              <a:rPr sz="2400" b="1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displays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the</a:t>
            </a:r>
            <a:r>
              <a:rPr sz="2400" b="1" spc="-15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days</a:t>
            </a:r>
            <a:r>
              <a:rPr sz="2400" b="1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2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Sprint.</a:t>
            </a:r>
            <a:endParaRPr sz="2400">
              <a:latin typeface="Georgia"/>
              <a:cs typeface="Georgia"/>
            </a:endParaRPr>
          </a:p>
          <a:p>
            <a:pPr marL="268605" marR="125730" indent="-256540">
              <a:lnSpc>
                <a:spcPct val="100000"/>
              </a:lnSpc>
              <a:spcBef>
                <a:spcPts val="325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The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burn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down</a:t>
            </a:r>
            <a:r>
              <a:rPr sz="2400" spc="-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is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supposed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to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be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shown</a:t>
            </a:r>
            <a:r>
              <a:rPr sz="2400" spc="-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by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line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of </a:t>
            </a:r>
            <a:r>
              <a:rPr sz="2400" dirty="0">
                <a:latin typeface="Georgia"/>
                <a:cs typeface="Georgia"/>
              </a:rPr>
              <a:t>descent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from</a:t>
            </a:r>
            <a:r>
              <a:rPr sz="2400" spc="-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start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Sprint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with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starting </a:t>
            </a:r>
            <a:r>
              <a:rPr sz="2400" dirty="0">
                <a:latin typeface="Georgia"/>
                <a:cs typeface="Georgia"/>
              </a:rPr>
              <a:t>hours,</a:t>
            </a:r>
            <a:r>
              <a:rPr sz="2400" spc="-9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down</a:t>
            </a:r>
            <a:r>
              <a:rPr sz="2400" spc="-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to</a:t>
            </a:r>
            <a:r>
              <a:rPr sz="2400" spc="-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end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Sprint</a:t>
            </a:r>
            <a:r>
              <a:rPr sz="2400" spc="-9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with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no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hours remaining.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743136"/>
            <a:ext cx="8915400" cy="335991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8644" y="1498498"/>
            <a:ext cx="532066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Sprint</a:t>
            </a:r>
            <a:r>
              <a:rPr spc="-95" dirty="0"/>
              <a:t> </a:t>
            </a:r>
            <a:r>
              <a:rPr dirty="0"/>
              <a:t>Burn</a:t>
            </a:r>
            <a:r>
              <a:rPr spc="-40" dirty="0"/>
              <a:t> </a:t>
            </a:r>
            <a:r>
              <a:rPr dirty="0"/>
              <a:t>down</a:t>
            </a:r>
            <a:r>
              <a:rPr spc="-90" dirty="0"/>
              <a:t> </a:t>
            </a:r>
            <a:r>
              <a:rPr spc="-10" dirty="0"/>
              <a:t>Chart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4208780"/>
            <a:chOff x="0" y="0"/>
            <a:chExt cx="9144000" cy="4208780"/>
          </a:xfrm>
        </p:grpSpPr>
        <p:sp>
          <p:nvSpPr>
            <p:cNvPr id="3" name="object 3"/>
            <p:cNvSpPr/>
            <p:nvPr/>
          </p:nvSpPr>
          <p:spPr>
            <a:xfrm>
              <a:off x="5410200" y="3810063"/>
              <a:ext cx="3733800" cy="90805"/>
            </a:xfrm>
            <a:custGeom>
              <a:avLst/>
              <a:gdLst/>
              <a:ahLst/>
              <a:cxnLst/>
              <a:rect l="l" t="t" r="r" b="b"/>
              <a:pathLst>
                <a:path w="3733800" h="90804">
                  <a:moveTo>
                    <a:pt x="3733800" y="0"/>
                  </a:moveTo>
                  <a:lnTo>
                    <a:pt x="0" y="0"/>
                  </a:lnTo>
                  <a:lnTo>
                    <a:pt x="0" y="90487"/>
                  </a:lnTo>
                  <a:lnTo>
                    <a:pt x="3733800" y="90487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4380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410200" y="3897312"/>
              <a:ext cx="3733800" cy="192405"/>
            </a:xfrm>
            <a:custGeom>
              <a:avLst/>
              <a:gdLst/>
              <a:ahLst/>
              <a:cxnLst/>
              <a:rect l="l" t="t" r="r" b="b"/>
              <a:pathLst>
                <a:path w="3733800" h="192404">
                  <a:moveTo>
                    <a:pt x="3733800" y="0"/>
                  </a:moveTo>
                  <a:lnTo>
                    <a:pt x="0" y="0"/>
                  </a:lnTo>
                  <a:lnTo>
                    <a:pt x="0" y="192087"/>
                  </a:lnTo>
                  <a:lnTo>
                    <a:pt x="3733800" y="192087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43808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10200" y="4114800"/>
              <a:ext cx="3733800" cy="9525"/>
            </a:xfrm>
            <a:custGeom>
              <a:avLst/>
              <a:gdLst/>
              <a:ahLst/>
              <a:cxnLst/>
              <a:rect l="l" t="t" r="r" b="b"/>
              <a:pathLst>
                <a:path w="3733800" h="9525">
                  <a:moveTo>
                    <a:pt x="37338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733800" y="9525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43808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10200" y="4164076"/>
              <a:ext cx="1965325" cy="19050"/>
            </a:xfrm>
            <a:custGeom>
              <a:avLst/>
              <a:gdLst/>
              <a:ahLst/>
              <a:cxnLst/>
              <a:rect l="l" t="t" r="r" b="b"/>
              <a:pathLst>
                <a:path w="1965325" h="19050">
                  <a:moveTo>
                    <a:pt x="1965325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1965325" y="19050"/>
                  </a:lnTo>
                  <a:lnTo>
                    <a:pt x="1965325" y="0"/>
                  </a:lnTo>
                  <a:close/>
                </a:path>
              </a:pathLst>
            </a:custGeom>
            <a:solidFill>
              <a:srgbClr val="438085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10200" y="4199001"/>
              <a:ext cx="1965325" cy="9525"/>
            </a:xfrm>
            <a:custGeom>
              <a:avLst/>
              <a:gdLst/>
              <a:ahLst/>
              <a:cxnLst/>
              <a:rect l="l" t="t" r="r" b="b"/>
              <a:pathLst>
                <a:path w="1965325" h="9525">
                  <a:moveTo>
                    <a:pt x="19653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965325" y="9525"/>
                  </a:lnTo>
                  <a:lnTo>
                    <a:pt x="1965325" y="0"/>
                  </a:lnTo>
                  <a:close/>
                </a:path>
              </a:pathLst>
            </a:custGeom>
            <a:solidFill>
              <a:srgbClr val="43808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10200" y="3962400"/>
              <a:ext cx="3567429" cy="135255"/>
            </a:xfrm>
            <a:custGeom>
              <a:avLst/>
              <a:gdLst/>
              <a:ahLst/>
              <a:cxnLst/>
              <a:rect l="l" t="t" r="r" b="b"/>
              <a:pathLst>
                <a:path w="3567429" h="135254">
                  <a:moveTo>
                    <a:pt x="3063875" y="2032"/>
                  </a:moveTo>
                  <a:lnTo>
                    <a:pt x="3061843" y="0"/>
                  </a:lnTo>
                  <a:lnTo>
                    <a:pt x="2032" y="0"/>
                  </a:lnTo>
                  <a:lnTo>
                    <a:pt x="0" y="2032"/>
                  </a:lnTo>
                  <a:lnTo>
                    <a:pt x="0" y="4445"/>
                  </a:lnTo>
                  <a:lnTo>
                    <a:pt x="0" y="25019"/>
                  </a:lnTo>
                  <a:lnTo>
                    <a:pt x="2032" y="27051"/>
                  </a:lnTo>
                  <a:lnTo>
                    <a:pt x="3061843" y="27051"/>
                  </a:lnTo>
                  <a:lnTo>
                    <a:pt x="3063875" y="25019"/>
                  </a:lnTo>
                  <a:lnTo>
                    <a:pt x="3063875" y="2032"/>
                  </a:lnTo>
                  <a:close/>
                </a:path>
                <a:path w="3567429" h="135254">
                  <a:moveTo>
                    <a:pt x="3567176" y="101092"/>
                  </a:moveTo>
                  <a:lnTo>
                    <a:pt x="3564382" y="98425"/>
                  </a:lnTo>
                  <a:lnTo>
                    <a:pt x="1969643" y="98425"/>
                  </a:lnTo>
                  <a:lnTo>
                    <a:pt x="1966976" y="101092"/>
                  </a:lnTo>
                  <a:lnTo>
                    <a:pt x="1966976" y="104521"/>
                  </a:lnTo>
                  <a:lnTo>
                    <a:pt x="1966976" y="132207"/>
                  </a:lnTo>
                  <a:lnTo>
                    <a:pt x="1969643" y="135001"/>
                  </a:lnTo>
                  <a:lnTo>
                    <a:pt x="3564382" y="135001"/>
                  </a:lnTo>
                  <a:lnTo>
                    <a:pt x="3567176" y="132207"/>
                  </a:lnTo>
                  <a:lnTo>
                    <a:pt x="3567176" y="1010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816350"/>
              <a:ext cx="9144000" cy="78105"/>
            </a:xfrm>
            <a:custGeom>
              <a:avLst/>
              <a:gdLst/>
              <a:ahLst/>
              <a:cxnLst/>
              <a:rect l="l" t="t" r="r" b="b"/>
              <a:pathLst>
                <a:path w="9144000" h="78104">
                  <a:moveTo>
                    <a:pt x="0" y="77850"/>
                  </a:moveTo>
                  <a:lnTo>
                    <a:pt x="9144000" y="7785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7850"/>
                  </a:lnTo>
                  <a:close/>
                </a:path>
              </a:pathLst>
            </a:custGeom>
            <a:solidFill>
              <a:srgbClr val="43808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702050"/>
              <a:ext cx="9144000" cy="189230"/>
            </a:xfrm>
            <a:custGeom>
              <a:avLst/>
              <a:gdLst/>
              <a:ahLst/>
              <a:cxnLst/>
              <a:rect l="l" t="t" r="r" b="b"/>
              <a:pathLst>
                <a:path w="9144000" h="189229">
                  <a:moveTo>
                    <a:pt x="9144000" y="0"/>
                  </a:moveTo>
                  <a:lnTo>
                    <a:pt x="6413500" y="0"/>
                  </a:lnTo>
                  <a:lnTo>
                    <a:pt x="0" y="0"/>
                  </a:lnTo>
                  <a:lnTo>
                    <a:pt x="0" y="114300"/>
                  </a:lnTo>
                  <a:lnTo>
                    <a:pt x="6413500" y="114300"/>
                  </a:lnTo>
                  <a:lnTo>
                    <a:pt x="6413500" y="188976"/>
                  </a:lnTo>
                  <a:lnTo>
                    <a:pt x="9144000" y="188976"/>
                  </a:lnTo>
                  <a:lnTo>
                    <a:pt x="9144000" y="1143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380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0"/>
              <a:ext cx="9144000" cy="3702050"/>
            </a:xfrm>
            <a:custGeom>
              <a:avLst/>
              <a:gdLst/>
              <a:ahLst/>
              <a:cxnLst/>
              <a:rect l="l" t="t" r="r" b="b"/>
              <a:pathLst>
                <a:path w="9144000" h="3702050">
                  <a:moveTo>
                    <a:pt x="9144000" y="0"/>
                  </a:moveTo>
                  <a:lnTo>
                    <a:pt x="0" y="0"/>
                  </a:lnTo>
                  <a:lnTo>
                    <a:pt x="0" y="3702050"/>
                  </a:lnTo>
                  <a:lnTo>
                    <a:pt x="9144000" y="37020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445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60044" y="2634183"/>
            <a:ext cx="392366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>
                <a:solidFill>
                  <a:srgbClr val="FFFFFF"/>
                </a:solidFill>
              </a:rPr>
              <a:t>Scrum</a:t>
            </a:r>
            <a:r>
              <a:rPr sz="4400" spc="-160" dirty="0">
                <a:solidFill>
                  <a:srgbClr val="FFFFFF"/>
                </a:solidFill>
              </a:rPr>
              <a:t> </a:t>
            </a:r>
            <a:r>
              <a:rPr sz="4400" spc="-10" dirty="0">
                <a:solidFill>
                  <a:srgbClr val="FFFFFF"/>
                </a:solidFill>
              </a:rPr>
              <a:t>Meetings</a:t>
            </a:r>
            <a:endParaRPr sz="4400"/>
          </a:p>
        </p:txBody>
      </p:sp>
      <p:sp>
        <p:nvSpPr>
          <p:cNvPr id="13" name="object 13"/>
          <p:cNvSpPr txBox="1"/>
          <p:nvPr/>
        </p:nvSpPr>
        <p:spPr>
          <a:xfrm>
            <a:off x="600252" y="3891814"/>
            <a:ext cx="3961129" cy="204343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10400"/>
              </a:lnSpc>
              <a:spcBef>
                <a:spcPts val="85"/>
              </a:spcBef>
            </a:pPr>
            <a:r>
              <a:rPr sz="2400" dirty="0">
                <a:solidFill>
                  <a:srgbClr val="424455"/>
                </a:solidFill>
                <a:latin typeface="Georgia"/>
                <a:cs typeface="Georgia"/>
              </a:rPr>
              <a:t>Release</a:t>
            </a:r>
            <a:r>
              <a:rPr sz="2400" spc="-6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24455"/>
                </a:solidFill>
                <a:latin typeface="Georgia"/>
                <a:cs typeface="Georgia"/>
              </a:rPr>
              <a:t>Planning</a:t>
            </a:r>
            <a:r>
              <a:rPr sz="2400" spc="-13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424455"/>
                </a:solidFill>
                <a:latin typeface="Georgia"/>
                <a:cs typeface="Georgia"/>
              </a:rPr>
              <a:t>Meeting </a:t>
            </a:r>
            <a:r>
              <a:rPr sz="2400" dirty="0">
                <a:solidFill>
                  <a:srgbClr val="424455"/>
                </a:solidFill>
                <a:latin typeface="Georgia"/>
                <a:cs typeface="Georgia"/>
              </a:rPr>
              <a:t>Sprint</a:t>
            </a:r>
            <a:r>
              <a:rPr sz="2400" spc="-6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24455"/>
                </a:solidFill>
                <a:latin typeface="Georgia"/>
                <a:cs typeface="Georgia"/>
              </a:rPr>
              <a:t>Planning</a:t>
            </a:r>
            <a:r>
              <a:rPr sz="2400" spc="-13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424455"/>
                </a:solidFill>
                <a:latin typeface="Georgia"/>
                <a:cs typeface="Georgia"/>
              </a:rPr>
              <a:t>Meeting </a:t>
            </a:r>
            <a:r>
              <a:rPr sz="2400" dirty="0">
                <a:solidFill>
                  <a:srgbClr val="424455"/>
                </a:solidFill>
                <a:latin typeface="Georgia"/>
                <a:cs typeface="Georgia"/>
              </a:rPr>
              <a:t>Sprint</a:t>
            </a:r>
            <a:r>
              <a:rPr sz="2400" spc="-11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24455"/>
                </a:solidFill>
                <a:latin typeface="Georgia"/>
                <a:cs typeface="Georgia"/>
              </a:rPr>
              <a:t>Review</a:t>
            </a:r>
            <a:r>
              <a:rPr sz="2400" spc="-3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424455"/>
                </a:solidFill>
                <a:latin typeface="Georgia"/>
                <a:cs typeface="Georgia"/>
              </a:rPr>
              <a:t>Meeting</a:t>
            </a:r>
            <a:r>
              <a:rPr sz="2400" spc="60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24455"/>
                </a:solidFill>
                <a:latin typeface="Georgia"/>
                <a:cs typeface="Georgia"/>
              </a:rPr>
              <a:t>Sprint</a:t>
            </a:r>
            <a:r>
              <a:rPr sz="2400" spc="-15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24455"/>
                </a:solidFill>
                <a:latin typeface="Georgia"/>
                <a:cs typeface="Georgia"/>
              </a:rPr>
              <a:t>Retrospective</a:t>
            </a:r>
            <a:r>
              <a:rPr sz="2400" spc="-7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424455"/>
                </a:solidFill>
                <a:latin typeface="Georgia"/>
                <a:cs typeface="Georgia"/>
              </a:rPr>
              <a:t>Meeting </a:t>
            </a:r>
            <a:r>
              <a:rPr sz="2400" dirty="0">
                <a:solidFill>
                  <a:srgbClr val="424455"/>
                </a:solidFill>
                <a:latin typeface="Georgia"/>
                <a:cs typeface="Georgia"/>
              </a:rPr>
              <a:t>Daily</a:t>
            </a:r>
            <a:r>
              <a:rPr sz="2400" spc="-9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424455"/>
                </a:solidFill>
                <a:latin typeface="Georgia"/>
                <a:cs typeface="Georgia"/>
              </a:rPr>
              <a:t>Scrum</a:t>
            </a:r>
            <a:r>
              <a:rPr sz="2400" spc="-5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424455"/>
                </a:solidFill>
                <a:latin typeface="Georgia"/>
                <a:cs typeface="Georgia"/>
              </a:rPr>
              <a:t>Meeting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988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Release</a:t>
            </a:r>
            <a:r>
              <a:rPr spc="-254" dirty="0"/>
              <a:t> </a:t>
            </a:r>
            <a:r>
              <a:rPr spc="-10" dirty="0"/>
              <a:t>Planning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1981200"/>
            <a:ext cx="7637526" cy="44481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88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Release</a:t>
            </a:r>
            <a:r>
              <a:rPr spc="-254" dirty="0"/>
              <a:t> </a:t>
            </a:r>
            <a:r>
              <a:rPr spc="-10" dirty="0"/>
              <a:t>Planning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752600"/>
            <a:ext cx="7218045" cy="47720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644" y="659968"/>
            <a:ext cx="54000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Sprint</a:t>
            </a:r>
            <a:r>
              <a:rPr spc="-110" dirty="0"/>
              <a:t> </a:t>
            </a:r>
            <a:r>
              <a:rPr dirty="0"/>
              <a:t>Planning</a:t>
            </a:r>
            <a:r>
              <a:rPr spc="-95" dirty="0"/>
              <a:t> </a:t>
            </a:r>
            <a:r>
              <a:rPr spc="-10" dirty="0"/>
              <a:t>Meeting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45972" y="2228581"/>
            <a:ext cx="6471284" cy="4426212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83210" indent="-255904">
              <a:lnSpc>
                <a:spcPct val="100000"/>
              </a:lnSpc>
              <a:spcBef>
                <a:spcPts val="395"/>
              </a:spcBef>
              <a:buClr>
                <a:srgbClr val="9F4DA2"/>
              </a:buClr>
              <a:buChar char="•"/>
              <a:tabLst>
                <a:tab pos="283845" algn="l"/>
              </a:tabLst>
            </a:pPr>
            <a:r>
              <a:rPr sz="2400" dirty="0"/>
              <a:t>A</a:t>
            </a:r>
            <a:r>
              <a:rPr sz="2400" spc="-40" dirty="0"/>
              <a:t> </a:t>
            </a:r>
            <a:r>
              <a:rPr sz="2400" dirty="0"/>
              <a:t>meeting</a:t>
            </a:r>
            <a:r>
              <a:rPr sz="2400" spc="-40" dirty="0"/>
              <a:t> </a:t>
            </a:r>
            <a:r>
              <a:rPr sz="2400" dirty="0"/>
              <a:t>at the</a:t>
            </a:r>
            <a:r>
              <a:rPr sz="2400" spc="-20" dirty="0"/>
              <a:t> </a:t>
            </a:r>
            <a:r>
              <a:rPr sz="2400" dirty="0"/>
              <a:t>beginning</a:t>
            </a:r>
            <a:r>
              <a:rPr sz="2400" spc="-35" dirty="0"/>
              <a:t> </a:t>
            </a:r>
            <a:r>
              <a:rPr sz="2400" dirty="0"/>
              <a:t>of</a:t>
            </a:r>
            <a:r>
              <a:rPr sz="2400" spc="-30" dirty="0"/>
              <a:t> </a:t>
            </a:r>
            <a:r>
              <a:rPr sz="2400" dirty="0"/>
              <a:t>a</a:t>
            </a:r>
            <a:r>
              <a:rPr sz="2400" spc="10" dirty="0"/>
              <a:t> </a:t>
            </a:r>
            <a:r>
              <a:rPr sz="2400" dirty="0"/>
              <a:t>sprint</a:t>
            </a:r>
            <a:r>
              <a:rPr sz="2400" spc="5" dirty="0"/>
              <a:t> </a:t>
            </a:r>
            <a:r>
              <a:rPr sz="2400" dirty="0"/>
              <a:t>where</a:t>
            </a:r>
            <a:r>
              <a:rPr sz="2400" spc="-45" dirty="0"/>
              <a:t> </a:t>
            </a:r>
            <a:r>
              <a:rPr sz="2400" dirty="0"/>
              <a:t>the</a:t>
            </a:r>
            <a:r>
              <a:rPr sz="2400" spc="-55" dirty="0"/>
              <a:t> </a:t>
            </a:r>
            <a:r>
              <a:rPr sz="2400" dirty="0"/>
              <a:t>sprint</a:t>
            </a:r>
            <a:r>
              <a:rPr sz="2400" spc="5" dirty="0"/>
              <a:t> </a:t>
            </a:r>
            <a:r>
              <a:rPr sz="2400" dirty="0"/>
              <a:t>is</a:t>
            </a:r>
            <a:r>
              <a:rPr sz="2400" spc="10" dirty="0"/>
              <a:t> </a:t>
            </a:r>
            <a:r>
              <a:rPr sz="2400" spc="-10" dirty="0"/>
              <a:t>planned.</a:t>
            </a:r>
          </a:p>
          <a:p>
            <a:pPr marL="283210" marR="5080" indent="-256540">
              <a:lnSpc>
                <a:spcPct val="99900"/>
              </a:lnSpc>
              <a:spcBef>
                <a:spcPts val="305"/>
              </a:spcBef>
              <a:buClr>
                <a:srgbClr val="9F4DA2"/>
              </a:buClr>
              <a:buChar char="•"/>
              <a:tabLst>
                <a:tab pos="283845" algn="l"/>
              </a:tabLst>
            </a:pPr>
            <a:r>
              <a:rPr sz="2400" dirty="0"/>
              <a:t>Items</a:t>
            </a:r>
            <a:r>
              <a:rPr sz="2400" spc="-70" dirty="0"/>
              <a:t> </a:t>
            </a:r>
            <a:r>
              <a:rPr sz="2400" dirty="0"/>
              <a:t>from</a:t>
            </a:r>
            <a:r>
              <a:rPr sz="2400" spc="-40" dirty="0"/>
              <a:t> </a:t>
            </a:r>
            <a:r>
              <a:rPr sz="2400" dirty="0"/>
              <a:t>the</a:t>
            </a:r>
            <a:r>
              <a:rPr sz="2400" spc="-30" dirty="0"/>
              <a:t> </a:t>
            </a:r>
            <a:r>
              <a:rPr sz="2400" dirty="0"/>
              <a:t>Product</a:t>
            </a:r>
            <a:r>
              <a:rPr sz="2400" spc="-35" dirty="0"/>
              <a:t> </a:t>
            </a:r>
            <a:r>
              <a:rPr sz="2400" dirty="0"/>
              <a:t>Backlog</a:t>
            </a:r>
            <a:r>
              <a:rPr sz="2400" spc="-10" dirty="0"/>
              <a:t> </a:t>
            </a:r>
            <a:r>
              <a:rPr sz="2400" dirty="0"/>
              <a:t>are</a:t>
            </a:r>
            <a:r>
              <a:rPr sz="2400" spc="-30" dirty="0"/>
              <a:t> </a:t>
            </a:r>
            <a:r>
              <a:rPr sz="2400" dirty="0"/>
              <a:t>selected</a:t>
            </a:r>
            <a:r>
              <a:rPr sz="2400" spc="-30" dirty="0"/>
              <a:t> </a:t>
            </a:r>
            <a:r>
              <a:rPr sz="2400" dirty="0"/>
              <a:t>to be</a:t>
            </a:r>
            <a:r>
              <a:rPr sz="2400" spc="-25" dirty="0"/>
              <a:t> </a:t>
            </a:r>
            <a:r>
              <a:rPr sz="2400" dirty="0"/>
              <a:t>completed</a:t>
            </a:r>
            <a:r>
              <a:rPr sz="2400" spc="-35" dirty="0"/>
              <a:t> </a:t>
            </a:r>
            <a:r>
              <a:rPr sz="2400" dirty="0"/>
              <a:t>in</a:t>
            </a:r>
            <a:r>
              <a:rPr sz="2400" spc="10" dirty="0"/>
              <a:t> </a:t>
            </a:r>
            <a:r>
              <a:rPr sz="2400" spc="-25" dirty="0"/>
              <a:t>the </a:t>
            </a:r>
            <a:r>
              <a:rPr sz="2400" dirty="0"/>
              <a:t>sprint,</a:t>
            </a:r>
            <a:r>
              <a:rPr sz="2400" spc="-55" dirty="0"/>
              <a:t> </a:t>
            </a:r>
            <a:r>
              <a:rPr sz="2400" dirty="0"/>
              <a:t>based</a:t>
            </a:r>
            <a:r>
              <a:rPr sz="2400" spc="10" dirty="0"/>
              <a:t> </a:t>
            </a:r>
            <a:r>
              <a:rPr sz="2400" dirty="0"/>
              <a:t>on</a:t>
            </a:r>
            <a:r>
              <a:rPr sz="2400" spc="-20" dirty="0"/>
              <a:t> </a:t>
            </a:r>
            <a:r>
              <a:rPr sz="2400" dirty="0"/>
              <a:t>the</a:t>
            </a:r>
            <a:r>
              <a:rPr sz="2400" spc="-15" dirty="0"/>
              <a:t> </a:t>
            </a:r>
            <a:r>
              <a:rPr sz="2400" dirty="0"/>
              <a:t>priorities</a:t>
            </a:r>
            <a:r>
              <a:rPr sz="2400" spc="15" dirty="0"/>
              <a:t> </a:t>
            </a:r>
            <a:r>
              <a:rPr sz="2400" dirty="0"/>
              <a:t>set</a:t>
            </a:r>
            <a:r>
              <a:rPr sz="2400" spc="-30" dirty="0"/>
              <a:t> </a:t>
            </a:r>
            <a:r>
              <a:rPr sz="2400" dirty="0"/>
              <a:t>by the</a:t>
            </a:r>
            <a:r>
              <a:rPr sz="2400" spc="-20" dirty="0"/>
              <a:t> </a:t>
            </a:r>
            <a:r>
              <a:rPr sz="2400" dirty="0"/>
              <a:t>Product</a:t>
            </a:r>
            <a:r>
              <a:rPr sz="2400" spc="-25" dirty="0"/>
              <a:t> </a:t>
            </a:r>
            <a:r>
              <a:rPr sz="2400" dirty="0"/>
              <a:t>Owner</a:t>
            </a:r>
            <a:r>
              <a:rPr sz="2400" spc="-15" dirty="0"/>
              <a:t> </a:t>
            </a:r>
            <a:r>
              <a:rPr sz="2400" dirty="0"/>
              <a:t>.</a:t>
            </a:r>
            <a:r>
              <a:rPr sz="2400" spc="-15" dirty="0"/>
              <a:t> </a:t>
            </a:r>
            <a:r>
              <a:rPr sz="2400" dirty="0"/>
              <a:t>Eight</a:t>
            </a:r>
            <a:r>
              <a:rPr sz="2400" spc="-60" dirty="0"/>
              <a:t> </a:t>
            </a:r>
            <a:r>
              <a:rPr sz="2400" dirty="0"/>
              <a:t>hour</a:t>
            </a:r>
            <a:r>
              <a:rPr sz="2400" spc="-10" dirty="0"/>
              <a:t> </a:t>
            </a:r>
            <a:r>
              <a:rPr sz="2400" spc="-20" dirty="0"/>
              <a:t>time </a:t>
            </a:r>
            <a:r>
              <a:rPr sz="2400" spc="-10" dirty="0"/>
              <a:t>limit.</a:t>
            </a:r>
          </a:p>
          <a:p>
            <a:pPr marL="328930">
              <a:lnSpc>
                <a:spcPct val="100000"/>
              </a:lnSpc>
              <a:spcBef>
                <a:spcPts val="300"/>
              </a:spcBef>
              <a:tabLst>
                <a:tab pos="576580" algn="l"/>
              </a:tabLst>
            </a:pPr>
            <a:r>
              <a:rPr sz="2400" spc="-50" dirty="0">
                <a:solidFill>
                  <a:srgbClr val="438085"/>
                </a:solidFill>
              </a:rPr>
              <a:t>▫</a:t>
            </a:r>
            <a:r>
              <a:rPr sz="2400" dirty="0">
                <a:solidFill>
                  <a:srgbClr val="438085"/>
                </a:solidFill>
              </a:rPr>
              <a:t>	</a:t>
            </a:r>
            <a:r>
              <a:rPr sz="2400" dirty="0"/>
              <a:t>(1st</a:t>
            </a:r>
            <a:r>
              <a:rPr sz="2400" spc="-80" dirty="0"/>
              <a:t> </a:t>
            </a:r>
            <a:r>
              <a:rPr sz="2400" dirty="0"/>
              <a:t>four</a:t>
            </a:r>
            <a:r>
              <a:rPr sz="2400" spc="5" dirty="0"/>
              <a:t> </a:t>
            </a:r>
            <a:r>
              <a:rPr sz="2400" dirty="0"/>
              <a:t>hours)</a:t>
            </a:r>
            <a:r>
              <a:rPr sz="2400" spc="-65" dirty="0"/>
              <a:t> </a:t>
            </a:r>
            <a:r>
              <a:rPr sz="2400" dirty="0"/>
              <a:t>Product</a:t>
            </a:r>
            <a:r>
              <a:rPr sz="2400" spc="-5" dirty="0"/>
              <a:t> </a:t>
            </a:r>
            <a:r>
              <a:rPr sz="2400" dirty="0"/>
              <a:t>Owner</a:t>
            </a:r>
            <a:r>
              <a:rPr sz="2400" spc="-60" dirty="0"/>
              <a:t> </a:t>
            </a:r>
            <a:r>
              <a:rPr sz="2400" dirty="0"/>
              <a:t>+ Team:</a:t>
            </a:r>
            <a:r>
              <a:rPr sz="2400" spc="-40" dirty="0"/>
              <a:t> </a:t>
            </a:r>
            <a:r>
              <a:rPr sz="2400" dirty="0"/>
              <a:t>dialog</a:t>
            </a:r>
            <a:r>
              <a:rPr sz="2400" spc="-20" dirty="0"/>
              <a:t> </a:t>
            </a:r>
            <a:r>
              <a:rPr sz="2400" dirty="0"/>
              <a:t>for</a:t>
            </a:r>
            <a:r>
              <a:rPr sz="2400" spc="-25" dirty="0"/>
              <a:t> </a:t>
            </a:r>
            <a:r>
              <a:rPr sz="2400" dirty="0"/>
              <a:t>prioritizing</a:t>
            </a:r>
            <a:r>
              <a:rPr sz="2400" spc="-15" dirty="0"/>
              <a:t> </a:t>
            </a:r>
            <a:r>
              <a:rPr sz="2400" spc="-25" dirty="0"/>
              <a:t>the</a:t>
            </a:r>
          </a:p>
          <a:p>
            <a:pPr marL="575945">
              <a:lnSpc>
                <a:spcPct val="100000"/>
              </a:lnSpc>
              <a:spcBef>
                <a:spcPts val="15"/>
              </a:spcBef>
            </a:pPr>
            <a:r>
              <a:rPr sz="2400" dirty="0"/>
              <a:t>Product</a:t>
            </a:r>
            <a:r>
              <a:rPr sz="2400" spc="-75" dirty="0"/>
              <a:t> </a:t>
            </a:r>
            <a:r>
              <a:rPr sz="2400" spc="-10" dirty="0"/>
              <a:t>Backlog</a:t>
            </a:r>
          </a:p>
          <a:p>
            <a:pPr marL="575945" marR="935990" indent="-247650">
              <a:lnSpc>
                <a:spcPts val="2380"/>
              </a:lnSpc>
              <a:spcBef>
                <a:spcPts val="400"/>
              </a:spcBef>
              <a:tabLst>
                <a:tab pos="576580" algn="l"/>
              </a:tabLst>
            </a:pPr>
            <a:r>
              <a:rPr sz="2400" spc="-50" dirty="0">
                <a:solidFill>
                  <a:srgbClr val="438085"/>
                </a:solidFill>
              </a:rPr>
              <a:t>▫</a:t>
            </a:r>
            <a:r>
              <a:rPr sz="2400" dirty="0">
                <a:solidFill>
                  <a:srgbClr val="438085"/>
                </a:solidFill>
              </a:rPr>
              <a:t>	</a:t>
            </a:r>
            <a:r>
              <a:rPr sz="2400" dirty="0"/>
              <a:t>(2nd</a:t>
            </a:r>
            <a:r>
              <a:rPr sz="2400" spc="-55" dirty="0"/>
              <a:t> </a:t>
            </a:r>
            <a:r>
              <a:rPr sz="2400" dirty="0"/>
              <a:t>four</a:t>
            </a:r>
            <a:r>
              <a:rPr sz="2400" spc="30" dirty="0"/>
              <a:t> </a:t>
            </a:r>
            <a:r>
              <a:rPr sz="2400" dirty="0"/>
              <a:t>hours)</a:t>
            </a:r>
            <a:r>
              <a:rPr sz="2400" spc="-45" dirty="0"/>
              <a:t> </a:t>
            </a:r>
            <a:r>
              <a:rPr sz="2400" dirty="0"/>
              <a:t>Team</a:t>
            </a:r>
            <a:r>
              <a:rPr sz="2400" spc="-20" dirty="0"/>
              <a:t> </a:t>
            </a:r>
            <a:r>
              <a:rPr sz="2400" dirty="0"/>
              <a:t>only:</a:t>
            </a:r>
            <a:r>
              <a:rPr sz="2400" spc="-30" dirty="0"/>
              <a:t> </a:t>
            </a:r>
            <a:r>
              <a:rPr sz="2400" dirty="0"/>
              <a:t>hashing</a:t>
            </a:r>
            <a:r>
              <a:rPr sz="2400" spc="-75" dirty="0"/>
              <a:t> </a:t>
            </a:r>
            <a:r>
              <a:rPr sz="2400" dirty="0"/>
              <a:t>out</a:t>
            </a:r>
            <a:r>
              <a:rPr sz="2400" spc="20" dirty="0"/>
              <a:t> </a:t>
            </a:r>
            <a:r>
              <a:rPr sz="2400" dirty="0"/>
              <a:t>a</a:t>
            </a:r>
            <a:r>
              <a:rPr sz="2400" spc="20" dirty="0"/>
              <a:t> </a:t>
            </a:r>
            <a:r>
              <a:rPr sz="2400" dirty="0"/>
              <a:t>plan</a:t>
            </a:r>
            <a:r>
              <a:rPr sz="2400" spc="-15" dirty="0"/>
              <a:t> </a:t>
            </a:r>
            <a:r>
              <a:rPr sz="2400" dirty="0"/>
              <a:t>for</a:t>
            </a:r>
            <a:r>
              <a:rPr sz="2400" spc="-5" dirty="0"/>
              <a:t> </a:t>
            </a:r>
            <a:r>
              <a:rPr sz="2400" dirty="0"/>
              <a:t>the</a:t>
            </a:r>
            <a:r>
              <a:rPr sz="2400" spc="-10" dirty="0"/>
              <a:t> Sprint, </a:t>
            </a:r>
            <a:r>
              <a:rPr sz="2400" dirty="0"/>
              <a:t>resulting</a:t>
            </a:r>
            <a:r>
              <a:rPr sz="2400" spc="-60" dirty="0"/>
              <a:t> </a:t>
            </a:r>
            <a:r>
              <a:rPr sz="2400" dirty="0"/>
              <a:t>in</a:t>
            </a:r>
            <a:r>
              <a:rPr sz="2400" spc="-35" dirty="0"/>
              <a:t> </a:t>
            </a:r>
            <a:r>
              <a:rPr sz="2400" dirty="0"/>
              <a:t>the</a:t>
            </a:r>
            <a:r>
              <a:rPr sz="2400" spc="-35" dirty="0"/>
              <a:t> </a:t>
            </a:r>
            <a:r>
              <a:rPr sz="2400" dirty="0"/>
              <a:t>Sprint</a:t>
            </a:r>
            <a:r>
              <a:rPr sz="2400" spc="-20" dirty="0"/>
              <a:t> </a:t>
            </a:r>
            <a:r>
              <a:rPr sz="2400" spc="-10" dirty="0"/>
              <a:t>Backlog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0" y="4953000"/>
            <a:ext cx="2900186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736168"/>
            <a:ext cx="50704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Sprint</a:t>
            </a:r>
            <a:r>
              <a:rPr spc="-185" dirty="0"/>
              <a:t> </a:t>
            </a:r>
            <a:r>
              <a:rPr dirty="0"/>
              <a:t>Review</a:t>
            </a:r>
            <a:r>
              <a:rPr spc="-170" dirty="0"/>
              <a:t> </a:t>
            </a:r>
            <a:r>
              <a:rPr spc="-10" dirty="0"/>
              <a:t>Meeting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572" y="1514484"/>
            <a:ext cx="7764780" cy="1603643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68605" indent="-255904">
              <a:lnSpc>
                <a:spcPct val="100000"/>
              </a:lnSpc>
              <a:spcBef>
                <a:spcPts val="384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Review</a:t>
            </a:r>
            <a:r>
              <a:rPr sz="2400" spc="-9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work</a:t>
            </a:r>
            <a:r>
              <a:rPr sz="2400" spc="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that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was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completed</a:t>
            </a:r>
            <a:r>
              <a:rPr sz="2400" spc="-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-8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not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completed</a:t>
            </a:r>
            <a:endParaRPr sz="2400" dirty="0">
              <a:latin typeface="Georgia"/>
              <a:cs typeface="Georgia"/>
            </a:endParaRPr>
          </a:p>
          <a:p>
            <a:pPr marL="268605" marR="191135" indent="-256540">
              <a:lnSpc>
                <a:spcPct val="100000"/>
              </a:lnSpc>
              <a:spcBef>
                <a:spcPts val="29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Present</a:t>
            </a:r>
            <a:r>
              <a:rPr sz="2400" spc="-9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completed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work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to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stakeholders</a:t>
            </a:r>
            <a:r>
              <a:rPr sz="2400" spc="-2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(a.k.a. </a:t>
            </a:r>
            <a:r>
              <a:rPr sz="2400" dirty="0">
                <a:latin typeface="Georgia"/>
                <a:cs typeface="Georgia"/>
              </a:rPr>
              <a:t>“the</a:t>
            </a:r>
            <a:r>
              <a:rPr sz="2400" spc="-9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demo”)</a:t>
            </a:r>
            <a:endParaRPr sz="2400" dirty="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29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Incomplete</a:t>
            </a:r>
            <a:r>
              <a:rPr sz="2400" spc="-10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work cannot</a:t>
            </a:r>
            <a:r>
              <a:rPr sz="2400" spc="-1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be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demonstrated</a:t>
            </a:r>
            <a:endParaRPr sz="2400" dirty="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8800" y="3124200"/>
            <a:ext cx="2438400" cy="34480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0" y="3581400"/>
            <a:ext cx="2952750" cy="29527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659968"/>
            <a:ext cx="65830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Sprint</a:t>
            </a:r>
            <a:r>
              <a:rPr spc="-190" dirty="0"/>
              <a:t> </a:t>
            </a:r>
            <a:r>
              <a:rPr spc="-10" dirty="0"/>
              <a:t>Retrospective</a:t>
            </a:r>
            <a:r>
              <a:rPr spc="-170" dirty="0"/>
              <a:t> </a:t>
            </a:r>
            <a:r>
              <a:rPr spc="-10" dirty="0"/>
              <a:t>Meeting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572" y="1360544"/>
            <a:ext cx="7618095" cy="26930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68605" indent="-255904">
              <a:lnSpc>
                <a:spcPct val="100000"/>
              </a:lnSpc>
              <a:spcBef>
                <a:spcPts val="40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000" dirty="0">
                <a:latin typeface="Georgia"/>
                <a:cs typeface="Georgia"/>
              </a:rPr>
              <a:t>The</a:t>
            </a:r>
            <a:r>
              <a:rPr sz="2000" spc="-10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sprint</a:t>
            </a:r>
            <a:r>
              <a:rPr sz="2000" spc="-5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retrospective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meeting</a:t>
            </a:r>
            <a:r>
              <a:rPr sz="2000" spc="-6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is</a:t>
            </a:r>
            <a:r>
              <a:rPr sz="2000" spc="-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time</a:t>
            </a:r>
            <a:r>
              <a:rPr sz="2000" spc="-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boxed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to</a:t>
            </a:r>
            <a:r>
              <a:rPr sz="2000" spc="-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3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hours.</a:t>
            </a:r>
            <a:endParaRPr sz="2000">
              <a:latin typeface="Georgia"/>
              <a:cs typeface="Georgia"/>
            </a:endParaRPr>
          </a:p>
          <a:p>
            <a:pPr marL="268605" marR="5080" indent="-256540">
              <a:lnSpc>
                <a:spcPts val="2380"/>
              </a:lnSpc>
              <a:spcBef>
                <a:spcPts val="40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000" dirty="0">
                <a:latin typeface="Georgia"/>
                <a:cs typeface="Georgia"/>
              </a:rPr>
              <a:t>It</a:t>
            </a:r>
            <a:r>
              <a:rPr sz="2000" spc="-7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is attended</a:t>
            </a:r>
            <a:r>
              <a:rPr sz="2000" spc="-3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only</a:t>
            </a:r>
            <a:r>
              <a:rPr sz="2000" spc="-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by</a:t>
            </a:r>
            <a:r>
              <a:rPr sz="2000" spc="-1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-3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team,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scrum</a:t>
            </a:r>
            <a:r>
              <a:rPr sz="2000" spc="-1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master</a:t>
            </a:r>
            <a:r>
              <a:rPr sz="2000" spc="-2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and</a:t>
            </a:r>
            <a:r>
              <a:rPr sz="2000" spc="-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-65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product </a:t>
            </a:r>
            <a:r>
              <a:rPr sz="2000" dirty="0">
                <a:latin typeface="Georgia"/>
                <a:cs typeface="Georgia"/>
              </a:rPr>
              <a:t>owner</a:t>
            </a:r>
            <a:r>
              <a:rPr sz="2000" spc="-6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.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-6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product owner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is </a:t>
            </a:r>
            <a:r>
              <a:rPr sz="2000" spc="-10" dirty="0">
                <a:latin typeface="Georgia"/>
                <a:cs typeface="Georgia"/>
              </a:rPr>
              <a:t>optional.</a:t>
            </a:r>
            <a:endParaRPr sz="200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22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000" dirty="0">
                <a:latin typeface="Georgia"/>
                <a:cs typeface="Georgia"/>
              </a:rPr>
              <a:t>Make</a:t>
            </a:r>
            <a:r>
              <a:rPr sz="2000" spc="-9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continuous</a:t>
            </a:r>
            <a:r>
              <a:rPr sz="2000" spc="-6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process</a:t>
            </a:r>
            <a:r>
              <a:rPr sz="2000" spc="-6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improvements</a:t>
            </a:r>
            <a:endParaRPr sz="200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305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000" dirty="0">
                <a:latin typeface="Georgia"/>
                <a:cs typeface="Georgia"/>
              </a:rPr>
              <a:t>Start</a:t>
            </a:r>
            <a:r>
              <a:rPr sz="2000" spc="-5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meeting</a:t>
            </a:r>
            <a:r>
              <a:rPr sz="2000" spc="-6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by</a:t>
            </a:r>
            <a:r>
              <a:rPr sz="2000" spc="-2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having</a:t>
            </a:r>
            <a:r>
              <a:rPr sz="2000" spc="-6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all</a:t>
            </a:r>
            <a:r>
              <a:rPr sz="2000" spc="-1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team</a:t>
            </a:r>
            <a:r>
              <a:rPr sz="2000" spc="-5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members</a:t>
            </a:r>
            <a:r>
              <a:rPr sz="2000" spc="-4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answer</a:t>
            </a:r>
            <a:r>
              <a:rPr sz="2000" spc="-5" dirty="0">
                <a:latin typeface="Georgia"/>
                <a:cs typeface="Georgia"/>
              </a:rPr>
              <a:t> </a:t>
            </a:r>
            <a:r>
              <a:rPr sz="2000" spc="-25" dirty="0">
                <a:latin typeface="Georgia"/>
                <a:cs typeface="Georgia"/>
              </a:rPr>
              <a:t>two</a:t>
            </a:r>
            <a:endParaRPr sz="2000">
              <a:latin typeface="Georgia"/>
              <a:cs typeface="Georgia"/>
            </a:endParaRPr>
          </a:p>
          <a:p>
            <a:pPr marL="268605">
              <a:lnSpc>
                <a:spcPct val="100000"/>
              </a:lnSpc>
              <a:spcBef>
                <a:spcPts val="10"/>
              </a:spcBef>
            </a:pPr>
            <a:r>
              <a:rPr sz="2000" spc="-10" dirty="0">
                <a:latin typeface="Georgia"/>
                <a:cs typeface="Georgia"/>
              </a:rPr>
              <a:t>questions;</a:t>
            </a:r>
            <a:endParaRPr sz="200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spcBef>
                <a:spcPts val="300"/>
              </a:spcBef>
              <a:tabLst>
                <a:tab pos="561340" algn="l"/>
              </a:tabLst>
            </a:pPr>
            <a:r>
              <a:rPr sz="20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0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000" dirty="0">
                <a:latin typeface="Georgia"/>
                <a:cs typeface="Georgia"/>
              </a:rPr>
              <a:t>What</a:t>
            </a:r>
            <a:r>
              <a:rPr sz="2000" spc="-114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went</a:t>
            </a:r>
            <a:r>
              <a:rPr sz="2000" spc="-1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well</a:t>
            </a:r>
            <a:r>
              <a:rPr sz="2000" spc="-3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during</a:t>
            </a:r>
            <a:r>
              <a:rPr sz="2000" spc="-1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-7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sprint?</a:t>
            </a:r>
            <a:endParaRPr sz="200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spcBef>
                <a:spcPts val="305"/>
              </a:spcBef>
              <a:tabLst>
                <a:tab pos="561340" algn="l"/>
              </a:tabLst>
            </a:pPr>
            <a:r>
              <a:rPr sz="20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0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000" dirty="0">
                <a:latin typeface="Georgia"/>
                <a:cs typeface="Georgia"/>
              </a:rPr>
              <a:t>What</a:t>
            </a:r>
            <a:r>
              <a:rPr sz="2000" spc="-10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could be</a:t>
            </a:r>
            <a:r>
              <a:rPr sz="2000" spc="-2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improved</a:t>
            </a:r>
            <a:r>
              <a:rPr sz="2000" spc="-2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in</a:t>
            </a:r>
            <a:r>
              <a:rPr sz="2000" spc="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-6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next </a:t>
            </a:r>
            <a:r>
              <a:rPr sz="2000" spc="-10" dirty="0">
                <a:latin typeface="Georgia"/>
                <a:cs typeface="Georgia"/>
              </a:rPr>
              <a:t>sprint?</a:t>
            </a:r>
            <a:endParaRPr sz="200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2600" y="4038600"/>
            <a:ext cx="3200400" cy="2381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9200" y="4191000"/>
            <a:ext cx="2914650" cy="241757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812368"/>
            <a:ext cx="47783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Daily</a:t>
            </a:r>
            <a:r>
              <a:rPr spc="-114" dirty="0"/>
              <a:t> </a:t>
            </a:r>
            <a:r>
              <a:rPr dirty="0"/>
              <a:t>SCRUM</a:t>
            </a:r>
            <a:r>
              <a:rPr spc="-50" dirty="0"/>
              <a:t> </a:t>
            </a:r>
            <a:r>
              <a:rPr spc="-10" dirty="0"/>
              <a:t>Meeting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7372" y="1589777"/>
            <a:ext cx="7503795" cy="208407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68605" indent="-255904">
              <a:lnSpc>
                <a:spcPct val="100000"/>
              </a:lnSpc>
              <a:spcBef>
                <a:spcPts val="395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000" dirty="0">
                <a:latin typeface="Georgia"/>
                <a:cs typeface="Georgia"/>
              </a:rPr>
              <a:t>Brief</a:t>
            </a:r>
            <a:r>
              <a:rPr sz="2000" spc="-75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„Stand-</a:t>
            </a:r>
            <a:r>
              <a:rPr sz="2000" dirty="0">
                <a:latin typeface="Georgia"/>
                <a:cs typeface="Georgia"/>
              </a:rPr>
              <a:t>up</a:t>
            </a:r>
            <a:r>
              <a:rPr sz="2000" dirty="0">
                <a:latin typeface="Times New Roman"/>
                <a:cs typeface="Times New Roman"/>
              </a:rPr>
              <a:t>‟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Georgia"/>
                <a:cs typeface="Georgia"/>
              </a:rPr>
              <a:t>meeting</a:t>
            </a:r>
            <a:r>
              <a:rPr sz="2000" spc="-5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each</a:t>
            </a:r>
            <a:r>
              <a:rPr sz="2000" spc="-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morning</a:t>
            </a:r>
            <a:r>
              <a:rPr sz="2000" spc="-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with</a:t>
            </a:r>
            <a:r>
              <a:rPr sz="2000" spc="-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SCRUM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Team</a:t>
            </a:r>
            <a:r>
              <a:rPr sz="2000" spc="-45" dirty="0">
                <a:latin typeface="Georgia"/>
                <a:cs typeface="Georgia"/>
              </a:rPr>
              <a:t> </a:t>
            </a:r>
            <a:r>
              <a:rPr sz="2000" spc="-20" dirty="0">
                <a:latin typeface="Georgia"/>
                <a:cs typeface="Georgia"/>
              </a:rPr>
              <a:t>only</a:t>
            </a:r>
            <a:endParaRPr sz="200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30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000" dirty="0">
                <a:latin typeface="Georgia"/>
                <a:cs typeface="Georgia"/>
              </a:rPr>
              <a:t>Duration</a:t>
            </a:r>
            <a:r>
              <a:rPr sz="2000" spc="-8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is</a:t>
            </a:r>
            <a:r>
              <a:rPr sz="2000" spc="-1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15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spc="-25" dirty="0">
                <a:latin typeface="Georgia"/>
                <a:cs typeface="Georgia"/>
              </a:rPr>
              <a:t>min</a:t>
            </a:r>
            <a:endParaRPr sz="200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305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000" dirty="0">
                <a:latin typeface="Georgia"/>
                <a:cs typeface="Georgia"/>
              </a:rPr>
              <a:t>Three</a:t>
            </a:r>
            <a:r>
              <a:rPr sz="2000" spc="-114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questions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are</a:t>
            </a:r>
            <a:r>
              <a:rPr sz="2000" spc="5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asked</a:t>
            </a:r>
            <a:endParaRPr sz="200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spcBef>
                <a:spcPts val="300"/>
              </a:spcBef>
              <a:tabLst>
                <a:tab pos="561340" algn="l"/>
              </a:tabLst>
            </a:pPr>
            <a:r>
              <a:rPr sz="20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0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000" dirty="0">
                <a:latin typeface="Georgia"/>
                <a:cs typeface="Georgia"/>
              </a:rPr>
              <a:t>What</a:t>
            </a:r>
            <a:r>
              <a:rPr sz="2000" spc="-11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value</a:t>
            </a:r>
            <a:r>
              <a:rPr sz="2000" spc="-2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did you</a:t>
            </a:r>
            <a:r>
              <a:rPr sz="2000" spc="-6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add </a:t>
            </a:r>
            <a:r>
              <a:rPr sz="2000" spc="-10" dirty="0">
                <a:latin typeface="Georgia"/>
                <a:cs typeface="Georgia"/>
              </a:rPr>
              <a:t>yesterday?</a:t>
            </a:r>
            <a:endParaRPr sz="200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spcBef>
                <a:spcPts val="300"/>
              </a:spcBef>
              <a:tabLst>
                <a:tab pos="561340" algn="l"/>
              </a:tabLst>
            </a:pPr>
            <a:r>
              <a:rPr sz="20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0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000" dirty="0">
                <a:latin typeface="Georgia"/>
                <a:cs typeface="Georgia"/>
              </a:rPr>
              <a:t>What</a:t>
            </a:r>
            <a:r>
              <a:rPr sz="2000" spc="-11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value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will</a:t>
            </a:r>
            <a:r>
              <a:rPr sz="2000" spc="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you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add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today?</a:t>
            </a:r>
            <a:endParaRPr sz="200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spcBef>
                <a:spcPts val="305"/>
              </a:spcBef>
              <a:tabLst>
                <a:tab pos="561340" algn="l"/>
              </a:tabLst>
            </a:pPr>
            <a:r>
              <a:rPr sz="20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0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000" dirty="0">
                <a:latin typeface="Georgia"/>
                <a:cs typeface="Georgia"/>
              </a:rPr>
              <a:t>What</a:t>
            </a:r>
            <a:r>
              <a:rPr sz="2000" spc="-11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will stop</a:t>
            </a:r>
            <a:r>
              <a:rPr sz="2000" spc="-2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you</a:t>
            </a:r>
            <a:r>
              <a:rPr sz="2000" spc="-3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making</a:t>
            </a:r>
            <a:r>
              <a:rPr sz="2000" spc="-15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progress?</a:t>
            </a:r>
            <a:endParaRPr sz="200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7786" y="2057400"/>
            <a:ext cx="3002788" cy="19812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5400" y="4191000"/>
            <a:ext cx="3636009" cy="24384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200" y="3886225"/>
            <a:ext cx="3790950" cy="28257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2045" rIns="0" bIns="0" rtlCol="0">
            <a:spAutoFit/>
          </a:bodyPr>
          <a:lstStyle/>
          <a:p>
            <a:pPr marL="109728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Some</a:t>
            </a:r>
            <a:r>
              <a:rPr spc="-280" dirty="0"/>
              <a:t> </a:t>
            </a:r>
            <a:r>
              <a:rPr dirty="0"/>
              <a:t>Agile</a:t>
            </a:r>
            <a:r>
              <a:rPr spc="-110" dirty="0"/>
              <a:t> </a:t>
            </a:r>
            <a:r>
              <a:rPr spc="-10" dirty="0"/>
              <a:t>Methodologies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972" y="2231781"/>
            <a:ext cx="6558280" cy="371347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409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spc="-10" dirty="0">
                <a:latin typeface="Georgia"/>
                <a:cs typeface="Georgia"/>
              </a:rPr>
              <a:t>Scrum</a:t>
            </a:r>
            <a:endParaRPr sz="280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315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Extreme</a:t>
            </a:r>
            <a:r>
              <a:rPr sz="2800" spc="-9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Programming</a:t>
            </a:r>
            <a:r>
              <a:rPr sz="2800" spc="-100" dirty="0">
                <a:latin typeface="Georgia"/>
                <a:cs typeface="Georgia"/>
              </a:rPr>
              <a:t> </a:t>
            </a:r>
            <a:r>
              <a:rPr sz="2800" spc="-20" dirty="0">
                <a:latin typeface="Georgia"/>
                <a:cs typeface="Georgia"/>
              </a:rPr>
              <a:t>(XP)</a:t>
            </a:r>
            <a:endParaRPr sz="280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315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spc="-10" dirty="0">
                <a:latin typeface="Georgia"/>
                <a:cs typeface="Georgia"/>
              </a:rPr>
              <a:t>Feature-</a:t>
            </a:r>
            <a:r>
              <a:rPr sz="2800" dirty="0">
                <a:latin typeface="Georgia"/>
                <a:cs typeface="Georgia"/>
              </a:rPr>
              <a:t>Driven</a:t>
            </a:r>
            <a:r>
              <a:rPr sz="2800" spc="-1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Development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(FDD)</a:t>
            </a:r>
            <a:endParaRPr sz="280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280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Adaptive</a:t>
            </a:r>
            <a:r>
              <a:rPr sz="2800" spc="-1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Software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Process</a:t>
            </a:r>
            <a:endParaRPr sz="280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315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Crystal</a:t>
            </a:r>
            <a:r>
              <a:rPr sz="2800" spc="-9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Light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Methodologies</a:t>
            </a:r>
            <a:endParaRPr sz="2800">
              <a:latin typeface="Georgia"/>
              <a:cs typeface="Georgia"/>
            </a:endParaRPr>
          </a:p>
          <a:p>
            <a:pPr marL="268605" marR="5080" indent="-256540">
              <a:lnSpc>
                <a:spcPct val="100000"/>
              </a:lnSpc>
              <a:spcBef>
                <a:spcPts val="31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Dynamic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Systems</a:t>
            </a:r>
            <a:r>
              <a:rPr sz="2800" spc="-8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Development</a:t>
            </a:r>
            <a:r>
              <a:rPr sz="2800" spc="-12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Method (DSDM)</a:t>
            </a:r>
            <a:endParaRPr sz="280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309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Lean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Development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607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Questions?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0151" y="1385950"/>
            <a:ext cx="4711700" cy="44435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746BA5DCC9394D8011CD1786C7798C" ma:contentTypeVersion="3" ma:contentTypeDescription="Create a new document." ma:contentTypeScope="" ma:versionID="4272aded7ec7d4c7253a29a16373bcfa">
  <xsd:schema xmlns:xsd="http://www.w3.org/2001/XMLSchema" xmlns:xs="http://www.w3.org/2001/XMLSchema" xmlns:p="http://schemas.microsoft.com/office/2006/metadata/properties" xmlns:ns2="bca22fdb-ae7c-4717-b631-3c9f88a96e59" targetNamespace="http://schemas.microsoft.com/office/2006/metadata/properties" ma:root="true" ma:fieldsID="938043f5702327063dcd06b1f0447230" ns2:_="">
    <xsd:import namespace="bca22fdb-ae7c-4717-b631-3c9f88a96e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a22fdb-ae7c-4717-b631-3c9f88a96e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13B3D8-18CC-41DD-9479-54820FC1103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A6F35C6-7C04-439B-B61B-FD2EC6EA22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C61D5F-5126-4B09-B880-72B3282E1AC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1906</TotalTime>
  <Words>992</Words>
  <Application>Microsoft Office PowerPoint</Application>
  <PresentationFormat>On-screen Show (4:3)</PresentationFormat>
  <Paragraphs>115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Georgia</vt:lpstr>
      <vt:lpstr>Times New Roman</vt:lpstr>
      <vt:lpstr>Trebuchet MS</vt:lpstr>
      <vt:lpstr>Wingdings</vt:lpstr>
      <vt:lpstr>Office Theme</vt:lpstr>
      <vt:lpstr>Software Process Model</vt:lpstr>
      <vt:lpstr>Outline</vt:lpstr>
      <vt:lpstr>Agile Development</vt:lpstr>
      <vt:lpstr>What is Agile?</vt:lpstr>
      <vt:lpstr>PowerPoint Presentation</vt:lpstr>
      <vt:lpstr>SCRUM</vt:lpstr>
      <vt:lpstr>A Model of SCRUM</vt:lpstr>
      <vt:lpstr>Scrum Roles</vt:lpstr>
      <vt:lpstr>The SCRUM Master</vt:lpstr>
      <vt:lpstr>The SCRUM Team</vt:lpstr>
      <vt:lpstr>The Product Owner</vt:lpstr>
      <vt:lpstr>The Product Owner</vt:lpstr>
      <vt:lpstr>PowerPoint Presentation</vt:lpstr>
      <vt:lpstr>Product Backlog</vt:lpstr>
      <vt:lpstr>Sprint Backlog</vt:lpstr>
      <vt:lpstr>Sprint</vt:lpstr>
      <vt:lpstr>Sprint</vt:lpstr>
      <vt:lpstr>Sprint Burn down Chart</vt:lpstr>
      <vt:lpstr>Sprint Burn down Chart</vt:lpstr>
      <vt:lpstr>Scrum Meetings</vt:lpstr>
      <vt:lpstr>Release Planning</vt:lpstr>
      <vt:lpstr>Release Planning</vt:lpstr>
      <vt:lpstr>Sprint Planning Meeting</vt:lpstr>
      <vt:lpstr>Sprint Review Meeting</vt:lpstr>
      <vt:lpstr>Sprint Retrospective Meeting</vt:lpstr>
      <vt:lpstr>Daily SCRUM Meeting</vt:lpstr>
      <vt:lpstr>Some Agile Methodologies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Process Model</dc:title>
  <dc:creator>AsHi</dc:creator>
  <cp:lastModifiedBy>Israr Ahmad Lecturer FCS</cp:lastModifiedBy>
  <cp:revision>10</cp:revision>
  <dcterms:created xsi:type="dcterms:W3CDTF">2025-09-22T14:07:01Z</dcterms:created>
  <dcterms:modified xsi:type="dcterms:W3CDTF">2026-09-28T08:21:15Z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2014-10-28T00:00:00Z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2025-09-22T00:00:00Z</vt:filetime>
  </property>
  <property fmtid="{D5CDD505-2E9C-101B-9397-08002B2CF9AE}" pid="5" name="Producer">
    <vt:lpwstr>Microsoft® Office PowerPoint® 2007</vt:lpwstr>
  </property>
  <property fmtid="{D5CDD505-2E9C-101B-9397-08002B2CF9AE}" pid="6" name="ContentTypeId">
    <vt:lpwstr>0x010100D8746BA5DCC9394D8011CD1786C7798C</vt:lpwstr>
  </property>
</Properties>
</file>