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17"/>
    <p:sldId id="591" r:id="rId18"/>
    <p:sldId id="293" r:id="rId19"/>
    <p:sldId id="294" r:id="rId20"/>
    <p:sldId id="295" r:id="rId21"/>
    <p:sldId id="274" r:id="rId22"/>
    <p:sldId id="275" r:id="rId23"/>
    <p:sldId id="289" r:id="rId24"/>
    <p:sldId id="290" r:id="rId25"/>
    <p:sldId id="292" r:id="rId26"/>
    <p:sldId id="269" r:id="rId27"/>
    <p:sldId id="276" r:id="rId28"/>
    <p:sldId id="277" r:id="rId29"/>
    <p:sldId id="279" r:id="rId30"/>
    <p:sldId id="280" r:id="rId31"/>
    <p:sldId id="281" r:id="rId32"/>
    <p:sldId id="296" r:id="rId33"/>
    <p:sldId id="297" r:id="rId34"/>
    <p:sldId id="581" r:id="rId35"/>
    <p:sldId id="582" r:id="rId36"/>
    <p:sldId id="583" r:id="rId37"/>
    <p:sldId id="584" r:id="rId38"/>
    <p:sldId id="585" r:id="rId39"/>
    <p:sldId id="586" r:id="rId40"/>
    <p:sldId id="587" r:id="rId41"/>
    <p:sldId id="588" r:id="rId42"/>
    <p:sldId id="589" r:id="rId43"/>
    <p:sldId id="590" r:id="rId44"/>
    <p:sldId id="271" r:id="rId4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252525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Engr.</a:t>
            </a:r>
            <a:r>
              <a:rPr spc="70" dirty="0"/>
              <a:t> </a:t>
            </a:r>
            <a:r>
              <a:rPr dirty="0"/>
              <a:t>Asra</a:t>
            </a:r>
            <a:r>
              <a:rPr spc="114" dirty="0"/>
              <a:t> </a:t>
            </a:r>
            <a:r>
              <a:rPr spc="-10" dirty="0"/>
              <a:t>Khalid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252525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Engr.</a:t>
            </a:r>
            <a:r>
              <a:rPr spc="70" dirty="0"/>
              <a:t> </a:t>
            </a:r>
            <a:r>
              <a:rPr dirty="0"/>
              <a:t>Asra</a:t>
            </a:r>
            <a:r>
              <a:rPr spc="114" dirty="0"/>
              <a:t> </a:t>
            </a:r>
            <a:r>
              <a:rPr spc="-10" dirty="0"/>
              <a:t>Khalid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252525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Engr.</a:t>
            </a:r>
            <a:r>
              <a:rPr spc="70" dirty="0"/>
              <a:t> </a:t>
            </a:r>
            <a:r>
              <a:rPr dirty="0"/>
              <a:t>Asra</a:t>
            </a:r>
            <a:r>
              <a:rPr spc="114" dirty="0"/>
              <a:t> </a:t>
            </a:r>
            <a:r>
              <a:rPr spc="-10" dirty="0"/>
              <a:t>Khalid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252525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Engr.</a:t>
            </a:r>
            <a:r>
              <a:rPr spc="70" dirty="0"/>
              <a:t> </a:t>
            </a:r>
            <a:r>
              <a:rPr dirty="0"/>
              <a:t>Asra</a:t>
            </a:r>
            <a:r>
              <a:rPr spc="114" dirty="0"/>
              <a:t> </a:t>
            </a:r>
            <a:r>
              <a:rPr spc="-10" dirty="0"/>
              <a:t>Khalid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550" b="1" i="0">
                <a:solidFill>
                  <a:srgbClr val="252525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Engr.</a:t>
            </a:r>
            <a:r>
              <a:rPr spc="70" dirty="0"/>
              <a:t> </a:t>
            </a:r>
            <a:r>
              <a:rPr dirty="0"/>
              <a:t>Asra</a:t>
            </a:r>
            <a:r>
              <a:rPr spc="114" dirty="0"/>
              <a:t> </a:t>
            </a:r>
            <a:r>
              <a:rPr spc="-10" dirty="0"/>
              <a:t>Khalid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99668"/>
            <a:ext cx="5410200" cy="52069"/>
          </a:xfrm>
          <a:custGeom>
            <a:avLst/>
            <a:gdLst/>
            <a:ahLst/>
            <a:cxnLst/>
            <a:rect l="l" t="t" r="r" b="b"/>
            <a:pathLst>
              <a:path w="5410200" h="52070">
                <a:moveTo>
                  <a:pt x="0" y="51561"/>
                </a:moveTo>
                <a:lnTo>
                  <a:pt x="5410199" y="51561"/>
                </a:lnTo>
                <a:lnTo>
                  <a:pt x="5410199" y="0"/>
                </a:lnTo>
                <a:lnTo>
                  <a:pt x="0" y="0"/>
                </a:lnTo>
                <a:lnTo>
                  <a:pt x="0" y="51561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-25"/>
            <a:ext cx="9144000" cy="311150"/>
          </a:xfrm>
          <a:custGeom>
            <a:avLst/>
            <a:gdLst/>
            <a:ahLst/>
            <a:cxnLst/>
            <a:rect l="l" t="t" r="r" b="b"/>
            <a:pathLst>
              <a:path w="9144000" h="311150">
                <a:moveTo>
                  <a:pt x="9144000" y="0"/>
                </a:moveTo>
                <a:lnTo>
                  <a:pt x="0" y="0"/>
                </a:lnTo>
                <a:lnTo>
                  <a:pt x="0" y="310667"/>
                </a:lnTo>
                <a:lnTo>
                  <a:pt x="9144000" y="310667"/>
                </a:lnTo>
                <a:lnTo>
                  <a:pt x="9144000" y="0"/>
                </a:lnTo>
                <a:close/>
              </a:path>
            </a:pathLst>
          </a:custGeom>
          <a:solidFill>
            <a:srgbClr val="42445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308228"/>
            <a:ext cx="9144000" cy="143510"/>
          </a:xfrm>
          <a:custGeom>
            <a:avLst/>
            <a:gdLst/>
            <a:ahLst/>
            <a:cxnLst/>
            <a:rect l="l" t="t" r="r" b="b"/>
            <a:pathLst>
              <a:path w="9144000" h="143509">
                <a:moveTo>
                  <a:pt x="9144000" y="0"/>
                </a:moveTo>
                <a:lnTo>
                  <a:pt x="0" y="0"/>
                </a:lnTo>
                <a:lnTo>
                  <a:pt x="0" y="91440"/>
                </a:lnTo>
                <a:lnTo>
                  <a:pt x="5410200" y="91440"/>
                </a:lnTo>
                <a:lnTo>
                  <a:pt x="5410200" y="143129"/>
                </a:lnTo>
                <a:lnTo>
                  <a:pt x="9144000" y="143129"/>
                </a:lnTo>
                <a:lnTo>
                  <a:pt x="9144000" y="91440"/>
                </a:lnTo>
                <a:lnTo>
                  <a:pt x="9144000" y="52044"/>
                </a:lnTo>
                <a:lnTo>
                  <a:pt x="9144000" y="0"/>
                </a:lnTo>
                <a:close/>
              </a:path>
            </a:pathLst>
          </a:custGeom>
          <a:solidFill>
            <a:srgbClr val="438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10200" y="440105"/>
            <a:ext cx="3733800" cy="180340"/>
          </a:xfrm>
          <a:custGeom>
            <a:avLst/>
            <a:gdLst/>
            <a:ahLst/>
            <a:cxnLst/>
            <a:rect l="l" t="t" r="r" b="b"/>
            <a:pathLst>
              <a:path w="3733800" h="180340">
                <a:moveTo>
                  <a:pt x="3733800" y="0"/>
                </a:moveTo>
                <a:lnTo>
                  <a:pt x="0" y="0"/>
                </a:lnTo>
                <a:lnTo>
                  <a:pt x="0" y="180035"/>
                </a:lnTo>
                <a:lnTo>
                  <a:pt x="3733800" y="180035"/>
                </a:lnTo>
                <a:lnTo>
                  <a:pt x="3733800" y="0"/>
                </a:lnTo>
                <a:close/>
              </a:path>
            </a:pathLst>
          </a:custGeom>
          <a:solidFill>
            <a:srgbClr val="438085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407279" y="497458"/>
            <a:ext cx="3566795" cy="128270"/>
          </a:xfrm>
          <a:custGeom>
            <a:avLst/>
            <a:gdLst/>
            <a:ahLst/>
            <a:cxnLst/>
            <a:rect l="l" t="t" r="r" b="b"/>
            <a:pathLst>
              <a:path w="3566795" h="128270">
                <a:moveTo>
                  <a:pt x="3063240" y="2032"/>
                </a:moveTo>
                <a:lnTo>
                  <a:pt x="3061208" y="0"/>
                </a:lnTo>
                <a:lnTo>
                  <a:pt x="2159" y="0"/>
                </a:lnTo>
                <a:lnTo>
                  <a:pt x="0" y="2032"/>
                </a:lnTo>
                <a:lnTo>
                  <a:pt x="0" y="4572"/>
                </a:lnTo>
                <a:lnTo>
                  <a:pt x="0" y="25400"/>
                </a:lnTo>
                <a:lnTo>
                  <a:pt x="2159" y="27432"/>
                </a:lnTo>
                <a:lnTo>
                  <a:pt x="3061208" y="27432"/>
                </a:lnTo>
                <a:lnTo>
                  <a:pt x="3063240" y="25400"/>
                </a:lnTo>
                <a:lnTo>
                  <a:pt x="3063240" y="2032"/>
                </a:lnTo>
                <a:close/>
              </a:path>
              <a:path w="3566795" h="128270">
                <a:moveTo>
                  <a:pt x="3566541" y="94234"/>
                </a:moveTo>
                <a:lnTo>
                  <a:pt x="3563874" y="91440"/>
                </a:lnTo>
                <a:lnTo>
                  <a:pt x="1969135" y="91440"/>
                </a:lnTo>
                <a:lnTo>
                  <a:pt x="1966341" y="94234"/>
                </a:lnTo>
                <a:lnTo>
                  <a:pt x="1966341" y="97536"/>
                </a:lnTo>
                <a:lnTo>
                  <a:pt x="1966341" y="125349"/>
                </a:lnTo>
                <a:lnTo>
                  <a:pt x="1969135" y="128016"/>
                </a:lnTo>
                <a:lnTo>
                  <a:pt x="3563874" y="128016"/>
                </a:lnTo>
                <a:lnTo>
                  <a:pt x="3566541" y="125349"/>
                </a:lnTo>
                <a:lnTo>
                  <a:pt x="3566541" y="9423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044432" y="-2032"/>
            <a:ext cx="98425" cy="622300"/>
          </a:xfrm>
          <a:custGeom>
            <a:avLst/>
            <a:gdLst/>
            <a:ahLst/>
            <a:cxnLst/>
            <a:rect l="l" t="t" r="r" b="b"/>
            <a:pathLst>
              <a:path w="98425" h="622300">
                <a:moveTo>
                  <a:pt x="27419" y="0"/>
                </a:moveTo>
                <a:lnTo>
                  <a:pt x="0" y="0"/>
                </a:lnTo>
                <a:lnTo>
                  <a:pt x="0" y="621792"/>
                </a:lnTo>
                <a:lnTo>
                  <a:pt x="27419" y="621792"/>
                </a:lnTo>
                <a:lnTo>
                  <a:pt x="27419" y="0"/>
                </a:lnTo>
                <a:close/>
              </a:path>
              <a:path w="98425" h="622300">
                <a:moveTo>
                  <a:pt x="98132" y="0"/>
                </a:moveTo>
                <a:lnTo>
                  <a:pt x="40513" y="0"/>
                </a:lnTo>
                <a:lnTo>
                  <a:pt x="40513" y="621792"/>
                </a:lnTo>
                <a:lnTo>
                  <a:pt x="98132" y="621792"/>
                </a:lnTo>
                <a:lnTo>
                  <a:pt x="98132" y="0"/>
                </a:lnTo>
                <a:close/>
              </a:path>
            </a:pathLst>
          </a:custGeom>
          <a:solidFill>
            <a:srgbClr val="FFFFFF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025381" y="-2031"/>
            <a:ext cx="9525" cy="622300"/>
          </a:xfrm>
          <a:custGeom>
            <a:avLst/>
            <a:gdLst/>
            <a:ahLst/>
            <a:cxnLst/>
            <a:rect l="l" t="t" r="r" b="b"/>
            <a:pathLst>
              <a:path w="9525" h="622300">
                <a:moveTo>
                  <a:pt x="9143" y="0"/>
                </a:moveTo>
                <a:lnTo>
                  <a:pt x="0" y="0"/>
                </a:lnTo>
                <a:lnTo>
                  <a:pt x="0" y="621791"/>
                </a:lnTo>
                <a:lnTo>
                  <a:pt x="9143" y="621791"/>
                </a:lnTo>
                <a:lnTo>
                  <a:pt x="9143" y="0"/>
                </a:lnTo>
                <a:close/>
              </a:path>
            </a:pathLst>
          </a:custGeom>
          <a:solidFill>
            <a:srgbClr val="FFFFFF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75470" y="-2031"/>
            <a:ext cx="27940" cy="622300"/>
          </a:xfrm>
          <a:custGeom>
            <a:avLst/>
            <a:gdLst/>
            <a:ahLst/>
            <a:cxnLst/>
            <a:rect l="l" t="t" r="r" b="b"/>
            <a:pathLst>
              <a:path w="27940" h="622300">
                <a:moveTo>
                  <a:pt x="27431" y="0"/>
                </a:moveTo>
                <a:lnTo>
                  <a:pt x="0" y="0"/>
                </a:lnTo>
                <a:lnTo>
                  <a:pt x="0" y="621791"/>
                </a:lnTo>
                <a:lnTo>
                  <a:pt x="27431" y="621791"/>
                </a:lnTo>
                <a:lnTo>
                  <a:pt x="27431" y="0"/>
                </a:lnTo>
                <a:close/>
              </a:path>
            </a:pathLst>
          </a:custGeom>
          <a:solidFill>
            <a:srgbClr val="FFFFF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915654" y="381"/>
            <a:ext cx="55244" cy="585470"/>
          </a:xfrm>
          <a:custGeom>
            <a:avLst/>
            <a:gdLst/>
            <a:ahLst/>
            <a:cxnLst/>
            <a:rect l="l" t="t" r="r" b="b"/>
            <a:pathLst>
              <a:path w="55245" h="585470">
                <a:moveTo>
                  <a:pt x="54862" y="0"/>
                </a:moveTo>
                <a:lnTo>
                  <a:pt x="0" y="0"/>
                </a:lnTo>
                <a:lnTo>
                  <a:pt x="0" y="585216"/>
                </a:lnTo>
                <a:lnTo>
                  <a:pt x="54862" y="585216"/>
                </a:lnTo>
                <a:lnTo>
                  <a:pt x="54862" y="0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873490" y="381"/>
            <a:ext cx="9525" cy="585470"/>
          </a:xfrm>
          <a:custGeom>
            <a:avLst/>
            <a:gdLst/>
            <a:ahLst/>
            <a:cxnLst/>
            <a:rect l="l" t="t" r="r" b="b"/>
            <a:pathLst>
              <a:path w="9525" h="585470">
                <a:moveTo>
                  <a:pt x="9143" y="0"/>
                </a:moveTo>
                <a:lnTo>
                  <a:pt x="0" y="0"/>
                </a:lnTo>
                <a:lnTo>
                  <a:pt x="0" y="585216"/>
                </a:lnTo>
                <a:lnTo>
                  <a:pt x="9143" y="585216"/>
                </a:lnTo>
                <a:lnTo>
                  <a:pt x="9143" y="0"/>
                </a:lnTo>
                <a:close/>
              </a:path>
            </a:pathLst>
          </a:custGeom>
          <a:solidFill>
            <a:srgbClr val="FFFFFF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507314"/>
            <a:ext cx="8541054" cy="1168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844" y="1701546"/>
            <a:ext cx="8343900" cy="393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450518"/>
            <a:ext cx="188150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1" i="0">
                <a:solidFill>
                  <a:srgbClr val="252525"/>
                </a:solidFill>
                <a:latin typeface="Georgia"/>
                <a:cs typeface="Georgi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Engr.</a:t>
            </a:r>
            <a:r>
              <a:rPr spc="70" dirty="0"/>
              <a:t> </a:t>
            </a:r>
            <a:r>
              <a:rPr dirty="0"/>
              <a:t>Asra</a:t>
            </a:r>
            <a:r>
              <a:rPr spc="114" dirty="0"/>
              <a:t> </a:t>
            </a:r>
            <a:r>
              <a:rPr spc="-10" dirty="0"/>
              <a:t>Khalid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3816222"/>
              <a:ext cx="9144000" cy="3042285"/>
            </a:xfrm>
            <a:custGeom>
              <a:avLst/>
              <a:gdLst/>
              <a:ahLst/>
              <a:cxnLst/>
              <a:rect l="l" t="t" r="r" b="b"/>
              <a:pathLst>
                <a:path w="9144000" h="3042284">
                  <a:moveTo>
                    <a:pt x="0" y="3041777"/>
                  </a:moveTo>
                  <a:lnTo>
                    <a:pt x="9144000" y="3041777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041777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410200" y="3809972"/>
              <a:ext cx="3733800" cy="91440"/>
            </a:xfrm>
            <a:custGeom>
              <a:avLst/>
              <a:gdLst/>
              <a:ahLst/>
              <a:cxnLst/>
              <a:rect l="l" t="t" r="r" b="b"/>
              <a:pathLst>
                <a:path w="3733800" h="91439">
                  <a:moveTo>
                    <a:pt x="3733800" y="0"/>
                  </a:moveTo>
                  <a:lnTo>
                    <a:pt x="0" y="0"/>
                  </a:lnTo>
                  <a:lnTo>
                    <a:pt x="0" y="91086"/>
                  </a:lnTo>
                  <a:lnTo>
                    <a:pt x="3733800" y="91086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10200" y="3896995"/>
              <a:ext cx="3733800" cy="192405"/>
            </a:xfrm>
            <a:custGeom>
              <a:avLst/>
              <a:gdLst/>
              <a:ahLst/>
              <a:cxnLst/>
              <a:rect l="l" t="t" r="r" b="b"/>
              <a:pathLst>
                <a:path w="3733800" h="192404">
                  <a:moveTo>
                    <a:pt x="3733800" y="0"/>
                  </a:moveTo>
                  <a:lnTo>
                    <a:pt x="0" y="0"/>
                  </a:lnTo>
                  <a:lnTo>
                    <a:pt x="0" y="192023"/>
                  </a:lnTo>
                  <a:lnTo>
                    <a:pt x="3733800" y="192023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10200" y="411518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3733800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3733800" y="9144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10200" y="4164457"/>
              <a:ext cx="1965960" cy="18415"/>
            </a:xfrm>
            <a:custGeom>
              <a:avLst/>
              <a:gdLst/>
              <a:ahLst/>
              <a:cxnLst/>
              <a:rect l="l" t="t" r="r" b="b"/>
              <a:pathLst>
                <a:path w="1965959" h="18414">
                  <a:moveTo>
                    <a:pt x="1965959" y="0"/>
                  </a:moveTo>
                  <a:lnTo>
                    <a:pt x="0" y="0"/>
                  </a:lnTo>
                  <a:lnTo>
                    <a:pt x="0" y="18288"/>
                  </a:lnTo>
                  <a:lnTo>
                    <a:pt x="1965959" y="18288"/>
                  </a:lnTo>
                  <a:lnTo>
                    <a:pt x="1965959" y="0"/>
                  </a:lnTo>
                  <a:close/>
                </a:path>
              </a:pathLst>
            </a:custGeom>
            <a:solidFill>
              <a:srgbClr val="438085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0200" y="4199509"/>
              <a:ext cx="1965960" cy="9525"/>
            </a:xfrm>
            <a:custGeom>
              <a:avLst/>
              <a:gdLst/>
              <a:ahLst/>
              <a:cxnLst/>
              <a:rect l="l" t="t" r="r" b="b"/>
              <a:pathLst>
                <a:path w="1965959" h="9525">
                  <a:moveTo>
                    <a:pt x="1965959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1965959" y="9144"/>
                  </a:lnTo>
                  <a:lnTo>
                    <a:pt x="1965959" y="0"/>
                  </a:lnTo>
                  <a:close/>
                </a:path>
              </a:pathLst>
            </a:custGeom>
            <a:solidFill>
              <a:srgbClr val="438085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10200" y="3962400"/>
              <a:ext cx="3566795" cy="135255"/>
            </a:xfrm>
            <a:custGeom>
              <a:avLst/>
              <a:gdLst/>
              <a:ahLst/>
              <a:cxnLst/>
              <a:rect l="l" t="t" r="r" b="b"/>
              <a:pathLst>
                <a:path w="3566795" h="135254">
                  <a:moveTo>
                    <a:pt x="3063240" y="2032"/>
                  </a:moveTo>
                  <a:lnTo>
                    <a:pt x="3061208" y="0"/>
                  </a:lnTo>
                  <a:lnTo>
                    <a:pt x="2032" y="0"/>
                  </a:lnTo>
                  <a:lnTo>
                    <a:pt x="0" y="2032"/>
                  </a:lnTo>
                  <a:lnTo>
                    <a:pt x="0" y="4572"/>
                  </a:lnTo>
                  <a:lnTo>
                    <a:pt x="0" y="25400"/>
                  </a:lnTo>
                  <a:lnTo>
                    <a:pt x="2032" y="27432"/>
                  </a:lnTo>
                  <a:lnTo>
                    <a:pt x="3061208" y="27432"/>
                  </a:lnTo>
                  <a:lnTo>
                    <a:pt x="3063240" y="25400"/>
                  </a:lnTo>
                  <a:lnTo>
                    <a:pt x="3063240" y="2032"/>
                  </a:lnTo>
                  <a:close/>
                </a:path>
                <a:path w="3566795" h="135254">
                  <a:moveTo>
                    <a:pt x="3566541" y="101346"/>
                  </a:moveTo>
                  <a:lnTo>
                    <a:pt x="3563747" y="98552"/>
                  </a:lnTo>
                  <a:lnTo>
                    <a:pt x="1969008" y="98552"/>
                  </a:lnTo>
                  <a:lnTo>
                    <a:pt x="1966341" y="101346"/>
                  </a:lnTo>
                  <a:lnTo>
                    <a:pt x="1966341" y="104648"/>
                  </a:lnTo>
                  <a:lnTo>
                    <a:pt x="1966341" y="132461"/>
                  </a:lnTo>
                  <a:lnTo>
                    <a:pt x="1969008" y="135128"/>
                  </a:lnTo>
                  <a:lnTo>
                    <a:pt x="3563747" y="135128"/>
                  </a:lnTo>
                  <a:lnTo>
                    <a:pt x="3566541" y="132461"/>
                  </a:lnTo>
                  <a:lnTo>
                    <a:pt x="3566541" y="1013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816222"/>
              <a:ext cx="9144000" cy="78105"/>
            </a:xfrm>
            <a:custGeom>
              <a:avLst/>
              <a:gdLst/>
              <a:ahLst/>
              <a:cxnLst/>
              <a:rect l="l" t="t" r="r" b="b"/>
              <a:pathLst>
                <a:path w="9144000" h="78104">
                  <a:moveTo>
                    <a:pt x="0" y="77596"/>
                  </a:moveTo>
                  <a:lnTo>
                    <a:pt x="9144000" y="7759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596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701669"/>
              <a:ext cx="9144000" cy="189865"/>
            </a:xfrm>
            <a:custGeom>
              <a:avLst/>
              <a:gdLst/>
              <a:ahLst/>
              <a:cxnLst/>
              <a:rect l="l" t="t" r="r" b="b"/>
              <a:pathLst>
                <a:path w="9144000" h="189864">
                  <a:moveTo>
                    <a:pt x="9144000" y="0"/>
                  </a:moveTo>
                  <a:lnTo>
                    <a:pt x="6414008" y="0"/>
                  </a:lnTo>
                  <a:lnTo>
                    <a:pt x="0" y="0"/>
                  </a:lnTo>
                  <a:lnTo>
                    <a:pt x="0" y="114554"/>
                  </a:lnTo>
                  <a:lnTo>
                    <a:pt x="6414008" y="114554"/>
                  </a:lnTo>
                  <a:lnTo>
                    <a:pt x="6414008" y="189865"/>
                  </a:lnTo>
                  <a:lnTo>
                    <a:pt x="9144000" y="189865"/>
                  </a:lnTo>
                  <a:lnTo>
                    <a:pt x="9144000" y="11455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9144000" cy="3702050"/>
            </a:xfrm>
            <a:custGeom>
              <a:avLst/>
              <a:gdLst/>
              <a:ahLst/>
              <a:cxnLst/>
              <a:rect l="l" t="t" r="r" b="b"/>
              <a:pathLst>
                <a:path w="9144000" h="3702050">
                  <a:moveTo>
                    <a:pt x="9144000" y="0"/>
                  </a:moveTo>
                  <a:lnTo>
                    <a:pt x="0" y="0"/>
                  </a:lnTo>
                  <a:lnTo>
                    <a:pt x="0" y="3701669"/>
                  </a:lnTo>
                  <a:lnTo>
                    <a:pt x="9144000" y="370166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31140" y="507314"/>
            <a:ext cx="8541054" cy="2783070"/>
          </a:xfrm>
          <a:prstGeom prst="rect">
            <a:avLst/>
          </a:prstGeom>
        </p:spPr>
        <p:txBody>
          <a:bodyPr vert="horz" wrap="square" lIns="0" tIns="561594" rIns="0" bIns="0" rtlCol="0">
            <a:spAutoFit/>
          </a:bodyPr>
          <a:lstStyle/>
          <a:p>
            <a:pPr marL="206248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F1F1F1"/>
                </a:solidFill>
                <a:latin typeface="Trebuchet MS"/>
                <a:cs typeface="Trebuchet MS"/>
              </a:rPr>
              <a:t>Software</a:t>
            </a:r>
            <a:r>
              <a:rPr sz="3600" b="1" spc="-145" dirty="0">
                <a:solidFill>
                  <a:srgbClr val="F1F1F1"/>
                </a:solidFill>
                <a:latin typeface="Trebuchet MS"/>
                <a:cs typeface="Trebuchet MS"/>
              </a:rPr>
              <a:t> </a:t>
            </a:r>
            <a:r>
              <a:rPr sz="3600" b="1" spc="-10" dirty="0">
                <a:solidFill>
                  <a:srgbClr val="F1F1F1"/>
                </a:solidFill>
                <a:latin typeface="Trebuchet MS"/>
                <a:cs typeface="Trebuchet MS"/>
              </a:rPr>
              <a:t>Engineering</a:t>
            </a:r>
            <a:br>
              <a:rPr lang="en-US" sz="3600" b="1" spc="-10" dirty="0">
                <a:solidFill>
                  <a:srgbClr val="F1F1F1"/>
                </a:solidFill>
                <a:latin typeface="Trebuchet MS"/>
                <a:cs typeface="Trebuchet MS"/>
              </a:rPr>
            </a:br>
            <a:br>
              <a:rPr lang="en-US" sz="3600" b="1" spc="-10" dirty="0">
                <a:solidFill>
                  <a:srgbClr val="F1F1F1"/>
                </a:solidFill>
                <a:latin typeface="Trebuchet MS"/>
                <a:cs typeface="Trebuchet MS"/>
              </a:rPr>
            </a:br>
            <a:br>
              <a:rPr lang="en-US" sz="3600" b="1" spc="-10" dirty="0">
                <a:solidFill>
                  <a:srgbClr val="F1F1F1"/>
                </a:solidFill>
                <a:latin typeface="Trebuchet MS"/>
                <a:cs typeface="Trebuchet MS"/>
              </a:rPr>
            </a:br>
            <a:r>
              <a:rPr lang="en-US" sz="3600" b="1" spc="-10" dirty="0">
                <a:solidFill>
                  <a:srgbClr val="F1F1F1"/>
                </a:solidFill>
                <a:latin typeface="Trebuchet MS"/>
                <a:cs typeface="Trebuchet MS"/>
              </a:rPr>
              <a:t>     </a:t>
            </a:r>
            <a:r>
              <a:rPr lang="en-US" sz="2400" b="1" spc="-10" dirty="0">
                <a:solidFill>
                  <a:srgbClr val="F1F1F1"/>
                </a:solidFill>
                <a:latin typeface="Trebuchet MS"/>
                <a:cs typeface="Trebuchet MS"/>
              </a:rPr>
              <a:t>Chapter 4 Requirements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99668"/>
            <a:ext cx="9144000" cy="6458585"/>
            <a:chOff x="0" y="399668"/>
            <a:chExt cx="9144000" cy="6458585"/>
          </a:xfrm>
        </p:grpSpPr>
        <p:sp>
          <p:nvSpPr>
            <p:cNvPr id="3" name="object 3"/>
            <p:cNvSpPr/>
            <p:nvPr/>
          </p:nvSpPr>
          <p:spPr>
            <a:xfrm>
              <a:off x="0" y="399668"/>
              <a:ext cx="9144000" cy="6458585"/>
            </a:xfrm>
            <a:custGeom>
              <a:avLst/>
              <a:gdLst/>
              <a:ahLst/>
              <a:cxnLst/>
              <a:rect l="l" t="t" r="r" b="b"/>
              <a:pathLst>
                <a:path w="9144000" h="6458584">
                  <a:moveTo>
                    <a:pt x="0" y="6458331"/>
                  </a:moveTo>
                  <a:lnTo>
                    <a:pt x="9144000" y="6458331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58331"/>
                  </a:lnTo>
                  <a:close/>
                </a:path>
              </a:pathLst>
            </a:custGeom>
            <a:solidFill>
              <a:srgbClr val="3033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99668"/>
              <a:ext cx="5410200" cy="52069"/>
            </a:xfrm>
            <a:custGeom>
              <a:avLst/>
              <a:gdLst/>
              <a:ahLst/>
              <a:cxnLst/>
              <a:rect l="l" t="t" r="r" b="b"/>
              <a:pathLst>
                <a:path w="5410200" h="52070">
                  <a:moveTo>
                    <a:pt x="0" y="51561"/>
                  </a:moveTo>
                  <a:lnTo>
                    <a:pt x="5410199" y="51561"/>
                  </a:lnTo>
                  <a:lnTo>
                    <a:pt x="5410199" y="0"/>
                  </a:lnTo>
                  <a:lnTo>
                    <a:pt x="0" y="0"/>
                  </a:lnTo>
                  <a:lnTo>
                    <a:pt x="0" y="51561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-2031"/>
            <a:ext cx="9144000" cy="628015"/>
            <a:chOff x="0" y="-2031"/>
            <a:chExt cx="9144000" cy="628015"/>
          </a:xfrm>
        </p:grpSpPr>
        <p:sp>
          <p:nvSpPr>
            <p:cNvPr id="6" name="object 6"/>
            <p:cNvSpPr/>
            <p:nvPr/>
          </p:nvSpPr>
          <p:spPr>
            <a:xfrm>
              <a:off x="0" y="-25"/>
              <a:ext cx="9144000" cy="311150"/>
            </a:xfrm>
            <a:custGeom>
              <a:avLst/>
              <a:gdLst/>
              <a:ahLst/>
              <a:cxnLst/>
              <a:rect l="l" t="t" r="r" b="b"/>
              <a:pathLst>
                <a:path w="9144000" h="311150">
                  <a:moveTo>
                    <a:pt x="9144000" y="0"/>
                  </a:moveTo>
                  <a:lnTo>
                    <a:pt x="0" y="0"/>
                  </a:lnTo>
                  <a:lnTo>
                    <a:pt x="0" y="310667"/>
                  </a:lnTo>
                  <a:lnTo>
                    <a:pt x="9144000" y="310667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244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08228"/>
              <a:ext cx="9144000" cy="143510"/>
            </a:xfrm>
            <a:custGeom>
              <a:avLst/>
              <a:gdLst/>
              <a:ahLst/>
              <a:cxnLst/>
              <a:rect l="l" t="t" r="r" b="b"/>
              <a:pathLst>
                <a:path w="9144000" h="143509">
                  <a:moveTo>
                    <a:pt x="9144000" y="0"/>
                  </a:moveTo>
                  <a:lnTo>
                    <a:pt x="0" y="0"/>
                  </a:lnTo>
                  <a:lnTo>
                    <a:pt x="0" y="91440"/>
                  </a:lnTo>
                  <a:lnTo>
                    <a:pt x="5410200" y="91440"/>
                  </a:lnTo>
                  <a:lnTo>
                    <a:pt x="5410200" y="143129"/>
                  </a:lnTo>
                  <a:lnTo>
                    <a:pt x="9144000" y="143129"/>
                  </a:lnTo>
                  <a:lnTo>
                    <a:pt x="9144000" y="91440"/>
                  </a:lnTo>
                  <a:lnTo>
                    <a:pt x="9144000" y="52044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438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10200" y="440105"/>
              <a:ext cx="3733800" cy="180340"/>
            </a:xfrm>
            <a:custGeom>
              <a:avLst/>
              <a:gdLst/>
              <a:ahLst/>
              <a:cxnLst/>
              <a:rect l="l" t="t" r="r" b="b"/>
              <a:pathLst>
                <a:path w="3733800" h="180340">
                  <a:moveTo>
                    <a:pt x="3733800" y="0"/>
                  </a:moveTo>
                  <a:lnTo>
                    <a:pt x="0" y="0"/>
                  </a:lnTo>
                  <a:lnTo>
                    <a:pt x="0" y="180035"/>
                  </a:lnTo>
                  <a:lnTo>
                    <a:pt x="3733800" y="180035"/>
                  </a:lnTo>
                  <a:lnTo>
                    <a:pt x="3733800" y="0"/>
                  </a:lnTo>
                  <a:close/>
                </a:path>
              </a:pathLst>
            </a:custGeom>
            <a:solidFill>
              <a:srgbClr val="438085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07279" y="497458"/>
              <a:ext cx="3566795" cy="128270"/>
            </a:xfrm>
            <a:custGeom>
              <a:avLst/>
              <a:gdLst/>
              <a:ahLst/>
              <a:cxnLst/>
              <a:rect l="l" t="t" r="r" b="b"/>
              <a:pathLst>
                <a:path w="3566795" h="128270">
                  <a:moveTo>
                    <a:pt x="3063240" y="2032"/>
                  </a:moveTo>
                  <a:lnTo>
                    <a:pt x="3061208" y="0"/>
                  </a:lnTo>
                  <a:lnTo>
                    <a:pt x="2159" y="0"/>
                  </a:lnTo>
                  <a:lnTo>
                    <a:pt x="0" y="2032"/>
                  </a:lnTo>
                  <a:lnTo>
                    <a:pt x="0" y="4572"/>
                  </a:lnTo>
                  <a:lnTo>
                    <a:pt x="0" y="25400"/>
                  </a:lnTo>
                  <a:lnTo>
                    <a:pt x="2159" y="27432"/>
                  </a:lnTo>
                  <a:lnTo>
                    <a:pt x="3061208" y="27432"/>
                  </a:lnTo>
                  <a:lnTo>
                    <a:pt x="3063240" y="25400"/>
                  </a:lnTo>
                  <a:lnTo>
                    <a:pt x="3063240" y="2032"/>
                  </a:lnTo>
                  <a:close/>
                </a:path>
                <a:path w="3566795" h="128270">
                  <a:moveTo>
                    <a:pt x="3566541" y="94234"/>
                  </a:moveTo>
                  <a:lnTo>
                    <a:pt x="3563874" y="91440"/>
                  </a:lnTo>
                  <a:lnTo>
                    <a:pt x="1969135" y="91440"/>
                  </a:lnTo>
                  <a:lnTo>
                    <a:pt x="1966341" y="94234"/>
                  </a:lnTo>
                  <a:lnTo>
                    <a:pt x="1966341" y="97536"/>
                  </a:lnTo>
                  <a:lnTo>
                    <a:pt x="1966341" y="125349"/>
                  </a:lnTo>
                  <a:lnTo>
                    <a:pt x="1969135" y="128016"/>
                  </a:lnTo>
                  <a:lnTo>
                    <a:pt x="3563874" y="128016"/>
                  </a:lnTo>
                  <a:lnTo>
                    <a:pt x="3566541" y="125349"/>
                  </a:lnTo>
                  <a:lnTo>
                    <a:pt x="3566541" y="94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044432" y="-2032"/>
              <a:ext cx="98425" cy="622300"/>
            </a:xfrm>
            <a:custGeom>
              <a:avLst/>
              <a:gdLst/>
              <a:ahLst/>
              <a:cxnLst/>
              <a:rect l="l" t="t" r="r" b="b"/>
              <a:pathLst>
                <a:path w="98425" h="622300">
                  <a:moveTo>
                    <a:pt x="27419" y="0"/>
                  </a:moveTo>
                  <a:lnTo>
                    <a:pt x="0" y="0"/>
                  </a:lnTo>
                  <a:lnTo>
                    <a:pt x="0" y="621792"/>
                  </a:lnTo>
                  <a:lnTo>
                    <a:pt x="27419" y="621792"/>
                  </a:lnTo>
                  <a:lnTo>
                    <a:pt x="27419" y="0"/>
                  </a:lnTo>
                  <a:close/>
                </a:path>
                <a:path w="98425" h="622300">
                  <a:moveTo>
                    <a:pt x="98132" y="0"/>
                  </a:moveTo>
                  <a:lnTo>
                    <a:pt x="40513" y="0"/>
                  </a:lnTo>
                  <a:lnTo>
                    <a:pt x="40513" y="621792"/>
                  </a:lnTo>
                  <a:lnTo>
                    <a:pt x="98132" y="621792"/>
                  </a:lnTo>
                  <a:lnTo>
                    <a:pt x="98132" y="0"/>
                  </a:lnTo>
                  <a:close/>
                </a:path>
              </a:pathLst>
            </a:custGeom>
            <a:solidFill>
              <a:srgbClr val="FFFFFF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25381" y="-2031"/>
              <a:ext cx="9525" cy="622300"/>
            </a:xfrm>
            <a:custGeom>
              <a:avLst/>
              <a:gdLst/>
              <a:ahLst/>
              <a:cxnLst/>
              <a:rect l="l" t="t" r="r" b="b"/>
              <a:pathLst>
                <a:path w="9525" h="622300">
                  <a:moveTo>
                    <a:pt x="9143" y="0"/>
                  </a:moveTo>
                  <a:lnTo>
                    <a:pt x="0" y="0"/>
                  </a:lnTo>
                  <a:lnTo>
                    <a:pt x="0" y="621791"/>
                  </a:lnTo>
                  <a:lnTo>
                    <a:pt x="9143" y="621791"/>
                  </a:lnTo>
                  <a:lnTo>
                    <a:pt x="9143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975470" y="-2031"/>
              <a:ext cx="27940" cy="622300"/>
            </a:xfrm>
            <a:custGeom>
              <a:avLst/>
              <a:gdLst/>
              <a:ahLst/>
              <a:cxnLst/>
              <a:rect l="l" t="t" r="r" b="b"/>
              <a:pathLst>
                <a:path w="27940" h="622300">
                  <a:moveTo>
                    <a:pt x="27431" y="0"/>
                  </a:moveTo>
                  <a:lnTo>
                    <a:pt x="0" y="0"/>
                  </a:lnTo>
                  <a:lnTo>
                    <a:pt x="0" y="621791"/>
                  </a:lnTo>
                  <a:lnTo>
                    <a:pt x="27431" y="621791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15654" y="381"/>
              <a:ext cx="55244" cy="585470"/>
            </a:xfrm>
            <a:custGeom>
              <a:avLst/>
              <a:gdLst/>
              <a:ahLst/>
              <a:cxnLst/>
              <a:rect l="l" t="t" r="r" b="b"/>
              <a:pathLst>
                <a:path w="55245" h="585470">
                  <a:moveTo>
                    <a:pt x="54862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54862" y="585216"/>
                  </a:lnTo>
                  <a:lnTo>
                    <a:pt x="5486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73490" y="381"/>
              <a:ext cx="9525" cy="585470"/>
            </a:xfrm>
            <a:custGeom>
              <a:avLst/>
              <a:gdLst/>
              <a:ahLst/>
              <a:cxnLst/>
              <a:rect l="l" t="t" r="r" b="b"/>
              <a:pathLst>
                <a:path w="9525" h="585470">
                  <a:moveTo>
                    <a:pt x="9143" y="0"/>
                  </a:moveTo>
                  <a:lnTo>
                    <a:pt x="0" y="0"/>
                  </a:lnTo>
                  <a:lnTo>
                    <a:pt x="0" y="585216"/>
                  </a:lnTo>
                  <a:lnTo>
                    <a:pt x="9143" y="585216"/>
                  </a:lnTo>
                  <a:lnTo>
                    <a:pt x="9143" y="0"/>
                  </a:lnTo>
                  <a:close/>
                </a:path>
              </a:pathLst>
            </a:custGeom>
            <a:solidFill>
              <a:srgbClr val="FFFFFF">
                <a:alpha val="3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3761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solidFill>
                  <a:srgbClr val="FFFFFF"/>
                </a:solidFill>
              </a:rPr>
              <a:t>Presentation</a:t>
            </a:r>
            <a:r>
              <a:rPr sz="4250" spc="-165" dirty="0">
                <a:solidFill>
                  <a:srgbClr val="FFFFFF"/>
                </a:solidFill>
              </a:rPr>
              <a:t> </a:t>
            </a:r>
            <a:r>
              <a:rPr sz="4250" spc="-10" dirty="0">
                <a:solidFill>
                  <a:srgbClr val="FFFFFF"/>
                </a:solidFill>
              </a:rPr>
              <a:t>Outline</a:t>
            </a:r>
            <a:endParaRPr sz="4250"/>
          </a:p>
        </p:txBody>
      </p:sp>
      <p:sp>
        <p:nvSpPr>
          <p:cNvPr id="16" name="object 16"/>
          <p:cNvSpPr txBox="1"/>
          <p:nvPr/>
        </p:nvSpPr>
        <p:spPr>
          <a:xfrm>
            <a:off x="460044" y="1971031"/>
            <a:ext cx="4912360" cy="174117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95"/>
              </a:spcBef>
              <a:buClr>
                <a:srgbClr val="9F4DA2"/>
              </a:buClr>
              <a:buFont typeface="Wingdings"/>
              <a:buChar char=""/>
              <a:tabLst>
                <a:tab pos="354965" algn="l"/>
              </a:tabLst>
            </a:pP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What</a:t>
            </a:r>
            <a:r>
              <a:rPr sz="2000" b="1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is</a:t>
            </a:r>
            <a:r>
              <a:rPr sz="2000" b="1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Georgia"/>
                <a:cs typeface="Georgia"/>
              </a:rPr>
              <a:t>Requirement?</a:t>
            </a:r>
            <a:endParaRPr sz="20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lr>
                <a:srgbClr val="9F4DA2"/>
              </a:buClr>
              <a:buFont typeface="Wingdings"/>
              <a:buChar char=""/>
              <a:tabLst>
                <a:tab pos="354965" algn="l"/>
              </a:tabLst>
            </a:pP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Software</a:t>
            </a:r>
            <a:r>
              <a:rPr sz="2000" b="1" spc="-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Georgia"/>
                <a:cs typeface="Georgia"/>
              </a:rPr>
              <a:t>Requirements</a:t>
            </a:r>
            <a:endParaRPr sz="20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305"/>
              </a:spcBef>
              <a:buClr>
                <a:srgbClr val="9F4DA2"/>
              </a:buClr>
              <a:buFont typeface="Wingdings"/>
              <a:buChar char=""/>
              <a:tabLst>
                <a:tab pos="354965" algn="l"/>
              </a:tabLst>
            </a:pP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Sources</a:t>
            </a:r>
            <a:r>
              <a:rPr sz="2000" b="1" spc="-8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2000" b="1" spc="-10" dirty="0">
                <a:solidFill>
                  <a:srgbClr val="FFFFFF"/>
                </a:solidFill>
                <a:latin typeface="Georgia"/>
                <a:cs typeface="Georgia"/>
              </a:rPr>
              <a:t> Requirement</a:t>
            </a:r>
            <a:endParaRPr sz="20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lr>
                <a:srgbClr val="9F4DA2"/>
              </a:buClr>
              <a:buFont typeface="Wingdings"/>
              <a:buChar char=""/>
              <a:tabLst>
                <a:tab pos="354965" algn="l"/>
              </a:tabLst>
            </a:pP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sz="2000" b="1" spc="-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Goal</a:t>
            </a:r>
            <a:r>
              <a:rPr sz="2000" b="1" spc="-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2000" b="1" spc="-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Software</a:t>
            </a:r>
            <a:r>
              <a:rPr sz="2000" b="1" spc="-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Georgia"/>
                <a:cs typeface="Georgia"/>
              </a:rPr>
              <a:t>Development</a:t>
            </a:r>
            <a:endParaRPr sz="2000">
              <a:latin typeface="Georgia"/>
              <a:cs typeface="Georgia"/>
            </a:endParaRPr>
          </a:p>
          <a:p>
            <a:pPr marL="354965" indent="-342265">
              <a:lnSpc>
                <a:spcPct val="100000"/>
              </a:lnSpc>
              <a:spcBef>
                <a:spcPts val="300"/>
              </a:spcBef>
              <a:buClr>
                <a:srgbClr val="9F4DA2"/>
              </a:buClr>
              <a:buFont typeface="Wingdings"/>
              <a:buChar char=""/>
              <a:tabLst>
                <a:tab pos="354965" algn="l"/>
                <a:tab pos="2805430" algn="l"/>
              </a:tabLst>
            </a:pP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Types</a:t>
            </a:r>
            <a:r>
              <a:rPr sz="2000" b="1" spc="-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of</a:t>
            </a:r>
            <a:r>
              <a:rPr sz="2000" b="1" spc="-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Georgia"/>
                <a:cs typeface="Georgia"/>
              </a:rPr>
              <a:t>Software</a:t>
            </a:r>
            <a:r>
              <a:rPr sz="2000" b="1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2000" b="1" spc="-10" dirty="0">
                <a:solidFill>
                  <a:srgbClr val="FFFFFF"/>
                </a:solidFill>
                <a:latin typeface="Georgia"/>
                <a:cs typeface="Georgia"/>
              </a:rPr>
              <a:t>Requirements</a:t>
            </a:r>
            <a:endParaRPr sz="2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44" y="736168"/>
            <a:ext cx="2943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972" y="1585515"/>
            <a:ext cx="8044815" cy="22326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430"/>
              </a:spcBef>
              <a:buClr>
                <a:srgbClr val="9F4DA2"/>
              </a:buClr>
              <a:buFont typeface="Wingdings"/>
              <a:buChar char="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Something</a:t>
            </a:r>
            <a:r>
              <a:rPr sz="2000" spc="-10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required,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something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wanted</a:t>
            </a:r>
            <a:r>
              <a:rPr sz="2000" spc="-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or</a:t>
            </a:r>
            <a:r>
              <a:rPr sz="2000" spc="-5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needed</a:t>
            </a:r>
            <a:endParaRPr sz="2000" dirty="0">
              <a:latin typeface="Georgia"/>
              <a:cs typeface="Georgia"/>
            </a:endParaRPr>
          </a:p>
          <a:p>
            <a:pPr marL="560705" lvl="1" indent="-246379">
              <a:lnSpc>
                <a:spcPct val="100000"/>
              </a:lnSpc>
              <a:spcBef>
                <a:spcPts val="285"/>
              </a:spcBef>
              <a:buClr>
                <a:srgbClr val="438085"/>
              </a:buClr>
              <a:buFont typeface="Wingdings"/>
              <a:buChar char=""/>
              <a:tabLst>
                <a:tab pos="560705" algn="l"/>
              </a:tabLst>
            </a:pPr>
            <a:r>
              <a:rPr sz="1800" dirty="0">
                <a:latin typeface="Georgia"/>
                <a:cs typeface="Georgia"/>
              </a:rPr>
              <a:t>Webster’s</a:t>
            </a:r>
            <a:r>
              <a:rPr sz="1800" spc="-7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dictionary</a:t>
            </a:r>
            <a:endParaRPr sz="1800" dirty="0">
              <a:latin typeface="Georgia"/>
              <a:cs typeface="Georgia"/>
            </a:endParaRPr>
          </a:p>
          <a:p>
            <a:pPr marL="267335" marR="5080" indent="-255270">
              <a:lnSpc>
                <a:spcPct val="100600"/>
              </a:lnSpc>
              <a:spcBef>
                <a:spcPts val="1550"/>
              </a:spcBef>
              <a:buClr>
                <a:srgbClr val="9F4DA2"/>
              </a:buClr>
              <a:buFont typeface="Wingdings"/>
              <a:buChar char="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There</a:t>
            </a:r>
            <a:r>
              <a:rPr sz="2000" spc="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is</a:t>
            </a:r>
            <a:r>
              <a:rPr sz="2000" spc="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huge</a:t>
            </a:r>
            <a:r>
              <a:rPr sz="2000" spc="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difference</a:t>
            </a:r>
            <a:r>
              <a:rPr sz="2000" spc="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between</a:t>
            </a:r>
            <a:r>
              <a:rPr sz="2000" spc="20" dirty="0">
                <a:latin typeface="Georgia"/>
                <a:cs typeface="Georgia"/>
              </a:rPr>
              <a:t> </a:t>
            </a:r>
            <a:r>
              <a:rPr sz="2000" i="1" dirty="0">
                <a:latin typeface="Georgia"/>
                <a:cs typeface="Georgia"/>
              </a:rPr>
              <a:t>wanted</a:t>
            </a:r>
            <a:r>
              <a:rPr sz="2000" i="1" spc="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20" dirty="0">
                <a:latin typeface="Georgia"/>
                <a:cs typeface="Georgia"/>
              </a:rPr>
              <a:t> </a:t>
            </a:r>
            <a:r>
              <a:rPr sz="2000" i="1" dirty="0">
                <a:latin typeface="Georgia"/>
                <a:cs typeface="Georgia"/>
              </a:rPr>
              <a:t>needed</a:t>
            </a:r>
            <a:r>
              <a:rPr sz="2000" i="1" spc="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it</a:t>
            </a:r>
            <a:r>
              <a:rPr sz="2000" spc="2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should 	</a:t>
            </a:r>
            <a:r>
              <a:rPr sz="2000" dirty="0">
                <a:latin typeface="Georgia"/>
                <a:cs typeface="Georgia"/>
              </a:rPr>
              <a:t>be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kept</a:t>
            </a:r>
            <a:r>
              <a:rPr sz="2000" spc="-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in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mind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all</a:t>
            </a:r>
            <a:r>
              <a:rPr sz="2000" spc="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spc="-20" dirty="0">
                <a:latin typeface="Georgia"/>
                <a:cs typeface="Georgia"/>
              </a:rPr>
              <a:t>time</a:t>
            </a:r>
            <a:endParaRPr sz="2000" dirty="0">
              <a:latin typeface="Georgia"/>
              <a:cs typeface="Georgia"/>
            </a:endParaRPr>
          </a:p>
          <a:p>
            <a:pPr marL="825500" indent="-218440">
              <a:lnSpc>
                <a:spcPct val="100000"/>
              </a:lnSpc>
              <a:spcBef>
                <a:spcPts val="1725"/>
              </a:spcBef>
              <a:buClr>
                <a:srgbClr val="525389"/>
              </a:buClr>
              <a:buFont typeface="Wingdings"/>
              <a:buChar char=""/>
              <a:tabLst>
                <a:tab pos="825500" algn="l"/>
              </a:tabLst>
            </a:pPr>
            <a:r>
              <a:rPr sz="1550" b="1" dirty="0">
                <a:latin typeface="Georgia"/>
                <a:cs typeface="Georgia"/>
              </a:rPr>
              <a:t>Need</a:t>
            </a:r>
            <a:r>
              <a:rPr sz="1550" dirty="0">
                <a:latin typeface="Georgia"/>
                <a:cs typeface="Georgia"/>
              </a:rPr>
              <a:t>-</a:t>
            </a:r>
            <a:r>
              <a:rPr sz="1550" spc="95" dirty="0">
                <a:latin typeface="Georgia"/>
                <a:cs typeface="Georgia"/>
              </a:rPr>
              <a:t> </a:t>
            </a:r>
            <a:r>
              <a:rPr sz="1550" dirty="0">
                <a:latin typeface="Georgia"/>
                <a:cs typeface="Georgia"/>
              </a:rPr>
              <a:t>something</a:t>
            </a:r>
            <a:r>
              <a:rPr sz="1550" spc="155" dirty="0">
                <a:latin typeface="Georgia"/>
                <a:cs typeface="Georgia"/>
              </a:rPr>
              <a:t> </a:t>
            </a:r>
            <a:r>
              <a:rPr sz="1550" dirty="0">
                <a:latin typeface="Georgia"/>
                <a:cs typeface="Georgia"/>
              </a:rPr>
              <a:t>you</a:t>
            </a:r>
            <a:r>
              <a:rPr sz="1550" spc="65" dirty="0">
                <a:latin typeface="Georgia"/>
                <a:cs typeface="Georgia"/>
              </a:rPr>
              <a:t> </a:t>
            </a:r>
            <a:r>
              <a:rPr sz="1550" dirty="0">
                <a:latin typeface="Georgia"/>
                <a:cs typeface="Georgia"/>
              </a:rPr>
              <a:t>have</a:t>
            </a:r>
            <a:r>
              <a:rPr sz="1550" spc="114" dirty="0">
                <a:latin typeface="Georgia"/>
                <a:cs typeface="Georgia"/>
              </a:rPr>
              <a:t> </a:t>
            </a:r>
            <a:r>
              <a:rPr sz="1550" dirty="0">
                <a:latin typeface="Georgia"/>
                <a:cs typeface="Georgia"/>
              </a:rPr>
              <a:t>to</a:t>
            </a:r>
            <a:r>
              <a:rPr sz="1550" spc="90" dirty="0">
                <a:latin typeface="Georgia"/>
                <a:cs typeface="Georgia"/>
              </a:rPr>
              <a:t> </a:t>
            </a:r>
            <a:r>
              <a:rPr sz="1550" spc="-20" dirty="0">
                <a:latin typeface="Georgia"/>
                <a:cs typeface="Georgia"/>
              </a:rPr>
              <a:t>have</a:t>
            </a:r>
            <a:endParaRPr sz="1550" dirty="0">
              <a:latin typeface="Georgia"/>
              <a:cs typeface="Georgia"/>
            </a:endParaRPr>
          </a:p>
          <a:p>
            <a:pPr marL="826135" indent="-219075">
              <a:lnSpc>
                <a:spcPct val="100000"/>
              </a:lnSpc>
              <a:spcBef>
                <a:spcPts val="370"/>
              </a:spcBef>
              <a:buClr>
                <a:srgbClr val="525389"/>
              </a:buClr>
              <a:buFont typeface="Wingdings"/>
              <a:buChar char=""/>
              <a:tabLst>
                <a:tab pos="826135" algn="l"/>
              </a:tabLst>
            </a:pPr>
            <a:r>
              <a:rPr sz="1550" b="1" dirty="0">
                <a:latin typeface="Georgia"/>
                <a:cs typeface="Georgia"/>
              </a:rPr>
              <a:t>Want</a:t>
            </a:r>
            <a:r>
              <a:rPr sz="1550" b="1" spc="40" dirty="0">
                <a:latin typeface="Georgia"/>
                <a:cs typeface="Georgia"/>
              </a:rPr>
              <a:t> </a:t>
            </a:r>
            <a:r>
              <a:rPr sz="1550" spc="-10" dirty="0">
                <a:latin typeface="Georgia"/>
                <a:cs typeface="Georgia"/>
              </a:rPr>
              <a:t>-</a:t>
            </a:r>
            <a:r>
              <a:rPr sz="1550" dirty="0">
                <a:latin typeface="Georgia"/>
                <a:cs typeface="Georgia"/>
              </a:rPr>
              <a:t>something</a:t>
            </a:r>
            <a:r>
              <a:rPr sz="1550" spc="195" dirty="0">
                <a:latin typeface="Georgia"/>
                <a:cs typeface="Georgia"/>
              </a:rPr>
              <a:t> </a:t>
            </a:r>
            <a:r>
              <a:rPr sz="1550" dirty="0">
                <a:latin typeface="Georgia"/>
                <a:cs typeface="Georgia"/>
              </a:rPr>
              <a:t>you</a:t>
            </a:r>
            <a:r>
              <a:rPr sz="1550" spc="70" dirty="0">
                <a:latin typeface="Georgia"/>
                <a:cs typeface="Georgia"/>
              </a:rPr>
              <a:t> </a:t>
            </a:r>
            <a:r>
              <a:rPr sz="1550" dirty="0">
                <a:latin typeface="Georgia"/>
                <a:cs typeface="Georgia"/>
              </a:rPr>
              <a:t>would</a:t>
            </a:r>
            <a:r>
              <a:rPr sz="1550" spc="155" dirty="0">
                <a:latin typeface="Georgia"/>
                <a:cs typeface="Georgia"/>
              </a:rPr>
              <a:t> </a:t>
            </a:r>
            <a:r>
              <a:rPr sz="1550" dirty="0">
                <a:latin typeface="Georgia"/>
                <a:cs typeface="Georgia"/>
              </a:rPr>
              <a:t>like</a:t>
            </a:r>
            <a:r>
              <a:rPr sz="1550" spc="70" dirty="0">
                <a:latin typeface="Georgia"/>
                <a:cs typeface="Georgia"/>
              </a:rPr>
              <a:t> </a:t>
            </a:r>
            <a:r>
              <a:rPr sz="1550" dirty="0">
                <a:latin typeface="Georgia"/>
                <a:cs typeface="Georgia"/>
              </a:rPr>
              <a:t>to</a:t>
            </a:r>
            <a:r>
              <a:rPr sz="1550" spc="85" dirty="0">
                <a:latin typeface="Georgia"/>
                <a:cs typeface="Georgia"/>
              </a:rPr>
              <a:t> </a:t>
            </a:r>
            <a:r>
              <a:rPr sz="1550" spc="-20" dirty="0">
                <a:latin typeface="Georgia"/>
                <a:cs typeface="Georgia"/>
              </a:rPr>
              <a:t>have</a:t>
            </a:r>
            <a:endParaRPr sz="1550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7800" y="4707430"/>
            <a:ext cx="3779520" cy="20726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4114850"/>
            <a:ext cx="3502025" cy="22514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0200" y="2895600"/>
            <a:ext cx="3505200" cy="1752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44" y="812368"/>
            <a:ext cx="53193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Software</a:t>
            </a:r>
            <a:r>
              <a:rPr spc="-26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172" y="1625346"/>
            <a:ext cx="8509635" cy="1475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00"/>
              </a:spcBef>
              <a:buClr>
                <a:srgbClr val="9F4DA2"/>
              </a:buClr>
              <a:buFont typeface="Wingdings"/>
              <a:buChar char=""/>
              <a:tabLst>
                <a:tab pos="267970" algn="l"/>
              </a:tabLst>
            </a:pPr>
            <a:r>
              <a:rPr sz="1800" dirty="0">
                <a:latin typeface="Georgia"/>
                <a:cs typeface="Georgia"/>
              </a:rPr>
              <a:t>A</a:t>
            </a:r>
            <a:r>
              <a:rPr sz="1800" spc="21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complete</a:t>
            </a:r>
            <a:r>
              <a:rPr sz="1800" spc="19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description</a:t>
            </a:r>
            <a:r>
              <a:rPr sz="1800" spc="21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of</a:t>
            </a:r>
            <a:r>
              <a:rPr sz="1800" spc="190" dirty="0">
                <a:latin typeface="Georgia"/>
                <a:cs typeface="Georgia"/>
              </a:rPr>
              <a:t> </a:t>
            </a:r>
            <a:r>
              <a:rPr sz="1800" i="1" dirty="0">
                <a:latin typeface="Georgia"/>
                <a:cs typeface="Georgia"/>
              </a:rPr>
              <a:t>what</a:t>
            </a:r>
            <a:r>
              <a:rPr sz="1800" i="1" spc="18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</a:t>
            </a:r>
            <a:r>
              <a:rPr sz="1800" spc="19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software</a:t>
            </a:r>
            <a:r>
              <a:rPr sz="1800" spc="2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system</a:t>
            </a:r>
            <a:r>
              <a:rPr sz="1800" spc="19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will</a:t>
            </a:r>
            <a:r>
              <a:rPr sz="1800" spc="18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do</a:t>
            </a:r>
            <a:r>
              <a:rPr sz="1800" spc="204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without</a:t>
            </a:r>
            <a:r>
              <a:rPr sz="1800" spc="18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describing</a:t>
            </a:r>
            <a:endParaRPr sz="1800">
              <a:latin typeface="Georgia"/>
              <a:cs typeface="Georgia"/>
            </a:endParaRPr>
          </a:p>
          <a:p>
            <a:pPr marL="268605">
              <a:lnSpc>
                <a:spcPct val="100000"/>
              </a:lnSpc>
            </a:pPr>
            <a:r>
              <a:rPr sz="1800" i="1" dirty="0">
                <a:latin typeface="Georgia"/>
                <a:cs typeface="Georgia"/>
              </a:rPr>
              <a:t>how</a:t>
            </a:r>
            <a:r>
              <a:rPr sz="1800" i="1" spc="-6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it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will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do</a:t>
            </a:r>
            <a:r>
              <a:rPr sz="1800" spc="-2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it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is</a:t>
            </a:r>
            <a:r>
              <a:rPr sz="1800" spc="-1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represented by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</a:t>
            </a:r>
            <a:r>
              <a:rPr sz="1800" spc="-3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software</a:t>
            </a:r>
            <a:r>
              <a:rPr sz="1800" spc="30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requirements</a:t>
            </a:r>
            <a:endParaRPr sz="1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8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buClr>
                <a:srgbClr val="9F4DA2"/>
              </a:buClr>
              <a:buFont typeface="Wingdings"/>
              <a:buChar char=""/>
              <a:tabLst>
                <a:tab pos="267970" algn="l"/>
                <a:tab pos="1311275" algn="l"/>
                <a:tab pos="2820670" algn="l"/>
                <a:tab pos="3291840" algn="l"/>
                <a:tab pos="4366895" algn="l"/>
                <a:tab pos="5794375" algn="l"/>
                <a:tab pos="6137275" algn="l"/>
                <a:tab pos="6608445" algn="l"/>
                <a:tab pos="7505065" algn="l"/>
              </a:tabLst>
            </a:pPr>
            <a:r>
              <a:rPr sz="1800" spc="-10" dirty="0">
                <a:latin typeface="Georgia"/>
                <a:cs typeface="Georgia"/>
              </a:rPr>
              <a:t>Software</a:t>
            </a:r>
            <a:r>
              <a:rPr sz="1800" dirty="0">
                <a:latin typeface="Georgia"/>
                <a:cs typeface="Georgia"/>
              </a:rPr>
              <a:t>	</a:t>
            </a:r>
            <a:r>
              <a:rPr sz="1800" spc="-10" dirty="0">
                <a:latin typeface="Georgia"/>
                <a:cs typeface="Georgia"/>
              </a:rPr>
              <a:t>requirements</a:t>
            </a:r>
            <a:r>
              <a:rPr sz="1800" dirty="0">
                <a:latin typeface="Georgia"/>
                <a:cs typeface="Georgia"/>
              </a:rPr>
              <a:t>	</a:t>
            </a:r>
            <a:r>
              <a:rPr sz="1800" spc="-25" dirty="0">
                <a:latin typeface="Georgia"/>
                <a:cs typeface="Georgia"/>
              </a:rPr>
              <a:t>are</a:t>
            </a:r>
            <a:r>
              <a:rPr sz="1800" dirty="0">
                <a:latin typeface="Georgia"/>
                <a:cs typeface="Georgia"/>
              </a:rPr>
              <a:t>	</a:t>
            </a:r>
            <a:r>
              <a:rPr sz="1800" spc="-10" dirty="0">
                <a:latin typeface="Georgia"/>
                <a:cs typeface="Georgia"/>
              </a:rPr>
              <a:t>complete</a:t>
            </a:r>
            <a:r>
              <a:rPr sz="1800" dirty="0">
                <a:latin typeface="Georgia"/>
                <a:cs typeface="Georgia"/>
              </a:rPr>
              <a:t>	</a:t>
            </a:r>
            <a:r>
              <a:rPr sz="1800" spc="-10" dirty="0">
                <a:latin typeface="Georgia"/>
                <a:cs typeface="Georgia"/>
              </a:rPr>
              <a:t>specification</a:t>
            </a:r>
            <a:r>
              <a:rPr sz="1800" dirty="0">
                <a:latin typeface="Georgia"/>
                <a:cs typeface="Georgia"/>
              </a:rPr>
              <a:t>	</a:t>
            </a:r>
            <a:r>
              <a:rPr sz="1800" spc="-25" dirty="0">
                <a:latin typeface="Georgia"/>
                <a:cs typeface="Georgia"/>
              </a:rPr>
              <a:t>of</a:t>
            </a:r>
            <a:r>
              <a:rPr sz="1800" dirty="0">
                <a:latin typeface="Georgia"/>
                <a:cs typeface="Georgia"/>
              </a:rPr>
              <a:t>	</a:t>
            </a:r>
            <a:r>
              <a:rPr sz="1800" spc="-25" dirty="0">
                <a:latin typeface="Georgia"/>
                <a:cs typeface="Georgia"/>
              </a:rPr>
              <a:t>the</a:t>
            </a:r>
            <a:r>
              <a:rPr sz="1800" dirty="0">
                <a:latin typeface="Georgia"/>
                <a:cs typeface="Georgia"/>
              </a:rPr>
              <a:t>	</a:t>
            </a:r>
            <a:r>
              <a:rPr sz="1800" spc="-10" dirty="0">
                <a:latin typeface="Georgia"/>
                <a:cs typeface="Georgia"/>
              </a:rPr>
              <a:t>desired</a:t>
            </a:r>
            <a:r>
              <a:rPr sz="1800" dirty="0">
                <a:latin typeface="Georgia"/>
                <a:cs typeface="Georgia"/>
              </a:rPr>
              <a:t>	</a:t>
            </a:r>
            <a:r>
              <a:rPr sz="1800" b="1" spc="-10" dirty="0">
                <a:latin typeface="Georgia"/>
                <a:cs typeface="Georgia"/>
              </a:rPr>
              <a:t>external</a:t>
            </a:r>
            <a:endParaRPr sz="1800">
              <a:latin typeface="Georgia"/>
              <a:cs typeface="Georgia"/>
            </a:endParaRPr>
          </a:p>
          <a:p>
            <a:pPr marL="268605">
              <a:lnSpc>
                <a:spcPct val="100000"/>
              </a:lnSpc>
            </a:pPr>
            <a:r>
              <a:rPr sz="1800" b="1" dirty="0">
                <a:latin typeface="Georgia"/>
                <a:cs typeface="Georgia"/>
              </a:rPr>
              <a:t>behavior</a:t>
            </a:r>
            <a:r>
              <a:rPr sz="1800" b="1" spc="-7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of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the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software</a:t>
            </a:r>
            <a:r>
              <a:rPr sz="1800" spc="1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system</a:t>
            </a:r>
            <a:r>
              <a:rPr sz="1800" spc="-8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to</a:t>
            </a:r>
            <a:r>
              <a:rPr sz="1800" spc="-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be</a:t>
            </a:r>
            <a:r>
              <a:rPr sz="1800" spc="-45" dirty="0">
                <a:latin typeface="Georgia"/>
                <a:cs typeface="Georgia"/>
              </a:rPr>
              <a:t> </a:t>
            </a:r>
            <a:r>
              <a:rPr sz="1800" spc="-10" dirty="0">
                <a:latin typeface="Georgia"/>
                <a:cs typeface="Georgia"/>
              </a:rPr>
              <a:t>built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07907" y="2753360"/>
            <a:ext cx="78740" cy="78740"/>
            <a:chOff x="8407907" y="2753360"/>
            <a:chExt cx="78740" cy="78740"/>
          </a:xfrm>
        </p:grpSpPr>
        <p:sp>
          <p:nvSpPr>
            <p:cNvPr id="8" name="object 8"/>
            <p:cNvSpPr/>
            <p:nvPr/>
          </p:nvSpPr>
          <p:spPr>
            <a:xfrm>
              <a:off x="8417432" y="2762885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29591" y="0"/>
                  </a:moveTo>
                  <a:lnTo>
                    <a:pt x="18109" y="2319"/>
                  </a:lnTo>
                  <a:lnTo>
                    <a:pt x="8699" y="8651"/>
                  </a:lnTo>
                  <a:lnTo>
                    <a:pt x="2337" y="18055"/>
                  </a:lnTo>
                  <a:lnTo>
                    <a:pt x="0" y="29590"/>
                  </a:lnTo>
                  <a:lnTo>
                    <a:pt x="2337" y="41126"/>
                  </a:lnTo>
                  <a:lnTo>
                    <a:pt x="8699" y="50530"/>
                  </a:lnTo>
                  <a:lnTo>
                    <a:pt x="18109" y="56862"/>
                  </a:lnTo>
                  <a:lnTo>
                    <a:pt x="29591" y="59181"/>
                  </a:lnTo>
                  <a:lnTo>
                    <a:pt x="41146" y="56862"/>
                  </a:lnTo>
                  <a:lnTo>
                    <a:pt x="50593" y="50530"/>
                  </a:lnTo>
                  <a:lnTo>
                    <a:pt x="56969" y="41126"/>
                  </a:lnTo>
                  <a:lnTo>
                    <a:pt x="59309" y="29590"/>
                  </a:lnTo>
                  <a:lnTo>
                    <a:pt x="56969" y="18055"/>
                  </a:lnTo>
                  <a:lnTo>
                    <a:pt x="50593" y="8651"/>
                  </a:lnTo>
                  <a:lnTo>
                    <a:pt x="41146" y="2319"/>
                  </a:lnTo>
                  <a:lnTo>
                    <a:pt x="29591" y="0"/>
                  </a:lnTo>
                  <a:close/>
                </a:path>
              </a:pathLst>
            </a:custGeom>
            <a:solidFill>
              <a:srgbClr val="929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7907" y="2753360"/>
              <a:ext cx="78359" cy="78231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017534" y="2874772"/>
            <a:ext cx="3375660" cy="1405890"/>
            <a:chOff x="5017534" y="2874772"/>
            <a:chExt cx="3375660" cy="1405890"/>
          </a:xfrm>
        </p:grpSpPr>
        <p:sp>
          <p:nvSpPr>
            <p:cNvPr id="11" name="object 11"/>
            <p:cNvSpPr/>
            <p:nvPr/>
          </p:nvSpPr>
          <p:spPr>
            <a:xfrm>
              <a:off x="5027059" y="3203865"/>
              <a:ext cx="3356610" cy="1067435"/>
            </a:xfrm>
            <a:custGeom>
              <a:avLst/>
              <a:gdLst/>
              <a:ahLst/>
              <a:cxnLst/>
              <a:rect l="l" t="t" r="r" b="b"/>
              <a:pathLst>
                <a:path w="3356609" h="1067435">
                  <a:moveTo>
                    <a:pt x="2151638" y="966179"/>
                  </a:moveTo>
                  <a:lnTo>
                    <a:pt x="1281157" y="966179"/>
                  </a:lnTo>
                  <a:lnTo>
                    <a:pt x="1317538" y="987054"/>
                  </a:lnTo>
                  <a:lnTo>
                    <a:pt x="1358924" y="1005883"/>
                  </a:lnTo>
                  <a:lnTo>
                    <a:pt x="1404840" y="1022504"/>
                  </a:lnTo>
                  <a:lnTo>
                    <a:pt x="1454809" y="1036754"/>
                  </a:lnTo>
                  <a:lnTo>
                    <a:pt x="1508355" y="1048471"/>
                  </a:lnTo>
                  <a:lnTo>
                    <a:pt x="1565002" y="1057492"/>
                  </a:lnTo>
                  <a:lnTo>
                    <a:pt x="1624514" y="1063722"/>
                  </a:lnTo>
                  <a:lnTo>
                    <a:pt x="1684013" y="1066867"/>
                  </a:lnTo>
                  <a:lnTo>
                    <a:pt x="1743009" y="1067040"/>
                  </a:lnTo>
                  <a:lnTo>
                    <a:pt x="1801011" y="1064358"/>
                  </a:lnTo>
                  <a:lnTo>
                    <a:pt x="1857529" y="1058933"/>
                  </a:lnTo>
                  <a:lnTo>
                    <a:pt x="1912071" y="1050881"/>
                  </a:lnTo>
                  <a:lnTo>
                    <a:pt x="1964148" y="1040316"/>
                  </a:lnTo>
                  <a:lnTo>
                    <a:pt x="2013267" y="1027352"/>
                  </a:lnTo>
                  <a:lnTo>
                    <a:pt x="2058940" y="1012103"/>
                  </a:lnTo>
                  <a:lnTo>
                    <a:pt x="2100674" y="994685"/>
                  </a:lnTo>
                  <a:lnTo>
                    <a:pt x="2137980" y="975211"/>
                  </a:lnTo>
                  <a:lnTo>
                    <a:pt x="2151638" y="966179"/>
                  </a:lnTo>
                  <a:close/>
                </a:path>
                <a:path w="3356609" h="1067435">
                  <a:moveTo>
                    <a:pt x="2785667" y="872453"/>
                  </a:moveTo>
                  <a:lnTo>
                    <a:pt x="452609" y="872453"/>
                  </a:lnTo>
                  <a:lnTo>
                    <a:pt x="454768" y="873977"/>
                  </a:lnTo>
                  <a:lnTo>
                    <a:pt x="456800" y="875628"/>
                  </a:lnTo>
                  <a:lnTo>
                    <a:pt x="491051" y="898021"/>
                  </a:lnTo>
                  <a:lnTo>
                    <a:pt x="526898" y="917122"/>
                  </a:lnTo>
                  <a:lnTo>
                    <a:pt x="566157" y="934419"/>
                  </a:lnTo>
                  <a:lnTo>
                    <a:pt x="608483" y="949874"/>
                  </a:lnTo>
                  <a:lnTo>
                    <a:pt x="653532" y="963450"/>
                  </a:lnTo>
                  <a:lnTo>
                    <a:pt x="701476" y="975211"/>
                  </a:lnTo>
                  <a:lnTo>
                    <a:pt x="750420" y="984815"/>
                  </a:lnTo>
                  <a:lnTo>
                    <a:pt x="801571" y="992529"/>
                  </a:lnTo>
                  <a:lnTo>
                    <a:pt x="854067" y="998214"/>
                  </a:lnTo>
                  <a:lnTo>
                    <a:pt x="907565" y="1001834"/>
                  </a:lnTo>
                  <a:lnTo>
                    <a:pt x="961719" y="1003350"/>
                  </a:lnTo>
                  <a:lnTo>
                    <a:pt x="1016186" y="1002725"/>
                  </a:lnTo>
                  <a:lnTo>
                    <a:pt x="1070621" y="999922"/>
                  </a:lnTo>
                  <a:lnTo>
                    <a:pt x="1124680" y="994903"/>
                  </a:lnTo>
                  <a:lnTo>
                    <a:pt x="1178019" y="987631"/>
                  </a:lnTo>
                  <a:lnTo>
                    <a:pt x="1230293" y="978069"/>
                  </a:lnTo>
                  <a:lnTo>
                    <a:pt x="1281157" y="966179"/>
                  </a:lnTo>
                  <a:lnTo>
                    <a:pt x="2151638" y="966179"/>
                  </a:lnTo>
                  <a:lnTo>
                    <a:pt x="2170366" y="953796"/>
                  </a:lnTo>
                  <a:lnTo>
                    <a:pt x="2197342" y="930554"/>
                  </a:lnTo>
                  <a:lnTo>
                    <a:pt x="2218417" y="905600"/>
                  </a:lnTo>
                  <a:lnTo>
                    <a:pt x="2693586" y="905600"/>
                  </a:lnTo>
                  <a:lnTo>
                    <a:pt x="2697630" y="904649"/>
                  </a:lnTo>
                  <a:lnTo>
                    <a:pt x="2748022" y="888478"/>
                  </a:lnTo>
                  <a:lnTo>
                    <a:pt x="2785667" y="872453"/>
                  </a:lnTo>
                  <a:close/>
                </a:path>
                <a:path w="3356609" h="1067435">
                  <a:moveTo>
                    <a:pt x="2693586" y="905600"/>
                  </a:moveTo>
                  <a:lnTo>
                    <a:pt x="2218417" y="905600"/>
                  </a:lnTo>
                  <a:lnTo>
                    <a:pt x="2261780" y="915956"/>
                  </a:lnTo>
                  <a:lnTo>
                    <a:pt x="2307307" y="924128"/>
                  </a:lnTo>
                  <a:lnTo>
                    <a:pt x="2354572" y="930070"/>
                  </a:lnTo>
                  <a:lnTo>
                    <a:pt x="2403147" y="933731"/>
                  </a:lnTo>
                  <a:lnTo>
                    <a:pt x="2452605" y="935064"/>
                  </a:lnTo>
                  <a:lnTo>
                    <a:pt x="2518978" y="933196"/>
                  </a:lnTo>
                  <a:lnTo>
                    <a:pt x="2582407" y="927306"/>
                  </a:lnTo>
                  <a:lnTo>
                    <a:pt x="2642191" y="917691"/>
                  </a:lnTo>
                  <a:lnTo>
                    <a:pt x="2693586" y="905600"/>
                  </a:lnTo>
                  <a:close/>
                </a:path>
                <a:path w="3356609" h="1067435">
                  <a:moveTo>
                    <a:pt x="803343" y="94074"/>
                  </a:moveTo>
                  <a:lnTo>
                    <a:pt x="753472" y="95975"/>
                  </a:lnTo>
                  <a:lnTo>
                    <a:pt x="688890" y="101563"/>
                  </a:lnTo>
                  <a:lnTo>
                    <a:pt x="627776" y="110369"/>
                  </a:lnTo>
                  <a:lnTo>
                    <a:pt x="570551" y="122156"/>
                  </a:lnTo>
                  <a:lnTo>
                    <a:pt x="517637" y="136685"/>
                  </a:lnTo>
                  <a:lnTo>
                    <a:pt x="469453" y="153715"/>
                  </a:lnTo>
                  <a:lnTo>
                    <a:pt x="426421" y="173010"/>
                  </a:lnTo>
                  <a:lnTo>
                    <a:pt x="388962" y="194328"/>
                  </a:lnTo>
                  <a:lnTo>
                    <a:pt x="357495" y="217433"/>
                  </a:lnTo>
                  <a:lnTo>
                    <a:pt x="314223" y="268042"/>
                  </a:lnTo>
                  <a:lnTo>
                    <a:pt x="299972" y="322925"/>
                  </a:lnTo>
                  <a:lnTo>
                    <a:pt x="304781" y="351372"/>
                  </a:lnTo>
                  <a:lnTo>
                    <a:pt x="301987" y="354674"/>
                  </a:lnTo>
                  <a:lnTo>
                    <a:pt x="239525" y="360126"/>
                  </a:lnTo>
                  <a:lnTo>
                    <a:pt x="181244" y="370431"/>
                  </a:lnTo>
                  <a:lnTo>
                    <a:pt x="128553" y="385197"/>
                  </a:lnTo>
                  <a:lnTo>
                    <a:pt x="82822" y="404059"/>
                  </a:lnTo>
                  <a:lnTo>
                    <a:pt x="45574" y="426556"/>
                  </a:lnTo>
                  <a:lnTo>
                    <a:pt x="17145" y="453598"/>
                  </a:lnTo>
                  <a:lnTo>
                    <a:pt x="0" y="510062"/>
                  </a:lnTo>
                  <a:lnTo>
                    <a:pt x="10316" y="537872"/>
                  </a:lnTo>
                  <a:lnTo>
                    <a:pt x="32580" y="564324"/>
                  </a:lnTo>
                  <a:lnTo>
                    <a:pt x="66309" y="588612"/>
                  </a:lnTo>
                  <a:lnTo>
                    <a:pt x="111018" y="609930"/>
                  </a:lnTo>
                  <a:lnTo>
                    <a:pt x="166224" y="627470"/>
                  </a:lnTo>
                  <a:lnTo>
                    <a:pt x="121953" y="652960"/>
                  </a:lnTo>
                  <a:lnTo>
                    <a:pt x="91802" y="681652"/>
                  </a:lnTo>
                  <a:lnTo>
                    <a:pt x="76606" y="712463"/>
                  </a:lnTo>
                  <a:lnTo>
                    <a:pt x="76952" y="731087"/>
                  </a:lnTo>
                  <a:lnTo>
                    <a:pt x="89683" y="770120"/>
                  </a:lnTo>
                  <a:lnTo>
                    <a:pt x="142946" y="815238"/>
                  </a:lnTo>
                  <a:lnTo>
                    <a:pt x="181599" y="833819"/>
                  </a:lnTo>
                  <a:lnTo>
                    <a:pt x="226852" y="849267"/>
                  </a:lnTo>
                  <a:lnTo>
                    <a:pt x="277641" y="861216"/>
                  </a:lnTo>
                  <a:lnTo>
                    <a:pt x="332905" y="869306"/>
                  </a:lnTo>
                  <a:lnTo>
                    <a:pt x="391582" y="873172"/>
                  </a:lnTo>
                  <a:lnTo>
                    <a:pt x="452609" y="872453"/>
                  </a:lnTo>
                  <a:lnTo>
                    <a:pt x="2785667" y="872453"/>
                  </a:lnTo>
                  <a:lnTo>
                    <a:pt x="2830858" y="847938"/>
                  </a:lnTo>
                  <a:lnTo>
                    <a:pt x="2861900" y="824165"/>
                  </a:lnTo>
                  <a:lnTo>
                    <a:pt x="2899726" y="771101"/>
                  </a:lnTo>
                  <a:lnTo>
                    <a:pt x="2905106" y="742405"/>
                  </a:lnTo>
                  <a:lnTo>
                    <a:pt x="2958182" y="737889"/>
                  </a:lnTo>
                  <a:lnTo>
                    <a:pt x="3009704" y="731087"/>
                  </a:lnTo>
                  <a:lnTo>
                    <a:pt x="3059274" y="722060"/>
                  </a:lnTo>
                  <a:lnTo>
                    <a:pt x="3106498" y="710869"/>
                  </a:lnTo>
                  <a:lnTo>
                    <a:pt x="3150978" y="697574"/>
                  </a:lnTo>
                  <a:lnTo>
                    <a:pt x="3204656" y="677109"/>
                  </a:lnTo>
                  <a:lnTo>
                    <a:pt x="3250425" y="654257"/>
                  </a:lnTo>
                  <a:lnTo>
                    <a:pt x="3288168" y="629399"/>
                  </a:lnTo>
                  <a:lnTo>
                    <a:pt x="3317772" y="602917"/>
                  </a:lnTo>
                  <a:lnTo>
                    <a:pt x="3352099" y="546603"/>
                  </a:lnTo>
                  <a:lnTo>
                    <a:pt x="3356592" y="517533"/>
                  </a:lnTo>
                  <a:lnTo>
                    <a:pt x="3352485" y="488363"/>
                  </a:lnTo>
                  <a:lnTo>
                    <a:pt x="3339663" y="459473"/>
                  </a:lnTo>
                  <a:lnTo>
                    <a:pt x="3318010" y="431245"/>
                  </a:lnTo>
                  <a:lnTo>
                    <a:pt x="3287411" y="404059"/>
                  </a:lnTo>
                  <a:lnTo>
                    <a:pt x="3247752" y="378296"/>
                  </a:lnTo>
                  <a:lnTo>
                    <a:pt x="3253156" y="372534"/>
                  </a:lnTo>
                  <a:lnTo>
                    <a:pt x="3279089" y="325966"/>
                  </a:lnTo>
                  <a:lnTo>
                    <a:pt x="3280688" y="297522"/>
                  </a:lnTo>
                  <a:lnTo>
                    <a:pt x="3272071" y="269800"/>
                  </a:lnTo>
                  <a:lnTo>
                    <a:pt x="3226591" y="218340"/>
                  </a:lnTo>
                  <a:lnTo>
                    <a:pt x="3190926" y="195514"/>
                  </a:lnTo>
                  <a:lnTo>
                    <a:pt x="3147445" y="175232"/>
                  </a:lnTo>
                  <a:lnTo>
                    <a:pt x="3096747" y="157948"/>
                  </a:lnTo>
                  <a:lnTo>
                    <a:pt x="3039432" y="144120"/>
                  </a:lnTo>
                  <a:lnTo>
                    <a:pt x="2976099" y="134202"/>
                  </a:lnTo>
                  <a:lnTo>
                    <a:pt x="2970342" y="125058"/>
                  </a:lnTo>
                  <a:lnTo>
                    <a:pt x="1089133" y="125058"/>
                  </a:lnTo>
                  <a:lnTo>
                    <a:pt x="1044767" y="114970"/>
                  </a:lnTo>
                  <a:lnTo>
                    <a:pt x="998651" y="106819"/>
                  </a:lnTo>
                  <a:lnTo>
                    <a:pt x="951117" y="100629"/>
                  </a:lnTo>
                  <a:lnTo>
                    <a:pt x="902499" y="96425"/>
                  </a:lnTo>
                  <a:lnTo>
                    <a:pt x="853130" y="94232"/>
                  </a:lnTo>
                  <a:lnTo>
                    <a:pt x="803343" y="94074"/>
                  </a:lnTo>
                  <a:close/>
                </a:path>
                <a:path w="3356609" h="1067435">
                  <a:moveTo>
                    <a:pt x="1437791" y="29799"/>
                  </a:moveTo>
                  <a:lnTo>
                    <a:pt x="1384967" y="32236"/>
                  </a:lnTo>
                  <a:lnTo>
                    <a:pt x="1333450" y="37555"/>
                  </a:lnTo>
                  <a:lnTo>
                    <a:pt x="1283906" y="45669"/>
                  </a:lnTo>
                  <a:lnTo>
                    <a:pt x="1237004" y="56488"/>
                  </a:lnTo>
                  <a:lnTo>
                    <a:pt x="1193408" y="69925"/>
                  </a:lnTo>
                  <a:lnTo>
                    <a:pt x="1153787" y="85891"/>
                  </a:lnTo>
                  <a:lnTo>
                    <a:pt x="1118806" y="104298"/>
                  </a:lnTo>
                  <a:lnTo>
                    <a:pt x="1089133" y="125058"/>
                  </a:lnTo>
                  <a:lnTo>
                    <a:pt x="2970342" y="125058"/>
                  </a:lnTo>
                  <a:lnTo>
                    <a:pt x="2959002" y="107048"/>
                  </a:lnTo>
                  <a:lnTo>
                    <a:pt x="2931618" y="81751"/>
                  </a:lnTo>
                  <a:lnTo>
                    <a:pt x="2930798" y="81243"/>
                  </a:lnTo>
                  <a:lnTo>
                    <a:pt x="1744961" y="81243"/>
                  </a:lnTo>
                  <a:lnTo>
                    <a:pt x="1722903" y="72514"/>
                  </a:lnTo>
                  <a:lnTo>
                    <a:pt x="1674738" y="57151"/>
                  </a:lnTo>
                  <a:lnTo>
                    <a:pt x="1597438" y="40663"/>
                  </a:lnTo>
                  <a:lnTo>
                    <a:pt x="1544693" y="33924"/>
                  </a:lnTo>
                  <a:lnTo>
                    <a:pt x="1491255" y="30332"/>
                  </a:lnTo>
                  <a:lnTo>
                    <a:pt x="1437791" y="29799"/>
                  </a:lnTo>
                  <a:close/>
                </a:path>
                <a:path w="3356609" h="1067435">
                  <a:moveTo>
                    <a:pt x="2043192" y="0"/>
                  </a:moveTo>
                  <a:lnTo>
                    <a:pt x="1991173" y="2093"/>
                  </a:lnTo>
                  <a:lnTo>
                    <a:pt x="1940732" y="7583"/>
                  </a:lnTo>
                  <a:lnTo>
                    <a:pt x="1892806" y="16335"/>
                  </a:lnTo>
                  <a:lnTo>
                    <a:pt x="1848330" y="28213"/>
                  </a:lnTo>
                  <a:lnTo>
                    <a:pt x="1808240" y="43080"/>
                  </a:lnTo>
                  <a:lnTo>
                    <a:pt x="1773472" y="60803"/>
                  </a:lnTo>
                  <a:lnTo>
                    <a:pt x="1744961" y="81243"/>
                  </a:lnTo>
                  <a:lnTo>
                    <a:pt x="2930798" y="81243"/>
                  </a:lnTo>
                  <a:lnTo>
                    <a:pt x="2894661" y="58836"/>
                  </a:lnTo>
                  <a:lnTo>
                    <a:pt x="2892171" y="57748"/>
                  </a:lnTo>
                  <a:lnTo>
                    <a:pt x="2317477" y="57748"/>
                  </a:lnTo>
                  <a:lnTo>
                    <a:pt x="2292308" y="45050"/>
                  </a:lnTo>
                  <a:lnTo>
                    <a:pt x="2232967" y="23798"/>
                  </a:lnTo>
                  <a:lnTo>
                    <a:pt x="2148226" y="6546"/>
                  </a:lnTo>
                  <a:lnTo>
                    <a:pt x="2096522" y="1504"/>
                  </a:lnTo>
                  <a:lnTo>
                    <a:pt x="2098233" y="1504"/>
                  </a:lnTo>
                  <a:lnTo>
                    <a:pt x="2043192" y="0"/>
                  </a:lnTo>
                  <a:close/>
                </a:path>
                <a:path w="3356609" h="1067435">
                  <a:moveTo>
                    <a:pt x="2600347" y="215"/>
                  </a:moveTo>
                  <a:lnTo>
                    <a:pt x="2547697" y="2093"/>
                  </a:lnTo>
                  <a:lnTo>
                    <a:pt x="2547847" y="2093"/>
                  </a:lnTo>
                  <a:lnTo>
                    <a:pt x="2496532" y="7081"/>
                  </a:lnTo>
                  <a:lnTo>
                    <a:pt x="2446964" y="15176"/>
                  </a:lnTo>
                  <a:lnTo>
                    <a:pt x="2400051" y="26338"/>
                  </a:lnTo>
                  <a:lnTo>
                    <a:pt x="2356334" y="40663"/>
                  </a:lnTo>
                  <a:lnTo>
                    <a:pt x="2317477" y="57748"/>
                  </a:lnTo>
                  <a:lnTo>
                    <a:pt x="2892171" y="57748"/>
                  </a:lnTo>
                  <a:lnTo>
                    <a:pt x="2848845" y="38825"/>
                  </a:lnTo>
                  <a:lnTo>
                    <a:pt x="2803694" y="24610"/>
                  </a:lnTo>
                  <a:lnTo>
                    <a:pt x="2755446" y="13671"/>
                  </a:lnTo>
                  <a:lnTo>
                    <a:pt x="2704925" y="5979"/>
                  </a:lnTo>
                  <a:lnTo>
                    <a:pt x="2652952" y="1504"/>
                  </a:lnTo>
                  <a:lnTo>
                    <a:pt x="2600347" y="215"/>
                  </a:lnTo>
                  <a:close/>
                </a:path>
              </a:pathLst>
            </a:custGeom>
            <a:solidFill>
              <a:srgbClr val="9293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08188" y="2884297"/>
              <a:ext cx="118490" cy="11861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46745" y="3034030"/>
              <a:ext cx="177800" cy="1778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027059" y="3203865"/>
              <a:ext cx="3356610" cy="1067435"/>
            </a:xfrm>
            <a:custGeom>
              <a:avLst/>
              <a:gdLst/>
              <a:ahLst/>
              <a:cxnLst/>
              <a:rect l="l" t="t" r="r" b="b"/>
              <a:pathLst>
                <a:path w="3356609" h="1067435">
                  <a:moveTo>
                    <a:pt x="304781" y="351372"/>
                  </a:moveTo>
                  <a:lnTo>
                    <a:pt x="299972" y="322925"/>
                  </a:lnTo>
                  <a:lnTo>
                    <a:pt x="303260" y="295069"/>
                  </a:lnTo>
                  <a:lnTo>
                    <a:pt x="314223" y="268042"/>
                  </a:lnTo>
                  <a:lnTo>
                    <a:pt x="357495" y="217433"/>
                  </a:lnTo>
                  <a:lnTo>
                    <a:pt x="388962" y="194328"/>
                  </a:lnTo>
                  <a:lnTo>
                    <a:pt x="426421" y="173010"/>
                  </a:lnTo>
                  <a:lnTo>
                    <a:pt x="469453" y="153715"/>
                  </a:lnTo>
                  <a:lnTo>
                    <a:pt x="517637" y="136685"/>
                  </a:lnTo>
                  <a:lnTo>
                    <a:pt x="570551" y="122156"/>
                  </a:lnTo>
                  <a:lnTo>
                    <a:pt x="627776" y="110369"/>
                  </a:lnTo>
                  <a:lnTo>
                    <a:pt x="688890" y="101563"/>
                  </a:lnTo>
                  <a:lnTo>
                    <a:pt x="753472" y="95975"/>
                  </a:lnTo>
                  <a:lnTo>
                    <a:pt x="803343" y="94074"/>
                  </a:lnTo>
                  <a:lnTo>
                    <a:pt x="853130" y="94232"/>
                  </a:lnTo>
                  <a:lnTo>
                    <a:pt x="902499" y="96425"/>
                  </a:lnTo>
                  <a:lnTo>
                    <a:pt x="951117" y="100629"/>
                  </a:lnTo>
                  <a:lnTo>
                    <a:pt x="998651" y="106819"/>
                  </a:lnTo>
                  <a:lnTo>
                    <a:pt x="1044767" y="114970"/>
                  </a:lnTo>
                  <a:lnTo>
                    <a:pt x="1089133" y="125058"/>
                  </a:lnTo>
                  <a:lnTo>
                    <a:pt x="1153787" y="85891"/>
                  </a:lnTo>
                  <a:lnTo>
                    <a:pt x="1193408" y="69925"/>
                  </a:lnTo>
                  <a:lnTo>
                    <a:pt x="1237004" y="56488"/>
                  </a:lnTo>
                  <a:lnTo>
                    <a:pt x="1283906" y="45669"/>
                  </a:lnTo>
                  <a:lnTo>
                    <a:pt x="1333450" y="37555"/>
                  </a:lnTo>
                  <a:lnTo>
                    <a:pt x="1384967" y="32236"/>
                  </a:lnTo>
                  <a:lnTo>
                    <a:pt x="1437791" y="29799"/>
                  </a:lnTo>
                  <a:lnTo>
                    <a:pt x="1491255" y="30332"/>
                  </a:lnTo>
                  <a:lnTo>
                    <a:pt x="1544693" y="33924"/>
                  </a:lnTo>
                  <a:lnTo>
                    <a:pt x="1597438" y="40663"/>
                  </a:lnTo>
                  <a:lnTo>
                    <a:pt x="1648822" y="50636"/>
                  </a:lnTo>
                  <a:lnTo>
                    <a:pt x="1699464" y="64464"/>
                  </a:lnTo>
                  <a:lnTo>
                    <a:pt x="1744961" y="81243"/>
                  </a:lnTo>
                  <a:lnTo>
                    <a:pt x="1808240" y="43080"/>
                  </a:lnTo>
                  <a:lnTo>
                    <a:pt x="1848330" y="28213"/>
                  </a:lnTo>
                  <a:lnTo>
                    <a:pt x="1892806" y="16335"/>
                  </a:lnTo>
                  <a:lnTo>
                    <a:pt x="1940732" y="7583"/>
                  </a:lnTo>
                  <a:lnTo>
                    <a:pt x="1991173" y="2093"/>
                  </a:lnTo>
                  <a:lnTo>
                    <a:pt x="2043192" y="0"/>
                  </a:lnTo>
                  <a:lnTo>
                    <a:pt x="2095855" y="1439"/>
                  </a:lnTo>
                  <a:lnTo>
                    <a:pt x="2148226" y="6546"/>
                  </a:lnTo>
                  <a:lnTo>
                    <a:pt x="2199367" y="15457"/>
                  </a:lnTo>
                  <a:lnTo>
                    <a:pt x="2264042" y="33698"/>
                  </a:lnTo>
                  <a:lnTo>
                    <a:pt x="2317477" y="57748"/>
                  </a:lnTo>
                  <a:lnTo>
                    <a:pt x="2356615" y="40539"/>
                  </a:lnTo>
                  <a:lnTo>
                    <a:pt x="2400051" y="26338"/>
                  </a:lnTo>
                  <a:lnTo>
                    <a:pt x="2446964" y="15176"/>
                  </a:lnTo>
                  <a:lnTo>
                    <a:pt x="2496532" y="7081"/>
                  </a:lnTo>
                  <a:lnTo>
                    <a:pt x="2547933" y="2085"/>
                  </a:lnTo>
                  <a:lnTo>
                    <a:pt x="2600347" y="215"/>
                  </a:lnTo>
                  <a:lnTo>
                    <a:pt x="2652952" y="1504"/>
                  </a:lnTo>
                  <a:lnTo>
                    <a:pt x="2704925" y="5979"/>
                  </a:lnTo>
                  <a:lnTo>
                    <a:pt x="2755446" y="13671"/>
                  </a:lnTo>
                  <a:lnTo>
                    <a:pt x="2803694" y="24610"/>
                  </a:lnTo>
                  <a:lnTo>
                    <a:pt x="2848845" y="38825"/>
                  </a:lnTo>
                  <a:lnTo>
                    <a:pt x="2894661" y="58836"/>
                  </a:lnTo>
                  <a:lnTo>
                    <a:pt x="2931618" y="81751"/>
                  </a:lnTo>
                  <a:lnTo>
                    <a:pt x="2976099" y="134202"/>
                  </a:lnTo>
                  <a:lnTo>
                    <a:pt x="3039432" y="144120"/>
                  </a:lnTo>
                  <a:lnTo>
                    <a:pt x="3096747" y="157948"/>
                  </a:lnTo>
                  <a:lnTo>
                    <a:pt x="3147445" y="175232"/>
                  </a:lnTo>
                  <a:lnTo>
                    <a:pt x="3190926" y="195514"/>
                  </a:lnTo>
                  <a:lnTo>
                    <a:pt x="3226591" y="218340"/>
                  </a:lnTo>
                  <a:lnTo>
                    <a:pt x="3272071" y="269800"/>
                  </a:lnTo>
                  <a:lnTo>
                    <a:pt x="3280688" y="297522"/>
                  </a:lnTo>
                  <a:lnTo>
                    <a:pt x="3279089" y="325966"/>
                  </a:lnTo>
                  <a:lnTo>
                    <a:pt x="3262629" y="360723"/>
                  </a:lnTo>
                  <a:lnTo>
                    <a:pt x="3247752" y="378296"/>
                  </a:lnTo>
                  <a:lnTo>
                    <a:pt x="3287411" y="404059"/>
                  </a:lnTo>
                  <a:lnTo>
                    <a:pt x="3318010" y="431245"/>
                  </a:lnTo>
                  <a:lnTo>
                    <a:pt x="3352485" y="488363"/>
                  </a:lnTo>
                  <a:lnTo>
                    <a:pt x="3356592" y="517533"/>
                  </a:lnTo>
                  <a:lnTo>
                    <a:pt x="3352099" y="546603"/>
                  </a:lnTo>
                  <a:lnTo>
                    <a:pt x="3317772" y="602917"/>
                  </a:lnTo>
                  <a:lnTo>
                    <a:pt x="3288168" y="629399"/>
                  </a:lnTo>
                  <a:lnTo>
                    <a:pt x="3250425" y="654257"/>
                  </a:lnTo>
                  <a:lnTo>
                    <a:pt x="3204656" y="677109"/>
                  </a:lnTo>
                  <a:lnTo>
                    <a:pt x="3150978" y="697574"/>
                  </a:lnTo>
                  <a:lnTo>
                    <a:pt x="3106498" y="710869"/>
                  </a:lnTo>
                  <a:lnTo>
                    <a:pt x="3059274" y="722060"/>
                  </a:lnTo>
                  <a:lnTo>
                    <a:pt x="3009704" y="731087"/>
                  </a:lnTo>
                  <a:lnTo>
                    <a:pt x="2958182" y="737889"/>
                  </a:lnTo>
                  <a:lnTo>
                    <a:pt x="2905106" y="742405"/>
                  </a:lnTo>
                  <a:lnTo>
                    <a:pt x="2885090" y="798453"/>
                  </a:lnTo>
                  <a:lnTo>
                    <a:pt x="2830858" y="847938"/>
                  </a:lnTo>
                  <a:lnTo>
                    <a:pt x="2792665" y="869475"/>
                  </a:lnTo>
                  <a:lnTo>
                    <a:pt x="2748022" y="888478"/>
                  </a:lnTo>
                  <a:lnTo>
                    <a:pt x="2697630" y="904649"/>
                  </a:lnTo>
                  <a:lnTo>
                    <a:pt x="2642191" y="917691"/>
                  </a:lnTo>
                  <a:lnTo>
                    <a:pt x="2582407" y="927306"/>
                  </a:lnTo>
                  <a:lnTo>
                    <a:pt x="2518978" y="933196"/>
                  </a:lnTo>
                  <a:lnTo>
                    <a:pt x="2452605" y="935064"/>
                  </a:lnTo>
                  <a:lnTo>
                    <a:pt x="2403147" y="933731"/>
                  </a:lnTo>
                  <a:lnTo>
                    <a:pt x="2354572" y="930070"/>
                  </a:lnTo>
                  <a:lnTo>
                    <a:pt x="2307307" y="924128"/>
                  </a:lnTo>
                  <a:lnTo>
                    <a:pt x="2261780" y="915956"/>
                  </a:lnTo>
                  <a:lnTo>
                    <a:pt x="2218417" y="905600"/>
                  </a:lnTo>
                  <a:lnTo>
                    <a:pt x="2170366" y="953796"/>
                  </a:lnTo>
                  <a:lnTo>
                    <a:pt x="2137980" y="975211"/>
                  </a:lnTo>
                  <a:lnTo>
                    <a:pt x="2100674" y="994685"/>
                  </a:lnTo>
                  <a:lnTo>
                    <a:pt x="2058940" y="1012103"/>
                  </a:lnTo>
                  <a:lnTo>
                    <a:pt x="2013267" y="1027352"/>
                  </a:lnTo>
                  <a:lnTo>
                    <a:pt x="1964148" y="1040316"/>
                  </a:lnTo>
                  <a:lnTo>
                    <a:pt x="1912071" y="1050881"/>
                  </a:lnTo>
                  <a:lnTo>
                    <a:pt x="1857529" y="1058933"/>
                  </a:lnTo>
                  <a:lnTo>
                    <a:pt x="1801011" y="1064358"/>
                  </a:lnTo>
                  <a:lnTo>
                    <a:pt x="1743009" y="1067040"/>
                  </a:lnTo>
                  <a:lnTo>
                    <a:pt x="1684013" y="1066867"/>
                  </a:lnTo>
                  <a:lnTo>
                    <a:pt x="1624514" y="1063722"/>
                  </a:lnTo>
                  <a:lnTo>
                    <a:pt x="1565002" y="1057492"/>
                  </a:lnTo>
                  <a:lnTo>
                    <a:pt x="1508355" y="1048471"/>
                  </a:lnTo>
                  <a:lnTo>
                    <a:pt x="1454809" y="1036754"/>
                  </a:lnTo>
                  <a:lnTo>
                    <a:pt x="1404840" y="1022504"/>
                  </a:lnTo>
                  <a:lnTo>
                    <a:pt x="1358924" y="1005883"/>
                  </a:lnTo>
                  <a:lnTo>
                    <a:pt x="1317538" y="987054"/>
                  </a:lnTo>
                  <a:lnTo>
                    <a:pt x="1281157" y="966179"/>
                  </a:lnTo>
                  <a:lnTo>
                    <a:pt x="1230293" y="978069"/>
                  </a:lnTo>
                  <a:lnTo>
                    <a:pt x="1178019" y="987631"/>
                  </a:lnTo>
                  <a:lnTo>
                    <a:pt x="1124680" y="994903"/>
                  </a:lnTo>
                  <a:lnTo>
                    <a:pt x="1070621" y="999922"/>
                  </a:lnTo>
                  <a:lnTo>
                    <a:pt x="1016186" y="1002725"/>
                  </a:lnTo>
                  <a:lnTo>
                    <a:pt x="961719" y="1003350"/>
                  </a:lnTo>
                  <a:lnTo>
                    <a:pt x="907565" y="1001834"/>
                  </a:lnTo>
                  <a:lnTo>
                    <a:pt x="854067" y="998214"/>
                  </a:lnTo>
                  <a:lnTo>
                    <a:pt x="801571" y="992529"/>
                  </a:lnTo>
                  <a:lnTo>
                    <a:pt x="750420" y="984815"/>
                  </a:lnTo>
                  <a:lnTo>
                    <a:pt x="700959" y="975109"/>
                  </a:lnTo>
                  <a:lnTo>
                    <a:pt x="653532" y="963450"/>
                  </a:lnTo>
                  <a:lnTo>
                    <a:pt x="608483" y="949874"/>
                  </a:lnTo>
                  <a:lnTo>
                    <a:pt x="566157" y="934419"/>
                  </a:lnTo>
                  <a:lnTo>
                    <a:pt x="526898" y="917122"/>
                  </a:lnTo>
                  <a:lnTo>
                    <a:pt x="491051" y="898021"/>
                  </a:lnTo>
                  <a:lnTo>
                    <a:pt x="458959" y="877152"/>
                  </a:lnTo>
                  <a:lnTo>
                    <a:pt x="454768" y="873977"/>
                  </a:lnTo>
                  <a:lnTo>
                    <a:pt x="452609" y="872453"/>
                  </a:lnTo>
                  <a:lnTo>
                    <a:pt x="391582" y="873172"/>
                  </a:lnTo>
                  <a:lnTo>
                    <a:pt x="332905" y="869306"/>
                  </a:lnTo>
                  <a:lnTo>
                    <a:pt x="277641" y="861216"/>
                  </a:lnTo>
                  <a:lnTo>
                    <a:pt x="226852" y="849267"/>
                  </a:lnTo>
                  <a:lnTo>
                    <a:pt x="181599" y="833819"/>
                  </a:lnTo>
                  <a:lnTo>
                    <a:pt x="142946" y="815238"/>
                  </a:lnTo>
                  <a:lnTo>
                    <a:pt x="89683" y="770120"/>
                  </a:lnTo>
                  <a:lnTo>
                    <a:pt x="76606" y="712463"/>
                  </a:lnTo>
                  <a:lnTo>
                    <a:pt x="91802" y="681652"/>
                  </a:lnTo>
                  <a:lnTo>
                    <a:pt x="121953" y="652960"/>
                  </a:lnTo>
                  <a:lnTo>
                    <a:pt x="166224" y="627470"/>
                  </a:lnTo>
                  <a:lnTo>
                    <a:pt x="111018" y="609930"/>
                  </a:lnTo>
                  <a:lnTo>
                    <a:pt x="66309" y="588612"/>
                  </a:lnTo>
                  <a:lnTo>
                    <a:pt x="32580" y="564324"/>
                  </a:lnTo>
                  <a:lnTo>
                    <a:pt x="0" y="510062"/>
                  </a:lnTo>
                  <a:lnTo>
                    <a:pt x="2115" y="481702"/>
                  </a:lnTo>
                  <a:lnTo>
                    <a:pt x="45574" y="426556"/>
                  </a:lnTo>
                  <a:lnTo>
                    <a:pt x="82861" y="404036"/>
                  </a:lnTo>
                  <a:lnTo>
                    <a:pt x="128553" y="385197"/>
                  </a:lnTo>
                  <a:lnTo>
                    <a:pt x="181244" y="370431"/>
                  </a:lnTo>
                  <a:lnTo>
                    <a:pt x="239525" y="360126"/>
                  </a:lnTo>
                  <a:lnTo>
                    <a:pt x="301987" y="354674"/>
                  </a:lnTo>
                  <a:lnTo>
                    <a:pt x="304781" y="351372"/>
                  </a:lnTo>
                  <a:close/>
                </a:path>
              </a:pathLst>
            </a:custGeom>
            <a:ln w="19050">
              <a:solidFill>
                <a:srgbClr val="292A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98663" y="2874772"/>
              <a:ext cx="137540" cy="13766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37220" y="3024505"/>
              <a:ext cx="196850" cy="1968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196839" y="3258185"/>
              <a:ext cx="3076575" cy="908050"/>
            </a:xfrm>
            <a:custGeom>
              <a:avLst/>
              <a:gdLst/>
              <a:ahLst/>
              <a:cxnLst/>
              <a:rect l="l" t="t" r="r" b="b"/>
              <a:pathLst>
                <a:path w="3076575" h="908050">
                  <a:moveTo>
                    <a:pt x="196596" y="588644"/>
                  </a:moveTo>
                  <a:lnTo>
                    <a:pt x="145303" y="588658"/>
                  </a:lnTo>
                  <a:lnTo>
                    <a:pt x="94869" y="585327"/>
                  </a:lnTo>
                  <a:lnTo>
                    <a:pt x="46148" y="578733"/>
                  </a:lnTo>
                  <a:lnTo>
                    <a:pt x="0" y="568959"/>
                  </a:lnTo>
                </a:path>
                <a:path w="3076575" h="908050">
                  <a:moveTo>
                    <a:pt x="370077" y="804037"/>
                  </a:moveTo>
                  <a:lnTo>
                    <a:pt x="349158" y="807273"/>
                  </a:lnTo>
                  <a:lnTo>
                    <a:pt x="327787" y="809926"/>
                  </a:lnTo>
                  <a:lnTo>
                    <a:pt x="306034" y="811984"/>
                  </a:lnTo>
                  <a:lnTo>
                    <a:pt x="283972" y="813434"/>
                  </a:lnTo>
                </a:path>
                <a:path w="3076575" h="908050">
                  <a:moveTo>
                    <a:pt x="1111250" y="907541"/>
                  </a:moveTo>
                  <a:lnTo>
                    <a:pt x="1096295" y="897260"/>
                  </a:lnTo>
                  <a:lnTo>
                    <a:pt x="1082675" y="886634"/>
                  </a:lnTo>
                  <a:lnTo>
                    <a:pt x="1070387" y="875698"/>
                  </a:lnTo>
                  <a:lnTo>
                    <a:pt x="1059434" y="864488"/>
                  </a:lnTo>
                </a:path>
                <a:path w="3076575" h="908050">
                  <a:moveTo>
                    <a:pt x="2069591" y="800353"/>
                  </a:moveTo>
                  <a:lnTo>
                    <a:pt x="2066591" y="812305"/>
                  </a:lnTo>
                  <a:lnTo>
                    <a:pt x="2062162" y="824150"/>
                  </a:lnTo>
                  <a:lnTo>
                    <a:pt x="2056304" y="835876"/>
                  </a:lnTo>
                  <a:lnTo>
                    <a:pt x="2049017" y="847470"/>
                  </a:lnTo>
                </a:path>
                <a:path w="3076575" h="908050">
                  <a:moveTo>
                    <a:pt x="2481199" y="509015"/>
                  </a:moveTo>
                  <a:lnTo>
                    <a:pt x="2544236" y="525165"/>
                  </a:lnTo>
                  <a:lnTo>
                    <a:pt x="2599507" y="545184"/>
                  </a:lnTo>
                  <a:lnTo>
                    <a:pt x="2646274" y="568558"/>
                  </a:lnTo>
                  <a:lnTo>
                    <a:pt x="2683799" y="594771"/>
                  </a:lnTo>
                  <a:lnTo>
                    <a:pt x="2711344" y="623308"/>
                  </a:lnTo>
                  <a:lnTo>
                    <a:pt x="2728173" y="653653"/>
                  </a:lnTo>
                  <a:lnTo>
                    <a:pt x="2733548" y="685291"/>
                  </a:lnTo>
                </a:path>
                <a:path w="3076575" h="908050">
                  <a:moveTo>
                    <a:pt x="3076320" y="321437"/>
                  </a:moveTo>
                  <a:lnTo>
                    <a:pt x="3055008" y="339935"/>
                  </a:lnTo>
                  <a:lnTo>
                    <a:pt x="3028981" y="357219"/>
                  </a:lnTo>
                  <a:lnTo>
                    <a:pt x="2998525" y="373122"/>
                  </a:lnTo>
                  <a:lnTo>
                    <a:pt x="2963926" y="387476"/>
                  </a:lnTo>
                </a:path>
                <a:path w="3076575" h="908050">
                  <a:moveTo>
                    <a:pt x="2806700" y="76200"/>
                  </a:moveTo>
                  <a:lnTo>
                    <a:pt x="2809507" y="83939"/>
                  </a:lnTo>
                  <a:lnTo>
                    <a:pt x="2811446" y="91725"/>
                  </a:lnTo>
                  <a:lnTo>
                    <a:pt x="2812504" y="99560"/>
                  </a:lnTo>
                  <a:lnTo>
                    <a:pt x="2812668" y="107441"/>
                  </a:lnTo>
                </a:path>
                <a:path w="3076575" h="908050">
                  <a:moveTo>
                    <a:pt x="2089150" y="39750"/>
                  </a:moveTo>
                  <a:lnTo>
                    <a:pt x="2100996" y="29182"/>
                  </a:lnTo>
                  <a:lnTo>
                    <a:pt x="2114581" y="19018"/>
                  </a:lnTo>
                  <a:lnTo>
                    <a:pt x="2129833" y="9282"/>
                  </a:lnTo>
                  <a:lnTo>
                    <a:pt x="2146681" y="0"/>
                  </a:lnTo>
                </a:path>
                <a:path w="3076575" h="908050">
                  <a:moveTo>
                    <a:pt x="1550796" y="58800"/>
                  </a:moveTo>
                  <a:lnTo>
                    <a:pt x="1555892" y="49924"/>
                  </a:lnTo>
                  <a:lnTo>
                    <a:pt x="1562226" y="41227"/>
                  </a:lnTo>
                  <a:lnTo>
                    <a:pt x="1569799" y="32744"/>
                  </a:lnTo>
                  <a:lnTo>
                    <a:pt x="1578610" y="24511"/>
                  </a:lnTo>
                </a:path>
                <a:path w="3076575" h="908050">
                  <a:moveTo>
                    <a:pt x="918972" y="70485"/>
                  </a:moveTo>
                  <a:lnTo>
                    <a:pt x="945890" y="77791"/>
                  </a:lnTo>
                  <a:lnTo>
                    <a:pt x="971724" y="85788"/>
                  </a:lnTo>
                  <a:lnTo>
                    <a:pt x="996392" y="94452"/>
                  </a:lnTo>
                  <a:lnTo>
                    <a:pt x="1019810" y="103759"/>
                  </a:lnTo>
                </a:path>
                <a:path w="3076575" h="908050">
                  <a:moveTo>
                    <a:pt x="152654" y="332104"/>
                  </a:moveTo>
                  <a:lnTo>
                    <a:pt x="147056" y="323484"/>
                  </a:lnTo>
                  <a:lnTo>
                    <a:pt x="142255" y="314769"/>
                  </a:lnTo>
                  <a:lnTo>
                    <a:pt x="138241" y="305958"/>
                  </a:lnTo>
                  <a:lnTo>
                    <a:pt x="135000" y="297052"/>
                  </a:lnTo>
                </a:path>
              </a:pathLst>
            </a:custGeom>
            <a:ln w="19050">
              <a:solidFill>
                <a:srgbClr val="292A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56275" y="3277946"/>
            <a:ext cx="16668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50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D0D0D"/>
                </a:solidFill>
                <a:latin typeface="Georgia"/>
                <a:cs typeface="Georgia"/>
              </a:rPr>
              <a:t>Response</a:t>
            </a:r>
            <a:r>
              <a:rPr sz="1800" spc="-40" dirty="0">
                <a:solidFill>
                  <a:srgbClr val="0D0D0D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Georgia"/>
                <a:cs typeface="Georgia"/>
              </a:rPr>
              <a:t>of </a:t>
            </a:r>
            <a:r>
              <a:rPr sz="1800" dirty="0">
                <a:solidFill>
                  <a:srgbClr val="0D0D0D"/>
                </a:solidFill>
                <a:latin typeface="Georgia"/>
                <a:cs typeface="Georgia"/>
              </a:rPr>
              <a:t>software</a:t>
            </a:r>
            <a:r>
              <a:rPr sz="1800" spc="-105" dirty="0">
                <a:solidFill>
                  <a:srgbClr val="0D0D0D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Georgia"/>
                <a:cs typeface="Georgia"/>
              </a:rPr>
              <a:t>against </a:t>
            </a:r>
            <a:r>
              <a:rPr sz="1800" dirty="0">
                <a:solidFill>
                  <a:srgbClr val="0D0D0D"/>
                </a:solidFill>
                <a:latin typeface="Georgia"/>
                <a:cs typeface="Georgia"/>
              </a:rPr>
              <a:t>the</a:t>
            </a:r>
            <a:r>
              <a:rPr sz="1800" spc="-55" dirty="0">
                <a:solidFill>
                  <a:srgbClr val="0D0D0D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0D0D0D"/>
                </a:solidFill>
                <a:latin typeface="Georgia"/>
                <a:cs typeface="Georgia"/>
              </a:rPr>
              <a:t>input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507314"/>
            <a:ext cx="3587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7372" y="2159000"/>
            <a:ext cx="8347075" cy="12566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67335" marR="5080" indent="-255270" algn="just">
              <a:lnSpc>
                <a:spcPct val="99900"/>
              </a:lnSpc>
              <a:spcBef>
                <a:spcPts val="114"/>
              </a:spcBef>
              <a:buClr>
                <a:srgbClr val="9F4DA2"/>
              </a:buClr>
              <a:buFont typeface="Wingdings"/>
              <a:buChar char=""/>
              <a:tabLst>
                <a:tab pos="268605" algn="l"/>
              </a:tabLst>
            </a:pPr>
            <a:r>
              <a:rPr sz="2000" dirty="0">
                <a:latin typeface="Georgia"/>
                <a:cs typeface="Georgia"/>
              </a:rPr>
              <a:t>A</a:t>
            </a:r>
            <a:r>
              <a:rPr sz="2000" spc="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condition</a:t>
            </a:r>
            <a:r>
              <a:rPr sz="2000" spc="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or</a:t>
            </a:r>
            <a:r>
              <a:rPr sz="2000" spc="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capability</a:t>
            </a:r>
            <a:r>
              <a:rPr sz="2000" spc="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that</a:t>
            </a:r>
            <a:r>
              <a:rPr sz="2000" spc="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must</a:t>
            </a:r>
            <a:r>
              <a:rPr sz="2000" spc="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be</a:t>
            </a:r>
            <a:r>
              <a:rPr sz="2000" spc="2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met</a:t>
            </a:r>
            <a:r>
              <a:rPr sz="2000" spc="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or</a:t>
            </a:r>
            <a:r>
              <a:rPr sz="2000" spc="2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possessed</a:t>
            </a:r>
            <a:r>
              <a:rPr sz="2000" spc="1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by</a:t>
            </a:r>
            <a:r>
              <a:rPr sz="2000" spc="3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2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system...to 	</a:t>
            </a:r>
            <a:r>
              <a:rPr sz="2000" dirty="0">
                <a:latin typeface="Georgia"/>
                <a:cs typeface="Georgia"/>
              </a:rPr>
              <a:t>satisfy</a:t>
            </a:r>
            <a:r>
              <a:rPr sz="2000" spc="39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</a:t>
            </a:r>
            <a:r>
              <a:rPr sz="2000" spc="37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contract,</a:t>
            </a:r>
            <a:r>
              <a:rPr sz="2000" spc="38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standard,</a:t>
            </a:r>
            <a:r>
              <a:rPr sz="2000" spc="37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specification,</a:t>
            </a:r>
            <a:r>
              <a:rPr sz="2000" spc="38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or</a:t>
            </a:r>
            <a:r>
              <a:rPr sz="2000" spc="38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other</a:t>
            </a:r>
            <a:r>
              <a:rPr sz="2000" spc="38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formally</a:t>
            </a:r>
            <a:r>
              <a:rPr sz="2000" spc="40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imposed 	document</a:t>
            </a:r>
            <a:endParaRPr sz="2000">
              <a:latin typeface="Georgia"/>
              <a:cs typeface="Georgia"/>
            </a:endParaRPr>
          </a:p>
          <a:p>
            <a:pPr marL="314325">
              <a:lnSpc>
                <a:spcPct val="100000"/>
              </a:lnSpc>
              <a:spcBef>
                <a:spcPts val="325"/>
              </a:spcBef>
              <a:tabLst>
                <a:tab pos="561340" algn="l"/>
              </a:tabLst>
            </a:pPr>
            <a:r>
              <a:rPr sz="1800" spc="-50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18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1800" dirty="0">
                <a:latin typeface="Georgia"/>
                <a:cs typeface="Georgia"/>
              </a:rPr>
              <a:t>IEEE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Std</a:t>
            </a:r>
            <a:r>
              <a:rPr sz="1800" spc="-20" dirty="0">
                <a:latin typeface="Georgia"/>
                <a:cs typeface="Georgia"/>
              </a:rPr>
              <a:t> </a:t>
            </a:r>
            <a:r>
              <a:rPr sz="1800" spc="-25" dirty="0">
                <a:latin typeface="Georgia"/>
                <a:cs typeface="Georgia"/>
              </a:rPr>
              <a:t>729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2857220"/>
            <a:ext cx="4876800" cy="366725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523871" y="1211815"/>
            <a:ext cx="2001520" cy="628650"/>
            <a:chOff x="523871" y="1211815"/>
            <a:chExt cx="2001520" cy="628650"/>
          </a:xfrm>
        </p:grpSpPr>
        <p:sp>
          <p:nvSpPr>
            <p:cNvPr id="7" name="object 7"/>
            <p:cNvSpPr/>
            <p:nvPr/>
          </p:nvSpPr>
          <p:spPr>
            <a:xfrm>
              <a:off x="533396" y="1221340"/>
              <a:ext cx="1982470" cy="609600"/>
            </a:xfrm>
            <a:custGeom>
              <a:avLst/>
              <a:gdLst/>
              <a:ahLst/>
              <a:cxnLst/>
              <a:rect l="l" t="t" r="r" b="b"/>
              <a:pathLst>
                <a:path w="1982470" h="609600">
                  <a:moveTo>
                    <a:pt x="1268903" y="551960"/>
                  </a:moveTo>
                  <a:lnTo>
                    <a:pt x="755780" y="551960"/>
                  </a:lnTo>
                  <a:lnTo>
                    <a:pt x="789173" y="569439"/>
                  </a:lnTo>
                  <a:lnTo>
                    <a:pt x="828900" y="584155"/>
                  </a:lnTo>
                  <a:lnTo>
                    <a:pt x="874009" y="595823"/>
                  </a:lnTo>
                  <a:lnTo>
                    <a:pt x="923547" y="604157"/>
                  </a:lnTo>
                  <a:lnTo>
                    <a:pt x="985106" y="609191"/>
                  </a:lnTo>
                  <a:lnTo>
                    <a:pt x="1045969" y="608997"/>
                  </a:lnTo>
                  <a:lnTo>
                    <a:pt x="1104585" y="603918"/>
                  </a:lnTo>
                  <a:lnTo>
                    <a:pt x="1159402" y="594299"/>
                  </a:lnTo>
                  <a:lnTo>
                    <a:pt x="1208867" y="580482"/>
                  </a:lnTo>
                  <a:lnTo>
                    <a:pt x="1251427" y="562813"/>
                  </a:lnTo>
                  <a:lnTo>
                    <a:pt x="1268903" y="551960"/>
                  </a:lnTo>
                  <a:close/>
                </a:path>
                <a:path w="1982470" h="609600">
                  <a:moveTo>
                    <a:pt x="495539" y="53495"/>
                  </a:moveTo>
                  <a:lnTo>
                    <a:pt x="443995" y="54628"/>
                  </a:lnTo>
                  <a:lnTo>
                    <a:pt x="374734" y="62032"/>
                  </a:lnTo>
                  <a:lnTo>
                    <a:pt x="313282" y="75385"/>
                  </a:lnTo>
                  <a:lnTo>
                    <a:pt x="261230" y="93810"/>
                  </a:lnTo>
                  <a:lnTo>
                    <a:pt x="220170" y="116430"/>
                  </a:lnTo>
                  <a:lnTo>
                    <a:pt x="191694" y="142366"/>
                  </a:lnTo>
                  <a:lnTo>
                    <a:pt x="177392" y="170741"/>
                  </a:lnTo>
                  <a:lnTo>
                    <a:pt x="178857" y="200678"/>
                  </a:lnTo>
                  <a:lnTo>
                    <a:pt x="177193" y="202583"/>
                  </a:lnTo>
                  <a:lnTo>
                    <a:pt x="131387" y="206868"/>
                  </a:lnTo>
                  <a:lnTo>
                    <a:pt x="89784" y="215426"/>
                  </a:lnTo>
                  <a:lnTo>
                    <a:pt x="25682" y="243604"/>
                  </a:lnTo>
                  <a:lnTo>
                    <a:pt x="0" y="275116"/>
                  </a:lnTo>
                  <a:lnTo>
                    <a:pt x="4842" y="307200"/>
                  </a:lnTo>
                  <a:lnTo>
                    <a:pt x="37916" y="336187"/>
                  </a:lnTo>
                  <a:lnTo>
                    <a:pt x="96929" y="358412"/>
                  </a:lnTo>
                  <a:lnTo>
                    <a:pt x="70778" y="372958"/>
                  </a:lnTo>
                  <a:lnTo>
                    <a:pt x="52973" y="389337"/>
                  </a:lnTo>
                  <a:lnTo>
                    <a:pt x="43996" y="406954"/>
                  </a:lnTo>
                  <a:lnTo>
                    <a:pt x="44145" y="415197"/>
                  </a:lnTo>
                  <a:lnTo>
                    <a:pt x="44244" y="420652"/>
                  </a:lnTo>
                  <a:lnTo>
                    <a:pt x="44326" y="425214"/>
                  </a:lnTo>
                  <a:lnTo>
                    <a:pt x="96404" y="472251"/>
                  </a:lnTo>
                  <a:lnTo>
                    <a:pt x="144438" y="488088"/>
                  </a:lnTo>
                  <a:lnTo>
                    <a:pt x="202262" y="497196"/>
                  </a:lnTo>
                  <a:lnTo>
                    <a:pt x="266220" y="498366"/>
                  </a:lnTo>
                  <a:lnTo>
                    <a:pt x="269967" y="501033"/>
                  </a:lnTo>
                  <a:lnTo>
                    <a:pt x="303525" y="520729"/>
                  </a:lnTo>
                  <a:lnTo>
                    <a:pt x="343089" y="537456"/>
                  </a:lnTo>
                  <a:lnTo>
                    <a:pt x="387660" y="551110"/>
                  </a:lnTo>
                  <a:lnTo>
                    <a:pt x="436237" y="561589"/>
                  </a:lnTo>
                  <a:lnTo>
                    <a:pt x="487818" y="568788"/>
                  </a:lnTo>
                  <a:lnTo>
                    <a:pt x="541404" y="572603"/>
                  </a:lnTo>
                  <a:lnTo>
                    <a:pt x="595994" y="572932"/>
                  </a:lnTo>
                  <a:lnTo>
                    <a:pt x="650587" y="569670"/>
                  </a:lnTo>
                  <a:lnTo>
                    <a:pt x="703422" y="562813"/>
                  </a:lnTo>
                  <a:lnTo>
                    <a:pt x="703709" y="562813"/>
                  </a:lnTo>
                  <a:lnTo>
                    <a:pt x="755780" y="551960"/>
                  </a:lnTo>
                  <a:lnTo>
                    <a:pt x="1268903" y="551960"/>
                  </a:lnTo>
                  <a:lnTo>
                    <a:pt x="1285532" y="541634"/>
                  </a:lnTo>
                  <a:lnTo>
                    <a:pt x="1309627" y="517289"/>
                  </a:lnTo>
                  <a:lnTo>
                    <a:pt x="1587876" y="517289"/>
                  </a:lnTo>
                  <a:lnTo>
                    <a:pt x="1614368" y="510371"/>
                  </a:lnTo>
                  <a:lnTo>
                    <a:pt x="1655789" y="493321"/>
                  </a:lnTo>
                  <a:lnTo>
                    <a:pt x="1687505" y="472815"/>
                  </a:lnTo>
                  <a:lnTo>
                    <a:pt x="1707908" y="449512"/>
                  </a:lnTo>
                  <a:lnTo>
                    <a:pt x="1715392" y="424071"/>
                  </a:lnTo>
                  <a:lnTo>
                    <a:pt x="1754470" y="420652"/>
                  </a:lnTo>
                  <a:lnTo>
                    <a:pt x="1827531" y="407766"/>
                  </a:lnTo>
                  <a:lnTo>
                    <a:pt x="1912198" y="377545"/>
                  </a:lnTo>
                  <a:lnTo>
                    <a:pt x="1949832" y="353109"/>
                  </a:lnTo>
                  <a:lnTo>
                    <a:pt x="1982085" y="297955"/>
                  </a:lnTo>
                  <a:lnTo>
                    <a:pt x="1976024" y="269440"/>
                  </a:lnTo>
                  <a:lnTo>
                    <a:pt x="1954719" y="241770"/>
                  </a:lnTo>
                  <a:lnTo>
                    <a:pt x="1917830" y="216045"/>
                  </a:lnTo>
                  <a:lnTo>
                    <a:pt x="1922275" y="211600"/>
                  </a:lnTo>
                  <a:lnTo>
                    <a:pt x="1926085" y="207155"/>
                  </a:lnTo>
                  <a:lnTo>
                    <a:pt x="1929006" y="202583"/>
                  </a:lnTo>
                  <a:lnTo>
                    <a:pt x="1937683" y="175277"/>
                  </a:lnTo>
                  <a:lnTo>
                    <a:pt x="1929251" y="148895"/>
                  </a:lnTo>
                  <a:lnTo>
                    <a:pt x="1905352" y="124637"/>
                  </a:lnTo>
                  <a:lnTo>
                    <a:pt x="1867632" y="103702"/>
                  </a:lnTo>
                  <a:lnTo>
                    <a:pt x="1817734" y="87290"/>
                  </a:lnTo>
                  <a:lnTo>
                    <a:pt x="1757302" y="76599"/>
                  </a:lnTo>
                  <a:lnTo>
                    <a:pt x="1753859" y="71265"/>
                  </a:lnTo>
                  <a:lnTo>
                    <a:pt x="642293" y="71265"/>
                  </a:lnTo>
                  <a:lnTo>
                    <a:pt x="595735" y="61897"/>
                  </a:lnTo>
                  <a:lnTo>
                    <a:pt x="546468" y="55946"/>
                  </a:lnTo>
                  <a:lnTo>
                    <a:pt x="495539" y="53495"/>
                  </a:lnTo>
                  <a:close/>
                </a:path>
                <a:path w="1982470" h="609600">
                  <a:moveTo>
                    <a:pt x="1587876" y="517289"/>
                  </a:moveTo>
                  <a:lnTo>
                    <a:pt x="1309627" y="517289"/>
                  </a:lnTo>
                  <a:lnTo>
                    <a:pt x="1341881" y="524518"/>
                  </a:lnTo>
                  <a:lnTo>
                    <a:pt x="1376016" y="529783"/>
                  </a:lnTo>
                  <a:lnTo>
                    <a:pt x="1411533" y="533023"/>
                  </a:lnTo>
                  <a:lnTo>
                    <a:pt x="1447930" y="534180"/>
                  </a:lnTo>
                  <a:lnTo>
                    <a:pt x="1508832" y="531460"/>
                  </a:lnTo>
                  <a:lnTo>
                    <a:pt x="1564847" y="523303"/>
                  </a:lnTo>
                  <a:lnTo>
                    <a:pt x="1587876" y="517289"/>
                  </a:lnTo>
                  <a:close/>
                </a:path>
                <a:path w="1982470" h="609600">
                  <a:moveTo>
                    <a:pt x="866375" y="16896"/>
                  </a:moveTo>
                  <a:lnTo>
                    <a:pt x="812717" y="18644"/>
                  </a:lnTo>
                  <a:lnTo>
                    <a:pt x="761496" y="25205"/>
                  </a:lnTo>
                  <a:lnTo>
                    <a:pt x="714697" y="36330"/>
                  </a:lnTo>
                  <a:lnTo>
                    <a:pt x="674302" y="51767"/>
                  </a:lnTo>
                  <a:lnTo>
                    <a:pt x="642293" y="71265"/>
                  </a:lnTo>
                  <a:lnTo>
                    <a:pt x="1753859" y="71265"/>
                  </a:lnTo>
                  <a:lnTo>
                    <a:pt x="1747251" y="61030"/>
                  </a:lnTo>
                  <a:lnTo>
                    <a:pt x="1731092" y="46532"/>
                  </a:lnTo>
                  <a:lnTo>
                    <a:pt x="1730616" y="46246"/>
                  </a:lnTo>
                  <a:lnTo>
                    <a:pt x="1029846" y="46246"/>
                  </a:lnTo>
                  <a:lnTo>
                    <a:pt x="1016833" y="41277"/>
                  </a:lnTo>
                  <a:lnTo>
                    <a:pt x="1002986" y="36690"/>
                  </a:lnTo>
                  <a:lnTo>
                    <a:pt x="988377" y="32530"/>
                  </a:lnTo>
                  <a:lnTo>
                    <a:pt x="973077" y="28847"/>
                  </a:lnTo>
                  <a:lnTo>
                    <a:pt x="920490" y="20214"/>
                  </a:lnTo>
                  <a:lnTo>
                    <a:pt x="866375" y="16896"/>
                  </a:lnTo>
                  <a:close/>
                </a:path>
                <a:path w="1982470" h="609600">
                  <a:moveTo>
                    <a:pt x="1195727" y="0"/>
                  </a:moveTo>
                  <a:lnTo>
                    <a:pt x="1145511" y="4162"/>
                  </a:lnTo>
                  <a:lnTo>
                    <a:pt x="1099423" y="13499"/>
                  </a:lnTo>
                  <a:lnTo>
                    <a:pt x="1060017" y="27648"/>
                  </a:lnTo>
                  <a:lnTo>
                    <a:pt x="1029846" y="46246"/>
                  </a:lnTo>
                  <a:lnTo>
                    <a:pt x="1730616" y="46246"/>
                  </a:lnTo>
                  <a:lnTo>
                    <a:pt x="1709242" y="33415"/>
                  </a:lnTo>
                  <a:lnTo>
                    <a:pt x="1708046" y="32911"/>
                  </a:lnTo>
                  <a:lnTo>
                    <a:pt x="1368174" y="32911"/>
                  </a:lnTo>
                  <a:lnTo>
                    <a:pt x="1353295" y="25585"/>
                  </a:lnTo>
                  <a:lnTo>
                    <a:pt x="1336583" y="19068"/>
                  </a:lnTo>
                  <a:lnTo>
                    <a:pt x="1318497" y="13499"/>
                  </a:lnTo>
                  <a:lnTo>
                    <a:pt x="1298324" y="8654"/>
                  </a:lnTo>
                  <a:lnTo>
                    <a:pt x="1247516" y="1376"/>
                  </a:lnTo>
                  <a:lnTo>
                    <a:pt x="1195727" y="0"/>
                  </a:lnTo>
                  <a:close/>
                </a:path>
                <a:path w="1982470" h="609600">
                  <a:moveTo>
                    <a:pt x="1519764" y="304"/>
                  </a:moveTo>
                  <a:lnTo>
                    <a:pt x="1464045" y="5272"/>
                  </a:lnTo>
                  <a:lnTo>
                    <a:pt x="1412516" y="16174"/>
                  </a:lnTo>
                  <a:lnTo>
                    <a:pt x="1368174" y="32911"/>
                  </a:lnTo>
                  <a:lnTo>
                    <a:pt x="1708046" y="32911"/>
                  </a:lnTo>
                  <a:lnTo>
                    <a:pt x="1682118" y="21989"/>
                  </a:lnTo>
                  <a:lnTo>
                    <a:pt x="1632135" y="8654"/>
                  </a:lnTo>
                  <a:lnTo>
                    <a:pt x="1632490" y="8654"/>
                  </a:lnTo>
                  <a:lnTo>
                    <a:pt x="1576738" y="1376"/>
                  </a:lnTo>
                  <a:lnTo>
                    <a:pt x="1577089" y="1376"/>
                  </a:lnTo>
                  <a:lnTo>
                    <a:pt x="1519764" y="304"/>
                  </a:lnTo>
                  <a:close/>
                </a:path>
              </a:pathLst>
            </a:custGeom>
            <a:solidFill>
              <a:srgbClr val="B7B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3396" y="1221340"/>
              <a:ext cx="1982470" cy="609600"/>
            </a:xfrm>
            <a:custGeom>
              <a:avLst/>
              <a:gdLst/>
              <a:ahLst/>
              <a:cxnLst/>
              <a:rect l="l" t="t" r="r" b="b"/>
              <a:pathLst>
                <a:path w="1982470" h="609600">
                  <a:moveTo>
                    <a:pt x="178857" y="200678"/>
                  </a:moveTo>
                  <a:lnTo>
                    <a:pt x="191694" y="142366"/>
                  </a:lnTo>
                  <a:lnTo>
                    <a:pt x="220170" y="116430"/>
                  </a:lnTo>
                  <a:lnTo>
                    <a:pt x="261230" y="93810"/>
                  </a:lnTo>
                  <a:lnTo>
                    <a:pt x="313282" y="75385"/>
                  </a:lnTo>
                  <a:lnTo>
                    <a:pt x="374734" y="62032"/>
                  </a:lnTo>
                  <a:lnTo>
                    <a:pt x="443995" y="54628"/>
                  </a:lnTo>
                  <a:lnTo>
                    <a:pt x="495539" y="53495"/>
                  </a:lnTo>
                  <a:lnTo>
                    <a:pt x="546468" y="55946"/>
                  </a:lnTo>
                  <a:lnTo>
                    <a:pt x="595735" y="61897"/>
                  </a:lnTo>
                  <a:lnTo>
                    <a:pt x="642293" y="71265"/>
                  </a:lnTo>
                  <a:lnTo>
                    <a:pt x="714697" y="36330"/>
                  </a:lnTo>
                  <a:lnTo>
                    <a:pt x="761496" y="25205"/>
                  </a:lnTo>
                  <a:lnTo>
                    <a:pt x="812717" y="18644"/>
                  </a:lnTo>
                  <a:lnTo>
                    <a:pt x="866375" y="16896"/>
                  </a:lnTo>
                  <a:lnTo>
                    <a:pt x="920490" y="20214"/>
                  </a:lnTo>
                  <a:lnTo>
                    <a:pt x="973077" y="28847"/>
                  </a:lnTo>
                  <a:lnTo>
                    <a:pt x="1016833" y="41277"/>
                  </a:lnTo>
                  <a:lnTo>
                    <a:pt x="1029846" y="46246"/>
                  </a:lnTo>
                  <a:lnTo>
                    <a:pt x="1060017" y="27648"/>
                  </a:lnTo>
                  <a:lnTo>
                    <a:pt x="1099423" y="13499"/>
                  </a:lnTo>
                  <a:lnTo>
                    <a:pt x="1145511" y="4162"/>
                  </a:lnTo>
                  <a:lnTo>
                    <a:pt x="1195727" y="0"/>
                  </a:lnTo>
                  <a:lnTo>
                    <a:pt x="1247516" y="1376"/>
                  </a:lnTo>
                  <a:lnTo>
                    <a:pt x="1298324" y="8654"/>
                  </a:lnTo>
                  <a:lnTo>
                    <a:pt x="1336583" y="19068"/>
                  </a:lnTo>
                  <a:lnTo>
                    <a:pt x="1368174" y="32911"/>
                  </a:lnTo>
                  <a:lnTo>
                    <a:pt x="1412516" y="16174"/>
                  </a:lnTo>
                  <a:lnTo>
                    <a:pt x="1464045" y="5272"/>
                  </a:lnTo>
                  <a:lnTo>
                    <a:pt x="1519764" y="304"/>
                  </a:lnTo>
                  <a:lnTo>
                    <a:pt x="1576680" y="1368"/>
                  </a:lnTo>
                  <a:lnTo>
                    <a:pt x="1631796" y="8564"/>
                  </a:lnTo>
                  <a:lnTo>
                    <a:pt x="1682118" y="21989"/>
                  </a:lnTo>
                  <a:lnTo>
                    <a:pt x="1731092" y="46532"/>
                  </a:lnTo>
                  <a:lnTo>
                    <a:pt x="1757302" y="76599"/>
                  </a:lnTo>
                  <a:lnTo>
                    <a:pt x="1817734" y="87290"/>
                  </a:lnTo>
                  <a:lnTo>
                    <a:pt x="1867632" y="103702"/>
                  </a:lnTo>
                  <a:lnTo>
                    <a:pt x="1905352" y="124637"/>
                  </a:lnTo>
                  <a:lnTo>
                    <a:pt x="1937683" y="175277"/>
                  </a:lnTo>
                  <a:lnTo>
                    <a:pt x="1929006" y="202583"/>
                  </a:lnTo>
                  <a:lnTo>
                    <a:pt x="1926085" y="207155"/>
                  </a:lnTo>
                  <a:lnTo>
                    <a:pt x="1922275" y="211600"/>
                  </a:lnTo>
                  <a:lnTo>
                    <a:pt x="1917830" y="216045"/>
                  </a:lnTo>
                  <a:lnTo>
                    <a:pt x="1954719" y="241770"/>
                  </a:lnTo>
                  <a:lnTo>
                    <a:pt x="1976024" y="269440"/>
                  </a:lnTo>
                  <a:lnTo>
                    <a:pt x="1982085" y="297955"/>
                  </a:lnTo>
                  <a:lnTo>
                    <a:pt x="1973241" y="326212"/>
                  </a:lnTo>
                  <a:lnTo>
                    <a:pt x="1912198" y="377545"/>
                  </a:lnTo>
                  <a:lnTo>
                    <a:pt x="1860680" y="398417"/>
                  </a:lnTo>
                  <a:lnTo>
                    <a:pt x="1791989" y="415197"/>
                  </a:lnTo>
                  <a:lnTo>
                    <a:pt x="1715392" y="424071"/>
                  </a:lnTo>
                  <a:lnTo>
                    <a:pt x="1687505" y="472815"/>
                  </a:lnTo>
                  <a:lnTo>
                    <a:pt x="1614368" y="510371"/>
                  </a:lnTo>
                  <a:lnTo>
                    <a:pt x="1564847" y="523303"/>
                  </a:lnTo>
                  <a:lnTo>
                    <a:pt x="1508832" y="531460"/>
                  </a:lnTo>
                  <a:lnTo>
                    <a:pt x="1447930" y="534180"/>
                  </a:lnTo>
                  <a:lnTo>
                    <a:pt x="1411533" y="533023"/>
                  </a:lnTo>
                  <a:lnTo>
                    <a:pt x="1376016" y="529783"/>
                  </a:lnTo>
                  <a:lnTo>
                    <a:pt x="1341881" y="524518"/>
                  </a:lnTo>
                  <a:lnTo>
                    <a:pt x="1309627" y="517289"/>
                  </a:lnTo>
                  <a:lnTo>
                    <a:pt x="1251427" y="562813"/>
                  </a:lnTo>
                  <a:lnTo>
                    <a:pt x="1208867" y="580482"/>
                  </a:lnTo>
                  <a:lnTo>
                    <a:pt x="1159402" y="594299"/>
                  </a:lnTo>
                  <a:lnTo>
                    <a:pt x="1104585" y="603918"/>
                  </a:lnTo>
                  <a:lnTo>
                    <a:pt x="1045969" y="608997"/>
                  </a:lnTo>
                  <a:lnTo>
                    <a:pt x="985106" y="609191"/>
                  </a:lnTo>
                  <a:lnTo>
                    <a:pt x="923547" y="604157"/>
                  </a:lnTo>
                  <a:lnTo>
                    <a:pt x="874009" y="595823"/>
                  </a:lnTo>
                  <a:lnTo>
                    <a:pt x="828900" y="584155"/>
                  </a:lnTo>
                  <a:lnTo>
                    <a:pt x="789173" y="569439"/>
                  </a:lnTo>
                  <a:lnTo>
                    <a:pt x="755780" y="551960"/>
                  </a:lnTo>
                  <a:lnTo>
                    <a:pt x="704182" y="562714"/>
                  </a:lnTo>
                  <a:lnTo>
                    <a:pt x="650587" y="569670"/>
                  </a:lnTo>
                  <a:lnTo>
                    <a:pt x="595994" y="572932"/>
                  </a:lnTo>
                  <a:lnTo>
                    <a:pt x="541404" y="572603"/>
                  </a:lnTo>
                  <a:lnTo>
                    <a:pt x="487818" y="568788"/>
                  </a:lnTo>
                  <a:lnTo>
                    <a:pt x="436237" y="561589"/>
                  </a:lnTo>
                  <a:lnTo>
                    <a:pt x="387660" y="551110"/>
                  </a:lnTo>
                  <a:lnTo>
                    <a:pt x="343089" y="537456"/>
                  </a:lnTo>
                  <a:lnTo>
                    <a:pt x="303525" y="520729"/>
                  </a:lnTo>
                  <a:lnTo>
                    <a:pt x="269967" y="501033"/>
                  </a:lnTo>
                  <a:lnTo>
                    <a:pt x="266220" y="498366"/>
                  </a:lnTo>
                  <a:lnTo>
                    <a:pt x="202262" y="497196"/>
                  </a:lnTo>
                  <a:lnTo>
                    <a:pt x="144438" y="488088"/>
                  </a:lnTo>
                  <a:lnTo>
                    <a:pt x="96404" y="472251"/>
                  </a:lnTo>
                  <a:lnTo>
                    <a:pt x="61814" y="450891"/>
                  </a:lnTo>
                  <a:lnTo>
                    <a:pt x="43996" y="406954"/>
                  </a:lnTo>
                  <a:lnTo>
                    <a:pt x="52973" y="389337"/>
                  </a:lnTo>
                  <a:lnTo>
                    <a:pt x="70778" y="372958"/>
                  </a:lnTo>
                  <a:lnTo>
                    <a:pt x="96929" y="358412"/>
                  </a:lnTo>
                  <a:lnTo>
                    <a:pt x="37916" y="336187"/>
                  </a:lnTo>
                  <a:lnTo>
                    <a:pt x="4842" y="307200"/>
                  </a:lnTo>
                  <a:lnTo>
                    <a:pt x="0" y="275116"/>
                  </a:lnTo>
                  <a:lnTo>
                    <a:pt x="25682" y="243604"/>
                  </a:lnTo>
                  <a:lnTo>
                    <a:pt x="54008" y="227819"/>
                  </a:lnTo>
                  <a:lnTo>
                    <a:pt x="89784" y="215426"/>
                  </a:lnTo>
                  <a:lnTo>
                    <a:pt x="131387" y="206868"/>
                  </a:lnTo>
                  <a:lnTo>
                    <a:pt x="177193" y="202583"/>
                  </a:lnTo>
                  <a:lnTo>
                    <a:pt x="178857" y="200678"/>
                  </a:lnTo>
                  <a:close/>
                </a:path>
                <a:path w="1982470" h="609600">
                  <a:moveTo>
                    <a:pt x="215230" y="367302"/>
                  </a:moveTo>
                  <a:lnTo>
                    <a:pt x="184911" y="367286"/>
                  </a:lnTo>
                  <a:lnTo>
                    <a:pt x="155103" y="365366"/>
                  </a:lnTo>
                  <a:lnTo>
                    <a:pt x="126317" y="361587"/>
                  </a:lnTo>
                  <a:lnTo>
                    <a:pt x="99063" y="355999"/>
                  </a:lnTo>
                </a:path>
                <a:path w="1982470" h="609600">
                  <a:moveTo>
                    <a:pt x="317732" y="490365"/>
                  </a:moveTo>
                  <a:lnTo>
                    <a:pt x="305361" y="492199"/>
                  </a:lnTo>
                  <a:lnTo>
                    <a:pt x="292738" y="493699"/>
                  </a:lnTo>
                  <a:lnTo>
                    <a:pt x="279906" y="494866"/>
                  </a:lnTo>
                  <a:lnTo>
                    <a:pt x="266906" y="495699"/>
                  </a:lnTo>
                </a:path>
                <a:path w="1982470" h="609600">
                  <a:moveTo>
                    <a:pt x="755653" y="549420"/>
                  </a:moveTo>
                  <a:lnTo>
                    <a:pt x="746871" y="543590"/>
                  </a:lnTo>
                  <a:lnTo>
                    <a:pt x="738829" y="537546"/>
                  </a:lnTo>
                  <a:lnTo>
                    <a:pt x="731554" y="531311"/>
                  </a:lnTo>
                  <a:lnTo>
                    <a:pt x="725071" y="524909"/>
                  </a:lnTo>
                </a:path>
                <a:path w="1982470" h="609600">
                  <a:moveTo>
                    <a:pt x="1322073" y="488206"/>
                  </a:moveTo>
                  <a:lnTo>
                    <a:pt x="1320291" y="495039"/>
                  </a:lnTo>
                  <a:lnTo>
                    <a:pt x="1317628" y="501811"/>
                  </a:lnTo>
                  <a:lnTo>
                    <a:pt x="1314108" y="508512"/>
                  </a:lnTo>
                  <a:lnTo>
                    <a:pt x="1309754" y="515130"/>
                  </a:lnTo>
                </a:path>
                <a:path w="1982470" h="609600">
                  <a:moveTo>
                    <a:pt x="1565151" y="321709"/>
                  </a:moveTo>
                  <a:lnTo>
                    <a:pt x="1627363" y="339356"/>
                  </a:lnTo>
                  <a:lnTo>
                    <a:pt x="1674514" y="363064"/>
                  </a:lnTo>
                  <a:lnTo>
                    <a:pt x="1704258" y="391272"/>
                  </a:lnTo>
                  <a:lnTo>
                    <a:pt x="1714249" y="422420"/>
                  </a:lnTo>
                </a:path>
                <a:path w="1982470" h="609600">
                  <a:moveTo>
                    <a:pt x="1916941" y="214521"/>
                  </a:moveTo>
                  <a:lnTo>
                    <a:pt x="1904348" y="225130"/>
                  </a:lnTo>
                  <a:lnTo>
                    <a:pt x="1888969" y="235000"/>
                  </a:lnTo>
                  <a:lnTo>
                    <a:pt x="1870971" y="244061"/>
                  </a:lnTo>
                  <a:lnTo>
                    <a:pt x="1850520" y="252240"/>
                  </a:lnTo>
                </a:path>
                <a:path w="1982470" h="609600">
                  <a:moveTo>
                    <a:pt x="1757556" y="74440"/>
                  </a:moveTo>
                  <a:lnTo>
                    <a:pt x="1760096" y="80282"/>
                  </a:lnTo>
                  <a:lnTo>
                    <a:pt x="1761239" y="86251"/>
                  </a:lnTo>
                  <a:lnTo>
                    <a:pt x="1761112" y="92220"/>
                  </a:lnTo>
                </a:path>
                <a:path w="1982470" h="609600">
                  <a:moveTo>
                    <a:pt x="1333503" y="53612"/>
                  </a:moveTo>
                  <a:lnTo>
                    <a:pt x="1340571" y="47542"/>
                  </a:lnTo>
                  <a:lnTo>
                    <a:pt x="1348616" y="41722"/>
                  </a:lnTo>
                  <a:lnTo>
                    <a:pt x="1357613" y="36164"/>
                  </a:lnTo>
                  <a:lnTo>
                    <a:pt x="1367539" y="30879"/>
                  </a:lnTo>
                </a:path>
                <a:path w="1982470" h="609600">
                  <a:moveTo>
                    <a:pt x="1015368" y="64407"/>
                  </a:moveTo>
                  <a:lnTo>
                    <a:pt x="1018412" y="59387"/>
                  </a:lnTo>
                  <a:lnTo>
                    <a:pt x="1022194" y="54438"/>
                  </a:lnTo>
                  <a:lnTo>
                    <a:pt x="1026691" y="49584"/>
                  </a:lnTo>
                  <a:lnTo>
                    <a:pt x="1031878" y="44849"/>
                  </a:lnTo>
                </a:path>
                <a:path w="1982470" h="609600">
                  <a:moveTo>
                    <a:pt x="642064" y="71138"/>
                  </a:moveTo>
                  <a:lnTo>
                    <a:pt x="657976" y="75329"/>
                  </a:lnTo>
                  <a:lnTo>
                    <a:pt x="673243" y="79901"/>
                  </a:lnTo>
                  <a:lnTo>
                    <a:pt x="687824" y="84854"/>
                  </a:lnTo>
                  <a:lnTo>
                    <a:pt x="701678" y="90188"/>
                  </a:lnTo>
                </a:path>
                <a:path w="1982470" h="609600">
                  <a:moveTo>
                    <a:pt x="189271" y="220617"/>
                  </a:moveTo>
                  <a:lnTo>
                    <a:pt x="184547" y="214140"/>
                  </a:lnTo>
                  <a:lnTo>
                    <a:pt x="181067" y="207409"/>
                  </a:lnTo>
                  <a:lnTo>
                    <a:pt x="178870" y="200678"/>
                  </a:lnTo>
                </a:path>
              </a:pathLst>
            </a:custGeom>
            <a:ln w="19050">
              <a:solidFill>
                <a:srgbClr val="3A3A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83892" y="2274951"/>
            <a:ext cx="53340" cy="53340"/>
            <a:chOff x="1683892" y="2274951"/>
            <a:chExt cx="53340" cy="53340"/>
          </a:xfrm>
        </p:grpSpPr>
        <p:sp>
          <p:nvSpPr>
            <p:cNvPr id="10" name="object 10"/>
            <p:cNvSpPr/>
            <p:nvPr/>
          </p:nvSpPr>
          <p:spPr>
            <a:xfrm>
              <a:off x="1693417" y="2284476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89" h="34289">
                  <a:moveTo>
                    <a:pt x="26288" y="0"/>
                  </a:moveTo>
                  <a:lnTo>
                    <a:pt x="7619" y="0"/>
                  </a:lnTo>
                  <a:lnTo>
                    <a:pt x="0" y="7620"/>
                  </a:lnTo>
                  <a:lnTo>
                    <a:pt x="0" y="26288"/>
                  </a:lnTo>
                  <a:lnTo>
                    <a:pt x="7619" y="33909"/>
                  </a:lnTo>
                  <a:lnTo>
                    <a:pt x="26288" y="33909"/>
                  </a:lnTo>
                  <a:lnTo>
                    <a:pt x="33908" y="26288"/>
                  </a:lnTo>
                  <a:lnTo>
                    <a:pt x="33908" y="16890"/>
                  </a:lnTo>
                  <a:lnTo>
                    <a:pt x="33908" y="7620"/>
                  </a:lnTo>
                  <a:lnTo>
                    <a:pt x="26288" y="0"/>
                  </a:lnTo>
                  <a:close/>
                </a:path>
              </a:pathLst>
            </a:custGeom>
            <a:solidFill>
              <a:srgbClr val="B7B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93417" y="2284476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89" h="34289">
                  <a:moveTo>
                    <a:pt x="33908" y="16890"/>
                  </a:moveTo>
                  <a:lnTo>
                    <a:pt x="33908" y="26288"/>
                  </a:lnTo>
                  <a:lnTo>
                    <a:pt x="26288" y="33909"/>
                  </a:lnTo>
                  <a:lnTo>
                    <a:pt x="16890" y="33909"/>
                  </a:lnTo>
                  <a:lnTo>
                    <a:pt x="7619" y="33909"/>
                  </a:lnTo>
                  <a:lnTo>
                    <a:pt x="0" y="26288"/>
                  </a:lnTo>
                  <a:lnTo>
                    <a:pt x="0" y="16890"/>
                  </a:lnTo>
                  <a:lnTo>
                    <a:pt x="0" y="7620"/>
                  </a:lnTo>
                  <a:lnTo>
                    <a:pt x="7619" y="0"/>
                  </a:lnTo>
                  <a:lnTo>
                    <a:pt x="16890" y="0"/>
                  </a:lnTo>
                  <a:lnTo>
                    <a:pt x="26288" y="0"/>
                  </a:lnTo>
                  <a:lnTo>
                    <a:pt x="33908" y="7620"/>
                  </a:lnTo>
                  <a:lnTo>
                    <a:pt x="33908" y="16890"/>
                  </a:lnTo>
                  <a:close/>
                </a:path>
              </a:pathLst>
            </a:custGeom>
            <a:ln w="19050">
              <a:solidFill>
                <a:srgbClr val="3A3A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631823" y="2111120"/>
            <a:ext cx="86995" cy="86995"/>
            <a:chOff x="1631823" y="2111120"/>
            <a:chExt cx="86995" cy="8699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1348" y="2120645"/>
              <a:ext cx="67690" cy="6781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1823" y="2111120"/>
              <a:ext cx="86740" cy="86867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571752" y="1914525"/>
            <a:ext cx="120650" cy="120650"/>
            <a:chOff x="1571752" y="1914525"/>
            <a:chExt cx="120650" cy="12065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1277" y="1924050"/>
              <a:ext cx="101599" cy="101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71752" y="1914525"/>
              <a:ext cx="120649" cy="12065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22426" y="1214450"/>
            <a:ext cx="10591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335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D0D0D"/>
                </a:solidFill>
                <a:latin typeface="Georgia"/>
                <a:cs typeface="Georgia"/>
              </a:rPr>
              <a:t>Can</a:t>
            </a:r>
            <a:r>
              <a:rPr sz="1800" spc="-40" dirty="0">
                <a:solidFill>
                  <a:srgbClr val="0D0D0D"/>
                </a:solidFill>
                <a:latin typeface="Georgia"/>
                <a:cs typeface="Georgia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Georgia"/>
                <a:cs typeface="Georgia"/>
              </a:rPr>
              <a:t>be </a:t>
            </a:r>
            <a:r>
              <a:rPr sz="1800" spc="-10" dirty="0">
                <a:solidFill>
                  <a:srgbClr val="0D0D0D"/>
                </a:solidFill>
                <a:latin typeface="Georgia"/>
                <a:cs typeface="Georgia"/>
              </a:rPr>
              <a:t>constraint</a:t>
            </a:r>
            <a:endParaRPr sz="1800">
              <a:latin typeface="Georgia"/>
              <a:cs typeface="Georg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190128" y="1135427"/>
            <a:ext cx="2534920" cy="629285"/>
            <a:chOff x="3190128" y="1135427"/>
            <a:chExt cx="2534920" cy="629285"/>
          </a:xfrm>
        </p:grpSpPr>
        <p:sp>
          <p:nvSpPr>
            <p:cNvPr id="20" name="object 20"/>
            <p:cNvSpPr/>
            <p:nvPr/>
          </p:nvSpPr>
          <p:spPr>
            <a:xfrm>
              <a:off x="3199653" y="1144952"/>
              <a:ext cx="2515870" cy="610235"/>
            </a:xfrm>
            <a:custGeom>
              <a:avLst/>
              <a:gdLst/>
              <a:ahLst/>
              <a:cxnLst/>
              <a:rect l="l" t="t" r="r" b="b"/>
              <a:pathLst>
                <a:path w="2515870" h="610235">
                  <a:moveTo>
                    <a:pt x="1612619" y="552218"/>
                  </a:moveTo>
                  <a:lnTo>
                    <a:pt x="960274" y="552218"/>
                  </a:lnTo>
                  <a:lnTo>
                    <a:pt x="1002435" y="569626"/>
                  </a:lnTo>
                  <a:lnTo>
                    <a:pt x="1052814" y="584343"/>
                  </a:lnTo>
                  <a:lnTo>
                    <a:pt x="1110052" y="596011"/>
                  </a:lnTo>
                  <a:lnTo>
                    <a:pt x="1172956" y="604345"/>
                  </a:lnTo>
                  <a:lnTo>
                    <a:pt x="1235436" y="608802"/>
                  </a:lnTo>
                  <a:lnTo>
                    <a:pt x="1297613" y="609868"/>
                  </a:lnTo>
                  <a:lnTo>
                    <a:pt x="1358479" y="607720"/>
                  </a:lnTo>
                  <a:lnTo>
                    <a:pt x="1417022" y="602535"/>
                  </a:lnTo>
                  <a:lnTo>
                    <a:pt x="1472232" y="594487"/>
                  </a:lnTo>
                  <a:lnTo>
                    <a:pt x="1523098" y="583753"/>
                  </a:lnTo>
                  <a:lnTo>
                    <a:pt x="1568611" y="570509"/>
                  </a:lnTo>
                  <a:lnTo>
                    <a:pt x="1607760" y="554931"/>
                  </a:lnTo>
                  <a:lnTo>
                    <a:pt x="1612619" y="552218"/>
                  </a:lnTo>
                  <a:close/>
                </a:path>
                <a:path w="2515870" h="610235">
                  <a:moveTo>
                    <a:pt x="616636" y="53620"/>
                  </a:moveTo>
                  <a:lnTo>
                    <a:pt x="564245" y="54816"/>
                  </a:lnTo>
                  <a:lnTo>
                    <a:pt x="495080" y="60030"/>
                  </a:lnTo>
                  <a:lnTo>
                    <a:pt x="431645" y="68960"/>
                  </a:lnTo>
                  <a:lnTo>
                    <a:pt x="374888" y="81194"/>
                  </a:lnTo>
                  <a:lnTo>
                    <a:pt x="325761" y="96320"/>
                  </a:lnTo>
                  <a:lnTo>
                    <a:pt x="285214" y="113924"/>
                  </a:lnTo>
                  <a:lnTo>
                    <a:pt x="233658" y="154916"/>
                  </a:lnTo>
                  <a:lnTo>
                    <a:pt x="224550" y="177478"/>
                  </a:lnTo>
                  <a:lnTo>
                    <a:pt x="227822" y="200866"/>
                  </a:lnTo>
                  <a:lnTo>
                    <a:pt x="225663" y="202771"/>
                  </a:lnTo>
                  <a:lnTo>
                    <a:pt x="167527" y="207055"/>
                  </a:lnTo>
                  <a:lnTo>
                    <a:pt x="114713" y="215614"/>
                  </a:lnTo>
                  <a:lnTo>
                    <a:pt x="69304" y="228006"/>
                  </a:lnTo>
                  <a:lnTo>
                    <a:pt x="33385" y="243792"/>
                  </a:lnTo>
                  <a:lnTo>
                    <a:pt x="4104" y="268839"/>
                  </a:lnTo>
                  <a:lnTo>
                    <a:pt x="0" y="294720"/>
                  </a:lnTo>
                  <a:lnTo>
                    <a:pt x="19578" y="319559"/>
                  </a:lnTo>
                  <a:lnTo>
                    <a:pt x="61346" y="341478"/>
                  </a:lnTo>
                  <a:lnTo>
                    <a:pt x="123809" y="358600"/>
                  </a:lnTo>
                  <a:lnTo>
                    <a:pt x="90601" y="373146"/>
                  </a:lnTo>
                  <a:lnTo>
                    <a:pt x="67977" y="389525"/>
                  </a:lnTo>
                  <a:lnTo>
                    <a:pt x="56569" y="407142"/>
                  </a:lnTo>
                  <a:lnTo>
                    <a:pt x="56898" y="420840"/>
                  </a:lnTo>
                  <a:lnTo>
                    <a:pt x="106359" y="465873"/>
                  </a:lnTo>
                  <a:lnTo>
                    <a:pt x="151749" y="481123"/>
                  </a:lnTo>
                  <a:lnTo>
                    <a:pt x="207385" y="492119"/>
                  </a:lnTo>
                  <a:lnTo>
                    <a:pt x="270591" y="498163"/>
                  </a:lnTo>
                  <a:lnTo>
                    <a:pt x="338693" y="498554"/>
                  </a:lnTo>
                  <a:lnTo>
                    <a:pt x="341741" y="500332"/>
                  </a:lnTo>
                  <a:lnTo>
                    <a:pt x="412171" y="530299"/>
                  </a:lnTo>
                  <a:lnTo>
                    <a:pt x="453009" y="542177"/>
                  </a:lnTo>
                  <a:lnTo>
                    <a:pt x="497375" y="552218"/>
                  </a:lnTo>
                  <a:lnTo>
                    <a:pt x="544692" y="560376"/>
                  </a:lnTo>
                  <a:lnTo>
                    <a:pt x="594381" y="566602"/>
                  </a:lnTo>
                  <a:lnTo>
                    <a:pt x="645865" y="570849"/>
                  </a:lnTo>
                  <a:lnTo>
                    <a:pt x="698566" y="573071"/>
                  </a:lnTo>
                  <a:lnTo>
                    <a:pt x="751907" y="573221"/>
                  </a:lnTo>
                  <a:lnTo>
                    <a:pt x="805309" y="571250"/>
                  </a:lnTo>
                  <a:lnTo>
                    <a:pt x="858194" y="567113"/>
                  </a:lnTo>
                  <a:lnTo>
                    <a:pt x="909985" y="560761"/>
                  </a:lnTo>
                  <a:lnTo>
                    <a:pt x="959696" y="552218"/>
                  </a:lnTo>
                  <a:lnTo>
                    <a:pt x="1612619" y="552218"/>
                  </a:lnTo>
                  <a:lnTo>
                    <a:pt x="1639533" y="537195"/>
                  </a:lnTo>
                  <a:lnTo>
                    <a:pt x="1662922" y="517477"/>
                  </a:lnTo>
                  <a:lnTo>
                    <a:pt x="2018437" y="517477"/>
                  </a:lnTo>
                  <a:lnTo>
                    <a:pt x="2077450" y="502507"/>
                  </a:lnTo>
                  <a:lnTo>
                    <a:pt x="2118978" y="486189"/>
                  </a:lnTo>
                  <a:lnTo>
                    <a:pt x="2170636" y="446623"/>
                  </a:lnTo>
                  <a:lnTo>
                    <a:pt x="2178034" y="424259"/>
                  </a:lnTo>
                  <a:lnTo>
                    <a:pt x="2227564" y="420840"/>
                  </a:lnTo>
                  <a:lnTo>
                    <a:pt x="2275189" y="415385"/>
                  </a:lnTo>
                  <a:lnTo>
                    <a:pt x="2320338" y="407953"/>
                  </a:lnTo>
                  <a:lnTo>
                    <a:pt x="2362438" y="398605"/>
                  </a:lnTo>
                  <a:lnTo>
                    <a:pt x="2420582" y="380559"/>
                  </a:lnTo>
                  <a:lnTo>
                    <a:pt x="2465280" y="359680"/>
                  </a:lnTo>
                  <a:lnTo>
                    <a:pt x="2496245" y="336705"/>
                  </a:lnTo>
                  <a:lnTo>
                    <a:pt x="2515818" y="287421"/>
                  </a:lnTo>
                  <a:lnTo>
                    <a:pt x="2503849" y="262588"/>
                  </a:lnTo>
                  <a:lnTo>
                    <a:pt x="2476991" y="238613"/>
                  </a:lnTo>
                  <a:lnTo>
                    <a:pt x="2434955" y="216233"/>
                  </a:lnTo>
                  <a:lnTo>
                    <a:pt x="2440543" y="211788"/>
                  </a:lnTo>
                  <a:lnTo>
                    <a:pt x="2445369" y="207343"/>
                  </a:lnTo>
                  <a:lnTo>
                    <a:pt x="2449179" y="202771"/>
                  </a:lnTo>
                  <a:lnTo>
                    <a:pt x="2459940" y="179337"/>
                  </a:lnTo>
                  <a:lnTo>
                    <a:pt x="2454557" y="156456"/>
                  </a:lnTo>
                  <a:lnTo>
                    <a:pt x="2400574" y="115376"/>
                  </a:lnTo>
                  <a:lnTo>
                    <a:pt x="2354583" y="98687"/>
                  </a:lnTo>
                  <a:lnTo>
                    <a:pt x="2297663" y="85572"/>
                  </a:lnTo>
                  <a:lnTo>
                    <a:pt x="2231120" y="76787"/>
                  </a:lnTo>
                  <a:lnTo>
                    <a:pt x="2226755" y="71453"/>
                  </a:lnTo>
                  <a:lnTo>
                    <a:pt x="815959" y="71453"/>
                  </a:lnTo>
                  <a:lnTo>
                    <a:pt x="768994" y="63688"/>
                  </a:lnTo>
                  <a:lnTo>
                    <a:pt x="719675" y="58099"/>
                  </a:lnTo>
                  <a:lnTo>
                    <a:pt x="669990" y="54816"/>
                  </a:lnTo>
                  <a:lnTo>
                    <a:pt x="672769" y="54816"/>
                  </a:lnTo>
                  <a:lnTo>
                    <a:pt x="616636" y="53620"/>
                  </a:lnTo>
                  <a:close/>
                </a:path>
                <a:path w="2515870" h="610235">
                  <a:moveTo>
                    <a:pt x="2018437" y="517477"/>
                  </a:moveTo>
                  <a:lnTo>
                    <a:pt x="1662922" y="517477"/>
                  </a:lnTo>
                  <a:lnTo>
                    <a:pt x="1703868" y="524706"/>
                  </a:lnTo>
                  <a:lnTo>
                    <a:pt x="1747219" y="529971"/>
                  </a:lnTo>
                  <a:lnTo>
                    <a:pt x="1792331" y="533211"/>
                  </a:lnTo>
                  <a:lnTo>
                    <a:pt x="1838563" y="534368"/>
                  </a:lnTo>
                  <a:lnTo>
                    <a:pt x="1906469" y="532299"/>
                  </a:lnTo>
                  <a:lnTo>
                    <a:pt x="1969830" y="526004"/>
                  </a:lnTo>
                  <a:lnTo>
                    <a:pt x="2018437" y="517477"/>
                  </a:lnTo>
                  <a:close/>
                </a:path>
                <a:path w="2515870" h="610235">
                  <a:moveTo>
                    <a:pt x="1077457" y="17116"/>
                  </a:moveTo>
                  <a:lnTo>
                    <a:pt x="1024829" y="19327"/>
                  </a:lnTo>
                  <a:lnTo>
                    <a:pt x="974237" y="24434"/>
                  </a:lnTo>
                  <a:lnTo>
                    <a:pt x="926868" y="32318"/>
                  </a:lnTo>
                  <a:lnTo>
                    <a:pt x="883908" y="42862"/>
                  </a:lnTo>
                  <a:lnTo>
                    <a:pt x="846543" y="55946"/>
                  </a:lnTo>
                  <a:lnTo>
                    <a:pt x="815959" y="71453"/>
                  </a:lnTo>
                  <a:lnTo>
                    <a:pt x="2226755" y="71453"/>
                  </a:lnTo>
                  <a:lnTo>
                    <a:pt x="2218379" y="61218"/>
                  </a:lnTo>
                  <a:lnTo>
                    <a:pt x="2197862" y="46720"/>
                  </a:lnTo>
                  <a:lnTo>
                    <a:pt x="2197258" y="46434"/>
                  </a:lnTo>
                  <a:lnTo>
                    <a:pt x="1307830" y="46434"/>
                  </a:lnTo>
                  <a:lnTo>
                    <a:pt x="1291290" y="41465"/>
                  </a:lnTo>
                  <a:lnTo>
                    <a:pt x="1235694" y="29035"/>
                  </a:lnTo>
                  <a:lnTo>
                    <a:pt x="1184076" y="21852"/>
                  </a:lnTo>
                  <a:lnTo>
                    <a:pt x="1130935" y="17918"/>
                  </a:lnTo>
                  <a:lnTo>
                    <a:pt x="1077457" y="17116"/>
                  </a:lnTo>
                  <a:close/>
                </a:path>
                <a:path w="2515870" h="610235">
                  <a:moveTo>
                    <a:pt x="1537167" y="0"/>
                  </a:moveTo>
                  <a:lnTo>
                    <a:pt x="1481560" y="1911"/>
                  </a:lnTo>
                  <a:lnTo>
                    <a:pt x="1428782" y="7739"/>
                  </a:lnTo>
                  <a:lnTo>
                    <a:pt x="1380873" y="17254"/>
                  </a:lnTo>
                  <a:lnTo>
                    <a:pt x="1339875" y="30229"/>
                  </a:lnTo>
                  <a:lnTo>
                    <a:pt x="1307830" y="46434"/>
                  </a:lnTo>
                  <a:lnTo>
                    <a:pt x="2197258" y="46434"/>
                  </a:lnTo>
                  <a:lnTo>
                    <a:pt x="2170130" y="33603"/>
                  </a:lnTo>
                  <a:lnTo>
                    <a:pt x="2168614" y="33099"/>
                  </a:lnTo>
                  <a:lnTo>
                    <a:pt x="1737217" y="33099"/>
                  </a:lnTo>
                  <a:lnTo>
                    <a:pt x="1718350" y="25773"/>
                  </a:lnTo>
                  <a:lnTo>
                    <a:pt x="1697381" y="19327"/>
                  </a:lnTo>
                  <a:lnTo>
                    <a:pt x="1673852" y="13597"/>
                  </a:lnTo>
                  <a:lnTo>
                    <a:pt x="1648698" y="8842"/>
                  </a:lnTo>
                  <a:lnTo>
                    <a:pt x="1593560" y="2234"/>
                  </a:lnTo>
                  <a:lnTo>
                    <a:pt x="1537167" y="0"/>
                  </a:lnTo>
                  <a:close/>
                </a:path>
                <a:path w="2515870" h="610235">
                  <a:moveTo>
                    <a:pt x="1929670" y="492"/>
                  </a:moveTo>
                  <a:lnTo>
                    <a:pt x="1876273" y="3658"/>
                  </a:lnTo>
                  <a:lnTo>
                    <a:pt x="1825329" y="10176"/>
                  </a:lnTo>
                  <a:lnTo>
                    <a:pt x="1778443" y="20003"/>
                  </a:lnTo>
                  <a:lnTo>
                    <a:pt x="1737217" y="33099"/>
                  </a:lnTo>
                  <a:lnTo>
                    <a:pt x="2168614" y="33099"/>
                  </a:lnTo>
                  <a:lnTo>
                    <a:pt x="2088558" y="11520"/>
                  </a:lnTo>
                  <a:lnTo>
                    <a:pt x="2037415" y="4381"/>
                  </a:lnTo>
                  <a:lnTo>
                    <a:pt x="1983918" y="719"/>
                  </a:lnTo>
                  <a:lnTo>
                    <a:pt x="1929670" y="492"/>
                  </a:lnTo>
                  <a:close/>
                </a:path>
              </a:pathLst>
            </a:custGeom>
            <a:solidFill>
              <a:srgbClr val="B7B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99653" y="1144952"/>
              <a:ext cx="2515870" cy="610235"/>
            </a:xfrm>
            <a:custGeom>
              <a:avLst/>
              <a:gdLst/>
              <a:ahLst/>
              <a:cxnLst/>
              <a:rect l="l" t="t" r="r" b="b"/>
              <a:pathLst>
                <a:path w="2515870" h="610235">
                  <a:moveTo>
                    <a:pt x="227822" y="200866"/>
                  </a:moveTo>
                  <a:lnTo>
                    <a:pt x="233658" y="154916"/>
                  </a:lnTo>
                  <a:lnTo>
                    <a:pt x="285214" y="113924"/>
                  </a:lnTo>
                  <a:lnTo>
                    <a:pt x="325761" y="96320"/>
                  </a:lnTo>
                  <a:lnTo>
                    <a:pt x="374888" y="81194"/>
                  </a:lnTo>
                  <a:lnTo>
                    <a:pt x="431645" y="68960"/>
                  </a:lnTo>
                  <a:lnTo>
                    <a:pt x="495080" y="60030"/>
                  </a:lnTo>
                  <a:lnTo>
                    <a:pt x="564245" y="54816"/>
                  </a:lnTo>
                  <a:lnTo>
                    <a:pt x="616636" y="53620"/>
                  </a:lnTo>
                  <a:lnTo>
                    <a:pt x="668668" y="54729"/>
                  </a:lnTo>
                  <a:lnTo>
                    <a:pt x="719675" y="58099"/>
                  </a:lnTo>
                  <a:lnTo>
                    <a:pt x="768994" y="63688"/>
                  </a:lnTo>
                  <a:lnTo>
                    <a:pt x="815959" y="71453"/>
                  </a:lnTo>
                  <a:lnTo>
                    <a:pt x="883908" y="42862"/>
                  </a:lnTo>
                  <a:lnTo>
                    <a:pt x="926868" y="32318"/>
                  </a:lnTo>
                  <a:lnTo>
                    <a:pt x="974237" y="24434"/>
                  </a:lnTo>
                  <a:lnTo>
                    <a:pt x="1024829" y="19327"/>
                  </a:lnTo>
                  <a:lnTo>
                    <a:pt x="1077457" y="17116"/>
                  </a:lnTo>
                  <a:lnTo>
                    <a:pt x="1130935" y="17918"/>
                  </a:lnTo>
                  <a:lnTo>
                    <a:pt x="1184076" y="21852"/>
                  </a:lnTo>
                  <a:lnTo>
                    <a:pt x="1235694" y="29035"/>
                  </a:lnTo>
                  <a:lnTo>
                    <a:pt x="1273715" y="36877"/>
                  </a:lnTo>
                  <a:lnTo>
                    <a:pt x="1307830" y="46434"/>
                  </a:lnTo>
                  <a:lnTo>
                    <a:pt x="1380873" y="17254"/>
                  </a:lnTo>
                  <a:lnTo>
                    <a:pt x="1428782" y="7739"/>
                  </a:lnTo>
                  <a:lnTo>
                    <a:pt x="1481560" y="1911"/>
                  </a:lnTo>
                  <a:lnTo>
                    <a:pt x="1537167" y="0"/>
                  </a:lnTo>
                  <a:lnTo>
                    <a:pt x="1593560" y="2234"/>
                  </a:lnTo>
                  <a:lnTo>
                    <a:pt x="1648698" y="8842"/>
                  </a:lnTo>
                  <a:lnTo>
                    <a:pt x="1697149" y="19256"/>
                  </a:lnTo>
                  <a:lnTo>
                    <a:pt x="1737217" y="33099"/>
                  </a:lnTo>
                  <a:lnTo>
                    <a:pt x="1778443" y="20003"/>
                  </a:lnTo>
                  <a:lnTo>
                    <a:pt x="1825329" y="10176"/>
                  </a:lnTo>
                  <a:lnTo>
                    <a:pt x="1876273" y="3658"/>
                  </a:lnTo>
                  <a:lnTo>
                    <a:pt x="1929670" y="492"/>
                  </a:lnTo>
                  <a:lnTo>
                    <a:pt x="1983918" y="719"/>
                  </a:lnTo>
                  <a:lnTo>
                    <a:pt x="2037415" y="4381"/>
                  </a:lnTo>
                  <a:lnTo>
                    <a:pt x="2088558" y="11520"/>
                  </a:lnTo>
                  <a:lnTo>
                    <a:pt x="2135743" y="22177"/>
                  </a:lnTo>
                  <a:lnTo>
                    <a:pt x="2197862" y="46720"/>
                  </a:lnTo>
                  <a:lnTo>
                    <a:pt x="2231120" y="76787"/>
                  </a:lnTo>
                  <a:lnTo>
                    <a:pt x="2297663" y="85572"/>
                  </a:lnTo>
                  <a:lnTo>
                    <a:pt x="2354583" y="98687"/>
                  </a:lnTo>
                  <a:lnTo>
                    <a:pt x="2400574" y="115376"/>
                  </a:lnTo>
                  <a:lnTo>
                    <a:pt x="2434334" y="134884"/>
                  </a:lnTo>
                  <a:lnTo>
                    <a:pt x="2459940" y="179337"/>
                  </a:lnTo>
                  <a:lnTo>
                    <a:pt x="2449179" y="202771"/>
                  </a:lnTo>
                  <a:lnTo>
                    <a:pt x="2445369" y="207343"/>
                  </a:lnTo>
                  <a:lnTo>
                    <a:pt x="2440543" y="211788"/>
                  </a:lnTo>
                  <a:lnTo>
                    <a:pt x="2434955" y="216233"/>
                  </a:lnTo>
                  <a:lnTo>
                    <a:pt x="2476991" y="238613"/>
                  </a:lnTo>
                  <a:lnTo>
                    <a:pt x="2503849" y="262588"/>
                  </a:lnTo>
                  <a:lnTo>
                    <a:pt x="2515818" y="287421"/>
                  </a:lnTo>
                  <a:lnTo>
                    <a:pt x="2513187" y="312372"/>
                  </a:lnTo>
                  <a:lnTo>
                    <a:pt x="2465280" y="359680"/>
                  </a:lnTo>
                  <a:lnTo>
                    <a:pt x="2420582" y="380559"/>
                  </a:lnTo>
                  <a:lnTo>
                    <a:pt x="2362438" y="398605"/>
                  </a:lnTo>
                  <a:lnTo>
                    <a:pt x="2320338" y="407953"/>
                  </a:lnTo>
                  <a:lnTo>
                    <a:pt x="2275189" y="415385"/>
                  </a:lnTo>
                  <a:lnTo>
                    <a:pt x="2227564" y="420840"/>
                  </a:lnTo>
                  <a:lnTo>
                    <a:pt x="2178034" y="424259"/>
                  </a:lnTo>
                  <a:lnTo>
                    <a:pt x="2150495" y="467413"/>
                  </a:lnTo>
                  <a:lnTo>
                    <a:pt x="2077450" y="502507"/>
                  </a:lnTo>
                  <a:lnTo>
                    <a:pt x="2027279" y="515926"/>
                  </a:lnTo>
                  <a:lnTo>
                    <a:pt x="1969830" y="526004"/>
                  </a:lnTo>
                  <a:lnTo>
                    <a:pt x="1906469" y="532299"/>
                  </a:lnTo>
                  <a:lnTo>
                    <a:pt x="1838563" y="534368"/>
                  </a:lnTo>
                  <a:lnTo>
                    <a:pt x="1792331" y="533211"/>
                  </a:lnTo>
                  <a:lnTo>
                    <a:pt x="1747219" y="529971"/>
                  </a:lnTo>
                  <a:lnTo>
                    <a:pt x="1703868" y="524706"/>
                  </a:lnTo>
                  <a:lnTo>
                    <a:pt x="1662922" y="517477"/>
                  </a:lnTo>
                  <a:lnTo>
                    <a:pt x="1607760" y="554931"/>
                  </a:lnTo>
                  <a:lnTo>
                    <a:pt x="1568611" y="570509"/>
                  </a:lnTo>
                  <a:lnTo>
                    <a:pt x="1523098" y="583753"/>
                  </a:lnTo>
                  <a:lnTo>
                    <a:pt x="1472232" y="594487"/>
                  </a:lnTo>
                  <a:lnTo>
                    <a:pt x="1417022" y="602535"/>
                  </a:lnTo>
                  <a:lnTo>
                    <a:pt x="1358479" y="607720"/>
                  </a:lnTo>
                  <a:lnTo>
                    <a:pt x="1297613" y="609868"/>
                  </a:lnTo>
                  <a:lnTo>
                    <a:pt x="1235436" y="608802"/>
                  </a:lnTo>
                  <a:lnTo>
                    <a:pt x="1172956" y="604345"/>
                  </a:lnTo>
                  <a:lnTo>
                    <a:pt x="1110052" y="596011"/>
                  </a:lnTo>
                  <a:lnTo>
                    <a:pt x="1052814" y="584343"/>
                  </a:lnTo>
                  <a:lnTo>
                    <a:pt x="1002435" y="569626"/>
                  </a:lnTo>
                  <a:lnTo>
                    <a:pt x="960104" y="552148"/>
                  </a:lnTo>
                  <a:lnTo>
                    <a:pt x="909985" y="560761"/>
                  </a:lnTo>
                  <a:lnTo>
                    <a:pt x="858194" y="567113"/>
                  </a:lnTo>
                  <a:lnTo>
                    <a:pt x="805309" y="571250"/>
                  </a:lnTo>
                  <a:lnTo>
                    <a:pt x="751907" y="573221"/>
                  </a:lnTo>
                  <a:lnTo>
                    <a:pt x="698566" y="573071"/>
                  </a:lnTo>
                  <a:lnTo>
                    <a:pt x="645865" y="570849"/>
                  </a:lnTo>
                  <a:lnTo>
                    <a:pt x="594381" y="566602"/>
                  </a:lnTo>
                  <a:lnTo>
                    <a:pt x="544692" y="560376"/>
                  </a:lnTo>
                  <a:lnTo>
                    <a:pt x="497375" y="552218"/>
                  </a:lnTo>
                  <a:lnTo>
                    <a:pt x="453009" y="542177"/>
                  </a:lnTo>
                  <a:lnTo>
                    <a:pt x="412171" y="530299"/>
                  </a:lnTo>
                  <a:lnTo>
                    <a:pt x="375440" y="516631"/>
                  </a:lnTo>
                  <a:lnTo>
                    <a:pt x="340217" y="499443"/>
                  </a:lnTo>
                  <a:lnTo>
                    <a:pt x="338693" y="498554"/>
                  </a:lnTo>
                  <a:lnTo>
                    <a:pt x="270591" y="498163"/>
                  </a:lnTo>
                  <a:lnTo>
                    <a:pt x="207385" y="492119"/>
                  </a:lnTo>
                  <a:lnTo>
                    <a:pt x="151749" y="481123"/>
                  </a:lnTo>
                  <a:lnTo>
                    <a:pt x="106359" y="465873"/>
                  </a:lnTo>
                  <a:lnTo>
                    <a:pt x="57007" y="425402"/>
                  </a:lnTo>
                  <a:lnTo>
                    <a:pt x="56569" y="407142"/>
                  </a:lnTo>
                  <a:lnTo>
                    <a:pt x="67977" y="389525"/>
                  </a:lnTo>
                  <a:lnTo>
                    <a:pt x="90601" y="373146"/>
                  </a:lnTo>
                  <a:lnTo>
                    <a:pt x="123809" y="358600"/>
                  </a:lnTo>
                  <a:lnTo>
                    <a:pt x="61346" y="341478"/>
                  </a:lnTo>
                  <a:lnTo>
                    <a:pt x="19578" y="319559"/>
                  </a:lnTo>
                  <a:lnTo>
                    <a:pt x="0" y="294720"/>
                  </a:lnTo>
                  <a:lnTo>
                    <a:pt x="4104" y="268839"/>
                  </a:lnTo>
                  <a:lnTo>
                    <a:pt x="33385" y="243792"/>
                  </a:lnTo>
                  <a:lnTo>
                    <a:pt x="69304" y="228006"/>
                  </a:lnTo>
                  <a:lnTo>
                    <a:pt x="114713" y="215614"/>
                  </a:lnTo>
                  <a:lnTo>
                    <a:pt x="167527" y="207055"/>
                  </a:lnTo>
                  <a:lnTo>
                    <a:pt x="225663" y="202771"/>
                  </a:lnTo>
                  <a:lnTo>
                    <a:pt x="227822" y="200866"/>
                  </a:lnTo>
                  <a:close/>
                </a:path>
                <a:path w="2515870" h="610235">
                  <a:moveTo>
                    <a:pt x="273923" y="367490"/>
                  </a:moveTo>
                  <a:lnTo>
                    <a:pt x="235454" y="367474"/>
                  </a:lnTo>
                  <a:lnTo>
                    <a:pt x="197628" y="365553"/>
                  </a:lnTo>
                  <a:lnTo>
                    <a:pt x="161088" y="361775"/>
                  </a:lnTo>
                  <a:lnTo>
                    <a:pt x="126476" y="356187"/>
                  </a:lnTo>
                </a:path>
                <a:path w="2515870" h="610235">
                  <a:moveTo>
                    <a:pt x="403971" y="490553"/>
                  </a:moveTo>
                  <a:lnTo>
                    <a:pt x="388283" y="492387"/>
                  </a:lnTo>
                  <a:lnTo>
                    <a:pt x="372285" y="493887"/>
                  </a:lnTo>
                  <a:lnTo>
                    <a:pt x="356001" y="495054"/>
                  </a:lnTo>
                  <a:lnTo>
                    <a:pt x="339455" y="495887"/>
                  </a:lnTo>
                </a:path>
                <a:path w="2515870" h="610235">
                  <a:moveTo>
                    <a:pt x="959850" y="549608"/>
                  </a:moveTo>
                  <a:lnTo>
                    <a:pt x="948688" y="543778"/>
                  </a:lnTo>
                  <a:lnTo>
                    <a:pt x="938467" y="537734"/>
                  </a:lnTo>
                  <a:lnTo>
                    <a:pt x="929221" y="531499"/>
                  </a:lnTo>
                  <a:lnTo>
                    <a:pt x="920988" y="525097"/>
                  </a:lnTo>
                </a:path>
                <a:path w="2515870" h="610235">
                  <a:moveTo>
                    <a:pt x="1678670" y="488394"/>
                  </a:moveTo>
                  <a:lnTo>
                    <a:pt x="1676410" y="495226"/>
                  </a:lnTo>
                  <a:lnTo>
                    <a:pt x="1673066" y="501999"/>
                  </a:lnTo>
                  <a:lnTo>
                    <a:pt x="1668651" y="508700"/>
                  </a:lnTo>
                  <a:lnTo>
                    <a:pt x="1663176" y="515318"/>
                  </a:lnTo>
                </a:path>
                <a:path w="2515870" h="610235">
                  <a:moveTo>
                    <a:pt x="1987280" y="321897"/>
                  </a:moveTo>
                  <a:lnTo>
                    <a:pt x="2051889" y="335480"/>
                  </a:lnTo>
                  <a:lnTo>
                    <a:pt x="2104647" y="353141"/>
                  </a:lnTo>
                  <a:lnTo>
                    <a:pt x="2144036" y="374082"/>
                  </a:lnTo>
                  <a:lnTo>
                    <a:pt x="2168539" y="397504"/>
                  </a:lnTo>
                  <a:lnTo>
                    <a:pt x="2176637" y="422608"/>
                  </a:lnTo>
                </a:path>
                <a:path w="2515870" h="610235">
                  <a:moveTo>
                    <a:pt x="2433685" y="214709"/>
                  </a:moveTo>
                  <a:lnTo>
                    <a:pt x="2417743" y="225318"/>
                  </a:lnTo>
                  <a:lnTo>
                    <a:pt x="2398252" y="235188"/>
                  </a:lnTo>
                  <a:lnTo>
                    <a:pt x="2375428" y="244249"/>
                  </a:lnTo>
                  <a:lnTo>
                    <a:pt x="2349484" y="252428"/>
                  </a:lnTo>
                </a:path>
                <a:path w="2515870" h="610235">
                  <a:moveTo>
                    <a:pt x="2231501" y="74628"/>
                  </a:moveTo>
                  <a:lnTo>
                    <a:pt x="2234803" y="80470"/>
                  </a:lnTo>
                  <a:lnTo>
                    <a:pt x="2236200" y="86439"/>
                  </a:lnTo>
                  <a:lnTo>
                    <a:pt x="2235946" y="92408"/>
                  </a:lnTo>
                </a:path>
                <a:path w="2515870" h="610235">
                  <a:moveTo>
                    <a:pt x="1693275" y="53800"/>
                  </a:moveTo>
                  <a:lnTo>
                    <a:pt x="1702201" y="47730"/>
                  </a:lnTo>
                  <a:lnTo>
                    <a:pt x="1712389" y="41910"/>
                  </a:lnTo>
                  <a:lnTo>
                    <a:pt x="1723815" y="36351"/>
                  </a:lnTo>
                  <a:lnTo>
                    <a:pt x="1736455" y="31067"/>
                  </a:lnTo>
                </a:path>
                <a:path w="2515870" h="610235">
                  <a:moveTo>
                    <a:pt x="1289542" y="64595"/>
                  </a:moveTo>
                  <a:lnTo>
                    <a:pt x="1293370" y="59575"/>
                  </a:lnTo>
                  <a:lnTo>
                    <a:pt x="1298162" y="54626"/>
                  </a:lnTo>
                  <a:lnTo>
                    <a:pt x="1303883" y="49772"/>
                  </a:lnTo>
                  <a:lnTo>
                    <a:pt x="1310497" y="45037"/>
                  </a:lnTo>
                </a:path>
                <a:path w="2515870" h="610235">
                  <a:moveTo>
                    <a:pt x="815705" y="71326"/>
                  </a:moveTo>
                  <a:lnTo>
                    <a:pt x="835888" y="75517"/>
                  </a:lnTo>
                  <a:lnTo>
                    <a:pt x="855250" y="80089"/>
                  </a:lnTo>
                  <a:lnTo>
                    <a:pt x="873730" y="85042"/>
                  </a:lnTo>
                  <a:lnTo>
                    <a:pt x="891270" y="90376"/>
                  </a:lnTo>
                </a:path>
                <a:path w="2515870" h="610235">
                  <a:moveTo>
                    <a:pt x="241030" y="220805"/>
                  </a:moveTo>
                  <a:lnTo>
                    <a:pt x="234934" y="214328"/>
                  </a:lnTo>
                  <a:lnTo>
                    <a:pt x="230616" y="207597"/>
                  </a:lnTo>
                  <a:lnTo>
                    <a:pt x="227822" y="200866"/>
                  </a:lnTo>
                </a:path>
              </a:pathLst>
            </a:custGeom>
            <a:ln w="19050">
              <a:solidFill>
                <a:srgbClr val="3A3A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986913" y="2216785"/>
            <a:ext cx="53340" cy="53340"/>
            <a:chOff x="2986913" y="2216785"/>
            <a:chExt cx="53340" cy="53340"/>
          </a:xfrm>
        </p:grpSpPr>
        <p:sp>
          <p:nvSpPr>
            <p:cNvPr id="23" name="object 23"/>
            <p:cNvSpPr/>
            <p:nvPr/>
          </p:nvSpPr>
          <p:spPr>
            <a:xfrm>
              <a:off x="2996438" y="2226310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89" h="34289">
                  <a:moveTo>
                    <a:pt x="26288" y="0"/>
                  </a:moveTo>
                  <a:lnTo>
                    <a:pt x="7619" y="0"/>
                  </a:lnTo>
                  <a:lnTo>
                    <a:pt x="0" y="7492"/>
                  </a:lnTo>
                  <a:lnTo>
                    <a:pt x="0" y="26288"/>
                  </a:lnTo>
                  <a:lnTo>
                    <a:pt x="7619" y="33781"/>
                  </a:lnTo>
                  <a:lnTo>
                    <a:pt x="26288" y="33781"/>
                  </a:lnTo>
                  <a:lnTo>
                    <a:pt x="33909" y="26288"/>
                  </a:lnTo>
                  <a:lnTo>
                    <a:pt x="33909" y="16890"/>
                  </a:lnTo>
                  <a:lnTo>
                    <a:pt x="33909" y="7492"/>
                  </a:lnTo>
                  <a:lnTo>
                    <a:pt x="26288" y="0"/>
                  </a:lnTo>
                  <a:close/>
                </a:path>
              </a:pathLst>
            </a:custGeom>
            <a:solidFill>
              <a:srgbClr val="B7B7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96438" y="2226310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89" h="34289">
                  <a:moveTo>
                    <a:pt x="33909" y="16890"/>
                  </a:moveTo>
                  <a:lnTo>
                    <a:pt x="33909" y="26288"/>
                  </a:lnTo>
                  <a:lnTo>
                    <a:pt x="26288" y="33781"/>
                  </a:lnTo>
                  <a:lnTo>
                    <a:pt x="16891" y="33781"/>
                  </a:lnTo>
                  <a:lnTo>
                    <a:pt x="7619" y="33781"/>
                  </a:lnTo>
                  <a:lnTo>
                    <a:pt x="0" y="26288"/>
                  </a:lnTo>
                  <a:lnTo>
                    <a:pt x="0" y="16890"/>
                  </a:lnTo>
                  <a:lnTo>
                    <a:pt x="0" y="7492"/>
                  </a:lnTo>
                  <a:lnTo>
                    <a:pt x="7619" y="0"/>
                  </a:lnTo>
                  <a:lnTo>
                    <a:pt x="16891" y="0"/>
                  </a:lnTo>
                  <a:lnTo>
                    <a:pt x="26288" y="0"/>
                  </a:lnTo>
                  <a:lnTo>
                    <a:pt x="33909" y="7492"/>
                  </a:lnTo>
                  <a:lnTo>
                    <a:pt x="33909" y="16890"/>
                  </a:lnTo>
                  <a:close/>
                </a:path>
              </a:pathLst>
            </a:custGeom>
            <a:ln w="19050">
              <a:solidFill>
                <a:srgbClr val="3A3A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272663" y="2033142"/>
            <a:ext cx="86995" cy="86995"/>
            <a:chOff x="3272663" y="2033142"/>
            <a:chExt cx="86995" cy="86995"/>
          </a:xfrm>
        </p:grpSpPr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82188" y="2042667"/>
              <a:ext cx="67690" cy="6769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72663" y="2033142"/>
              <a:ext cx="86740" cy="86741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3588130" y="1833117"/>
            <a:ext cx="120650" cy="120650"/>
            <a:chOff x="3588130" y="1833117"/>
            <a:chExt cx="120650" cy="120650"/>
          </a:xfrm>
        </p:grpSpPr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97655" y="1842642"/>
              <a:ext cx="101600" cy="1016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88130" y="1833117"/>
              <a:ext cx="120650" cy="12065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3673602" y="1275715"/>
            <a:ext cx="138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D0D0D"/>
                </a:solidFill>
                <a:latin typeface="Georgia"/>
                <a:cs typeface="Georgia"/>
              </a:rPr>
              <a:t>Functionality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44" y="736168"/>
            <a:ext cx="5429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Sources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420" y="1575768"/>
            <a:ext cx="4079875" cy="249042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459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spc="-10" dirty="0">
                <a:latin typeface="Georgia"/>
                <a:cs typeface="Georgia"/>
              </a:rPr>
              <a:t>Stakeholders</a:t>
            </a:r>
            <a:endParaRPr sz="28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lang="en-US"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lang="en-US" sz="2400" dirty="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400" dirty="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spc="-10" dirty="0">
                <a:latin typeface="Georgia"/>
                <a:cs typeface="Georgia"/>
              </a:rPr>
              <a:t>Documents</a:t>
            </a:r>
            <a:endParaRPr sz="2800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400" y="1371600"/>
            <a:ext cx="4038600" cy="34982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0" y="4114800"/>
            <a:ext cx="3200400" cy="27432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2800" y="5105400"/>
            <a:ext cx="1690624" cy="14294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812368"/>
            <a:ext cx="5429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Sources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420" y="1620774"/>
            <a:ext cx="27444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605" indent="-255904">
              <a:lnSpc>
                <a:spcPct val="100000"/>
              </a:lnSpc>
              <a:spcBef>
                <a:spcPts val="105"/>
              </a:spcBef>
              <a:buClr>
                <a:srgbClr val="9F4DA2"/>
              </a:buClr>
              <a:buChar char="•"/>
              <a:tabLst>
                <a:tab pos="268605" algn="l"/>
              </a:tabLst>
            </a:pPr>
            <a:r>
              <a:rPr sz="2800" dirty="0">
                <a:latin typeface="Georgia"/>
                <a:cs typeface="Georgia"/>
              </a:rPr>
              <a:t>Existing</a:t>
            </a:r>
            <a:r>
              <a:rPr sz="2800" spc="-12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system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420" y="3949395"/>
            <a:ext cx="382333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67970" indent="-255270">
              <a:lnSpc>
                <a:spcPct val="100000"/>
              </a:lnSpc>
              <a:spcBef>
                <a:spcPts val="110"/>
              </a:spcBef>
              <a:buClr>
                <a:srgbClr val="9F4DA2"/>
              </a:buClr>
              <a:buChar char="•"/>
              <a:tabLst>
                <a:tab pos="267970" algn="l"/>
              </a:tabLst>
            </a:pPr>
            <a:r>
              <a:rPr sz="2800" dirty="0">
                <a:latin typeface="Georgia"/>
                <a:cs typeface="Georgia"/>
              </a:rPr>
              <a:t>Domain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5105400" y="1524000"/>
            <a:ext cx="3838575" cy="5334000"/>
            <a:chOff x="5105400" y="1524000"/>
            <a:chExt cx="3838575" cy="53340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05400" y="1524000"/>
              <a:ext cx="3838575" cy="34099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634483"/>
              <a:ext cx="3811778" cy="22235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94538"/>
            <a:ext cx="7780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475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pc="-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000000"/>
                </a:solidFill>
                <a:latin typeface="Arial MT"/>
                <a:cs typeface="Arial MT"/>
              </a:rPr>
              <a:t>Goal</a:t>
            </a:r>
            <a:r>
              <a:rPr spc="-1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pc="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pc="-165" dirty="0">
                <a:solidFill>
                  <a:srgbClr val="000000"/>
                </a:solidFill>
                <a:latin typeface="Arial MT"/>
                <a:cs typeface="Arial MT"/>
              </a:rPr>
              <a:t>Software</a:t>
            </a:r>
            <a:r>
              <a:rPr spc="-114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pc="-200" dirty="0">
                <a:solidFill>
                  <a:srgbClr val="000000"/>
                </a:solidFill>
                <a:latin typeface="Arial MT"/>
                <a:cs typeface="Arial MT"/>
              </a:rPr>
              <a:t>Development[1]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7372" y="1561338"/>
            <a:ext cx="5146675" cy="81343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67335" marR="5080" indent="-255270" algn="just">
              <a:lnSpc>
                <a:spcPct val="78800"/>
              </a:lnSpc>
              <a:spcBef>
                <a:spcPts val="625"/>
              </a:spcBef>
              <a:buClr>
                <a:srgbClr val="9F4DA2"/>
              </a:buClr>
              <a:buFont typeface="Wingdings"/>
              <a:buChar char=""/>
              <a:tabLst>
                <a:tab pos="26860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goal</a:t>
            </a:r>
            <a:r>
              <a:rPr sz="2000" spc="4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65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software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development</a:t>
            </a:r>
            <a:r>
              <a:rPr sz="2000" spc="5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40" dirty="0">
                <a:latin typeface="Arial MT"/>
                <a:cs typeface="Arial MT"/>
              </a:rPr>
              <a:t>  </a:t>
            </a:r>
            <a:r>
              <a:rPr sz="2000" spc="-25" dirty="0">
                <a:latin typeface="Arial MT"/>
                <a:cs typeface="Arial MT"/>
              </a:rPr>
              <a:t>to 	</a:t>
            </a:r>
            <a:r>
              <a:rPr sz="2000" dirty="0">
                <a:latin typeface="Arial MT"/>
                <a:cs typeface="Arial MT"/>
              </a:rPr>
              <a:t>develop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dirty="0">
                <a:latin typeface="Arial MT"/>
                <a:cs typeface="Arial MT"/>
              </a:rPr>
              <a:t>quality</a:t>
            </a:r>
            <a:r>
              <a:rPr sz="2000" spc="110" dirty="0">
                <a:latin typeface="Arial MT"/>
                <a:cs typeface="Arial MT"/>
              </a:rPr>
              <a:t>  </a:t>
            </a:r>
            <a:r>
              <a:rPr sz="2000" spc="-90" dirty="0">
                <a:latin typeface="Arial MT"/>
                <a:cs typeface="Arial MT"/>
              </a:rPr>
              <a:t>software</a:t>
            </a:r>
            <a:r>
              <a:rPr lang="en-US" sz="2000" spc="-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114" dirty="0">
                <a:latin typeface="Arial MT"/>
                <a:cs typeface="Arial MT"/>
              </a:rPr>
              <a:t>  </a:t>
            </a:r>
            <a:r>
              <a:rPr sz="2000" spc="-10" dirty="0">
                <a:latin typeface="Arial MT"/>
                <a:cs typeface="Arial MT"/>
              </a:rPr>
              <a:t>time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on 	</a:t>
            </a:r>
            <a:r>
              <a:rPr sz="2000" spc="-65" dirty="0">
                <a:latin typeface="Arial MT"/>
                <a:cs typeface="Arial MT"/>
              </a:rPr>
              <a:t>budget</a:t>
            </a:r>
            <a:r>
              <a:rPr lang="en-US" sz="2000" spc="-65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that</a:t>
            </a:r>
            <a:r>
              <a:rPr sz="2000" spc="-140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meets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customers'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real </a:t>
            </a:r>
            <a:r>
              <a:rPr sz="2000" spc="-10" dirty="0">
                <a:latin typeface="Arial MT"/>
                <a:cs typeface="Arial MT"/>
              </a:rPr>
              <a:t>needs.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372" y="3496513"/>
            <a:ext cx="5148580" cy="17424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68605" marR="11430" indent="-256540">
              <a:lnSpc>
                <a:spcPct val="100000"/>
              </a:lnSpc>
              <a:spcBef>
                <a:spcPts val="115"/>
              </a:spcBef>
              <a:buClr>
                <a:srgbClr val="9F4DA2"/>
              </a:buClr>
              <a:buFont typeface="Wingdings"/>
              <a:buChar char=""/>
              <a:tabLst>
                <a:tab pos="268605" algn="l"/>
                <a:tab pos="363855" algn="l"/>
                <a:tab pos="812800" algn="l"/>
                <a:tab pos="2134870" algn="l"/>
                <a:tab pos="2569210" algn="l"/>
                <a:tab pos="3479800" algn="l"/>
                <a:tab pos="3923029" algn="l"/>
                <a:tab pos="4439920" algn="l"/>
              </a:tabLst>
            </a:pPr>
            <a:r>
              <a:rPr sz="2400" spc="-50" dirty="0">
                <a:latin typeface="Arial MT"/>
                <a:cs typeface="Arial MT"/>
              </a:rPr>
              <a:t>	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software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good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45" dirty="0">
                <a:latin typeface="Arial MT"/>
                <a:cs typeface="Arial MT"/>
              </a:rPr>
              <a:t>if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its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35" dirty="0">
                <a:latin typeface="Arial MT"/>
                <a:cs typeface="Arial MT"/>
              </a:rPr>
              <a:t>meets </a:t>
            </a:r>
            <a:r>
              <a:rPr lang="en-US" sz="2400" spc="-235" dirty="0">
                <a:latin typeface="Arial MT"/>
                <a:cs typeface="Arial MT"/>
              </a:rPr>
              <a:t>STAKEHOLDER Expectation</a:t>
            </a:r>
            <a:r>
              <a:rPr sz="2400" spc="-325" dirty="0">
                <a:latin typeface="+mn-lt"/>
                <a:cs typeface="Arial MT"/>
              </a:rPr>
              <a:t>:</a:t>
            </a:r>
            <a:endParaRPr sz="2400" dirty="0">
              <a:latin typeface="+mn-lt"/>
              <a:cs typeface="Arial MT"/>
            </a:endParaRPr>
          </a:p>
          <a:p>
            <a:pPr marL="560705" lvl="1" indent="-246379">
              <a:lnSpc>
                <a:spcPts val="2014"/>
              </a:lnSpc>
              <a:buClr>
                <a:srgbClr val="438085"/>
              </a:buClr>
              <a:buFont typeface="Wingdings"/>
              <a:buChar char=""/>
              <a:tabLst>
                <a:tab pos="560705" algn="l"/>
              </a:tabLst>
            </a:pPr>
            <a:r>
              <a:rPr sz="2000" dirty="0">
                <a:latin typeface="Arial MT"/>
                <a:cs typeface="Arial MT"/>
              </a:rPr>
              <a:t>it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60" dirty="0">
                <a:latin typeface="Arial MT"/>
                <a:cs typeface="Arial MT"/>
              </a:rPr>
              <a:t>is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(at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70" dirty="0">
                <a:latin typeface="Arial MT"/>
                <a:cs typeface="Arial MT"/>
              </a:rPr>
              <a:t>least)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correct,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reliable,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75" dirty="0">
                <a:latin typeface="Arial MT"/>
                <a:cs typeface="Arial MT"/>
              </a:rPr>
              <a:t>maintainable,</a:t>
            </a:r>
            <a:endParaRPr sz="2000" dirty="0">
              <a:latin typeface="Arial MT"/>
              <a:cs typeface="Arial MT"/>
            </a:endParaRPr>
          </a:p>
          <a:p>
            <a:pPr marL="561340">
              <a:lnSpc>
                <a:spcPts val="1945"/>
              </a:lnSpc>
            </a:pPr>
            <a:r>
              <a:rPr sz="2000" spc="-145" dirty="0">
                <a:latin typeface="Arial MT"/>
                <a:cs typeface="Arial MT"/>
              </a:rPr>
              <a:t>user-</a:t>
            </a:r>
            <a:r>
              <a:rPr sz="2000" spc="-45" dirty="0">
                <a:latin typeface="Arial MT"/>
                <a:cs typeface="Arial MT"/>
              </a:rPr>
              <a:t>friendly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…</a:t>
            </a:r>
            <a:endParaRPr sz="2000" dirty="0">
              <a:latin typeface="Arial MT"/>
              <a:cs typeface="Arial MT"/>
            </a:endParaRPr>
          </a:p>
          <a:p>
            <a:pPr marL="560705" lvl="1" indent="-246379">
              <a:lnSpc>
                <a:spcPts val="1785"/>
              </a:lnSpc>
              <a:buClr>
                <a:srgbClr val="438085"/>
              </a:buClr>
              <a:buFont typeface="Wingdings"/>
              <a:buChar char=""/>
              <a:tabLst>
                <a:tab pos="560705" algn="l"/>
              </a:tabLst>
            </a:pPr>
            <a:r>
              <a:rPr sz="2000" spc="-30" dirty="0">
                <a:latin typeface="Arial MT"/>
                <a:cs typeface="Arial MT"/>
              </a:rPr>
              <a:t>the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total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cost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incurs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spc="-35" dirty="0">
                <a:latin typeface="Arial MT"/>
                <a:cs typeface="Arial MT"/>
              </a:rPr>
              <a:t>over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phases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its</a:t>
            </a:r>
            <a:endParaRPr sz="2000" dirty="0">
              <a:latin typeface="Arial MT"/>
              <a:cs typeface="Arial MT"/>
            </a:endParaRPr>
          </a:p>
          <a:p>
            <a:pPr marL="561340">
              <a:lnSpc>
                <a:spcPts val="1995"/>
              </a:lnSpc>
            </a:pPr>
            <a:r>
              <a:rPr sz="2000" dirty="0">
                <a:latin typeface="Arial MT"/>
                <a:cs typeface="Arial MT"/>
              </a:rPr>
              <a:t>life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30" dirty="0">
                <a:latin typeface="Arial MT"/>
                <a:cs typeface="Arial MT"/>
              </a:rPr>
              <a:t>cycle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is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150" dirty="0">
                <a:latin typeface="Arial MT"/>
                <a:cs typeface="Arial MT"/>
              </a:rPr>
              <a:t>minimal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within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20" dirty="0">
                <a:latin typeface="Arial MT"/>
                <a:cs typeface="Arial MT"/>
              </a:rPr>
              <a:t>the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budget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9271" y="1665332"/>
            <a:ext cx="2700439" cy="237326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7400" y="4261992"/>
            <a:ext cx="2743200" cy="23674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507314"/>
            <a:ext cx="8541054" cy="899169"/>
          </a:xfrm>
          <a:prstGeom prst="rect">
            <a:avLst/>
          </a:prstGeom>
        </p:spPr>
        <p:txBody>
          <a:bodyPr vert="horz" wrap="square" lIns="0" tIns="280873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spc="-229" dirty="0">
                <a:solidFill>
                  <a:srgbClr val="000000"/>
                </a:solidFill>
                <a:latin typeface="Arial MT"/>
                <a:cs typeface="Arial MT"/>
              </a:rPr>
              <a:t>Context:</a:t>
            </a:r>
            <a:r>
              <a:rPr spc="-5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pc="-235" dirty="0">
                <a:solidFill>
                  <a:srgbClr val="000000"/>
                </a:solidFill>
                <a:latin typeface="Arial MT"/>
                <a:cs typeface="Arial MT"/>
              </a:rPr>
              <a:t>Stakeholder's</a:t>
            </a:r>
            <a:r>
              <a:rPr spc="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pc="-300" dirty="0">
                <a:solidFill>
                  <a:srgbClr val="000000"/>
                </a:solidFill>
                <a:latin typeface="Arial MT"/>
                <a:cs typeface="Arial MT"/>
              </a:rPr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512" y="1883248"/>
            <a:ext cx="8001000" cy="44903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507314"/>
            <a:ext cx="8541054" cy="828688"/>
          </a:xfrm>
          <a:prstGeom prst="rect">
            <a:avLst/>
          </a:prstGeom>
        </p:spPr>
        <p:txBody>
          <a:bodyPr vert="horz" wrap="square" lIns="0" tIns="272034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Importance</a:t>
            </a:r>
            <a:r>
              <a:rPr sz="3600" spc="-145" dirty="0"/>
              <a:t> </a:t>
            </a:r>
            <a:r>
              <a:rPr sz="3600" dirty="0"/>
              <a:t>of</a:t>
            </a:r>
            <a:r>
              <a:rPr sz="3600" spc="-10" dirty="0"/>
              <a:t> </a:t>
            </a:r>
            <a:r>
              <a:rPr sz="3600" dirty="0"/>
              <a:t>Software</a:t>
            </a:r>
            <a:r>
              <a:rPr sz="3600" spc="-40" dirty="0"/>
              <a:t> </a:t>
            </a:r>
            <a:r>
              <a:rPr sz="3600" spc="-10" dirty="0"/>
              <a:t>Requirements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493572" y="2078177"/>
            <a:ext cx="4439920" cy="3460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7335" marR="5080" indent="-255270">
              <a:lnSpc>
                <a:spcPct val="100099"/>
              </a:lnSpc>
              <a:spcBef>
                <a:spcPts val="105"/>
              </a:spcBef>
              <a:buClr>
                <a:srgbClr val="9F4DA2"/>
              </a:buClr>
              <a:buChar char="•"/>
              <a:tabLst>
                <a:tab pos="268605" algn="l"/>
                <a:tab pos="830580" algn="l"/>
                <a:tab pos="934719" algn="l"/>
                <a:tab pos="1035685" algn="l"/>
                <a:tab pos="1501140" algn="l"/>
                <a:tab pos="1523365" algn="l"/>
                <a:tab pos="1744345" algn="l"/>
                <a:tab pos="1951989" algn="l"/>
                <a:tab pos="2310130" algn="l"/>
                <a:tab pos="2379345" algn="l"/>
                <a:tab pos="2501265" algn="l"/>
                <a:tab pos="2891155" algn="l"/>
                <a:tab pos="3388995" algn="l"/>
                <a:tab pos="3463925" algn="l"/>
                <a:tab pos="3498215" algn="l"/>
                <a:tab pos="3761740" algn="l"/>
              </a:tabLst>
            </a:pPr>
            <a:r>
              <a:rPr sz="2800" spc="-25" dirty="0">
                <a:latin typeface="Georgia"/>
                <a:cs typeface="Georgia"/>
              </a:rPr>
              <a:t>The</a:t>
            </a:r>
            <a:r>
              <a:rPr sz="2800" dirty="0">
                <a:latin typeface="Georgia"/>
                <a:cs typeface="Georgia"/>
              </a:rPr>
              <a:t>		</a:t>
            </a:r>
            <a:r>
              <a:rPr sz="2800" spc="-10" dirty="0">
                <a:latin typeface="Georgia"/>
                <a:cs typeface="Georgia"/>
              </a:rPr>
              <a:t>hardest</a:t>
            </a:r>
            <a:r>
              <a:rPr sz="2800" dirty="0">
                <a:latin typeface="Georgia"/>
                <a:cs typeface="Georgia"/>
              </a:rPr>
              <a:t>		</a:t>
            </a:r>
            <a:r>
              <a:rPr sz="2800" spc="-610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single		</a:t>
            </a:r>
            <a:r>
              <a:rPr sz="2800" spc="-5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part 	</a:t>
            </a:r>
            <a:r>
              <a:rPr sz="2800" spc="-25" dirty="0">
                <a:latin typeface="Georgia"/>
                <a:cs typeface="Georgia"/>
              </a:rPr>
              <a:t>of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10" dirty="0">
                <a:latin typeface="Georgia"/>
                <a:cs typeface="Georgia"/>
              </a:rPr>
              <a:t>building</a:t>
            </a:r>
            <a:r>
              <a:rPr sz="2800" dirty="0">
                <a:latin typeface="Georgia"/>
                <a:cs typeface="Georgia"/>
              </a:rPr>
              <a:t>	a </a:t>
            </a:r>
            <a:r>
              <a:rPr sz="2800" spc="-10" dirty="0">
                <a:latin typeface="Georgia"/>
                <a:cs typeface="Georgia"/>
              </a:rPr>
              <a:t>software 	system</a:t>
            </a:r>
            <a:r>
              <a:rPr sz="2800" dirty="0">
                <a:latin typeface="Georgia"/>
                <a:cs typeface="Georgia"/>
              </a:rPr>
              <a:t>		</a:t>
            </a:r>
            <a:r>
              <a:rPr sz="2800" spc="-25" dirty="0">
                <a:latin typeface="Georgia"/>
                <a:cs typeface="Georgia"/>
              </a:rPr>
              <a:t>is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10" dirty="0">
                <a:latin typeface="Georgia"/>
                <a:cs typeface="Georgia"/>
              </a:rPr>
              <a:t>deciding</a:t>
            </a:r>
            <a:r>
              <a:rPr sz="2800" dirty="0">
                <a:latin typeface="Georgia"/>
                <a:cs typeface="Georgia"/>
              </a:rPr>
              <a:t>		</a:t>
            </a:r>
            <a:r>
              <a:rPr sz="2800" spc="-20" dirty="0">
                <a:latin typeface="Georgia"/>
                <a:cs typeface="Georgia"/>
              </a:rPr>
              <a:t>what 	</a:t>
            </a:r>
            <a:r>
              <a:rPr sz="2800" dirty="0">
                <a:latin typeface="Georgia"/>
                <a:cs typeface="Georgia"/>
              </a:rPr>
              <a:t>to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build.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25" dirty="0">
                <a:latin typeface="Georgia"/>
                <a:cs typeface="Georgia"/>
              </a:rPr>
              <a:t>No</a:t>
            </a:r>
            <a:r>
              <a:rPr sz="2800" dirty="0">
                <a:latin typeface="Georgia"/>
                <a:cs typeface="Georgia"/>
              </a:rPr>
              <a:t>		</a:t>
            </a:r>
            <a:r>
              <a:rPr sz="2800" spc="-20" dirty="0">
                <a:latin typeface="Georgia"/>
                <a:cs typeface="Georgia"/>
              </a:rPr>
              <a:t>other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20" dirty="0">
                <a:latin typeface="Georgia"/>
                <a:cs typeface="Georgia"/>
              </a:rPr>
              <a:t>part</a:t>
            </a:r>
            <a:r>
              <a:rPr sz="2800" spc="700" dirty="0">
                <a:latin typeface="Georgia"/>
                <a:cs typeface="Georgia"/>
              </a:rPr>
              <a:t> 	</a:t>
            </a:r>
            <a:r>
              <a:rPr sz="2800" spc="-25" dirty="0">
                <a:latin typeface="Georgia"/>
                <a:cs typeface="Georgia"/>
              </a:rPr>
              <a:t>of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25" dirty="0">
                <a:latin typeface="Georgia"/>
                <a:cs typeface="Georgia"/>
              </a:rPr>
              <a:t>the</a:t>
            </a:r>
            <a:r>
              <a:rPr sz="2800" dirty="0">
                <a:latin typeface="Georgia"/>
                <a:cs typeface="Georgia"/>
              </a:rPr>
              <a:t>	work</a:t>
            </a:r>
            <a:r>
              <a:rPr sz="2800" spc="-40" dirty="0">
                <a:latin typeface="Georgia"/>
                <a:cs typeface="Georgia"/>
              </a:rPr>
              <a:t> </a:t>
            </a:r>
            <a:r>
              <a:rPr sz="2800" spc="-25" dirty="0">
                <a:latin typeface="Georgia"/>
                <a:cs typeface="Georgia"/>
              </a:rPr>
              <a:t>so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10" dirty="0">
                <a:latin typeface="Georgia"/>
                <a:cs typeface="Georgia"/>
              </a:rPr>
              <a:t>cripples 	</a:t>
            </a:r>
            <a:r>
              <a:rPr sz="2800" spc="-25" dirty="0">
                <a:latin typeface="Georgia"/>
                <a:cs typeface="Georgia"/>
              </a:rPr>
              <a:t>the</a:t>
            </a:r>
            <a:r>
              <a:rPr sz="2800" dirty="0">
                <a:latin typeface="Georgia"/>
                <a:cs typeface="Georgia"/>
              </a:rPr>
              <a:t>		</a:t>
            </a:r>
            <a:r>
              <a:rPr sz="2800" spc="-10" dirty="0">
                <a:latin typeface="Georgia"/>
                <a:cs typeface="Georgia"/>
              </a:rPr>
              <a:t>resulting</a:t>
            </a:r>
            <a:r>
              <a:rPr sz="2800" dirty="0">
                <a:latin typeface="Georgia"/>
                <a:cs typeface="Georgia"/>
              </a:rPr>
              <a:t>		</a:t>
            </a:r>
            <a:r>
              <a:rPr sz="2800" spc="-10" dirty="0">
                <a:latin typeface="Georgia"/>
                <a:cs typeface="Georgia"/>
              </a:rPr>
              <a:t>system</a:t>
            </a:r>
            <a:r>
              <a:rPr sz="2800" dirty="0">
                <a:latin typeface="Georgia"/>
                <a:cs typeface="Georgia"/>
              </a:rPr>
              <a:t>	</a:t>
            </a:r>
            <a:r>
              <a:rPr sz="2800" spc="-25" dirty="0">
                <a:latin typeface="Georgia"/>
                <a:cs typeface="Georgia"/>
              </a:rPr>
              <a:t>if 	</a:t>
            </a:r>
            <a:r>
              <a:rPr sz="2800" dirty="0">
                <a:latin typeface="Georgia"/>
                <a:cs typeface="Georgia"/>
              </a:rPr>
              <a:t>done</a:t>
            </a:r>
            <a:r>
              <a:rPr sz="2800" spc="-65" dirty="0">
                <a:latin typeface="Georgia"/>
                <a:cs typeface="Georgia"/>
              </a:rPr>
              <a:t> </a:t>
            </a:r>
            <a:r>
              <a:rPr sz="2800" dirty="0">
                <a:latin typeface="Georgia"/>
                <a:cs typeface="Georgia"/>
              </a:rPr>
              <a:t>wrong</a:t>
            </a:r>
            <a:r>
              <a:rPr sz="2800" spc="-50" dirty="0">
                <a:latin typeface="Georgia"/>
                <a:cs typeface="Georgia"/>
              </a:rPr>
              <a:t>. 	</a:t>
            </a:r>
            <a:r>
              <a:rPr sz="2800" dirty="0">
                <a:latin typeface="Georgia"/>
                <a:cs typeface="Georgia"/>
              </a:rPr>
              <a:t>(Fred</a:t>
            </a:r>
            <a:r>
              <a:rPr sz="2800" spc="-70" dirty="0">
                <a:latin typeface="Georgia"/>
                <a:cs typeface="Georgia"/>
              </a:rPr>
              <a:t> </a:t>
            </a:r>
            <a:r>
              <a:rPr sz="2800" spc="-10" dirty="0">
                <a:latin typeface="Georgia"/>
                <a:cs typeface="Georgia"/>
              </a:rPr>
              <a:t>Brooks)</a:t>
            </a:r>
            <a:endParaRPr sz="2800" dirty="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1676438"/>
            <a:ext cx="3199892" cy="48084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444830"/>
            <a:ext cx="797940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70" dirty="0">
                <a:solidFill>
                  <a:srgbClr val="000000"/>
                </a:solidFill>
                <a:latin typeface="Arial MT"/>
                <a:cs typeface="Arial MT"/>
              </a:rPr>
              <a:t>The</a:t>
            </a:r>
            <a:r>
              <a:rPr sz="3200" spc="-4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spc="-295" dirty="0">
                <a:solidFill>
                  <a:srgbClr val="000000"/>
                </a:solidFill>
                <a:latin typeface="Arial MT"/>
                <a:cs typeface="Arial MT"/>
              </a:rPr>
              <a:t>Root</a:t>
            </a:r>
            <a:r>
              <a:rPr sz="320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spc="-345" dirty="0">
                <a:solidFill>
                  <a:srgbClr val="000000"/>
                </a:solidFill>
                <a:latin typeface="Arial MT"/>
                <a:cs typeface="Arial MT"/>
              </a:rPr>
              <a:t>Causes</a:t>
            </a:r>
            <a:r>
              <a:rPr sz="3200" spc="-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0000"/>
                </a:solidFill>
                <a:latin typeface="Arial MT"/>
                <a:cs typeface="Arial MT"/>
              </a:rPr>
              <a:t>of</a:t>
            </a:r>
            <a:r>
              <a:rPr sz="3200" spc="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spc="-195" dirty="0">
                <a:solidFill>
                  <a:srgbClr val="000000"/>
                </a:solidFill>
                <a:latin typeface="Arial MT"/>
                <a:cs typeface="Arial MT"/>
              </a:rPr>
              <a:t>Project</a:t>
            </a:r>
            <a:r>
              <a:rPr sz="320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spc="-420" dirty="0">
                <a:solidFill>
                  <a:srgbClr val="000000"/>
                </a:solidFill>
                <a:latin typeface="Arial MT"/>
                <a:cs typeface="Arial MT"/>
              </a:rPr>
              <a:t>Success</a:t>
            </a:r>
            <a:r>
              <a:rPr sz="320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spc="-120" dirty="0">
                <a:solidFill>
                  <a:srgbClr val="000000"/>
                </a:solidFill>
                <a:latin typeface="Arial MT"/>
                <a:cs typeface="Arial MT"/>
              </a:rPr>
              <a:t>and</a:t>
            </a:r>
            <a:r>
              <a:rPr sz="320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3200" spc="-85" dirty="0">
                <a:solidFill>
                  <a:srgbClr val="000000"/>
                </a:solidFill>
                <a:latin typeface="Arial MT"/>
                <a:cs typeface="Arial MT"/>
              </a:rPr>
              <a:t>Failure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371600"/>
            <a:ext cx="890765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44" y="659968"/>
            <a:ext cx="7766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Requirements</a:t>
            </a:r>
            <a:r>
              <a:rPr spc="-225" dirty="0"/>
              <a:t> </a:t>
            </a:r>
            <a:r>
              <a:rPr dirty="0"/>
              <a:t>Engineering</a:t>
            </a:r>
            <a:r>
              <a:rPr spc="-15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572" y="1561338"/>
            <a:ext cx="5144135" cy="1133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67970" indent="-255270">
              <a:lnSpc>
                <a:spcPts val="2155"/>
              </a:lnSpc>
              <a:spcBef>
                <a:spcPts val="114"/>
              </a:spcBef>
              <a:buClr>
                <a:srgbClr val="9F4DA2"/>
              </a:buClr>
              <a:buFont typeface="Wingdings"/>
              <a:buChar char=""/>
              <a:tabLst>
                <a:tab pos="267970" algn="l"/>
                <a:tab pos="1864995" algn="l"/>
                <a:tab pos="2560320" algn="l"/>
                <a:tab pos="3187065" algn="l"/>
                <a:tab pos="3671570" algn="l"/>
              </a:tabLst>
            </a:pPr>
            <a:r>
              <a:rPr sz="2000" b="1" spc="-10" dirty="0">
                <a:latin typeface="Georgia"/>
                <a:cs typeface="Georgia"/>
              </a:rPr>
              <a:t>Elicitation:</a:t>
            </a:r>
            <a:r>
              <a:rPr sz="2000" b="1" dirty="0">
                <a:latin typeface="Georgia"/>
                <a:cs typeface="Georgia"/>
              </a:rPr>
              <a:t>	</a:t>
            </a:r>
            <a:r>
              <a:rPr sz="2000" spc="-20" dirty="0">
                <a:latin typeface="Georgia"/>
                <a:cs typeface="Georgia"/>
              </a:rPr>
              <a:t>work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0" dirty="0">
                <a:latin typeface="Georgia"/>
                <a:cs typeface="Georgia"/>
              </a:rPr>
              <a:t>with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the</a:t>
            </a:r>
            <a:r>
              <a:rPr sz="2000" dirty="0">
                <a:latin typeface="Georgia"/>
                <a:cs typeface="Georgia"/>
              </a:rPr>
              <a:t>	customer</a:t>
            </a:r>
            <a:r>
              <a:rPr sz="2000" spc="440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on</a:t>
            </a:r>
            <a:endParaRPr sz="2000">
              <a:latin typeface="Georgia"/>
              <a:cs typeface="Georgia"/>
            </a:endParaRPr>
          </a:p>
          <a:p>
            <a:pPr marL="268605">
              <a:lnSpc>
                <a:spcPts val="2155"/>
              </a:lnSpc>
            </a:pPr>
            <a:r>
              <a:rPr sz="2000" dirty="0">
                <a:latin typeface="Georgia"/>
                <a:cs typeface="Georgia"/>
              </a:rPr>
              <a:t>gathering</a:t>
            </a:r>
            <a:r>
              <a:rPr sz="2000" spc="-11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requirements</a:t>
            </a:r>
            <a:endParaRPr sz="2000">
              <a:latin typeface="Georgia"/>
              <a:cs typeface="Georgia"/>
            </a:endParaRPr>
          </a:p>
          <a:p>
            <a:pPr marL="267970" indent="-255270">
              <a:lnSpc>
                <a:spcPct val="100000"/>
              </a:lnSpc>
              <a:spcBef>
                <a:spcPts val="1995"/>
              </a:spcBef>
              <a:buClr>
                <a:srgbClr val="9F4DA2"/>
              </a:buClr>
              <a:buFont typeface="Wingdings"/>
              <a:buChar char=""/>
              <a:tabLst>
                <a:tab pos="267970" algn="l"/>
                <a:tab pos="1673225" algn="l"/>
                <a:tab pos="2724785" algn="l"/>
                <a:tab pos="3351529" algn="l"/>
                <a:tab pos="4906645" algn="l"/>
              </a:tabLst>
            </a:pPr>
            <a:r>
              <a:rPr sz="2000" b="1" spc="-10" dirty="0">
                <a:latin typeface="Georgia"/>
                <a:cs typeface="Georgia"/>
              </a:rPr>
              <a:t>Analysis:</a:t>
            </a:r>
            <a:r>
              <a:rPr sz="2000" b="1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process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0" dirty="0">
                <a:latin typeface="Georgia"/>
                <a:cs typeface="Georgia"/>
              </a:rPr>
              <a:t>this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information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to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604" y="2603957"/>
            <a:ext cx="4888865" cy="5715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140"/>
              </a:lnSpc>
              <a:spcBef>
                <a:spcPts val="114"/>
              </a:spcBef>
              <a:tabLst>
                <a:tab pos="1677670" algn="l"/>
                <a:tab pos="2272030" algn="l"/>
                <a:tab pos="3461385" algn="l"/>
                <a:tab pos="4051300" algn="l"/>
              </a:tabLst>
            </a:pPr>
            <a:r>
              <a:rPr sz="2000" spc="-10" dirty="0">
                <a:latin typeface="Georgia"/>
                <a:cs typeface="Georgia"/>
              </a:rPr>
              <a:t>understand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it,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classify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35" dirty="0">
                <a:latin typeface="Georgia"/>
                <a:cs typeface="Georgia"/>
              </a:rPr>
              <a:t>in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various</a:t>
            </a:r>
            <a:endParaRPr sz="2000">
              <a:latin typeface="Georgia"/>
              <a:cs typeface="Georgia"/>
            </a:endParaRPr>
          </a:p>
          <a:p>
            <a:pPr marL="12700">
              <a:lnSpc>
                <a:spcPts val="2140"/>
              </a:lnSpc>
              <a:tabLst>
                <a:tab pos="1965960" algn="l"/>
                <a:tab pos="3136900" algn="l"/>
              </a:tabLst>
            </a:pPr>
            <a:r>
              <a:rPr sz="2000" spc="-10" dirty="0">
                <a:latin typeface="Georgia"/>
                <a:cs typeface="Georgia"/>
              </a:rPr>
              <a:t>categories,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and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relate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604" y="3084652"/>
            <a:ext cx="330454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741805" algn="l"/>
                <a:tab pos="3067685" algn="l"/>
              </a:tabLst>
            </a:pPr>
            <a:r>
              <a:rPr sz="2000" spc="-10" dirty="0">
                <a:latin typeface="Georgia"/>
                <a:cs typeface="Georgia"/>
              </a:rPr>
              <a:t>customer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0" dirty="0">
                <a:latin typeface="Georgia"/>
                <a:cs typeface="Georgia"/>
              </a:rPr>
              <a:t>needs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to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01921" y="2842386"/>
            <a:ext cx="940435" cy="5753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5080" algn="r">
              <a:lnSpc>
                <a:spcPts val="2155"/>
              </a:lnSpc>
              <a:spcBef>
                <a:spcPts val="114"/>
              </a:spcBef>
            </a:pPr>
            <a:r>
              <a:rPr sz="2000" spc="-25" dirty="0">
                <a:latin typeface="Georgia"/>
                <a:cs typeface="Georgia"/>
              </a:rPr>
              <a:t>the</a:t>
            </a:r>
            <a:endParaRPr sz="2000">
              <a:latin typeface="Georgia"/>
              <a:cs typeface="Georgia"/>
            </a:endParaRPr>
          </a:p>
          <a:p>
            <a:pPr marR="8890" algn="r">
              <a:lnSpc>
                <a:spcPts val="2155"/>
              </a:lnSpc>
            </a:pPr>
            <a:r>
              <a:rPr sz="2000" spc="-10" dirty="0">
                <a:latin typeface="Georgia"/>
                <a:cs typeface="Georgia"/>
              </a:rPr>
              <a:t>possible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3572" y="3327272"/>
            <a:ext cx="5145405" cy="2656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Georgia"/>
                <a:cs typeface="Georgia"/>
              </a:rPr>
              <a:t>software</a:t>
            </a:r>
            <a:r>
              <a:rPr sz="2000" spc="-10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requirements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000">
              <a:latin typeface="Georgia"/>
              <a:cs typeface="Georgia"/>
            </a:endParaRPr>
          </a:p>
          <a:p>
            <a:pPr marL="267335" marR="5715" indent="-255270" algn="just">
              <a:lnSpc>
                <a:spcPct val="79500"/>
              </a:lnSpc>
              <a:buClr>
                <a:srgbClr val="9F4DA2"/>
              </a:buClr>
              <a:buFont typeface="Wingdings"/>
              <a:buChar char=""/>
              <a:tabLst>
                <a:tab pos="268605" algn="l"/>
              </a:tabLst>
            </a:pPr>
            <a:r>
              <a:rPr sz="2000" b="1" dirty="0">
                <a:latin typeface="Georgia"/>
                <a:cs typeface="Georgia"/>
              </a:rPr>
              <a:t>Specification:</a:t>
            </a:r>
            <a:r>
              <a:rPr sz="2000" b="1" spc="254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Structure</a:t>
            </a:r>
            <a:r>
              <a:rPr sz="2000" spc="30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the</a:t>
            </a:r>
            <a:r>
              <a:rPr sz="2000" spc="275" dirty="0">
                <a:latin typeface="Georgia"/>
                <a:cs typeface="Georgia"/>
              </a:rPr>
              <a:t>  </a:t>
            </a:r>
            <a:r>
              <a:rPr sz="2000" spc="-10" dirty="0">
                <a:latin typeface="Georgia"/>
                <a:cs typeface="Georgia"/>
              </a:rPr>
              <a:t>customer 	</a:t>
            </a:r>
            <a:r>
              <a:rPr sz="2000" dirty="0">
                <a:latin typeface="Georgia"/>
                <a:cs typeface="Georgia"/>
              </a:rPr>
              <a:t>input</a:t>
            </a:r>
            <a:r>
              <a:rPr sz="2000" spc="320" dirty="0">
                <a:latin typeface="Georgia"/>
                <a:cs typeface="Georgia"/>
              </a:rPr>
              <a:t>  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320" dirty="0">
                <a:latin typeface="Georgia"/>
                <a:cs typeface="Georgia"/>
              </a:rPr>
              <a:t>   </a:t>
            </a:r>
            <a:r>
              <a:rPr sz="2000" dirty="0">
                <a:latin typeface="Georgia"/>
                <a:cs typeface="Georgia"/>
              </a:rPr>
              <a:t>derived</a:t>
            </a:r>
            <a:r>
              <a:rPr sz="2000" spc="310" dirty="0">
                <a:latin typeface="Georgia"/>
                <a:cs typeface="Georgia"/>
              </a:rPr>
              <a:t>   </a:t>
            </a:r>
            <a:r>
              <a:rPr sz="2000" dirty="0">
                <a:latin typeface="Georgia"/>
                <a:cs typeface="Georgia"/>
              </a:rPr>
              <a:t>requirements</a:t>
            </a:r>
            <a:r>
              <a:rPr sz="2000" spc="315" dirty="0">
                <a:latin typeface="Georgia"/>
                <a:cs typeface="Georgia"/>
              </a:rPr>
              <a:t>   </a:t>
            </a:r>
            <a:r>
              <a:rPr sz="2000" spc="-25" dirty="0">
                <a:latin typeface="Georgia"/>
                <a:cs typeface="Georgia"/>
              </a:rPr>
              <a:t>as 	</a:t>
            </a:r>
            <a:r>
              <a:rPr sz="2000" dirty="0">
                <a:latin typeface="Georgia"/>
                <a:cs typeface="Georgia"/>
              </a:rPr>
              <a:t>written</a:t>
            </a:r>
            <a:r>
              <a:rPr sz="2000" spc="-65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documents</a:t>
            </a:r>
            <a:r>
              <a:rPr sz="2000" spc="-6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-30" dirty="0">
                <a:latin typeface="Georgia"/>
                <a:cs typeface="Georgia"/>
              </a:rPr>
              <a:t> </a:t>
            </a:r>
            <a:r>
              <a:rPr sz="2000" spc="-10" dirty="0">
                <a:latin typeface="Georgia"/>
                <a:cs typeface="Georgia"/>
              </a:rPr>
              <a:t>diagrams</a:t>
            </a:r>
            <a:endParaRPr sz="2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Clr>
                <a:srgbClr val="9F4DA2"/>
              </a:buClr>
              <a:buFont typeface="Wingdings"/>
              <a:buChar char=""/>
            </a:pPr>
            <a:endParaRPr sz="2000">
              <a:latin typeface="Georgia"/>
              <a:cs typeface="Georgia"/>
            </a:endParaRPr>
          </a:p>
          <a:p>
            <a:pPr marL="267335" marR="5080" indent="-255270" algn="just">
              <a:lnSpc>
                <a:spcPct val="79000"/>
              </a:lnSpc>
              <a:spcBef>
                <a:spcPts val="5"/>
              </a:spcBef>
              <a:buClr>
                <a:srgbClr val="9F4DA2"/>
              </a:buClr>
              <a:buFont typeface="Wingdings"/>
              <a:buChar char=""/>
              <a:tabLst>
                <a:tab pos="268605" algn="l"/>
              </a:tabLst>
            </a:pPr>
            <a:r>
              <a:rPr sz="2000" b="1" dirty="0">
                <a:latin typeface="Georgia"/>
                <a:cs typeface="Georgia"/>
              </a:rPr>
              <a:t>Validation:</a:t>
            </a:r>
            <a:r>
              <a:rPr sz="2000" b="1" spc="44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you’ll</a:t>
            </a:r>
            <a:r>
              <a:rPr sz="2000" spc="49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ask</a:t>
            </a:r>
            <a:r>
              <a:rPr sz="2000" spc="45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your</a:t>
            </a:r>
            <a:r>
              <a:rPr sz="2000" spc="490" dirty="0">
                <a:latin typeface="Georgia"/>
                <a:cs typeface="Georgia"/>
              </a:rPr>
              <a:t> </a:t>
            </a:r>
            <a:r>
              <a:rPr sz="2000" dirty="0">
                <a:latin typeface="Georgia"/>
                <a:cs typeface="Georgia"/>
              </a:rPr>
              <a:t>customer</a:t>
            </a:r>
            <a:r>
              <a:rPr sz="2000" spc="420" dirty="0">
                <a:latin typeface="Georgia"/>
                <a:cs typeface="Georgia"/>
              </a:rPr>
              <a:t> </a:t>
            </a:r>
            <a:r>
              <a:rPr sz="2000" spc="-25" dirty="0">
                <a:latin typeface="Georgia"/>
                <a:cs typeface="Georgia"/>
              </a:rPr>
              <a:t>to 	</a:t>
            </a:r>
            <a:r>
              <a:rPr sz="2000" dirty="0">
                <a:latin typeface="Georgia"/>
                <a:cs typeface="Georgia"/>
              </a:rPr>
              <a:t>confirm</a:t>
            </a:r>
            <a:r>
              <a:rPr sz="2000" spc="49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that</a:t>
            </a:r>
            <a:r>
              <a:rPr sz="2000" spc="49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what</a:t>
            </a:r>
            <a:r>
              <a:rPr sz="2000" spc="490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you’ve</a:t>
            </a:r>
            <a:r>
              <a:rPr sz="2000" spc="170" dirty="0">
                <a:latin typeface="Georgia"/>
                <a:cs typeface="Georgia"/>
              </a:rPr>
              <a:t>   </a:t>
            </a:r>
            <a:r>
              <a:rPr sz="2000" dirty="0">
                <a:latin typeface="Georgia"/>
                <a:cs typeface="Georgia"/>
              </a:rPr>
              <a:t>written</a:t>
            </a:r>
            <a:r>
              <a:rPr sz="2000" spc="170" dirty="0">
                <a:latin typeface="Georgia"/>
                <a:cs typeface="Georgia"/>
              </a:rPr>
              <a:t>   </a:t>
            </a:r>
            <a:r>
              <a:rPr sz="2000" spc="-25" dirty="0">
                <a:latin typeface="Georgia"/>
                <a:cs typeface="Georgia"/>
              </a:rPr>
              <a:t>is 	</a:t>
            </a:r>
            <a:r>
              <a:rPr sz="2000" dirty="0">
                <a:latin typeface="Georgia"/>
                <a:cs typeface="Georgia"/>
              </a:rPr>
              <a:t>accurate</a:t>
            </a:r>
            <a:r>
              <a:rPr sz="2000" spc="31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31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complete</a:t>
            </a:r>
            <a:r>
              <a:rPr sz="2000" spc="31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and</a:t>
            </a:r>
            <a:r>
              <a:rPr sz="2000" spc="315" dirty="0">
                <a:latin typeface="Georgia"/>
                <a:cs typeface="Georgia"/>
              </a:rPr>
              <a:t>  </a:t>
            </a:r>
            <a:r>
              <a:rPr sz="2000" dirty="0">
                <a:latin typeface="Georgia"/>
                <a:cs typeface="Georgia"/>
              </a:rPr>
              <a:t>to</a:t>
            </a:r>
            <a:r>
              <a:rPr sz="2000" spc="315" dirty="0">
                <a:latin typeface="Georgia"/>
                <a:cs typeface="Georgia"/>
              </a:rPr>
              <a:t>  </a:t>
            </a:r>
            <a:r>
              <a:rPr sz="2000" spc="-10" dirty="0">
                <a:latin typeface="Georgia"/>
                <a:cs typeface="Georgia"/>
              </a:rPr>
              <a:t>correct 	errors.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99328" y="1962150"/>
            <a:ext cx="3192272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9950" y="3115600"/>
            <a:ext cx="7884050" cy="626799"/>
          </a:xfrm>
          <a:prstGeom prst="rect">
            <a:avLst/>
          </a:prstGeom>
        </p:spPr>
        <p:txBody>
          <a:bodyPr vert="horz" wrap="square" lIns="0" tIns="11137" rIns="0" bIns="0" rtlCol="0">
            <a:spAutoFit/>
          </a:bodyPr>
          <a:lstStyle/>
          <a:p>
            <a:pPr marL="545137">
              <a:spcBef>
                <a:spcPts val="88"/>
              </a:spcBef>
            </a:pPr>
            <a:r>
              <a:rPr spc="-434" dirty="0"/>
              <a:t>T</a:t>
            </a:r>
            <a:r>
              <a:rPr spc="14" dirty="0"/>
              <a:t>y</a:t>
            </a:r>
            <a:r>
              <a:rPr spc="28" dirty="0"/>
              <a:t>p</a:t>
            </a:r>
            <a:r>
              <a:rPr spc="32" dirty="0"/>
              <a:t>e</a:t>
            </a:r>
            <a:r>
              <a:rPr spc="23" dirty="0"/>
              <a:t>s</a:t>
            </a:r>
            <a:r>
              <a:rPr spc="-115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spc="-9" dirty="0"/>
              <a:t>requirement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B30F5-51A8-D7CC-6BD6-B4069B58F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18B3FC-8BE7-54F4-77D3-C05325B765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60" y="732059"/>
            <a:ext cx="7884050" cy="626799"/>
          </a:xfrm>
          <a:prstGeom prst="rect">
            <a:avLst/>
          </a:prstGeom>
        </p:spPr>
        <p:txBody>
          <a:bodyPr vert="horz" wrap="square" lIns="0" tIns="11137" rIns="0" bIns="0" rtlCol="0">
            <a:spAutoFit/>
          </a:bodyPr>
          <a:lstStyle/>
          <a:p>
            <a:pPr marL="545137">
              <a:spcBef>
                <a:spcPts val="88"/>
              </a:spcBef>
            </a:pPr>
            <a:r>
              <a:rPr spc="-434" dirty="0"/>
              <a:t>T</a:t>
            </a:r>
            <a:r>
              <a:rPr spc="14" dirty="0"/>
              <a:t>y</a:t>
            </a:r>
            <a:r>
              <a:rPr spc="28" dirty="0"/>
              <a:t>p</a:t>
            </a:r>
            <a:r>
              <a:rPr spc="32" dirty="0"/>
              <a:t>e</a:t>
            </a:r>
            <a:r>
              <a:rPr spc="23" dirty="0"/>
              <a:t>s</a:t>
            </a:r>
            <a:r>
              <a:rPr spc="-115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spc="-9" dirty="0"/>
              <a:t>requirement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D9C459F-8387-80A1-7EFC-7BD5151178BC}"/>
              </a:ext>
            </a:extLst>
          </p:cNvPr>
          <p:cNvSpPr txBox="1"/>
          <p:nvPr/>
        </p:nvSpPr>
        <p:spPr>
          <a:xfrm>
            <a:off x="685800" y="1828800"/>
            <a:ext cx="7530318" cy="4385876"/>
          </a:xfrm>
          <a:prstGeom prst="rect">
            <a:avLst/>
          </a:prstGeom>
        </p:spPr>
        <p:txBody>
          <a:bodyPr vert="horz" wrap="square" lIns="0" tIns="55685" rIns="0" bIns="0" rtlCol="0">
            <a:spAutoFit/>
          </a:bodyPr>
          <a:lstStyle/>
          <a:p>
            <a:pPr marL="247363" indent="-235640">
              <a:spcBef>
                <a:spcPts val="438"/>
              </a:spcBef>
              <a:buClr>
                <a:srgbClr val="9F4DA2"/>
              </a:buClr>
              <a:buFont typeface="Georgia"/>
              <a:buChar char="•"/>
              <a:tabLst>
                <a:tab pos="247363" algn="l"/>
              </a:tabLst>
            </a:pPr>
            <a:r>
              <a:rPr sz="2585" b="1" dirty="0">
                <a:latin typeface="Georgia"/>
                <a:cs typeface="Georgia"/>
              </a:rPr>
              <a:t>User</a:t>
            </a:r>
            <a:r>
              <a:rPr sz="2585" b="1" spc="-78" dirty="0">
                <a:latin typeface="Georgia"/>
                <a:cs typeface="Georgia"/>
              </a:rPr>
              <a:t> </a:t>
            </a:r>
            <a:r>
              <a:rPr sz="2585" b="1" spc="-9" dirty="0">
                <a:latin typeface="Georgia"/>
                <a:cs typeface="Georgia"/>
              </a:rPr>
              <a:t>requirements</a:t>
            </a:r>
            <a:endParaRPr sz="2585" dirty="0">
              <a:latin typeface="Georgia"/>
              <a:cs typeface="Georgia"/>
            </a:endParaRPr>
          </a:p>
          <a:p>
            <a:pPr marL="518173" marR="4689" indent="-228606">
              <a:lnSpc>
                <a:spcPct val="99800"/>
              </a:lnSpc>
              <a:spcBef>
                <a:spcPts val="314"/>
              </a:spcBef>
              <a:tabLst>
                <a:tab pos="518173" algn="l"/>
              </a:tabLst>
            </a:pPr>
            <a:r>
              <a:rPr sz="2400" spc="-46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lang="en-US" sz="2400" dirty="0"/>
              <a:t>High-level statements (in natural language or simple diagrams) that describe </a:t>
            </a:r>
            <a:r>
              <a:rPr lang="en-US" sz="2400" b="1" dirty="0"/>
              <a:t>what services the system should provide and the constraints under which it operates</a:t>
            </a:r>
            <a:r>
              <a:rPr lang="en-US" sz="2400" dirty="0"/>
              <a:t>, from the perspective of the end-users or customers.</a:t>
            </a:r>
          </a:p>
          <a:p>
            <a:pPr marL="518173" marR="4689" indent="-228606">
              <a:lnSpc>
                <a:spcPct val="99800"/>
              </a:lnSpc>
              <a:spcBef>
                <a:spcPts val="314"/>
              </a:spcBef>
              <a:tabLst>
                <a:tab pos="518173" algn="l"/>
              </a:tabLst>
            </a:pPr>
            <a:endParaRPr lang="en-US" sz="2400" dirty="0"/>
          </a:p>
          <a:p>
            <a:r>
              <a:rPr lang="en-US" sz="2000" b="1" dirty="0">
                <a:latin typeface="+mj-lt"/>
              </a:rPr>
              <a:t>Example (Banking App):</a:t>
            </a:r>
            <a:endParaRPr lang="en-US" sz="2000" dirty="0">
              <a:latin typeface="+mj-lt"/>
            </a:endParaRPr>
          </a:p>
          <a:p>
            <a:pPr lvl="1"/>
            <a:r>
              <a:rPr lang="en-US" sz="2000" i="1" dirty="0">
                <a:latin typeface="+mj-lt"/>
              </a:rPr>
              <a:t>“The system shall allow users to check their account balance through a mobile app.”</a:t>
            </a:r>
            <a:endParaRPr lang="en-US" sz="2000" dirty="0">
              <a:latin typeface="+mj-lt"/>
            </a:endParaRPr>
          </a:p>
          <a:p>
            <a:pPr lvl="1"/>
            <a:r>
              <a:rPr lang="en-US" sz="2000" i="1" dirty="0">
                <a:latin typeface="+mj-lt"/>
              </a:rPr>
              <a:t>“The system shall allow customers to transfer money between accounts.”</a:t>
            </a:r>
            <a:endParaRPr lang="en-US" sz="2000" dirty="0">
              <a:latin typeface="+mj-lt"/>
            </a:endParaRPr>
          </a:p>
          <a:p>
            <a:pPr marL="518173" marR="4689" indent="-228606">
              <a:lnSpc>
                <a:spcPct val="99800"/>
              </a:lnSpc>
              <a:spcBef>
                <a:spcPts val="314"/>
              </a:spcBef>
              <a:tabLst>
                <a:tab pos="518173" algn="l"/>
              </a:tabLs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8765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85AD-F9E6-EAA4-1DE3-D5D38333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221AB7-3679-7B6D-1A2A-910F3DE0F6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60" y="732059"/>
            <a:ext cx="7884050" cy="626799"/>
          </a:xfrm>
          <a:prstGeom prst="rect">
            <a:avLst/>
          </a:prstGeom>
        </p:spPr>
        <p:txBody>
          <a:bodyPr vert="horz" wrap="square" lIns="0" tIns="11137" rIns="0" bIns="0" rtlCol="0">
            <a:spAutoFit/>
          </a:bodyPr>
          <a:lstStyle/>
          <a:p>
            <a:pPr marL="545137">
              <a:spcBef>
                <a:spcPts val="88"/>
              </a:spcBef>
            </a:pPr>
            <a:r>
              <a:rPr spc="-434" dirty="0"/>
              <a:t>T</a:t>
            </a:r>
            <a:r>
              <a:rPr spc="14" dirty="0"/>
              <a:t>y</a:t>
            </a:r>
            <a:r>
              <a:rPr spc="28" dirty="0"/>
              <a:t>p</a:t>
            </a:r>
            <a:r>
              <a:rPr spc="32" dirty="0"/>
              <a:t>e</a:t>
            </a:r>
            <a:r>
              <a:rPr spc="23" dirty="0"/>
              <a:t>s</a:t>
            </a:r>
            <a:r>
              <a:rPr spc="-115" dirty="0"/>
              <a:t> </a:t>
            </a:r>
            <a:r>
              <a:rPr dirty="0"/>
              <a:t>of</a:t>
            </a:r>
            <a:r>
              <a:rPr spc="-125" dirty="0"/>
              <a:t> </a:t>
            </a:r>
            <a:r>
              <a:rPr spc="-9" dirty="0"/>
              <a:t>requirement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301D25C-EAAB-499F-2D0E-DA46A7CD3586}"/>
              </a:ext>
            </a:extLst>
          </p:cNvPr>
          <p:cNvSpPr txBox="1"/>
          <p:nvPr/>
        </p:nvSpPr>
        <p:spPr>
          <a:xfrm>
            <a:off x="595439" y="1856336"/>
            <a:ext cx="7530318" cy="3561099"/>
          </a:xfrm>
          <a:prstGeom prst="rect">
            <a:avLst/>
          </a:prstGeom>
        </p:spPr>
        <p:txBody>
          <a:bodyPr vert="horz" wrap="square" lIns="0" tIns="55685" rIns="0" bIns="0" rtlCol="0">
            <a:spAutoFit/>
          </a:bodyPr>
          <a:lstStyle/>
          <a:p>
            <a:pPr marL="518173" marR="4689" indent="-228606">
              <a:lnSpc>
                <a:spcPct val="99800"/>
              </a:lnSpc>
              <a:spcBef>
                <a:spcPts val="314"/>
              </a:spcBef>
              <a:tabLst>
                <a:tab pos="518173" algn="l"/>
              </a:tabLst>
            </a:pPr>
            <a:r>
              <a:rPr sz="2585" b="1" dirty="0">
                <a:latin typeface="Georgia"/>
                <a:cs typeface="Georgia"/>
              </a:rPr>
              <a:t>System</a:t>
            </a:r>
            <a:r>
              <a:rPr sz="2585" b="1" spc="-78" dirty="0">
                <a:latin typeface="Georgia"/>
                <a:cs typeface="Georgia"/>
              </a:rPr>
              <a:t> </a:t>
            </a:r>
            <a:r>
              <a:rPr sz="2585" b="1" spc="-9" dirty="0">
                <a:latin typeface="Georgia"/>
                <a:cs typeface="Georgia"/>
              </a:rPr>
              <a:t>requirements</a:t>
            </a:r>
            <a:endParaRPr sz="2585" dirty="0">
              <a:latin typeface="Georgia"/>
              <a:cs typeface="Georgia"/>
            </a:endParaRPr>
          </a:p>
          <a:p>
            <a:pPr marL="290153">
              <a:lnSpc>
                <a:spcPts val="2871"/>
              </a:lnSpc>
              <a:spcBef>
                <a:spcPts val="309"/>
              </a:spcBef>
              <a:tabLst>
                <a:tab pos="518173" algn="l"/>
              </a:tabLst>
            </a:pPr>
            <a:r>
              <a:rPr lang="en-US" sz="2400" dirty="0"/>
              <a:t>Detailed descriptions of the system’s functions, services, and constraints. These define </a:t>
            </a:r>
            <a:r>
              <a:rPr lang="en-US" sz="2400" b="1" dirty="0"/>
              <a:t>what should be implemented</a:t>
            </a:r>
            <a:r>
              <a:rPr lang="en-US" sz="2400" dirty="0"/>
              <a:t> and are written for developers, testers, and designers.</a:t>
            </a:r>
          </a:p>
          <a:p>
            <a:pPr marL="290153">
              <a:lnSpc>
                <a:spcPts val="2871"/>
              </a:lnSpc>
              <a:spcBef>
                <a:spcPts val="309"/>
              </a:spcBef>
              <a:tabLst>
                <a:tab pos="518173" algn="l"/>
              </a:tabLst>
            </a:pPr>
            <a:endParaRPr lang="en-US" sz="2400" dirty="0">
              <a:latin typeface="Georgia"/>
              <a:cs typeface="Georgia"/>
            </a:endParaRPr>
          </a:p>
          <a:p>
            <a:pPr marL="290153">
              <a:lnSpc>
                <a:spcPts val="2871"/>
              </a:lnSpc>
              <a:spcBef>
                <a:spcPts val="309"/>
              </a:spcBef>
              <a:tabLst>
                <a:tab pos="518173" algn="l"/>
              </a:tabLst>
            </a:pPr>
            <a:r>
              <a:rPr lang="en-US" sz="2400" dirty="0"/>
              <a:t>Example (Banking App):</a:t>
            </a:r>
          </a:p>
          <a:p>
            <a:pPr marL="290153">
              <a:lnSpc>
                <a:spcPts val="2871"/>
              </a:lnSpc>
              <a:spcBef>
                <a:spcPts val="309"/>
              </a:spcBef>
              <a:tabLst>
                <a:tab pos="518173" algn="l"/>
              </a:tabLst>
            </a:pPr>
            <a:r>
              <a:rPr lang="en-US" sz="2400" dirty="0"/>
              <a:t>“The system shall encrypt all user data using AES-256 encryption.”</a:t>
            </a:r>
            <a:endParaRPr sz="24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223272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1AE7D-5D4F-9415-5C3A-2EA5197BE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2A4446-E338-EC25-DFD1-EC106986AD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60" y="732059"/>
            <a:ext cx="7884050" cy="626799"/>
          </a:xfrm>
          <a:prstGeom prst="rect">
            <a:avLst/>
          </a:prstGeom>
        </p:spPr>
        <p:txBody>
          <a:bodyPr vert="horz" wrap="square" lIns="0" tIns="11137" rIns="0" bIns="0" rtlCol="0">
            <a:spAutoFit/>
          </a:bodyPr>
          <a:lstStyle/>
          <a:p>
            <a:pPr marL="545137">
              <a:spcBef>
                <a:spcPts val="88"/>
              </a:spcBef>
            </a:pPr>
            <a:r>
              <a:rPr lang="en-US" spc="-434" dirty="0"/>
              <a:t>Example</a:t>
            </a:r>
            <a:endParaRPr spc="-9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2541CD-ABFF-DAA6-4324-F411109F2800}"/>
              </a:ext>
            </a:extLst>
          </p:cNvPr>
          <p:cNvSpPr txBox="1"/>
          <p:nvPr/>
        </p:nvSpPr>
        <p:spPr>
          <a:xfrm>
            <a:off x="595439" y="1856336"/>
            <a:ext cx="7530318" cy="3441771"/>
          </a:xfrm>
          <a:prstGeom prst="rect">
            <a:avLst/>
          </a:prstGeom>
        </p:spPr>
        <p:txBody>
          <a:bodyPr vert="horz" wrap="square" lIns="0" tIns="55685" rIns="0" bIns="0" rtlCol="0">
            <a:spAutoFit/>
          </a:bodyPr>
          <a:lstStyle/>
          <a:p>
            <a:r>
              <a:rPr lang="en-US" sz="2000" b="1" dirty="0"/>
              <a:t>User Requirement:</a:t>
            </a:r>
            <a:endParaRPr lang="en-US" sz="2000" dirty="0"/>
          </a:p>
          <a:p>
            <a:r>
              <a:rPr lang="en-US" sz="2000" dirty="0"/>
              <a:t>“The user shall be able to purchase products online.”</a:t>
            </a:r>
          </a:p>
          <a:p>
            <a:r>
              <a:rPr lang="en-US" sz="2000" b="1" dirty="0"/>
              <a:t>System Requirements:</a:t>
            </a:r>
            <a:endParaRPr lang="en-US" sz="2000" dirty="0"/>
          </a:p>
          <a:p>
            <a:r>
              <a:rPr lang="en-US" sz="2000" dirty="0"/>
              <a:t>1. The system shall allow users to add items to a shopping cart.</a:t>
            </a:r>
          </a:p>
          <a:p>
            <a:r>
              <a:rPr lang="en-US" sz="2000" dirty="0"/>
              <a:t>2. The system shall allow users to checkout using credit card, debit card, or mobile wallet.</a:t>
            </a:r>
          </a:p>
          <a:p>
            <a:r>
              <a:rPr lang="en-US" sz="2000" dirty="0"/>
              <a:t>3. The system shall send a confirmation email and SMS after purchase.</a:t>
            </a:r>
          </a:p>
          <a:p>
            <a:r>
              <a:rPr lang="en-US" sz="2000" dirty="0"/>
              <a:t>4. The system shall update the product inventory database in real-time.</a:t>
            </a:r>
          </a:p>
          <a:p>
            <a:r>
              <a:rPr lang="en-US" sz="2000" i="1" dirty="0"/>
              <a:t>1 user requirement</a:t>
            </a:r>
            <a:r>
              <a:rPr lang="en-US" sz="2000" dirty="0"/>
              <a:t> expanded into </a:t>
            </a:r>
            <a:r>
              <a:rPr lang="en-US" sz="2000" i="1" dirty="0"/>
              <a:t>4 system requirements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88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9E92F-BDF2-DFA6-6084-08698F758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D1625F-1716-A915-7AED-495C787819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60" y="732059"/>
            <a:ext cx="7884050" cy="626799"/>
          </a:xfrm>
          <a:prstGeom prst="rect">
            <a:avLst/>
          </a:prstGeom>
        </p:spPr>
        <p:txBody>
          <a:bodyPr vert="horz" wrap="square" lIns="0" tIns="11137" rIns="0" bIns="0" rtlCol="0">
            <a:spAutoFit/>
          </a:bodyPr>
          <a:lstStyle/>
          <a:p>
            <a:pPr marL="545137">
              <a:spcBef>
                <a:spcPts val="88"/>
              </a:spcBef>
            </a:pPr>
            <a:r>
              <a:rPr lang="en-US" spc="-434" dirty="0"/>
              <a:t>Example</a:t>
            </a:r>
            <a:endParaRPr spc="-9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9562C43-F4A2-391A-7CDA-AE89BEA8BE7F}"/>
              </a:ext>
            </a:extLst>
          </p:cNvPr>
          <p:cNvSpPr txBox="1"/>
          <p:nvPr/>
        </p:nvSpPr>
        <p:spPr>
          <a:xfrm>
            <a:off x="595439" y="1856336"/>
            <a:ext cx="7530318" cy="3503326"/>
          </a:xfrm>
          <a:prstGeom prst="rect">
            <a:avLst/>
          </a:prstGeom>
        </p:spPr>
        <p:txBody>
          <a:bodyPr vert="horz" wrap="square" lIns="0" tIns="55685" rIns="0" bIns="0" rtlCol="0">
            <a:spAutoFit/>
          </a:bodyPr>
          <a:lstStyle/>
          <a:p>
            <a:r>
              <a:rPr lang="en-US" sz="2800" b="1" dirty="0"/>
              <a:t>User Requirements:</a:t>
            </a:r>
            <a:endParaRPr lang="en-US" sz="2800" dirty="0"/>
          </a:p>
          <a:p>
            <a:r>
              <a:rPr lang="en-US" sz="2800" dirty="0"/>
              <a:t>“The user shall log in using email.”</a:t>
            </a:r>
          </a:p>
          <a:p>
            <a:r>
              <a:rPr lang="en-US" sz="2800" dirty="0"/>
              <a:t>“The user shall log in using username.”</a:t>
            </a:r>
          </a:p>
          <a:p>
            <a:r>
              <a:rPr lang="en-US" sz="2800" dirty="0"/>
              <a:t>“The user shall log in using mobile number.”</a:t>
            </a:r>
          </a:p>
          <a:p>
            <a:r>
              <a:rPr lang="en-US" sz="2800" b="1" dirty="0"/>
              <a:t>System Requirement:</a:t>
            </a:r>
            <a:endParaRPr lang="en-US" sz="2800" dirty="0"/>
          </a:p>
          <a:p>
            <a:r>
              <a:rPr lang="en-US" sz="2800" dirty="0"/>
              <a:t>“The system shall authenticate users via email, username, or mobile number using the same login service.”</a:t>
            </a:r>
          </a:p>
        </p:txBody>
      </p:sp>
    </p:spTree>
    <p:extLst>
      <p:ext uri="{BB962C8B-B14F-4D97-AF65-F5344CB8AC3E}">
        <p14:creationId xmlns:p14="http://schemas.microsoft.com/office/powerpoint/2010/main" val="1766941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" y="732060"/>
            <a:ext cx="7884050" cy="786725"/>
          </a:xfrm>
          <a:prstGeom prst="rect">
            <a:avLst/>
          </a:prstGeom>
        </p:spPr>
        <p:txBody>
          <a:bodyPr vert="horz" wrap="square" lIns="0" tIns="169516" rIns="0" bIns="0" rtlCol="0">
            <a:spAutoFit/>
          </a:bodyPr>
          <a:lstStyle/>
          <a:p>
            <a:pPr marL="433765">
              <a:spcBef>
                <a:spcPts val="88"/>
              </a:spcBef>
            </a:pPr>
            <a:r>
              <a:rPr spc="-18" dirty="0"/>
              <a:t>Requirements</a:t>
            </a:r>
            <a:r>
              <a:rPr spc="-198" dirty="0"/>
              <a:t> </a:t>
            </a:r>
            <a:r>
              <a:rPr spc="-9" dirty="0"/>
              <a:t>readers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1810" y="1823829"/>
            <a:ext cx="5250042" cy="42580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" y="732059"/>
            <a:ext cx="7884050" cy="1056787"/>
          </a:xfrm>
          <a:prstGeom prst="rect">
            <a:avLst/>
          </a:prstGeom>
        </p:spPr>
        <p:txBody>
          <a:bodyPr vert="horz" wrap="square" lIns="0" tIns="596352" rIns="0" bIns="0" rtlCol="0">
            <a:spAutoFit/>
          </a:bodyPr>
          <a:lstStyle/>
          <a:p>
            <a:pPr marL="364011">
              <a:spcBef>
                <a:spcPts val="97"/>
              </a:spcBef>
            </a:pPr>
            <a:r>
              <a:rPr sz="2954" dirty="0"/>
              <a:t>Functional</a:t>
            </a:r>
            <a:r>
              <a:rPr sz="2954" spc="-115" dirty="0"/>
              <a:t> </a:t>
            </a:r>
            <a:r>
              <a:rPr sz="2954" dirty="0"/>
              <a:t>and</a:t>
            </a:r>
            <a:r>
              <a:rPr sz="2954" spc="-65" dirty="0"/>
              <a:t> </a:t>
            </a:r>
            <a:r>
              <a:rPr sz="2954" dirty="0"/>
              <a:t>non-functional</a:t>
            </a:r>
            <a:r>
              <a:rPr sz="2954" spc="-143" dirty="0"/>
              <a:t> </a:t>
            </a:r>
            <a:r>
              <a:rPr sz="2954" spc="-9" dirty="0"/>
              <a:t>requirements</a:t>
            </a:r>
            <a:endParaRPr sz="2954"/>
          </a:p>
        </p:txBody>
      </p:sp>
      <p:sp>
        <p:nvSpPr>
          <p:cNvPr id="3" name="object 3"/>
          <p:cNvSpPr txBox="1"/>
          <p:nvPr/>
        </p:nvSpPr>
        <p:spPr>
          <a:xfrm>
            <a:off x="525943" y="2082252"/>
            <a:ext cx="8068994" cy="2789102"/>
          </a:xfrm>
          <a:prstGeom prst="rect">
            <a:avLst/>
          </a:prstGeom>
        </p:spPr>
        <p:txBody>
          <a:bodyPr vert="horz" wrap="square" lIns="0" tIns="12895" rIns="0" bIns="0" rtlCol="0">
            <a:spAutoFit/>
          </a:bodyPr>
          <a:lstStyle/>
          <a:p>
            <a:pPr marL="247949" indent="-236225">
              <a:spcBef>
                <a:spcPts val="102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215" dirty="0">
                <a:latin typeface="Georgia"/>
                <a:cs typeface="Georgia"/>
              </a:rPr>
              <a:t>Functional</a:t>
            </a:r>
            <a:r>
              <a:rPr sz="2215" spc="-134" dirty="0">
                <a:latin typeface="Georgia"/>
                <a:cs typeface="Georgia"/>
              </a:rPr>
              <a:t> </a:t>
            </a:r>
            <a:r>
              <a:rPr sz="2215" spc="-9" dirty="0">
                <a:latin typeface="Georgia"/>
                <a:cs typeface="Georgia"/>
              </a:rPr>
              <a:t>requirements</a:t>
            </a:r>
            <a:endParaRPr sz="2215" dirty="0">
              <a:latin typeface="Georgia"/>
              <a:cs typeface="Georgia"/>
            </a:endParaRPr>
          </a:p>
          <a:p>
            <a:pPr marL="518173" marR="4689" indent="-228606">
              <a:lnSpc>
                <a:spcPct val="90100"/>
              </a:lnSpc>
              <a:spcBef>
                <a:spcPts val="258"/>
              </a:spcBef>
              <a:tabLst>
                <a:tab pos="518173" algn="l"/>
              </a:tabLst>
            </a:pPr>
            <a:r>
              <a:rPr sz="1846" spc="-46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1846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lang="en-US" sz="2000" dirty="0"/>
              <a:t>Define </a:t>
            </a:r>
            <a:r>
              <a:rPr lang="en-US" sz="2000" b="1" dirty="0"/>
              <a:t>what the system should do</a:t>
            </a:r>
            <a:r>
              <a:rPr lang="en-US" sz="2000" dirty="0"/>
              <a:t> (the actual functions, services, features)</a:t>
            </a:r>
            <a:r>
              <a:rPr sz="1846" spc="-9" dirty="0">
                <a:latin typeface="Georgia"/>
                <a:cs typeface="Georgia"/>
              </a:rPr>
              <a:t>.</a:t>
            </a:r>
            <a:endParaRPr lang="en-US" sz="1846" spc="-9" dirty="0">
              <a:latin typeface="Georgia"/>
              <a:cs typeface="Georgia"/>
            </a:endParaRPr>
          </a:p>
          <a:p>
            <a:pPr marL="518173" marR="4689" indent="-228606">
              <a:lnSpc>
                <a:spcPct val="90100"/>
              </a:lnSpc>
              <a:spcBef>
                <a:spcPts val="258"/>
              </a:spcBef>
              <a:tabLst>
                <a:tab pos="518173" algn="l"/>
              </a:tabLst>
            </a:pPr>
            <a:r>
              <a:rPr lang="en-US" sz="2000" dirty="0"/>
              <a:t>	Usually linked to </a:t>
            </a:r>
            <a:r>
              <a:rPr lang="en-US" sz="2000" b="1" dirty="0"/>
              <a:t>user goals</a:t>
            </a:r>
            <a:r>
              <a:rPr lang="en-US" sz="2000" dirty="0"/>
              <a:t>.</a:t>
            </a:r>
            <a:endParaRPr sz="1846" dirty="0">
              <a:latin typeface="Georgia"/>
              <a:cs typeface="Georgia"/>
            </a:endParaRPr>
          </a:p>
          <a:p>
            <a:pPr marL="247949" indent="-236225">
              <a:spcBef>
                <a:spcPts val="9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215" spc="-9" dirty="0">
                <a:latin typeface="Georgia"/>
                <a:cs typeface="Georgia"/>
              </a:rPr>
              <a:t>Non-</a:t>
            </a:r>
            <a:r>
              <a:rPr sz="2215" dirty="0">
                <a:latin typeface="Georgia"/>
                <a:cs typeface="Georgia"/>
              </a:rPr>
              <a:t>functional</a:t>
            </a:r>
            <a:r>
              <a:rPr sz="2215" spc="-115" dirty="0">
                <a:latin typeface="Georgia"/>
                <a:cs typeface="Georgia"/>
              </a:rPr>
              <a:t> </a:t>
            </a:r>
            <a:r>
              <a:rPr sz="2215" spc="-9" dirty="0">
                <a:latin typeface="Georgia"/>
                <a:cs typeface="Georgia"/>
              </a:rPr>
              <a:t>requirements</a:t>
            </a:r>
            <a:endParaRPr sz="2215" dirty="0">
              <a:latin typeface="Georgia"/>
              <a:cs typeface="Georgia"/>
            </a:endParaRPr>
          </a:p>
          <a:p>
            <a:pPr marL="518173" marR="216882" indent="-228606">
              <a:lnSpc>
                <a:spcPct val="90000"/>
              </a:lnSpc>
              <a:spcBef>
                <a:spcPts val="295"/>
              </a:spcBef>
              <a:tabLst>
                <a:tab pos="518173" algn="l"/>
              </a:tabLst>
            </a:pPr>
            <a:r>
              <a:rPr sz="1846" spc="-46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1846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lang="en-US" sz="2000" dirty="0"/>
              <a:t>Define </a:t>
            </a:r>
            <a:r>
              <a:rPr lang="en-US" sz="2000" b="1" dirty="0"/>
              <a:t>how the system should behave</a:t>
            </a:r>
            <a:r>
              <a:rPr lang="en-US" sz="2000" dirty="0"/>
              <a:t> (quality attributes)</a:t>
            </a:r>
            <a:r>
              <a:rPr sz="1846" spc="-18" dirty="0">
                <a:latin typeface="Georgia"/>
                <a:cs typeface="Georgia"/>
              </a:rPr>
              <a:t>.</a:t>
            </a:r>
            <a:endParaRPr sz="1846" dirty="0">
              <a:latin typeface="Georgia"/>
              <a:cs typeface="Georgia"/>
            </a:endParaRPr>
          </a:p>
          <a:p>
            <a:pPr marL="247949" indent="-236225">
              <a:spcBef>
                <a:spcPts val="9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215" dirty="0">
                <a:latin typeface="Georgia"/>
                <a:cs typeface="Georgia"/>
              </a:rPr>
              <a:t>Domain</a:t>
            </a:r>
            <a:r>
              <a:rPr sz="2215" spc="-102" dirty="0">
                <a:latin typeface="Georgia"/>
                <a:cs typeface="Georgia"/>
              </a:rPr>
              <a:t> </a:t>
            </a:r>
            <a:r>
              <a:rPr sz="2215" spc="-9" dirty="0">
                <a:latin typeface="Georgia"/>
                <a:cs typeface="Georgia"/>
              </a:rPr>
              <a:t>requirements</a:t>
            </a:r>
            <a:endParaRPr sz="2215" dirty="0">
              <a:latin typeface="Georgia"/>
              <a:cs typeface="Georgia"/>
            </a:endParaRPr>
          </a:p>
          <a:p>
            <a:pPr marL="518173" marR="111958" indent="-228606">
              <a:lnSpc>
                <a:spcPts val="1994"/>
              </a:lnSpc>
              <a:spcBef>
                <a:spcPts val="318"/>
              </a:spcBef>
              <a:tabLst>
                <a:tab pos="518173" algn="l"/>
              </a:tabLst>
            </a:pPr>
            <a:r>
              <a:rPr sz="1846" spc="-46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1846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1846" spc="-9" dirty="0">
                <a:latin typeface="Georgia"/>
                <a:cs typeface="Georgia"/>
              </a:rPr>
              <a:t>Requirements</a:t>
            </a:r>
            <a:r>
              <a:rPr sz="1846" spc="-65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that</a:t>
            </a:r>
            <a:r>
              <a:rPr sz="1846" spc="-42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come</a:t>
            </a:r>
            <a:r>
              <a:rPr sz="1846" spc="5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from</a:t>
            </a:r>
            <a:r>
              <a:rPr sz="1846" spc="-42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the</a:t>
            </a:r>
            <a:r>
              <a:rPr sz="1846" spc="-28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application</a:t>
            </a:r>
            <a:r>
              <a:rPr sz="1846" spc="5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domain</a:t>
            </a:r>
            <a:r>
              <a:rPr sz="1846" spc="-32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of the</a:t>
            </a:r>
            <a:r>
              <a:rPr sz="1846" spc="-60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system</a:t>
            </a:r>
            <a:r>
              <a:rPr sz="1846" spc="-37" dirty="0">
                <a:latin typeface="Georgia"/>
                <a:cs typeface="Georgia"/>
              </a:rPr>
              <a:t> </a:t>
            </a:r>
            <a:r>
              <a:rPr sz="1846" spc="-23" dirty="0">
                <a:latin typeface="Georgia"/>
                <a:cs typeface="Georgia"/>
              </a:rPr>
              <a:t>and </a:t>
            </a:r>
            <a:r>
              <a:rPr sz="1846" dirty="0">
                <a:latin typeface="Georgia"/>
                <a:cs typeface="Georgia"/>
              </a:rPr>
              <a:t>that</a:t>
            </a:r>
            <a:r>
              <a:rPr sz="1846" spc="-88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reflect</a:t>
            </a:r>
            <a:r>
              <a:rPr sz="1846" spc="-23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characteristics</a:t>
            </a:r>
            <a:r>
              <a:rPr sz="1846" spc="-23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of</a:t>
            </a:r>
            <a:r>
              <a:rPr sz="1846" spc="-51" dirty="0">
                <a:latin typeface="Georgia"/>
                <a:cs typeface="Georgia"/>
              </a:rPr>
              <a:t> </a:t>
            </a:r>
            <a:r>
              <a:rPr sz="1846" dirty="0">
                <a:latin typeface="Georgia"/>
                <a:cs typeface="Georgia"/>
              </a:rPr>
              <a:t>that</a:t>
            </a:r>
            <a:r>
              <a:rPr sz="1846" spc="-23" dirty="0">
                <a:latin typeface="Georgia"/>
                <a:cs typeface="Georgia"/>
              </a:rPr>
              <a:t> </a:t>
            </a:r>
            <a:r>
              <a:rPr sz="1846" spc="-9" dirty="0">
                <a:latin typeface="Georgia"/>
                <a:cs typeface="Georgia"/>
              </a:rPr>
              <a:t>domain.</a:t>
            </a:r>
            <a:endParaRPr sz="1846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" y="732060"/>
            <a:ext cx="7884050" cy="999800"/>
          </a:xfrm>
          <a:prstGeom prst="rect">
            <a:avLst/>
          </a:prstGeom>
        </p:spPr>
        <p:txBody>
          <a:bodyPr vert="horz" wrap="square" lIns="0" tIns="380531" rIns="0" bIns="0" rtlCol="0">
            <a:spAutoFit/>
          </a:bodyPr>
          <a:lstStyle/>
          <a:p>
            <a:pPr marL="434350">
              <a:spcBef>
                <a:spcPts val="88"/>
              </a:spcBef>
            </a:pPr>
            <a:r>
              <a:rPr dirty="0"/>
              <a:t>Domain</a:t>
            </a:r>
            <a:r>
              <a:rPr spc="-188" dirty="0"/>
              <a:t> </a:t>
            </a:r>
            <a:r>
              <a:rPr spc="-9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5944" y="2041175"/>
            <a:ext cx="8071338" cy="3271191"/>
          </a:xfrm>
          <a:prstGeom prst="rect">
            <a:avLst/>
          </a:prstGeom>
        </p:spPr>
        <p:txBody>
          <a:bodyPr vert="horz" wrap="square" lIns="0" tIns="11723" rIns="0" bIns="0" rtlCol="0">
            <a:spAutoFit/>
          </a:bodyPr>
          <a:lstStyle/>
          <a:p>
            <a:pPr marL="246777" marR="528138" indent="-235640" algn="just">
              <a:lnSpc>
                <a:spcPct val="100299"/>
              </a:lnSpc>
              <a:spcBef>
                <a:spcPts val="92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585" dirty="0">
                <a:latin typeface="Georgia"/>
                <a:cs typeface="Georgia"/>
              </a:rPr>
              <a:t>Derived</a:t>
            </a:r>
            <a:r>
              <a:rPr sz="2585" spc="-111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from</a:t>
            </a:r>
            <a:r>
              <a:rPr sz="2585" spc="-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the</a:t>
            </a:r>
            <a:r>
              <a:rPr sz="2585" spc="-4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application</a:t>
            </a:r>
            <a:r>
              <a:rPr sz="2585" spc="-46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domain</a:t>
            </a:r>
            <a:r>
              <a:rPr sz="2585" spc="-51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and</a:t>
            </a:r>
            <a:r>
              <a:rPr sz="2585" spc="-18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describe 	</a:t>
            </a:r>
            <a:r>
              <a:rPr sz="2585" dirty="0">
                <a:latin typeface="Georgia"/>
                <a:cs typeface="Georgia"/>
              </a:rPr>
              <a:t>system</a:t>
            </a:r>
            <a:r>
              <a:rPr sz="2585" spc="-120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characteristics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and</a:t>
            </a:r>
            <a:r>
              <a:rPr sz="2585" spc="-60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features</a:t>
            </a:r>
            <a:r>
              <a:rPr sz="2585" spc="-5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that</a:t>
            </a:r>
            <a:r>
              <a:rPr sz="2585" spc="-60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reflect</a:t>
            </a:r>
            <a:r>
              <a:rPr sz="2585" spc="-32" dirty="0">
                <a:latin typeface="Georgia"/>
                <a:cs typeface="Georgia"/>
              </a:rPr>
              <a:t> </a:t>
            </a:r>
            <a:r>
              <a:rPr sz="2585" spc="-23" dirty="0">
                <a:latin typeface="Georgia"/>
                <a:cs typeface="Georgia"/>
              </a:rPr>
              <a:t>the 	</a:t>
            </a:r>
            <a:r>
              <a:rPr sz="2585" spc="-9" dirty="0">
                <a:latin typeface="Georgia"/>
                <a:cs typeface="Georgia"/>
              </a:rPr>
              <a:t>domain.</a:t>
            </a:r>
            <a:endParaRPr sz="2585">
              <a:latin typeface="Georgia"/>
              <a:cs typeface="Georgia"/>
            </a:endParaRPr>
          </a:p>
          <a:p>
            <a:pPr marL="246777" marR="4689" indent="-235640">
              <a:spcBef>
                <a:spcPts val="291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585" dirty="0">
                <a:latin typeface="Georgia"/>
                <a:cs typeface="Georgia"/>
              </a:rPr>
              <a:t>Domain</a:t>
            </a:r>
            <a:r>
              <a:rPr sz="2585" spc="-74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requirements</a:t>
            </a:r>
            <a:r>
              <a:rPr sz="2585" spc="-12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be</a:t>
            </a:r>
            <a:r>
              <a:rPr sz="2585" spc="-23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new</a:t>
            </a:r>
            <a:r>
              <a:rPr sz="2585" spc="-42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functional 	</a:t>
            </a:r>
            <a:r>
              <a:rPr sz="2585" dirty="0">
                <a:latin typeface="Georgia"/>
                <a:cs typeface="Georgia"/>
              </a:rPr>
              <a:t>requirements,</a:t>
            </a:r>
            <a:r>
              <a:rPr sz="2585" spc="-15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constraints</a:t>
            </a:r>
            <a:r>
              <a:rPr sz="2585" spc="-3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on</a:t>
            </a:r>
            <a:r>
              <a:rPr sz="2585" spc="-4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existing</a:t>
            </a:r>
            <a:r>
              <a:rPr sz="2585" spc="-6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requirements</a:t>
            </a:r>
            <a:r>
              <a:rPr sz="2585" spc="-129" dirty="0">
                <a:latin typeface="Georgia"/>
                <a:cs typeface="Georgia"/>
              </a:rPr>
              <a:t> </a:t>
            </a:r>
            <a:r>
              <a:rPr sz="2585" spc="-23" dirty="0">
                <a:latin typeface="Georgia"/>
                <a:cs typeface="Georgia"/>
              </a:rPr>
              <a:t>or 	</a:t>
            </a:r>
            <a:r>
              <a:rPr sz="2585" dirty="0">
                <a:latin typeface="Georgia"/>
                <a:cs typeface="Georgia"/>
              </a:rPr>
              <a:t>define</a:t>
            </a:r>
            <a:r>
              <a:rPr sz="2585" spc="-9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specific</a:t>
            </a:r>
            <a:r>
              <a:rPr sz="2585" spc="-74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computations.</a:t>
            </a:r>
            <a:endParaRPr sz="2585">
              <a:latin typeface="Georgia"/>
              <a:cs typeface="Georgia"/>
            </a:endParaRPr>
          </a:p>
          <a:p>
            <a:pPr marL="246777" marR="262603" indent="-235640">
              <a:spcBef>
                <a:spcPts val="272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585" dirty="0">
                <a:latin typeface="Georgia"/>
                <a:cs typeface="Georgia"/>
              </a:rPr>
              <a:t>If</a:t>
            </a:r>
            <a:r>
              <a:rPr sz="2585" spc="-6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domain</a:t>
            </a:r>
            <a:r>
              <a:rPr sz="2585" spc="-4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requirements</a:t>
            </a:r>
            <a:r>
              <a:rPr sz="2585" spc="-12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are</a:t>
            </a:r>
            <a:r>
              <a:rPr sz="2585" spc="-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not</a:t>
            </a:r>
            <a:r>
              <a:rPr sz="2585" spc="-37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satisfied,</a:t>
            </a:r>
            <a:r>
              <a:rPr sz="2585" spc="-6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the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system 	</a:t>
            </a:r>
            <a:r>
              <a:rPr sz="2585" dirty="0">
                <a:latin typeface="Georgia"/>
                <a:cs typeface="Georgia"/>
              </a:rPr>
              <a:t>may</a:t>
            </a:r>
            <a:r>
              <a:rPr sz="2585" spc="-60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be</a:t>
            </a:r>
            <a:r>
              <a:rPr sz="2585" spc="-55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unworkable.</a:t>
            </a:r>
            <a:endParaRPr sz="2585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089906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" y="732060"/>
            <a:ext cx="7884050" cy="956119"/>
          </a:xfrm>
          <a:prstGeom prst="rect">
            <a:avLst/>
          </a:prstGeom>
        </p:spPr>
        <p:txBody>
          <a:bodyPr vert="horz" wrap="square" lIns="0" tIns="398232" rIns="0" bIns="0" rtlCol="0">
            <a:spAutoFit/>
          </a:bodyPr>
          <a:lstStyle/>
          <a:p>
            <a:pPr marL="434350">
              <a:spcBef>
                <a:spcPts val="88"/>
              </a:spcBef>
            </a:pPr>
            <a:r>
              <a:rPr sz="3600" dirty="0"/>
              <a:t>Library</a:t>
            </a:r>
            <a:r>
              <a:rPr sz="3600" spc="-134" dirty="0"/>
              <a:t> </a:t>
            </a:r>
            <a:r>
              <a:rPr sz="3600" dirty="0"/>
              <a:t>system</a:t>
            </a:r>
            <a:r>
              <a:rPr sz="3600" spc="-88" dirty="0"/>
              <a:t> </a:t>
            </a:r>
            <a:r>
              <a:rPr sz="3600" dirty="0"/>
              <a:t>domain</a:t>
            </a:r>
            <a:r>
              <a:rPr sz="3600" spc="-102" dirty="0"/>
              <a:t> </a:t>
            </a:r>
            <a:r>
              <a:rPr sz="3600" spc="-9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5605" y="2214443"/>
            <a:ext cx="5401408" cy="1126818"/>
          </a:xfrm>
          <a:prstGeom prst="rect">
            <a:avLst/>
          </a:prstGeom>
        </p:spPr>
        <p:txBody>
          <a:bodyPr vert="horz" wrap="square" lIns="0" tIns="52168" rIns="0" bIns="0" rtlCol="0">
            <a:spAutoFit/>
          </a:bodyPr>
          <a:lstStyle/>
          <a:p>
            <a:pPr marL="246777" marR="4689" indent="-235640" algn="just">
              <a:lnSpc>
                <a:spcPct val="90000"/>
              </a:lnSpc>
              <a:spcBef>
                <a:spcPts val="411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585" dirty="0">
                <a:latin typeface="Georgia"/>
                <a:cs typeface="Georgia"/>
              </a:rPr>
              <a:t>There</a:t>
            </a:r>
            <a:r>
              <a:rPr sz="2585" spc="277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shall</a:t>
            </a:r>
            <a:r>
              <a:rPr sz="2585" spc="272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be</a:t>
            </a:r>
            <a:r>
              <a:rPr sz="2585" spc="277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a</a:t>
            </a:r>
            <a:r>
              <a:rPr sz="2585" spc="268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standard</a:t>
            </a:r>
            <a:r>
              <a:rPr sz="2585" spc="268" dirty="0">
                <a:latin typeface="Georgia"/>
                <a:cs typeface="Georgia"/>
              </a:rPr>
              <a:t>  </a:t>
            </a:r>
            <a:r>
              <a:rPr sz="2585" spc="-18" dirty="0">
                <a:latin typeface="Georgia"/>
                <a:cs typeface="Georgia"/>
              </a:rPr>
              <a:t>user 	</a:t>
            </a:r>
            <a:r>
              <a:rPr sz="2585" dirty="0">
                <a:latin typeface="Georgia"/>
                <a:cs typeface="Georgia"/>
              </a:rPr>
              <a:t>databases</a:t>
            </a:r>
            <a:r>
              <a:rPr sz="2585" spc="309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which</a:t>
            </a:r>
            <a:r>
              <a:rPr sz="2585" spc="318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shall</a:t>
            </a:r>
            <a:r>
              <a:rPr sz="2585" spc="318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be</a:t>
            </a:r>
            <a:r>
              <a:rPr sz="2585" spc="309" dirty="0">
                <a:latin typeface="Georgia"/>
                <a:cs typeface="Georgia"/>
              </a:rPr>
              <a:t>  </a:t>
            </a:r>
            <a:r>
              <a:rPr sz="2585" spc="-9" dirty="0">
                <a:latin typeface="Georgia"/>
                <a:cs typeface="Georgia"/>
              </a:rPr>
              <a:t>based 	standard.</a:t>
            </a:r>
            <a:endParaRPr sz="2585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7385" y="2214442"/>
            <a:ext cx="2404403" cy="776741"/>
          </a:xfrm>
          <a:prstGeom prst="rect">
            <a:avLst/>
          </a:prstGeom>
        </p:spPr>
        <p:txBody>
          <a:bodyPr vert="horz" wrap="square" lIns="0" tIns="58029" rIns="0" bIns="0" rtlCol="0">
            <a:spAutoFit/>
          </a:bodyPr>
          <a:lstStyle/>
          <a:p>
            <a:pPr marL="49238" marR="4689" indent="-38101">
              <a:lnSpc>
                <a:spcPts val="2788"/>
              </a:lnSpc>
              <a:spcBef>
                <a:spcPts val="457"/>
              </a:spcBef>
              <a:tabLst>
                <a:tab pos="665887" algn="l"/>
                <a:tab pos="1371048" algn="l"/>
                <a:tab pos="1518763" algn="l"/>
                <a:tab pos="2042211" algn="l"/>
              </a:tabLst>
            </a:pPr>
            <a:r>
              <a:rPr sz="2585" spc="-9" dirty="0">
                <a:latin typeface="Georgia"/>
                <a:cs typeface="Georgia"/>
              </a:rPr>
              <a:t>interface</a:t>
            </a:r>
            <a:r>
              <a:rPr sz="2585" dirty="0">
                <a:latin typeface="Georgia"/>
                <a:cs typeface="Georgia"/>
              </a:rPr>
              <a:t>		</a:t>
            </a:r>
            <a:r>
              <a:rPr sz="2585" spc="-23" dirty="0">
                <a:latin typeface="Georgia"/>
                <a:cs typeface="Georgia"/>
              </a:rPr>
              <a:t>to</a:t>
            </a:r>
            <a:r>
              <a:rPr sz="2585" dirty="0">
                <a:latin typeface="Georgia"/>
                <a:cs typeface="Georgia"/>
              </a:rPr>
              <a:t>	</a:t>
            </a:r>
            <a:r>
              <a:rPr sz="2585" spc="-28" dirty="0">
                <a:latin typeface="Georgia"/>
                <a:cs typeface="Georgia"/>
              </a:rPr>
              <a:t>all </a:t>
            </a:r>
            <a:r>
              <a:rPr sz="2585" spc="-23" dirty="0">
                <a:latin typeface="Georgia"/>
                <a:cs typeface="Georgia"/>
              </a:rPr>
              <a:t>on</a:t>
            </a:r>
            <a:r>
              <a:rPr sz="2585" dirty="0">
                <a:latin typeface="Georgia"/>
                <a:cs typeface="Georgia"/>
              </a:rPr>
              <a:t>	</a:t>
            </a:r>
            <a:r>
              <a:rPr sz="2585" spc="-23" dirty="0">
                <a:latin typeface="Georgia"/>
                <a:cs typeface="Georgia"/>
              </a:rPr>
              <a:t>the</a:t>
            </a:r>
            <a:r>
              <a:rPr sz="2585" dirty="0">
                <a:latin typeface="Georgia"/>
                <a:cs typeface="Georgia"/>
              </a:rPr>
              <a:t>	</a:t>
            </a:r>
            <a:r>
              <a:rPr sz="2585" spc="-18" dirty="0">
                <a:latin typeface="Georgia"/>
                <a:cs typeface="Georgia"/>
              </a:rPr>
              <a:t>Z39.50</a:t>
            </a:r>
            <a:endParaRPr sz="2585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605" y="3384336"/>
            <a:ext cx="7992794" cy="2211256"/>
          </a:xfrm>
          <a:prstGeom prst="rect">
            <a:avLst/>
          </a:prstGeom>
        </p:spPr>
        <p:txBody>
          <a:bodyPr vert="horz" wrap="square" lIns="0" tIns="56271" rIns="0" bIns="0" rtlCol="0">
            <a:spAutoFit/>
          </a:bodyPr>
          <a:lstStyle/>
          <a:p>
            <a:pPr marL="246777" marR="4689" indent="-235640" algn="just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585" dirty="0">
                <a:latin typeface="Georgia"/>
                <a:cs typeface="Georgia"/>
              </a:rPr>
              <a:t>Because</a:t>
            </a:r>
            <a:r>
              <a:rPr sz="2585" spc="57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of</a:t>
            </a:r>
            <a:r>
              <a:rPr sz="2585" spc="554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copyright</a:t>
            </a:r>
            <a:r>
              <a:rPr sz="2585" spc="57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restrictions,</a:t>
            </a:r>
            <a:r>
              <a:rPr sz="2585" spc="57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some</a:t>
            </a:r>
            <a:r>
              <a:rPr sz="2585" spc="568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documents 	</a:t>
            </a:r>
            <a:r>
              <a:rPr sz="2585" dirty="0">
                <a:latin typeface="Georgia"/>
                <a:cs typeface="Georgia"/>
              </a:rPr>
              <a:t>must</a:t>
            </a:r>
            <a:r>
              <a:rPr sz="2585" spc="34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be</a:t>
            </a:r>
            <a:r>
              <a:rPr sz="2585" spc="37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deleted</a:t>
            </a:r>
            <a:r>
              <a:rPr sz="2585" spc="33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immediately</a:t>
            </a:r>
            <a:r>
              <a:rPr sz="2585" spc="374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on</a:t>
            </a:r>
            <a:r>
              <a:rPr sz="2585" spc="360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arrival.</a:t>
            </a:r>
            <a:r>
              <a:rPr sz="2585" spc="365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Depending 	</a:t>
            </a:r>
            <a:r>
              <a:rPr sz="2585" dirty="0">
                <a:latin typeface="Georgia"/>
                <a:cs typeface="Georgia"/>
              </a:rPr>
              <a:t>on</a:t>
            </a:r>
            <a:r>
              <a:rPr sz="2585" spc="97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the</a:t>
            </a:r>
            <a:r>
              <a:rPr sz="2585" spc="92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user’s</a:t>
            </a:r>
            <a:r>
              <a:rPr sz="2585" spc="88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requirements,</a:t>
            </a:r>
            <a:r>
              <a:rPr sz="2585" spc="92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these</a:t>
            </a:r>
            <a:r>
              <a:rPr sz="2585" spc="92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documents</a:t>
            </a:r>
            <a:r>
              <a:rPr sz="2585" spc="92" dirty="0">
                <a:latin typeface="Georgia"/>
                <a:cs typeface="Georgia"/>
              </a:rPr>
              <a:t>  </a:t>
            </a:r>
            <a:r>
              <a:rPr sz="2585" spc="-18" dirty="0">
                <a:latin typeface="Georgia"/>
                <a:cs typeface="Georgia"/>
              </a:rPr>
              <a:t>will 	</a:t>
            </a:r>
            <a:r>
              <a:rPr sz="2585" dirty="0">
                <a:latin typeface="Georgia"/>
                <a:cs typeface="Georgia"/>
              </a:rPr>
              <a:t>either</a:t>
            </a:r>
            <a:r>
              <a:rPr sz="2585" spc="28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be</a:t>
            </a:r>
            <a:r>
              <a:rPr sz="2585" spc="46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printed</a:t>
            </a:r>
            <a:r>
              <a:rPr sz="2585" spc="42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locally</a:t>
            </a:r>
            <a:r>
              <a:rPr sz="2585" spc="37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on</a:t>
            </a:r>
            <a:r>
              <a:rPr sz="2585" spc="37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the</a:t>
            </a:r>
            <a:r>
              <a:rPr sz="2585" spc="32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system</a:t>
            </a:r>
            <a:r>
              <a:rPr sz="2585" spc="32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server</a:t>
            </a:r>
            <a:r>
              <a:rPr sz="2585" spc="46" dirty="0">
                <a:latin typeface="Georgia"/>
                <a:cs typeface="Georgia"/>
              </a:rPr>
              <a:t>  </a:t>
            </a:r>
            <a:r>
              <a:rPr sz="2585" spc="-23" dirty="0">
                <a:latin typeface="Georgia"/>
                <a:cs typeface="Georgia"/>
              </a:rPr>
              <a:t>for 	</a:t>
            </a:r>
            <a:r>
              <a:rPr sz="2585" dirty="0">
                <a:latin typeface="Georgia"/>
                <a:cs typeface="Georgia"/>
              </a:rPr>
              <a:t>manually</a:t>
            </a:r>
            <a:r>
              <a:rPr sz="2585" spc="171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forwarding</a:t>
            </a:r>
            <a:r>
              <a:rPr sz="2585" spc="188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to</a:t>
            </a:r>
            <a:r>
              <a:rPr sz="2585" spc="180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the</a:t>
            </a:r>
            <a:r>
              <a:rPr sz="2585" spc="185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user</a:t>
            </a:r>
            <a:r>
              <a:rPr sz="2585" spc="185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or</a:t>
            </a:r>
            <a:r>
              <a:rPr sz="2585" spc="175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routed</a:t>
            </a:r>
            <a:r>
              <a:rPr sz="2585" spc="171" dirty="0">
                <a:latin typeface="Georgia"/>
                <a:cs typeface="Georgia"/>
              </a:rPr>
              <a:t>  </a:t>
            </a:r>
            <a:r>
              <a:rPr sz="2585" dirty="0">
                <a:latin typeface="Georgia"/>
                <a:cs typeface="Georgia"/>
              </a:rPr>
              <a:t>to</a:t>
            </a:r>
            <a:r>
              <a:rPr sz="2585" spc="180" dirty="0">
                <a:latin typeface="Georgia"/>
                <a:cs typeface="Georgia"/>
              </a:rPr>
              <a:t>  </a:t>
            </a:r>
            <a:r>
              <a:rPr sz="2585" spc="-46" dirty="0">
                <a:latin typeface="Georgia"/>
                <a:cs typeface="Georgia"/>
              </a:rPr>
              <a:t>a 	</a:t>
            </a:r>
            <a:r>
              <a:rPr sz="2585" dirty="0">
                <a:latin typeface="Georgia"/>
                <a:cs typeface="Georgia"/>
              </a:rPr>
              <a:t>network</a:t>
            </a:r>
            <a:r>
              <a:rPr sz="2585" spc="-88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printer.</a:t>
            </a:r>
            <a:endParaRPr sz="2585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868797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" y="732060"/>
            <a:ext cx="7884050" cy="928775"/>
          </a:xfrm>
          <a:prstGeom prst="rect">
            <a:avLst/>
          </a:prstGeom>
        </p:spPr>
        <p:txBody>
          <a:bodyPr vert="horz" wrap="square" lIns="0" tIns="310193" rIns="0" bIns="0" rtlCol="0">
            <a:spAutoFit/>
          </a:bodyPr>
          <a:lstStyle/>
          <a:p>
            <a:pPr marL="434350">
              <a:spcBef>
                <a:spcPts val="88"/>
              </a:spcBef>
            </a:pPr>
            <a:r>
              <a:rPr dirty="0"/>
              <a:t>Domain</a:t>
            </a:r>
            <a:r>
              <a:rPr spc="-188" dirty="0"/>
              <a:t> </a:t>
            </a:r>
            <a:r>
              <a:rPr dirty="0"/>
              <a:t>requirements</a:t>
            </a:r>
            <a:r>
              <a:rPr spc="-198" dirty="0"/>
              <a:t> </a:t>
            </a:r>
            <a:r>
              <a:rPr spc="-9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282" y="1857636"/>
            <a:ext cx="7730783" cy="2013431"/>
          </a:xfrm>
          <a:prstGeom prst="rect">
            <a:avLst/>
          </a:prstGeom>
        </p:spPr>
        <p:txBody>
          <a:bodyPr vert="horz" wrap="square" lIns="0" tIns="55685" rIns="0" bIns="0" rtlCol="0">
            <a:spAutoFit/>
          </a:bodyPr>
          <a:lstStyle/>
          <a:p>
            <a:pPr marL="247363" indent="-235640">
              <a:spcBef>
                <a:spcPts val="438"/>
              </a:spcBef>
              <a:buClr>
                <a:srgbClr val="9F4DA2"/>
              </a:buClr>
              <a:buChar char="•"/>
              <a:tabLst>
                <a:tab pos="247363" algn="l"/>
              </a:tabLst>
            </a:pPr>
            <a:r>
              <a:rPr sz="2585" spc="-9" dirty="0">
                <a:latin typeface="Georgia"/>
                <a:cs typeface="Georgia"/>
              </a:rPr>
              <a:t>Understandability</a:t>
            </a:r>
            <a:endParaRPr sz="2585" dirty="0">
              <a:latin typeface="Georgia"/>
              <a:cs typeface="Georgia"/>
            </a:endParaRPr>
          </a:p>
          <a:p>
            <a:pPr marL="518173" marR="433179" indent="-228606">
              <a:lnSpc>
                <a:spcPts val="2862"/>
              </a:lnSpc>
              <a:spcBef>
                <a:spcPts val="420"/>
              </a:spcBef>
              <a:tabLst>
                <a:tab pos="518173" algn="l"/>
              </a:tabLst>
            </a:pPr>
            <a:r>
              <a:rPr sz="2400" spc="-46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spc="-9" dirty="0">
                <a:latin typeface="Georgia"/>
                <a:cs typeface="Georgia"/>
              </a:rPr>
              <a:t>Requirements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-28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expressed</a:t>
            </a:r>
            <a:r>
              <a:rPr sz="2400" spc="-32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51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7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language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spc="-23" dirty="0">
                <a:latin typeface="Georgia"/>
                <a:cs typeface="Georgia"/>
              </a:rPr>
              <a:t>the </a:t>
            </a:r>
            <a:r>
              <a:rPr sz="2400" spc="-9" dirty="0">
                <a:latin typeface="Georgia"/>
                <a:cs typeface="Georgia"/>
              </a:rPr>
              <a:t>application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9" dirty="0">
                <a:latin typeface="Georgia"/>
                <a:cs typeface="Georgia"/>
              </a:rPr>
              <a:t>domain;</a:t>
            </a:r>
            <a:endParaRPr sz="2400" dirty="0">
              <a:latin typeface="Georgia"/>
              <a:cs typeface="Georgia"/>
            </a:endParaRPr>
          </a:p>
          <a:p>
            <a:pPr marL="518173" marR="426731" indent="-228606">
              <a:lnSpc>
                <a:spcPct val="100499"/>
              </a:lnSpc>
              <a:spcBef>
                <a:spcPts val="171"/>
              </a:spcBef>
              <a:tabLst>
                <a:tab pos="518173" algn="l"/>
              </a:tabLst>
            </a:pPr>
            <a:r>
              <a:rPr sz="2400" spc="-46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This</a:t>
            </a:r>
            <a:r>
              <a:rPr sz="2400" spc="-88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88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often</a:t>
            </a:r>
            <a:r>
              <a:rPr sz="2400" spc="-42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not</a:t>
            </a:r>
            <a:r>
              <a:rPr sz="2400" spc="-7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understood</a:t>
            </a:r>
            <a:r>
              <a:rPr sz="2400" spc="-32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by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software</a:t>
            </a:r>
            <a:r>
              <a:rPr sz="2400" spc="-23" dirty="0">
                <a:latin typeface="Georgia"/>
                <a:cs typeface="Georgia"/>
              </a:rPr>
              <a:t> </a:t>
            </a:r>
            <a:r>
              <a:rPr sz="2400" spc="-9" dirty="0">
                <a:latin typeface="Georgia"/>
                <a:cs typeface="Georgia"/>
              </a:rPr>
              <a:t>engineers </a:t>
            </a:r>
            <a:r>
              <a:rPr sz="2400" dirty="0">
                <a:latin typeface="Georgia"/>
                <a:cs typeface="Georgia"/>
              </a:rPr>
              <a:t>developing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51" dirty="0">
                <a:latin typeface="Georgia"/>
                <a:cs typeface="Georgia"/>
              </a:rPr>
              <a:t> </a:t>
            </a:r>
            <a:r>
              <a:rPr sz="2400" spc="-9" dirty="0">
                <a:latin typeface="Georgia"/>
                <a:cs typeface="Georgia"/>
              </a:rPr>
              <a:t>system.</a:t>
            </a:r>
            <a:endParaRPr sz="24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356180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844" y="659968"/>
            <a:ext cx="70751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Requirements</a:t>
            </a:r>
            <a:r>
              <a:rPr spc="-21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9772" y="1529333"/>
            <a:ext cx="797052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14"/>
              </a:spcBef>
              <a:buClr>
                <a:srgbClr val="9F4DA2"/>
              </a:buClr>
              <a:buChar char="•"/>
              <a:tabLst>
                <a:tab pos="332740" algn="l"/>
                <a:tab pos="2176145" algn="l"/>
                <a:tab pos="3900804" algn="l"/>
                <a:tab pos="4344035" algn="l"/>
                <a:tab pos="4957445" algn="l"/>
                <a:tab pos="6054725" algn="l"/>
                <a:tab pos="6407150" algn="l"/>
              </a:tabLst>
            </a:pPr>
            <a:r>
              <a:rPr sz="2000" spc="-10" dirty="0">
                <a:latin typeface="Georgia"/>
                <a:cs typeface="Georgia"/>
              </a:rPr>
              <a:t>Requirements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management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is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the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process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of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documenting,</a:t>
            </a:r>
            <a:endParaRPr sz="2000" dirty="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804" y="1734769"/>
            <a:ext cx="771652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362075" algn="l"/>
                <a:tab pos="2423160" algn="l"/>
                <a:tab pos="3900804" algn="l"/>
                <a:tab pos="4531995" algn="l"/>
                <a:tab pos="5698490" algn="l"/>
                <a:tab pos="6188075" algn="l"/>
              </a:tabLst>
            </a:pPr>
            <a:r>
              <a:rPr sz="2000" spc="-10" dirty="0">
                <a:latin typeface="Georgia"/>
                <a:cs typeface="Georgia"/>
              </a:rPr>
              <a:t>analyzing,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tracing,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prioritizing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and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agreeing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on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requirements</a:t>
            </a:r>
            <a:endParaRPr sz="200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804" y="1936496"/>
            <a:ext cx="368935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95020" algn="l"/>
                <a:tab pos="1476375" algn="l"/>
                <a:tab pos="2884805" algn="l"/>
              </a:tabLst>
            </a:pPr>
            <a:r>
              <a:rPr sz="2000" spc="-25" dirty="0">
                <a:latin typeface="Georgia"/>
                <a:cs typeface="Georgia"/>
              </a:rPr>
              <a:t>and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0" dirty="0">
                <a:latin typeface="Georgia"/>
                <a:cs typeface="Georgia"/>
              </a:rPr>
              <a:t>then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controlling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change</a:t>
            </a:r>
            <a:endParaRPr sz="2000" dirty="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8392" y="1936496"/>
            <a:ext cx="3869054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11505" algn="l"/>
                <a:tab pos="2541905" algn="l"/>
                <a:tab pos="2940050" algn="l"/>
              </a:tabLst>
            </a:pPr>
            <a:r>
              <a:rPr sz="2000" spc="-25" dirty="0">
                <a:latin typeface="Georgia"/>
                <a:cs typeface="Georgia"/>
              </a:rPr>
              <a:t>and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communicating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25" dirty="0">
                <a:latin typeface="Georgia"/>
                <a:cs typeface="Georgia"/>
              </a:rPr>
              <a:t>to</a:t>
            </a:r>
            <a:r>
              <a:rPr sz="2000" dirty="0">
                <a:latin typeface="Georgia"/>
                <a:cs typeface="Georgia"/>
              </a:rPr>
              <a:t>	</a:t>
            </a:r>
            <a:r>
              <a:rPr sz="2000" spc="-10" dirty="0">
                <a:latin typeface="Georgia"/>
                <a:cs typeface="Georgia"/>
              </a:rPr>
              <a:t>relevant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5804" y="2141931"/>
            <a:ext cx="154178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10" dirty="0">
                <a:latin typeface="Georgia"/>
                <a:cs typeface="Georgia"/>
              </a:rPr>
              <a:t>stakeholders</a:t>
            </a:r>
            <a:r>
              <a:rPr sz="2000" b="1" spc="-10" dirty="0">
                <a:latin typeface="Georgia"/>
                <a:cs typeface="Georgia"/>
              </a:rPr>
              <a:t>.</a:t>
            </a:r>
            <a:endParaRPr sz="2000" dirty="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2514600"/>
            <a:ext cx="6413246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83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164" y="1506368"/>
            <a:ext cx="5168118" cy="565244"/>
          </a:xfrm>
          <a:prstGeom prst="rect">
            <a:avLst/>
          </a:prstGeom>
        </p:spPr>
        <p:txBody>
          <a:bodyPr vert="horz" wrap="square" lIns="0" tIns="11137" rIns="0" bIns="0" rtlCol="0">
            <a:spAutoFit/>
          </a:bodyPr>
          <a:lstStyle/>
          <a:p>
            <a:pPr marL="11723">
              <a:spcBef>
                <a:spcPts val="88"/>
              </a:spcBef>
            </a:pPr>
            <a:r>
              <a:rPr sz="3600" dirty="0"/>
              <a:t>Functional</a:t>
            </a:r>
            <a:r>
              <a:rPr sz="3600" spc="-185" dirty="0"/>
              <a:t> </a:t>
            </a:r>
            <a:r>
              <a:rPr sz="3600" spc="-9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1451" y="2323875"/>
            <a:ext cx="7737816" cy="2909573"/>
          </a:xfrm>
          <a:prstGeom prst="rect">
            <a:avLst/>
          </a:prstGeom>
        </p:spPr>
        <p:txBody>
          <a:bodyPr vert="horz" wrap="square" lIns="0" tIns="48064" rIns="0" bIns="0" rtlCol="0">
            <a:spAutoFit/>
          </a:bodyPr>
          <a:lstStyle/>
          <a:p>
            <a:pPr marL="247363" indent="-235640">
              <a:spcBef>
                <a:spcPts val="378"/>
              </a:spcBef>
              <a:buClr>
                <a:srgbClr val="9F4DA2"/>
              </a:buClr>
              <a:buChar char="•"/>
              <a:tabLst>
                <a:tab pos="247363" algn="l"/>
              </a:tabLst>
            </a:pPr>
            <a:r>
              <a:rPr sz="2585" dirty="0">
                <a:latin typeface="Georgia"/>
                <a:cs typeface="Georgia"/>
              </a:rPr>
              <a:t>Describe</a:t>
            </a:r>
            <a:r>
              <a:rPr sz="2585" spc="-12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functionality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or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system</a:t>
            </a:r>
            <a:r>
              <a:rPr sz="2585" spc="-74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services.</a:t>
            </a:r>
            <a:endParaRPr sz="2585" dirty="0">
              <a:latin typeface="Georgia"/>
              <a:cs typeface="Georgia"/>
            </a:endParaRPr>
          </a:p>
          <a:p>
            <a:pPr marL="246777" marR="67996" indent="-235640">
              <a:lnSpc>
                <a:spcPts val="3092"/>
              </a:lnSpc>
              <a:spcBef>
                <a:spcPts val="401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585" dirty="0">
                <a:latin typeface="Georgia"/>
                <a:cs typeface="Georgia"/>
              </a:rPr>
              <a:t>Depend</a:t>
            </a:r>
            <a:r>
              <a:rPr sz="2585" spc="-10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on</a:t>
            </a:r>
            <a:r>
              <a:rPr sz="2585" spc="-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the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type</a:t>
            </a:r>
            <a:r>
              <a:rPr sz="2585" spc="-60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of</a:t>
            </a:r>
            <a:r>
              <a:rPr sz="2585" spc="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software,</a:t>
            </a:r>
            <a:r>
              <a:rPr sz="2585" spc="-6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expected</a:t>
            </a:r>
            <a:r>
              <a:rPr sz="2585" spc="-6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users</a:t>
            </a:r>
            <a:r>
              <a:rPr sz="2585" spc="-60" dirty="0">
                <a:latin typeface="Georgia"/>
                <a:cs typeface="Georgia"/>
              </a:rPr>
              <a:t> </a:t>
            </a:r>
            <a:r>
              <a:rPr sz="2585" spc="-23" dirty="0">
                <a:latin typeface="Georgia"/>
                <a:cs typeface="Georgia"/>
              </a:rPr>
              <a:t>and 	</a:t>
            </a:r>
            <a:r>
              <a:rPr sz="2585" dirty="0">
                <a:latin typeface="Georgia"/>
                <a:cs typeface="Georgia"/>
              </a:rPr>
              <a:t>the</a:t>
            </a:r>
            <a:r>
              <a:rPr sz="2585" spc="-7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type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of</a:t>
            </a:r>
            <a:r>
              <a:rPr sz="2585" spc="-3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system</a:t>
            </a:r>
            <a:r>
              <a:rPr sz="2585" spc="-60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where</a:t>
            </a:r>
            <a:r>
              <a:rPr sz="2585" spc="-6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the</a:t>
            </a:r>
            <a:r>
              <a:rPr sz="2585" spc="-3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software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is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used.</a:t>
            </a:r>
            <a:endParaRPr sz="2585" dirty="0">
              <a:latin typeface="Georgia"/>
              <a:cs typeface="Georgia"/>
            </a:endParaRPr>
          </a:p>
          <a:p>
            <a:pPr marL="246777" marR="4689" indent="-235640">
              <a:lnSpc>
                <a:spcPct val="100099"/>
              </a:lnSpc>
              <a:spcBef>
                <a:spcPts val="188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585" dirty="0">
                <a:latin typeface="Georgia"/>
                <a:cs typeface="Georgia"/>
              </a:rPr>
              <a:t>Functional</a:t>
            </a:r>
            <a:r>
              <a:rPr sz="2585" spc="-83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user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requirements</a:t>
            </a:r>
            <a:r>
              <a:rPr sz="2585" spc="-125" dirty="0">
                <a:latin typeface="Georgia"/>
                <a:cs typeface="Georgia"/>
              </a:rPr>
              <a:t> </a:t>
            </a:r>
            <a:r>
              <a:rPr lang="en-US" sz="2585" spc="-125" dirty="0">
                <a:latin typeface="Georgia"/>
                <a:cs typeface="Georgia"/>
              </a:rPr>
              <a:t>is </a:t>
            </a:r>
            <a:r>
              <a:rPr sz="2585" dirty="0">
                <a:latin typeface="Georgia"/>
                <a:cs typeface="Georgia"/>
              </a:rPr>
              <a:t>high-</a:t>
            </a:r>
            <a:r>
              <a:rPr sz="2585" spc="-9" dirty="0">
                <a:latin typeface="Georgia"/>
                <a:cs typeface="Georgia"/>
              </a:rPr>
              <a:t>level 	</a:t>
            </a:r>
            <a:r>
              <a:rPr sz="2585" dirty="0">
                <a:latin typeface="Georgia"/>
                <a:cs typeface="Georgia"/>
              </a:rPr>
              <a:t>statements</a:t>
            </a:r>
            <a:r>
              <a:rPr sz="2585" spc="-134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of</a:t>
            </a:r>
            <a:r>
              <a:rPr sz="2585" spc="-3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what</a:t>
            </a:r>
            <a:r>
              <a:rPr sz="2585" spc="-37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the</a:t>
            </a:r>
            <a:r>
              <a:rPr sz="2585" spc="-3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system</a:t>
            </a:r>
            <a:r>
              <a:rPr sz="2585" spc="-6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should</a:t>
            </a:r>
            <a:r>
              <a:rPr sz="2585" spc="-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do</a:t>
            </a:r>
            <a:r>
              <a:rPr sz="2585" spc="-32" dirty="0">
                <a:latin typeface="Georgia"/>
                <a:cs typeface="Georgia"/>
              </a:rPr>
              <a:t> </a:t>
            </a:r>
            <a:r>
              <a:rPr sz="2585" spc="-23" dirty="0">
                <a:latin typeface="Georgia"/>
                <a:cs typeface="Georgia"/>
              </a:rPr>
              <a:t>but 	</a:t>
            </a:r>
            <a:r>
              <a:rPr sz="2585" dirty="0">
                <a:latin typeface="Georgia"/>
                <a:cs typeface="Georgia"/>
              </a:rPr>
              <a:t>functional</a:t>
            </a:r>
            <a:r>
              <a:rPr sz="2585" spc="-6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system</a:t>
            </a:r>
            <a:r>
              <a:rPr sz="2585" spc="-6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requirements</a:t>
            </a:r>
            <a:r>
              <a:rPr sz="2585" spc="-134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should</a:t>
            </a:r>
            <a:r>
              <a:rPr sz="2585" spc="-4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describe</a:t>
            </a:r>
            <a:r>
              <a:rPr sz="2585" spc="-74" dirty="0">
                <a:latin typeface="Georgia"/>
                <a:cs typeface="Georgia"/>
              </a:rPr>
              <a:t> </a:t>
            </a:r>
            <a:r>
              <a:rPr sz="2585" spc="-23" dirty="0">
                <a:latin typeface="Georgia"/>
                <a:cs typeface="Georgia"/>
              </a:rPr>
              <a:t>the 	</a:t>
            </a:r>
            <a:r>
              <a:rPr sz="2585" dirty="0">
                <a:latin typeface="Georgia"/>
                <a:cs typeface="Georgia"/>
              </a:rPr>
              <a:t>system</a:t>
            </a:r>
            <a:r>
              <a:rPr sz="2585" spc="-97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services</a:t>
            </a:r>
            <a:r>
              <a:rPr sz="2585" spc="-51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in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detail.</a:t>
            </a:r>
            <a:endParaRPr sz="2585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0164" y="1506368"/>
            <a:ext cx="3879166" cy="565244"/>
          </a:xfrm>
          <a:prstGeom prst="rect">
            <a:avLst/>
          </a:prstGeom>
        </p:spPr>
        <p:txBody>
          <a:bodyPr vert="horz" wrap="square" lIns="0" tIns="11137" rIns="0" bIns="0" rtlCol="0">
            <a:spAutoFit/>
          </a:bodyPr>
          <a:lstStyle/>
          <a:p>
            <a:pPr marL="11723">
              <a:spcBef>
                <a:spcPts val="88"/>
              </a:spcBef>
            </a:pPr>
            <a:r>
              <a:rPr sz="3600" dirty="0"/>
              <a:t>The</a:t>
            </a:r>
            <a:r>
              <a:rPr sz="3600" spc="-138" dirty="0"/>
              <a:t> </a:t>
            </a:r>
            <a:r>
              <a:rPr sz="3600" dirty="0"/>
              <a:t>LIBSYS</a:t>
            </a:r>
            <a:r>
              <a:rPr sz="3600" spc="-83" dirty="0"/>
              <a:t> </a:t>
            </a:r>
            <a:r>
              <a:rPr sz="3600" spc="-9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1451" y="2359339"/>
            <a:ext cx="7847428" cy="1618564"/>
          </a:xfrm>
          <a:prstGeom prst="rect">
            <a:avLst/>
          </a:prstGeom>
        </p:spPr>
        <p:txBody>
          <a:bodyPr vert="horz" wrap="square" lIns="0" tIns="9378" rIns="0" bIns="0" rtlCol="0">
            <a:spAutoFit/>
          </a:bodyPr>
          <a:lstStyle/>
          <a:p>
            <a:pPr marL="246777" marR="4689" indent="-235640">
              <a:lnSpc>
                <a:spcPct val="100800"/>
              </a:lnSpc>
              <a:spcBef>
                <a:spcPts val="74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585" dirty="0">
                <a:latin typeface="Georgia"/>
                <a:cs typeface="Georgia"/>
              </a:rPr>
              <a:t>A</a:t>
            </a:r>
            <a:r>
              <a:rPr sz="2585" spc="-60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library</a:t>
            </a:r>
            <a:r>
              <a:rPr sz="2585" spc="-5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system</a:t>
            </a:r>
            <a:r>
              <a:rPr sz="2585" spc="-6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that</a:t>
            </a:r>
            <a:r>
              <a:rPr sz="2585" spc="-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provides</a:t>
            </a:r>
            <a:r>
              <a:rPr sz="2585" spc="-6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a</a:t>
            </a:r>
            <a:r>
              <a:rPr sz="2585" spc="-23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single</a:t>
            </a:r>
            <a:r>
              <a:rPr sz="2585" spc="-6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interface</a:t>
            </a:r>
            <a:r>
              <a:rPr sz="2585" spc="-2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to</a:t>
            </a:r>
            <a:r>
              <a:rPr sz="2585" spc="-14" dirty="0">
                <a:latin typeface="Georgia"/>
                <a:cs typeface="Georgia"/>
              </a:rPr>
              <a:t> </a:t>
            </a:r>
            <a:r>
              <a:rPr sz="2585" spc="-46" dirty="0">
                <a:latin typeface="Georgia"/>
                <a:cs typeface="Georgia"/>
              </a:rPr>
              <a:t>a 	</a:t>
            </a:r>
            <a:r>
              <a:rPr sz="2585" dirty="0">
                <a:latin typeface="Georgia"/>
                <a:cs typeface="Georgia"/>
              </a:rPr>
              <a:t>number</a:t>
            </a:r>
            <a:r>
              <a:rPr sz="2585" spc="-111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of</a:t>
            </a:r>
            <a:r>
              <a:rPr sz="2585" spc="-37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databases</a:t>
            </a:r>
            <a:r>
              <a:rPr sz="2585" spc="-6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of</a:t>
            </a:r>
            <a:r>
              <a:rPr sz="2585" spc="-37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articles</a:t>
            </a:r>
            <a:r>
              <a:rPr sz="2585" spc="-9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in</a:t>
            </a:r>
            <a:r>
              <a:rPr sz="2585" spc="-46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different</a:t>
            </a:r>
            <a:r>
              <a:rPr sz="2585" spc="-46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libraries.</a:t>
            </a:r>
            <a:endParaRPr sz="2585" dirty="0">
              <a:latin typeface="Georgia"/>
              <a:cs typeface="Georgia"/>
            </a:endParaRPr>
          </a:p>
          <a:p>
            <a:pPr marL="246777" marR="798361" indent="-235640">
              <a:lnSpc>
                <a:spcPct val="100800"/>
              </a:lnSpc>
              <a:spcBef>
                <a:spcPts val="234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585" dirty="0">
                <a:latin typeface="Georgia"/>
                <a:cs typeface="Georgia"/>
              </a:rPr>
              <a:t>Users</a:t>
            </a:r>
            <a:r>
              <a:rPr sz="2585" spc="-105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can</a:t>
            </a:r>
            <a:r>
              <a:rPr sz="2585" spc="-1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search</a:t>
            </a:r>
            <a:r>
              <a:rPr sz="2585" spc="-3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for,</a:t>
            </a:r>
            <a:r>
              <a:rPr sz="2585" spc="-1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download</a:t>
            </a:r>
            <a:r>
              <a:rPr sz="2585" spc="-42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and</a:t>
            </a:r>
            <a:r>
              <a:rPr sz="2585" spc="-14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print</a:t>
            </a:r>
            <a:r>
              <a:rPr sz="2585" spc="-74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these 	</a:t>
            </a:r>
            <a:r>
              <a:rPr sz="2585" dirty="0">
                <a:latin typeface="Georgia"/>
                <a:cs typeface="Georgia"/>
              </a:rPr>
              <a:t>articles</a:t>
            </a:r>
            <a:r>
              <a:rPr sz="2585" spc="-83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for</a:t>
            </a:r>
            <a:r>
              <a:rPr sz="2585" spc="-18" dirty="0">
                <a:latin typeface="Georgia"/>
                <a:cs typeface="Georgia"/>
              </a:rPr>
              <a:t> </a:t>
            </a:r>
            <a:r>
              <a:rPr sz="2585" dirty="0">
                <a:latin typeface="Georgia"/>
                <a:cs typeface="Georgia"/>
              </a:rPr>
              <a:t>personal</a:t>
            </a:r>
            <a:r>
              <a:rPr sz="2585" spc="-55" dirty="0">
                <a:latin typeface="Georgia"/>
                <a:cs typeface="Georgia"/>
              </a:rPr>
              <a:t> </a:t>
            </a:r>
            <a:r>
              <a:rPr sz="2585" spc="-9" dirty="0">
                <a:latin typeface="Georgia"/>
                <a:cs typeface="Georgia"/>
              </a:rPr>
              <a:t>study.</a:t>
            </a:r>
            <a:endParaRPr sz="2585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" y="732059"/>
            <a:ext cx="7884050" cy="857749"/>
          </a:xfrm>
          <a:prstGeom prst="rect">
            <a:avLst/>
          </a:prstGeom>
        </p:spPr>
        <p:txBody>
          <a:bodyPr vert="horz" wrap="square" lIns="0" tIns="239854" rIns="0" bIns="0" rtlCol="0">
            <a:spAutoFit/>
          </a:bodyPr>
          <a:lstStyle/>
          <a:p>
            <a:pPr marL="504691">
              <a:spcBef>
                <a:spcPts val="88"/>
              </a:spcBef>
            </a:pPr>
            <a:r>
              <a:rPr spc="-18" dirty="0"/>
              <a:t>Requirements</a:t>
            </a:r>
            <a:r>
              <a:rPr spc="-194" dirty="0"/>
              <a:t> </a:t>
            </a:r>
            <a:r>
              <a:rPr spc="-9" dirty="0"/>
              <a:t>imprecision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6282" y="2111794"/>
            <a:ext cx="7764780" cy="4442543"/>
          </a:xfrm>
          <a:prstGeom prst="rect">
            <a:avLst/>
          </a:prstGeom>
        </p:spPr>
        <p:txBody>
          <a:bodyPr vert="horz" wrap="square" lIns="0" tIns="9378" rIns="0" bIns="0" rtlCol="0">
            <a:spAutoFit/>
          </a:bodyPr>
          <a:lstStyle/>
          <a:p>
            <a:pPr marL="246777" marR="4689" indent="-235640">
              <a:lnSpc>
                <a:spcPct val="100800"/>
              </a:lnSpc>
              <a:spcBef>
                <a:spcPts val="74"/>
              </a:spcBef>
              <a:buClr>
                <a:srgbClr val="9F4DA2"/>
              </a:buClr>
              <a:buFontTx/>
              <a:buChar char="•"/>
              <a:tabLst>
                <a:tab pos="247949" algn="l"/>
              </a:tabLst>
            </a:pPr>
            <a:r>
              <a:rPr lang="en-US" sz="2500" b="1" dirty="0"/>
              <a:t>Requirements imprecision</a:t>
            </a:r>
            <a:r>
              <a:rPr lang="en-US" sz="2500" dirty="0"/>
              <a:t> happens when requirements are written in a way that is </a:t>
            </a:r>
            <a:r>
              <a:rPr lang="en-US" sz="2500" b="1" dirty="0"/>
              <a:t>unclear, vague, or ambiguous</a:t>
            </a:r>
            <a:r>
              <a:rPr lang="en-US" sz="2500" dirty="0"/>
              <a:t>, so different people may interpret them differently</a:t>
            </a:r>
            <a:r>
              <a:rPr lang="en-US" sz="2200" dirty="0"/>
              <a:t>“</a:t>
            </a:r>
          </a:p>
          <a:p>
            <a:pPr marL="246777" marR="4689" indent="-235640">
              <a:lnSpc>
                <a:spcPct val="100800"/>
              </a:lnSpc>
              <a:spcBef>
                <a:spcPts val="74"/>
              </a:spcBef>
              <a:buClr>
                <a:srgbClr val="9F4DA2"/>
              </a:buClr>
              <a:buFontTx/>
              <a:buChar char="•"/>
              <a:tabLst>
                <a:tab pos="247949" algn="l"/>
              </a:tabLst>
            </a:pPr>
            <a:r>
              <a:rPr lang="en-US" sz="2200" dirty="0">
                <a:solidFill>
                  <a:schemeClr val="accent3">
                    <a:lumMod val="75000"/>
                  </a:schemeClr>
                </a:solidFill>
              </a:rPr>
              <a:t>The system should have a fast response time.” </a:t>
            </a:r>
          </a:p>
          <a:p>
            <a:pPr marL="246777" marR="4689" indent="-235640">
              <a:lnSpc>
                <a:spcPct val="100800"/>
              </a:lnSpc>
              <a:spcBef>
                <a:spcPts val="74"/>
              </a:spcBef>
              <a:buClr>
                <a:srgbClr val="9F4DA2"/>
              </a:buClr>
              <a:buFontTx/>
              <a:buChar char="•"/>
              <a:tabLst>
                <a:tab pos="247949" algn="l"/>
              </a:tabLst>
            </a:pPr>
            <a:r>
              <a:rPr lang="en-US" sz="2200" dirty="0">
                <a:solidFill>
                  <a:srgbClr val="FF0000"/>
                </a:solidFill>
              </a:rPr>
              <a:t>Problem: What does fast mean? 1 second? 5 seconds? Different people will assume different values </a:t>
            </a:r>
          </a:p>
          <a:p>
            <a:pPr marL="246777" marR="4689" indent="-235640">
              <a:lnSpc>
                <a:spcPct val="100800"/>
              </a:lnSpc>
              <a:spcBef>
                <a:spcPts val="74"/>
              </a:spcBef>
              <a:buClr>
                <a:srgbClr val="9F4DA2"/>
              </a:buClr>
              <a:buFontTx/>
              <a:buChar char="•"/>
              <a:tabLst>
                <a:tab pos="247949" algn="l"/>
              </a:tabLst>
            </a:pPr>
            <a:endParaRPr lang="en-US" sz="2200" dirty="0"/>
          </a:p>
          <a:p>
            <a:pPr marL="246777" marR="4689" indent="-235640">
              <a:lnSpc>
                <a:spcPct val="100800"/>
              </a:lnSpc>
              <a:spcBef>
                <a:spcPts val="74"/>
              </a:spcBef>
              <a:buClr>
                <a:srgbClr val="9F4DA2"/>
              </a:buClr>
              <a:buFontTx/>
              <a:buChar char="•"/>
              <a:tabLst>
                <a:tab pos="247949" algn="l"/>
              </a:tabLst>
            </a:pPr>
            <a:r>
              <a:rPr lang="en-US" sz="2200" b="1" dirty="0">
                <a:solidFill>
                  <a:schemeClr val="accent3">
                    <a:lumMod val="75000"/>
                  </a:schemeClr>
                </a:solidFill>
              </a:rPr>
              <a:t>“The system should be user-friendly.” </a:t>
            </a:r>
          </a:p>
          <a:p>
            <a:pPr marL="246777" marR="4689" indent="-235640">
              <a:lnSpc>
                <a:spcPct val="100800"/>
              </a:lnSpc>
              <a:spcBef>
                <a:spcPts val="74"/>
              </a:spcBef>
              <a:buClr>
                <a:srgbClr val="9F4DA2"/>
              </a:buClr>
              <a:buFontTx/>
              <a:buChar char="•"/>
              <a:tabLst>
                <a:tab pos="247949" algn="l"/>
              </a:tabLst>
            </a:pPr>
            <a:r>
              <a:rPr lang="en-US" sz="2200" dirty="0">
                <a:solidFill>
                  <a:srgbClr val="FF0000"/>
                </a:solidFill>
              </a:rPr>
              <a:t>Problem: User-friendly is subjective — it means different things to different people.</a:t>
            </a:r>
          </a:p>
          <a:p>
            <a:pPr marL="11137" marR="4689">
              <a:lnSpc>
                <a:spcPct val="100800"/>
              </a:lnSpc>
              <a:spcBef>
                <a:spcPts val="74"/>
              </a:spcBef>
              <a:buClr>
                <a:srgbClr val="9F4DA2"/>
              </a:buClr>
              <a:tabLst>
                <a:tab pos="247949" algn="l"/>
              </a:tabLst>
            </a:pP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" y="732059"/>
            <a:ext cx="7884050" cy="754811"/>
          </a:xfrm>
          <a:prstGeom prst="rect">
            <a:avLst/>
          </a:prstGeom>
        </p:spPr>
        <p:txBody>
          <a:bodyPr vert="horz" wrap="square" lIns="0" tIns="297296" rIns="0" bIns="0" rtlCol="0">
            <a:spAutoFit/>
          </a:bodyPr>
          <a:lstStyle/>
          <a:p>
            <a:pPr marL="434350">
              <a:spcBef>
                <a:spcPts val="97"/>
              </a:spcBef>
            </a:pPr>
            <a:r>
              <a:rPr sz="2954" spc="-18" dirty="0"/>
              <a:t>Requirements</a:t>
            </a:r>
            <a:r>
              <a:rPr sz="2954" spc="-143" dirty="0"/>
              <a:t> </a:t>
            </a:r>
            <a:r>
              <a:rPr sz="2954" dirty="0"/>
              <a:t>completeness</a:t>
            </a:r>
            <a:r>
              <a:rPr sz="2954" spc="-78" dirty="0"/>
              <a:t> </a:t>
            </a:r>
            <a:r>
              <a:rPr sz="2954" dirty="0"/>
              <a:t>and</a:t>
            </a:r>
            <a:r>
              <a:rPr sz="2954" spc="-65" dirty="0"/>
              <a:t> </a:t>
            </a:r>
            <a:r>
              <a:rPr sz="2954" spc="-9" dirty="0"/>
              <a:t>consistency</a:t>
            </a:r>
            <a:endParaRPr sz="2954" dirty="0"/>
          </a:p>
        </p:txBody>
      </p:sp>
      <p:sp>
        <p:nvSpPr>
          <p:cNvPr id="3" name="object 3"/>
          <p:cNvSpPr txBox="1"/>
          <p:nvPr/>
        </p:nvSpPr>
        <p:spPr>
          <a:xfrm>
            <a:off x="666621" y="2045395"/>
            <a:ext cx="7529146" cy="3009627"/>
          </a:xfrm>
          <a:prstGeom prst="rect">
            <a:avLst/>
          </a:prstGeom>
        </p:spPr>
        <p:txBody>
          <a:bodyPr vert="horz" wrap="square" lIns="0" tIns="13482" rIns="0" bIns="0" rtlCol="0">
            <a:spAutoFit/>
          </a:bodyPr>
          <a:lstStyle/>
          <a:p>
            <a:pPr marL="247949" marR="353460" indent="-236812">
              <a:spcBef>
                <a:spcPts val="106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215" dirty="0">
                <a:latin typeface="Georgia"/>
                <a:cs typeface="Georgia"/>
              </a:rPr>
              <a:t>In</a:t>
            </a:r>
            <a:r>
              <a:rPr sz="2215" spc="-97" dirty="0">
                <a:latin typeface="Georgia"/>
                <a:cs typeface="Georgia"/>
              </a:rPr>
              <a:t> </a:t>
            </a:r>
            <a:r>
              <a:rPr sz="2215" dirty="0">
                <a:latin typeface="Georgia"/>
                <a:cs typeface="Georgia"/>
              </a:rPr>
              <a:t>principle,</a:t>
            </a:r>
            <a:r>
              <a:rPr sz="2215" spc="-42" dirty="0">
                <a:latin typeface="Georgia"/>
                <a:cs typeface="Georgia"/>
              </a:rPr>
              <a:t> </a:t>
            </a:r>
            <a:r>
              <a:rPr sz="2215" dirty="0">
                <a:latin typeface="Georgia"/>
                <a:cs typeface="Georgia"/>
              </a:rPr>
              <a:t>requirements</a:t>
            </a:r>
            <a:r>
              <a:rPr sz="2215" spc="-74" dirty="0">
                <a:latin typeface="Georgia"/>
                <a:cs typeface="Georgia"/>
              </a:rPr>
              <a:t> </a:t>
            </a:r>
            <a:r>
              <a:rPr sz="2215" dirty="0">
                <a:latin typeface="Georgia"/>
                <a:cs typeface="Georgia"/>
              </a:rPr>
              <a:t>should</a:t>
            </a:r>
            <a:r>
              <a:rPr sz="2215" spc="-88" dirty="0">
                <a:latin typeface="Georgia"/>
                <a:cs typeface="Georgia"/>
              </a:rPr>
              <a:t> </a:t>
            </a:r>
            <a:r>
              <a:rPr sz="2215" dirty="0">
                <a:latin typeface="Georgia"/>
                <a:cs typeface="Georgia"/>
              </a:rPr>
              <a:t>be</a:t>
            </a:r>
            <a:r>
              <a:rPr sz="2215" spc="-46" dirty="0">
                <a:latin typeface="Georgia"/>
                <a:cs typeface="Georgia"/>
              </a:rPr>
              <a:t> </a:t>
            </a:r>
            <a:r>
              <a:rPr sz="2215" dirty="0">
                <a:latin typeface="Georgia"/>
                <a:cs typeface="Georgia"/>
              </a:rPr>
              <a:t>both</a:t>
            </a:r>
            <a:r>
              <a:rPr sz="2215" spc="-74" dirty="0">
                <a:latin typeface="Georgia"/>
                <a:cs typeface="Georgia"/>
              </a:rPr>
              <a:t> </a:t>
            </a:r>
            <a:r>
              <a:rPr sz="2215" dirty="0">
                <a:latin typeface="Georgia"/>
                <a:cs typeface="Georgia"/>
              </a:rPr>
              <a:t>complete</a:t>
            </a:r>
            <a:r>
              <a:rPr sz="2215" spc="-28" dirty="0">
                <a:latin typeface="Georgia"/>
                <a:cs typeface="Georgia"/>
              </a:rPr>
              <a:t> </a:t>
            </a:r>
            <a:r>
              <a:rPr sz="2215" spc="-23" dirty="0">
                <a:latin typeface="Georgia"/>
                <a:cs typeface="Georgia"/>
              </a:rPr>
              <a:t>and </a:t>
            </a:r>
            <a:r>
              <a:rPr sz="2215" spc="-9" dirty="0">
                <a:latin typeface="Georgia"/>
                <a:cs typeface="Georgia"/>
              </a:rPr>
              <a:t>consistent.</a:t>
            </a:r>
            <a:endParaRPr sz="2215" dirty="0">
              <a:latin typeface="Georgia"/>
              <a:cs typeface="Georgia"/>
            </a:endParaRPr>
          </a:p>
          <a:p>
            <a:pPr marL="247949" indent="-236225">
              <a:spcBef>
                <a:spcPts val="268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215" spc="-9" dirty="0">
                <a:latin typeface="Georgia"/>
                <a:cs typeface="Georgia"/>
              </a:rPr>
              <a:t>Complete</a:t>
            </a:r>
            <a:endParaRPr sz="2215" dirty="0">
              <a:latin typeface="Georgia"/>
              <a:cs typeface="Georgia"/>
            </a:endParaRPr>
          </a:p>
          <a:p>
            <a:pPr marL="518173" marR="631303" indent="-228020">
              <a:lnSpc>
                <a:spcPts val="2862"/>
              </a:lnSpc>
              <a:spcBef>
                <a:spcPts val="392"/>
              </a:spcBef>
              <a:tabLst>
                <a:tab pos="518173" algn="l"/>
              </a:tabLst>
            </a:pPr>
            <a:r>
              <a:rPr sz="2400" spc="-46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They</a:t>
            </a:r>
            <a:r>
              <a:rPr sz="2400" spc="-97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should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include</a:t>
            </a:r>
            <a:r>
              <a:rPr sz="2400" spc="-51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descriptions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all</a:t>
            </a:r>
            <a:r>
              <a:rPr sz="2400" spc="-46" dirty="0">
                <a:latin typeface="Georgia"/>
                <a:cs typeface="Georgia"/>
              </a:rPr>
              <a:t> </a:t>
            </a:r>
            <a:r>
              <a:rPr sz="2400" spc="-9" dirty="0">
                <a:latin typeface="Georgia"/>
                <a:cs typeface="Georgia"/>
              </a:rPr>
              <a:t>facilities required.</a:t>
            </a:r>
            <a:endParaRPr sz="2400" dirty="0">
              <a:latin typeface="Georgia"/>
              <a:cs typeface="Georgia"/>
            </a:endParaRPr>
          </a:p>
          <a:p>
            <a:pPr marL="247949" indent="-236225">
              <a:spcBef>
                <a:spcPts val="208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sz="2215" spc="-9" dirty="0">
                <a:latin typeface="Georgia"/>
                <a:cs typeface="Georgia"/>
              </a:rPr>
              <a:t>Consistent</a:t>
            </a:r>
            <a:endParaRPr sz="2215" dirty="0">
              <a:latin typeface="Georgia"/>
              <a:cs typeface="Georgia"/>
            </a:endParaRPr>
          </a:p>
          <a:p>
            <a:pPr marL="518173" marR="4689" indent="-228020">
              <a:lnSpc>
                <a:spcPts val="2862"/>
              </a:lnSpc>
              <a:spcBef>
                <a:spcPts val="388"/>
              </a:spcBef>
              <a:tabLst>
                <a:tab pos="518173" algn="l"/>
              </a:tabLst>
            </a:pPr>
            <a:r>
              <a:rPr sz="2400" spc="-46" dirty="0">
                <a:solidFill>
                  <a:srgbClr val="438085"/>
                </a:solidFill>
                <a:latin typeface="Georgia"/>
                <a:cs typeface="Georgia"/>
              </a:rPr>
              <a:t>▫</a:t>
            </a:r>
            <a:r>
              <a:rPr sz="2400" dirty="0">
                <a:solidFill>
                  <a:srgbClr val="438085"/>
                </a:solidFill>
                <a:latin typeface="Georgia"/>
                <a:cs typeface="Georgia"/>
              </a:rPr>
              <a:t>	</a:t>
            </a:r>
            <a:r>
              <a:rPr sz="2400" dirty="0">
                <a:latin typeface="Georgia"/>
                <a:cs typeface="Georgia"/>
              </a:rPr>
              <a:t>There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should</a:t>
            </a:r>
            <a:r>
              <a:rPr sz="2400" spc="-46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</a:t>
            </a:r>
            <a:r>
              <a:rPr sz="2400" spc="-23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no</a:t>
            </a:r>
            <a:r>
              <a:rPr sz="2400" spc="-51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conflicts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or</a:t>
            </a:r>
            <a:r>
              <a:rPr sz="2400" spc="-42" dirty="0">
                <a:latin typeface="Georgia"/>
                <a:cs typeface="Georgia"/>
              </a:rPr>
              <a:t> </a:t>
            </a:r>
            <a:r>
              <a:rPr sz="2400" spc="-9" dirty="0">
                <a:latin typeface="Georgia"/>
                <a:cs typeface="Georgia"/>
              </a:rPr>
              <a:t>contradictions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28" dirty="0">
                <a:latin typeface="Georgia"/>
                <a:cs typeface="Georgia"/>
              </a:rPr>
              <a:t> </a:t>
            </a:r>
            <a:r>
              <a:rPr sz="2400" spc="-23" dirty="0">
                <a:latin typeface="Georgia"/>
                <a:cs typeface="Georgia"/>
              </a:rPr>
              <a:t>the </a:t>
            </a:r>
            <a:r>
              <a:rPr sz="2400" dirty="0">
                <a:latin typeface="Georgia"/>
                <a:cs typeface="Georgia"/>
              </a:rPr>
              <a:t>descriptions</a:t>
            </a:r>
            <a:r>
              <a:rPr sz="2400" spc="-6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-78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system</a:t>
            </a:r>
            <a:r>
              <a:rPr sz="2400" spc="-42" dirty="0">
                <a:latin typeface="Georgia"/>
                <a:cs typeface="Georgia"/>
              </a:rPr>
              <a:t> </a:t>
            </a:r>
            <a:r>
              <a:rPr sz="2400" spc="-9" dirty="0">
                <a:latin typeface="Georgia"/>
                <a:cs typeface="Georgia"/>
              </a:rPr>
              <a:t>facilities.</a:t>
            </a:r>
            <a:endParaRPr sz="2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" y="732060"/>
            <a:ext cx="7884050" cy="928775"/>
          </a:xfrm>
          <a:prstGeom prst="rect">
            <a:avLst/>
          </a:prstGeom>
        </p:spPr>
        <p:txBody>
          <a:bodyPr vert="horz" wrap="square" lIns="0" tIns="310193" rIns="0" bIns="0" rtlCol="0">
            <a:spAutoFit/>
          </a:bodyPr>
          <a:lstStyle/>
          <a:p>
            <a:pPr marL="504105">
              <a:spcBef>
                <a:spcPts val="88"/>
              </a:spcBef>
            </a:pPr>
            <a:r>
              <a:rPr spc="-18" dirty="0"/>
              <a:t>Non-</a:t>
            </a:r>
            <a:r>
              <a:rPr dirty="0"/>
              <a:t>functional</a:t>
            </a:r>
            <a:r>
              <a:rPr spc="-185" dirty="0"/>
              <a:t> </a:t>
            </a:r>
            <a:r>
              <a:rPr spc="-9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5438" y="1791051"/>
            <a:ext cx="7752471" cy="4033487"/>
          </a:xfrm>
          <a:prstGeom prst="rect">
            <a:avLst/>
          </a:prstGeom>
        </p:spPr>
        <p:txBody>
          <a:bodyPr vert="horz" wrap="square" lIns="0" tIns="56271" rIns="0" bIns="0" rtlCol="0">
            <a:spAutoFit/>
          </a:bodyPr>
          <a:lstStyle/>
          <a:p>
            <a:pPr marL="246777" marR="18757" indent="-235640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Non-Functional Requirements (NFR) include</a:t>
            </a:r>
          </a:p>
          <a:p>
            <a:pPr marL="246777" marR="18757" indent="-235640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performance goals and descriptions of quality attributes.</a:t>
            </a:r>
          </a:p>
          <a:p>
            <a:pPr marL="246777" marR="18757" indent="-235640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endParaRPr lang="en-US" sz="2200" dirty="0">
              <a:latin typeface="Georgia"/>
              <a:cs typeface="Georgia"/>
            </a:endParaRPr>
          </a:p>
          <a:p>
            <a:pPr marL="246777" marR="18757" indent="-235640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Quality attributes augment the description of the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product's functionality by describing the product's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characteristics in various dimensions that are important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either to the users or to the developers.</a:t>
            </a:r>
          </a:p>
          <a:p>
            <a:pPr marL="246777" marR="18757" indent="-235640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endParaRPr lang="en-US" sz="2200" dirty="0">
              <a:latin typeface="Georgia"/>
              <a:cs typeface="Georgia"/>
            </a:endParaRPr>
          </a:p>
          <a:p>
            <a:pPr marL="246777" marR="18757" indent="-235640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These may be the characteristics that relate to the system as a whole usability, portability, efficiency, and robustness etc.</a:t>
            </a:r>
            <a:endParaRPr sz="22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EBFB-1258-B626-6EE6-F7E07ED9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DB773C-F4FA-352D-4C9C-C152696BCC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60" y="732060"/>
            <a:ext cx="7884050" cy="928775"/>
          </a:xfrm>
          <a:prstGeom prst="rect">
            <a:avLst/>
          </a:prstGeom>
        </p:spPr>
        <p:txBody>
          <a:bodyPr vert="horz" wrap="square" lIns="0" tIns="310193" rIns="0" bIns="0" rtlCol="0">
            <a:spAutoFit/>
          </a:bodyPr>
          <a:lstStyle/>
          <a:p>
            <a:pPr marL="504105">
              <a:spcBef>
                <a:spcPts val="88"/>
              </a:spcBef>
            </a:pPr>
            <a:r>
              <a:rPr lang="en-US" spc="-18" dirty="0"/>
              <a:t>Example of NFR</a:t>
            </a:r>
            <a:endParaRPr spc="-9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0EDC009-AB15-D046-CE71-448832D3BB68}"/>
              </a:ext>
            </a:extLst>
          </p:cNvPr>
          <p:cNvSpPr txBox="1"/>
          <p:nvPr/>
        </p:nvSpPr>
        <p:spPr>
          <a:xfrm>
            <a:off x="595439" y="1791051"/>
            <a:ext cx="4433762" cy="2443308"/>
          </a:xfrm>
          <a:prstGeom prst="rect">
            <a:avLst/>
          </a:prstGeom>
        </p:spPr>
        <p:txBody>
          <a:bodyPr vert="horz" wrap="square" lIns="0" tIns="56271" rIns="0" bIns="0" rtlCol="0">
            <a:spAutoFit/>
          </a:bodyPr>
          <a:lstStyle/>
          <a:p>
            <a:pPr marL="246777" marR="18757" indent="-235640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The system shall support up to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2000 simultaneous users against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the central database at any given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time, and up to 500 simultaneous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users against the local server at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any one time.</a:t>
            </a:r>
            <a:endParaRPr sz="2200" dirty="0">
              <a:latin typeface="Georgia"/>
              <a:cs typeface="Georgia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54CDAD0-514F-74FC-B8A3-F653E5F5A722}"/>
              </a:ext>
            </a:extLst>
          </p:cNvPr>
          <p:cNvSpPr txBox="1"/>
          <p:nvPr/>
        </p:nvSpPr>
        <p:spPr>
          <a:xfrm>
            <a:off x="4267200" y="4038600"/>
            <a:ext cx="4433762" cy="2032939"/>
          </a:xfrm>
          <a:prstGeom prst="rect">
            <a:avLst/>
          </a:prstGeom>
        </p:spPr>
        <p:txBody>
          <a:bodyPr vert="horz" wrap="square" lIns="0" tIns="56271" rIns="0" bIns="0" rtlCol="0">
            <a:spAutoFit/>
          </a:bodyPr>
          <a:lstStyle/>
          <a:p>
            <a:pPr marL="246777" marR="18757" indent="-235640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buChar char="•"/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The system shall provide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access to a legacy course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catalogue database with no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more than a 10 seconds</a:t>
            </a:r>
          </a:p>
          <a:p>
            <a:pPr marL="11137" marR="18757">
              <a:lnSpc>
                <a:spcPts val="2797"/>
              </a:lnSpc>
              <a:spcBef>
                <a:spcPts val="443"/>
              </a:spcBef>
              <a:buClr>
                <a:srgbClr val="9F4DA2"/>
              </a:buClr>
              <a:tabLst>
                <a:tab pos="247949" algn="l"/>
              </a:tabLst>
            </a:pPr>
            <a:r>
              <a:rPr lang="en-US" sz="2200" dirty="0">
                <a:latin typeface="Georgia"/>
                <a:cs typeface="Georgia"/>
              </a:rPr>
              <a:t>latency</a:t>
            </a:r>
            <a:endParaRPr sz="2200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687611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1DA29-3312-9D37-8B1E-85FAF1797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6327C3-7018-FDF3-9358-E83B4027C8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54000"/>
            <a:ext cx="7884050" cy="999800"/>
          </a:xfrm>
          <a:prstGeom prst="rect">
            <a:avLst/>
          </a:prstGeom>
        </p:spPr>
        <p:txBody>
          <a:bodyPr vert="horz" wrap="square" lIns="0" tIns="380531" rIns="0" bIns="0" rtlCol="0">
            <a:spAutoFit/>
          </a:bodyPr>
          <a:lstStyle/>
          <a:p>
            <a:pPr marL="504105">
              <a:spcBef>
                <a:spcPts val="88"/>
              </a:spcBef>
            </a:pPr>
            <a:r>
              <a:rPr spc="-18" dirty="0"/>
              <a:t>Non-</a:t>
            </a:r>
            <a:r>
              <a:rPr dirty="0"/>
              <a:t>functional</a:t>
            </a:r>
            <a:r>
              <a:rPr spc="-185" dirty="0"/>
              <a:t> </a:t>
            </a:r>
            <a:r>
              <a:rPr spc="-9" dirty="0"/>
              <a:t>classifications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DD75C8-8B41-99E3-CC9C-DDCB24BD714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11300"/>
            <a:ext cx="8305800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8517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E6E55920-EFF7-8962-FB4F-07E6BF3B82A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615553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tx1"/>
                </a:solidFill>
              </a:rPr>
              <a:t>Non-functional requirements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D9832-41F3-0611-3E08-7A257E9EB588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57200" y="1524000"/>
            <a:ext cx="8229600" cy="3717941"/>
          </a:xfrm>
        </p:spPr>
        <p:txBody>
          <a:bodyPr/>
          <a:lstStyle/>
          <a:p>
            <a:pPr marL="457200" indent="-457200" algn="just" eaLnBrk="1" hangingPunct="1">
              <a:lnSpc>
                <a:spcPct val="80000"/>
              </a:lnSpc>
            </a:pPr>
            <a:r>
              <a:rPr lang="en-US" altLang="en-US" sz="2600" b="1" dirty="0">
                <a:solidFill>
                  <a:srgbClr val="FF0000"/>
                </a:solidFill>
              </a:rPr>
              <a:t>Availability </a:t>
            </a:r>
            <a:r>
              <a:rPr lang="en-US" altLang="en-US" sz="2600" b="1" dirty="0"/>
              <a:t> </a:t>
            </a:r>
          </a:p>
          <a:p>
            <a:pPr marL="800100" lvl="1" indent="-342900"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/>
              <a:t>Availability is a measure of the planned </a:t>
            </a:r>
            <a:r>
              <a:rPr lang="en-US" altLang="en-US" sz="2200" i="1" dirty="0"/>
              <a:t>up time</a:t>
            </a:r>
            <a:r>
              <a:rPr lang="en-US" altLang="en-US" sz="2200" dirty="0"/>
              <a:t> during which the system is actually available for use and fully operational. </a:t>
            </a:r>
          </a:p>
          <a:p>
            <a:pPr marL="800100" lvl="1" indent="-342900"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/>
              <a:t>More formally, availability equals the mean time to failure (MTTF) for the system divided by the sum of the MTTF and the mean time to repair the system after a failure is encountered. </a:t>
            </a:r>
          </a:p>
          <a:p>
            <a:pPr marL="800100" lvl="1" indent="-342900"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200" dirty="0"/>
          </a:p>
          <a:p>
            <a:pPr marL="800100" lvl="1" indent="-342900"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Example: An online banking system must be available </a:t>
            </a:r>
            <a:r>
              <a:rPr lang="en-US" sz="2400" b="1" dirty="0"/>
              <a:t>24/7</a:t>
            </a:r>
            <a:r>
              <a:rPr lang="en-US" sz="2400" dirty="0"/>
              <a:t> so customers can transfer money anytime</a:t>
            </a:r>
          </a:p>
          <a:p>
            <a:pPr marL="800100" lvl="1" indent="-342900"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endParaRPr lang="en-US" altLang="en-US" sz="2400" dirty="0"/>
          </a:p>
          <a:p>
            <a:pPr marL="800100" lvl="1" indent="-342900"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MTTF is Mean time to failure</a:t>
            </a:r>
          </a:p>
          <a:p>
            <a:pPr marL="800100" lvl="1" indent="-342900"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/>
              <a:t>MTTR is Mean time to Recover </a:t>
            </a:r>
            <a:endParaRPr lang="en-US" altLang="en-US" sz="2200" dirty="0"/>
          </a:p>
          <a:p>
            <a:pPr marL="457200" indent="-457200" algn="just" eaLnBrk="1" hangingPunct="1">
              <a:lnSpc>
                <a:spcPct val="80000"/>
              </a:lnSpc>
            </a:pPr>
            <a:endParaRPr lang="en-US" altLang="en-US" sz="2600" dirty="0"/>
          </a:p>
        </p:txBody>
      </p:sp>
      <p:pic>
        <p:nvPicPr>
          <p:cNvPr id="44036" name="Picture 5" descr="Image result for availability">
            <a:extLst>
              <a:ext uri="{FF2B5EF4-FFF2-40B4-BE49-F238E27FC236}">
                <a16:creationId xmlns:a16="http://schemas.microsoft.com/office/drawing/2014/main" id="{1748A36B-F79F-6C76-2AE7-365E1F4A5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5034344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403A79FD-768C-DA54-5F16-87A37CB44A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565348"/>
            <a:ext cx="8229600" cy="615553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tx1"/>
                </a:solidFill>
              </a:rPr>
              <a:t>Non-functional requirements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E568F-F3CF-9AA6-5444-67E7A27CB50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320675" y="1600200"/>
            <a:ext cx="8229600" cy="4247317"/>
          </a:xfrm>
        </p:spPr>
        <p:txBody>
          <a:bodyPr/>
          <a:lstStyle/>
          <a:p>
            <a:pPr marL="457200" indent="-457200" algn="just" eaLnBrk="1" hangingPunct="1"/>
            <a:r>
              <a:rPr lang="en-US" altLang="en-US" sz="2300" b="1" dirty="0">
                <a:solidFill>
                  <a:srgbClr val="FF0000"/>
                </a:solidFill>
              </a:rPr>
              <a:t>Efficiency </a:t>
            </a:r>
            <a:r>
              <a:rPr lang="en-US" altLang="en-US" sz="2300" b="1" dirty="0"/>
              <a:t> </a:t>
            </a:r>
          </a:p>
          <a:p>
            <a:pPr marL="457200" indent="-457200" algn="just" eaLnBrk="1" hangingPunct="1"/>
            <a:r>
              <a:rPr lang="en-US" altLang="en-US" sz="2300" dirty="0"/>
              <a:t>Efficiency is a measure of how well the system utilizes processor capacity, disk space, memory, or communication bandwidth.</a:t>
            </a:r>
          </a:p>
          <a:p>
            <a:pPr marL="457200" indent="-457200" algn="just" eaLnBrk="1" hangingPunct="1"/>
            <a:r>
              <a:rPr lang="en-US" altLang="en-US" sz="2300" dirty="0"/>
              <a:t>If a system consumes too much of the available resources, users will encounter degraded performance, a visible indication of inefficiency. </a:t>
            </a:r>
          </a:p>
          <a:p>
            <a:pPr marL="457200" indent="-457200" algn="just" eaLnBrk="1" hangingPunct="1"/>
            <a:r>
              <a:rPr lang="en-US" sz="2300" dirty="0"/>
              <a:t>Example : A search engine should return results in </a:t>
            </a:r>
            <a:r>
              <a:rPr lang="en-US" sz="2300" b="1" dirty="0"/>
              <a:t>less than 1 second</a:t>
            </a:r>
            <a:r>
              <a:rPr lang="en-US" sz="2300" dirty="0"/>
              <a:t> even if millions of records exist</a:t>
            </a:r>
            <a:endParaRPr lang="en-US" altLang="en-US" sz="2300" dirty="0"/>
          </a:p>
          <a:p>
            <a:pPr marL="457200" indent="-457200" algn="just" eaLnBrk="1" hangingPunct="1"/>
            <a:endParaRPr lang="en-US" altLang="en-US" sz="2300" dirty="0"/>
          </a:p>
          <a:p>
            <a:pPr marL="457200" indent="-457200" algn="just" eaLnBrk="1" hangingPunct="1"/>
            <a:endParaRPr lang="en-US" altLang="en-US" sz="2300" dirty="0"/>
          </a:p>
          <a:p>
            <a:pPr marL="457200" indent="-457200" algn="just" eaLnBrk="1" hangingPunct="1"/>
            <a:endParaRPr lang="en-US" altLang="en-US" sz="2300" dirty="0"/>
          </a:p>
        </p:txBody>
      </p:sp>
      <p:pic>
        <p:nvPicPr>
          <p:cNvPr id="45060" name="Picture 5" descr="Image result for efficiency">
            <a:extLst>
              <a:ext uri="{FF2B5EF4-FFF2-40B4-BE49-F238E27FC236}">
                <a16:creationId xmlns:a16="http://schemas.microsoft.com/office/drawing/2014/main" id="{788D5647-A53B-5F9D-2740-B4E10B1A3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925" y="5176275"/>
            <a:ext cx="2682875" cy="136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E9133C59-ACD7-2466-B41A-26E08DA4669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82792"/>
            <a:ext cx="8229600" cy="615553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tx1"/>
                </a:solidFill>
              </a:rPr>
              <a:t>Non-functional requirements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17680-B9AB-D6D6-7A83-00C40222C5D5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08039" y="1600200"/>
            <a:ext cx="8229600" cy="304698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200" b="1" dirty="0">
                <a:solidFill>
                  <a:srgbClr val="FF0000"/>
                </a:solidFill>
              </a:rPr>
              <a:t>Flexibility</a:t>
            </a:r>
            <a:r>
              <a:rPr lang="en-US" altLang="en-US" sz="2200" b="1" dirty="0"/>
              <a:t>  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200" dirty="0"/>
              <a:t>Flexibility measures </a:t>
            </a:r>
            <a:r>
              <a:rPr lang="en-US" altLang="en-US" sz="2200" dirty="0">
                <a:solidFill>
                  <a:srgbClr val="FF0000"/>
                </a:solidFill>
              </a:rPr>
              <a:t>how easy it is to add new capabilities </a:t>
            </a:r>
            <a:r>
              <a:rPr lang="en-US" altLang="en-US" sz="2200" dirty="0"/>
              <a:t>to the product.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200" dirty="0"/>
              <a:t>If developers anticipate making many enhancements, they can choose design approaches that maximize the software's flexibility. 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200" dirty="0"/>
          </a:p>
          <a:p>
            <a:pPr algn="just" eaLnBrk="1" hangingPunct="1">
              <a:lnSpc>
                <a:spcPct val="90000"/>
              </a:lnSpc>
            </a:pPr>
            <a:r>
              <a:rPr lang="en-US" sz="2200" dirty="0"/>
              <a:t>Example: An e-commerce platform should allow adding </a:t>
            </a:r>
            <a:r>
              <a:rPr lang="en-US" sz="2200" b="1" dirty="0"/>
              <a:t>new payment methods</a:t>
            </a:r>
            <a:r>
              <a:rPr lang="en-US" sz="2200" dirty="0"/>
              <a:t> (like </a:t>
            </a:r>
            <a:r>
              <a:rPr lang="en-US" sz="2200" dirty="0" err="1"/>
              <a:t>JazzCash</a:t>
            </a:r>
            <a:r>
              <a:rPr lang="en-US" sz="2200" dirty="0"/>
              <a:t>, </a:t>
            </a:r>
            <a:r>
              <a:rPr lang="en-US" sz="2200" dirty="0" err="1"/>
              <a:t>Easypaisa</a:t>
            </a:r>
            <a:r>
              <a:rPr lang="en-US" sz="2200" dirty="0"/>
              <a:t>) without redesigning the whole system.</a:t>
            </a:r>
            <a:endParaRPr lang="en-US" altLang="en-US" sz="2200" dirty="0"/>
          </a:p>
          <a:p>
            <a:pPr algn="just" eaLnBrk="1" hangingPunct="1">
              <a:lnSpc>
                <a:spcPct val="90000"/>
              </a:lnSpc>
            </a:pPr>
            <a:endParaRPr lang="en-US" altLang="en-US" sz="2200" dirty="0"/>
          </a:p>
        </p:txBody>
      </p:sp>
      <p:pic>
        <p:nvPicPr>
          <p:cNvPr id="46084" name="Picture 5" descr="Image result for flexibility in requirements">
            <a:extLst>
              <a:ext uri="{FF2B5EF4-FFF2-40B4-BE49-F238E27FC236}">
                <a16:creationId xmlns:a16="http://schemas.microsoft.com/office/drawing/2014/main" id="{30E0C0E4-C1C0-55DF-9F36-A01494B39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061" y="5029200"/>
            <a:ext cx="3898900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0C67ECEF-5F23-DA0C-692E-B315DE8BC9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24060"/>
            <a:ext cx="8229600" cy="615553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tx1"/>
                </a:solidFill>
              </a:rPr>
              <a:t>Non-functional requirements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F5CFDBC1-FDFC-9842-113B-570E650465B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57200" y="1572649"/>
            <a:ext cx="8229600" cy="1938992"/>
          </a:xfrm>
        </p:spPr>
        <p:txBody>
          <a:bodyPr/>
          <a:lstStyle/>
          <a:p>
            <a:pPr algn="just" eaLnBrk="1" hangingPunct="1"/>
            <a:r>
              <a:rPr lang="en-US" altLang="en-US" b="1" dirty="0">
                <a:solidFill>
                  <a:srgbClr val="FF0000"/>
                </a:solidFill>
              </a:rPr>
              <a:t>Interoperability </a:t>
            </a:r>
            <a:r>
              <a:rPr lang="en-US" altLang="en-US" b="1" dirty="0"/>
              <a:t> </a:t>
            </a:r>
          </a:p>
          <a:p>
            <a:pPr algn="just" eaLnBrk="1" hangingPunct="1"/>
            <a:r>
              <a:rPr lang="en-US" altLang="en-US" dirty="0"/>
              <a:t>Interoperability indicates how easily the system can exchange data or services with other systems. </a:t>
            </a:r>
          </a:p>
          <a:p>
            <a:pPr algn="just" eaLnBrk="1" hangingPunct="1"/>
            <a:endParaRPr lang="en-US" altLang="en-US" dirty="0"/>
          </a:p>
          <a:p>
            <a:pPr algn="just" eaLnBrk="1" hangingPunct="1"/>
            <a:r>
              <a:rPr lang="en-US" altLang="en-US" dirty="0"/>
              <a:t>Example: </a:t>
            </a:r>
            <a:r>
              <a:rPr lang="en-US" dirty="0"/>
              <a:t>A hospital management system should be able to </a:t>
            </a:r>
            <a:r>
              <a:rPr lang="en-US" b="1" dirty="0"/>
              <a:t>exchange patient data</a:t>
            </a:r>
            <a:r>
              <a:rPr lang="en-US" dirty="0"/>
              <a:t> with a laboratory’s system using standard formats (HL7, XML, APIs).</a:t>
            </a:r>
            <a:endParaRPr lang="en-US" altLang="en-US" dirty="0"/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pic>
        <p:nvPicPr>
          <p:cNvPr id="47108" name="Picture 5" descr="Image result for interoperability">
            <a:extLst>
              <a:ext uri="{FF2B5EF4-FFF2-40B4-BE49-F238E27FC236}">
                <a16:creationId xmlns:a16="http://schemas.microsoft.com/office/drawing/2014/main" id="{DF0D53D9-9CD7-EC53-26C6-856A717B8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163" y="4424363"/>
            <a:ext cx="2733675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4209154D-6E46-4977-378D-057C23C7DF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24060"/>
            <a:ext cx="8229600" cy="615553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tx1"/>
                </a:solidFill>
              </a:rPr>
              <a:t>Non-functional requirements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E3DB0-BFB3-E2C3-05B7-E29D010A3CAD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57200" y="1676400"/>
            <a:ext cx="8229600" cy="2068259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100" b="1" dirty="0">
                <a:solidFill>
                  <a:srgbClr val="FF0000"/>
                </a:solidFill>
              </a:rPr>
              <a:t>Reliability </a:t>
            </a:r>
            <a:r>
              <a:rPr lang="en-US" altLang="en-US" sz="2100" b="1" dirty="0"/>
              <a:t> 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dirty="0"/>
              <a:t>Reliability means the system should </a:t>
            </a:r>
            <a:r>
              <a:rPr lang="en-US" b="1" dirty="0"/>
              <a:t>perform its intended function correctly and consistently over a specified period of time without failure</a:t>
            </a:r>
            <a:r>
              <a:rPr lang="en-US" dirty="0"/>
              <a:t>.</a:t>
            </a:r>
            <a:endParaRPr lang="en-US" altLang="en-US" dirty="0"/>
          </a:p>
          <a:p>
            <a:pPr algn="just" eaLnBrk="1" hangingPunct="1">
              <a:lnSpc>
                <a:spcPct val="80000"/>
              </a:lnSpc>
            </a:pPr>
            <a:endParaRPr lang="en-US" altLang="en-US" dirty="0"/>
          </a:p>
          <a:p>
            <a:pPr algn="just" eaLnBrk="1" hangingPunct="1">
              <a:lnSpc>
                <a:spcPct val="80000"/>
              </a:lnSpc>
            </a:pPr>
            <a:r>
              <a:rPr lang="en-US" altLang="en-US" dirty="0"/>
              <a:t>Example: </a:t>
            </a:r>
            <a:r>
              <a:rPr lang="en-US" dirty="0"/>
              <a:t>An ATM should </a:t>
            </a:r>
            <a:r>
              <a:rPr lang="en-US" b="1" dirty="0"/>
              <a:t>always dispense the correct amount</a:t>
            </a:r>
            <a:r>
              <a:rPr lang="en-US" dirty="0"/>
              <a:t> when a user withdraws cash.</a:t>
            </a:r>
            <a:endParaRPr lang="en-US" altLang="en-US" dirty="0"/>
          </a:p>
          <a:p>
            <a:pPr algn="just" eaLnBrk="1" hangingPunct="1">
              <a:lnSpc>
                <a:spcPct val="80000"/>
              </a:lnSpc>
              <a:buFontTx/>
              <a:buNone/>
            </a:pPr>
            <a:endParaRPr lang="en-US" altLang="en-US" dirty="0"/>
          </a:p>
          <a:p>
            <a:pPr algn="just" eaLnBrk="1" hangingPunct="1">
              <a:lnSpc>
                <a:spcPct val="80000"/>
              </a:lnSpc>
            </a:pPr>
            <a:endParaRPr lang="en-US" altLang="en-US" sz="2100" dirty="0"/>
          </a:p>
        </p:txBody>
      </p:sp>
      <p:pic>
        <p:nvPicPr>
          <p:cNvPr id="48132" name="Picture 5" descr="Image result for reliability">
            <a:extLst>
              <a:ext uri="{FF2B5EF4-FFF2-40B4-BE49-F238E27FC236}">
                <a16:creationId xmlns:a16="http://schemas.microsoft.com/office/drawing/2014/main" id="{0E0A290E-1FA2-38E6-A084-1CB7C082E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0" y="4827588"/>
            <a:ext cx="4127500" cy="203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1CE99043-A6F9-07BE-18BE-E6DF11A5498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57199" y="481410"/>
            <a:ext cx="8229601" cy="615553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tx1"/>
                </a:solidFill>
              </a:rPr>
              <a:t>Non-functional requirements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0A347-624C-4CAE-A925-452E8E37CE6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88912" y="1752600"/>
            <a:ext cx="8229600" cy="304698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200" b="1" dirty="0">
                <a:solidFill>
                  <a:srgbClr val="FF0000"/>
                </a:solidFill>
              </a:rPr>
              <a:t>Robustness </a:t>
            </a:r>
            <a:r>
              <a:rPr lang="en-US" altLang="en-US" sz="2200" b="1" dirty="0"/>
              <a:t> 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200" i="1" dirty="0"/>
              <a:t>Robustness</a:t>
            </a:r>
            <a:r>
              <a:rPr lang="en-US" altLang="en-US" sz="2200" dirty="0"/>
              <a:t>, sometimes called </a:t>
            </a:r>
            <a:r>
              <a:rPr lang="en-US" altLang="en-US" sz="2200" i="1" dirty="0"/>
              <a:t>fault tolerance, </a:t>
            </a:r>
            <a:r>
              <a:rPr lang="en-US" altLang="en-US" sz="2200" dirty="0"/>
              <a:t>is the degree to which a system continues to function properly when confronted with invalid inputs, defects in connected software or hardware components, or unexpected operating conditions.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200" dirty="0"/>
              <a:t>Robust software recovers gracefully from problem situations and is forgiving of user mistakes. 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200" dirty="0"/>
          </a:p>
          <a:p>
            <a:pPr algn="just" eaLnBrk="1" hangingPunct="1">
              <a:lnSpc>
                <a:spcPct val="90000"/>
              </a:lnSpc>
            </a:pPr>
            <a:r>
              <a:rPr lang="en-US" sz="2200" dirty="0"/>
              <a:t>If a user uploads a </a:t>
            </a:r>
            <a:r>
              <a:rPr lang="en-US" sz="2200" b="1" dirty="0"/>
              <a:t>wrong format file</a:t>
            </a:r>
            <a:r>
              <a:rPr lang="en-US" sz="2200" dirty="0"/>
              <a:t>, the system should </a:t>
            </a:r>
            <a:r>
              <a:rPr lang="en-US" sz="2200" b="1" dirty="0"/>
              <a:t>show an error message</a:t>
            </a:r>
            <a:r>
              <a:rPr lang="en-US" sz="2200" dirty="0"/>
              <a:t> instead of crashing.</a:t>
            </a:r>
            <a:endParaRPr lang="en-US" altLang="en-US" sz="2200" dirty="0"/>
          </a:p>
        </p:txBody>
      </p:sp>
      <p:pic>
        <p:nvPicPr>
          <p:cNvPr id="49156" name="Picture 5" descr="Image result for exception handling">
            <a:extLst>
              <a:ext uri="{FF2B5EF4-FFF2-40B4-BE49-F238E27FC236}">
                <a16:creationId xmlns:a16="http://schemas.microsoft.com/office/drawing/2014/main" id="{2C73FE50-EBA2-AB41-AF0D-3783D6671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5334000"/>
            <a:ext cx="2401888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892BDC28-EBE1-300D-A0E1-2297E9160C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560586"/>
            <a:ext cx="8229600" cy="615553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tx1"/>
                </a:solidFill>
              </a:rPr>
              <a:t>Non-functional requirements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04026-F4D6-3D80-2498-4993A7FF1FD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304800" y="1600200"/>
            <a:ext cx="8229600" cy="2160591"/>
          </a:xfrm>
        </p:spPr>
        <p:txBody>
          <a:bodyPr/>
          <a:lstStyle/>
          <a:p>
            <a:pPr marL="457200" indent="-457200" algn="just" eaLnBrk="1" hangingPunct="1">
              <a:lnSpc>
                <a:spcPct val="90000"/>
              </a:lnSpc>
            </a:pPr>
            <a:r>
              <a:rPr lang="en-US" altLang="en-US" sz="2600" b="1" dirty="0">
                <a:solidFill>
                  <a:srgbClr val="FF0000"/>
                </a:solidFill>
              </a:rPr>
              <a:t>Usability  </a:t>
            </a:r>
          </a:p>
          <a:p>
            <a:pPr marL="457200" indent="-457200" algn="just" eaLnBrk="1" hangingPunct="1">
              <a:lnSpc>
                <a:spcPct val="90000"/>
              </a:lnSpc>
            </a:pPr>
            <a:r>
              <a:rPr lang="en-US" altLang="en-US" sz="2600" dirty="0"/>
              <a:t>Also referred to as </a:t>
            </a:r>
            <a:r>
              <a:rPr lang="en-US" altLang="en-US" sz="2600" i="1" dirty="0"/>
              <a:t>ease of use </a:t>
            </a:r>
            <a:r>
              <a:rPr lang="en-US" altLang="en-US" sz="2600" dirty="0"/>
              <a:t>and </a:t>
            </a:r>
            <a:r>
              <a:rPr lang="en-US" altLang="en-US" sz="2600" i="1" dirty="0"/>
              <a:t>human engineering</a:t>
            </a:r>
            <a:r>
              <a:rPr lang="en-US" altLang="en-US" sz="2600" dirty="0"/>
              <a:t>, usability addresses the many factors that constitute what users often describe as </a:t>
            </a:r>
            <a:r>
              <a:rPr lang="en-US" altLang="en-US" sz="2600" i="1" dirty="0"/>
              <a:t>user-friendliness</a:t>
            </a:r>
            <a:r>
              <a:rPr lang="en-US" altLang="en-US" sz="2600" dirty="0"/>
              <a:t>. </a:t>
            </a:r>
          </a:p>
          <a:p>
            <a:pPr marL="457200" indent="-457200" algn="just" eaLnBrk="1" hangingPunct="1">
              <a:lnSpc>
                <a:spcPct val="90000"/>
              </a:lnSpc>
            </a:pPr>
            <a:endParaRPr lang="en-US" altLang="en-US" sz="2600" dirty="0"/>
          </a:p>
          <a:p>
            <a:pPr marL="457200" indent="-457200" algn="just" eaLnBrk="1" hangingPunct="1">
              <a:lnSpc>
                <a:spcPct val="90000"/>
              </a:lnSpc>
            </a:pPr>
            <a:endParaRPr lang="en-US" altLang="en-US" sz="2600" dirty="0"/>
          </a:p>
        </p:txBody>
      </p:sp>
      <p:pic>
        <p:nvPicPr>
          <p:cNvPr id="50180" name="Picture 5" descr="Image result for usability">
            <a:extLst>
              <a:ext uri="{FF2B5EF4-FFF2-40B4-BE49-F238E27FC236}">
                <a16:creationId xmlns:a16="http://schemas.microsoft.com/office/drawing/2014/main" id="{76C727DA-2775-EC79-8D7A-BF8CB4AB5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969" y="4364037"/>
            <a:ext cx="3579812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BA041F39-CC03-8485-6616-EF42A14A79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335975"/>
            <a:ext cx="8229600" cy="615553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tx1"/>
                </a:solidFill>
              </a:rPr>
              <a:t>Non-functional requirements</a:t>
            </a:r>
            <a:endParaRPr lang="en-US" altLang="en-US" b="1" dirty="0">
              <a:solidFill>
                <a:schemeClr val="tx1"/>
              </a:solidFill>
            </a:endParaRP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92002213-A2A3-1C95-0952-61C12E57BF8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228600" y="1605116"/>
            <a:ext cx="8229600" cy="2862322"/>
          </a:xfrm>
        </p:spPr>
        <p:txBody>
          <a:bodyPr/>
          <a:lstStyle/>
          <a:p>
            <a:pPr algn="just" eaLnBrk="1" hangingPunct="1"/>
            <a:r>
              <a:rPr lang="en-US" altLang="en-US" sz="2400" dirty="0">
                <a:solidFill>
                  <a:srgbClr val="FF0000"/>
                </a:solidFill>
              </a:rPr>
              <a:t>Integrity</a:t>
            </a:r>
          </a:p>
          <a:p>
            <a:pPr algn="just" eaLnBrk="1" hangingPunct="1"/>
            <a:endParaRPr lang="en-US" altLang="en-US" sz="2400" dirty="0">
              <a:solidFill>
                <a:srgbClr val="FF0000"/>
              </a:solidFill>
            </a:endParaRPr>
          </a:p>
          <a:p>
            <a:pPr algn="just" eaLnBrk="1" hangingPunct="1"/>
            <a:r>
              <a:rPr lang="en-US" altLang="en-US" sz="2400" dirty="0"/>
              <a:t>No Change in data</a:t>
            </a:r>
          </a:p>
          <a:p>
            <a:pPr algn="just" eaLnBrk="1" hangingPunct="1"/>
            <a:endParaRPr lang="en-US" altLang="en-US" sz="2400" dirty="0"/>
          </a:p>
          <a:p>
            <a:pPr algn="just" eaLnBrk="1" hangingPunct="1"/>
            <a:r>
              <a:rPr lang="en-US" sz="2400" dirty="0"/>
              <a:t>Integrity is about ensuring that </a:t>
            </a:r>
            <a:r>
              <a:rPr lang="en-US" sz="2400" b="1" dirty="0"/>
              <a:t>data and system resources are accurate, consistent, and protected from unauthorized or accidental modification</a:t>
            </a:r>
            <a:endParaRPr lang="en-US" altLang="en-US" sz="2400" dirty="0"/>
          </a:p>
          <a:p>
            <a:pPr algn="just" eaLnBrk="1" hangingPunct="1"/>
            <a:endParaRPr lang="en-US" altLang="en-US" dirty="0"/>
          </a:p>
        </p:txBody>
      </p:sp>
      <p:pic>
        <p:nvPicPr>
          <p:cNvPr id="51204" name="Picture 5" descr="Image result for integrity of data">
            <a:extLst>
              <a:ext uri="{FF2B5EF4-FFF2-40B4-BE49-F238E27FC236}">
                <a16:creationId xmlns:a16="http://schemas.microsoft.com/office/drawing/2014/main" id="{BF0B4428-B5DB-0960-224E-E9A2FD46F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4221163"/>
            <a:ext cx="3286125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EBDD-2B2F-33EE-662A-85CF147D8091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152400" y="1371600"/>
            <a:ext cx="8229600" cy="4525963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en-US" sz="2300" b="1" dirty="0">
                <a:solidFill>
                  <a:srgbClr val="FF0000"/>
                </a:solidFill>
              </a:rPr>
              <a:t>Maintainability</a:t>
            </a:r>
            <a:r>
              <a:rPr lang="en-US" altLang="en-US" sz="2300" b="1" dirty="0"/>
              <a:t>  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300" dirty="0"/>
              <a:t>Maintainability indicates how easy it is to correct a defect or modify the software.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300" dirty="0"/>
              <a:t>Maintainability depends on how easily the software can be understood, changed, and tested. </a:t>
            </a:r>
          </a:p>
        </p:txBody>
      </p:sp>
      <p:pic>
        <p:nvPicPr>
          <p:cNvPr id="52227" name="Picture 4" descr="Image result for maintainability">
            <a:extLst>
              <a:ext uri="{FF2B5EF4-FFF2-40B4-BE49-F238E27FC236}">
                <a16:creationId xmlns:a16="http://schemas.microsoft.com/office/drawing/2014/main" id="{A95165C7-742F-F19E-979B-EB563B5B0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038600"/>
            <a:ext cx="5715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3">
            <a:extLst>
              <a:ext uri="{FF2B5EF4-FFF2-40B4-BE49-F238E27FC236}">
                <a16:creationId xmlns:a16="http://schemas.microsoft.com/office/drawing/2014/main" id="{735552DC-C723-F648-BACA-09A289ECF78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615553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tx1"/>
                </a:solidFill>
              </a:rPr>
              <a:t>Attribute Trade-offs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292C93E-F62D-1E28-E234-2DB06A6154AF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3121223"/>
            <a:ext cx="82296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424455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r>
              <a:rPr lang="en-US" altLang="en-US" b="1" dirty="0">
                <a:solidFill>
                  <a:schemeClr val="tx1"/>
                </a:solidFill>
              </a:rPr>
              <a:t>ANY Trade-offs?</a:t>
            </a: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049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dirty="0"/>
              <a:t>For</a:t>
            </a:r>
            <a:r>
              <a:rPr spc="-105" dirty="0"/>
              <a:t> </a:t>
            </a:r>
            <a:r>
              <a:rPr dirty="0"/>
              <a:t>any</a:t>
            </a:r>
            <a:r>
              <a:rPr spc="-25" dirty="0"/>
              <a:t> </a:t>
            </a:r>
            <a:r>
              <a:rPr dirty="0"/>
              <a:t>query</a:t>
            </a:r>
            <a:r>
              <a:rPr spc="-105" dirty="0"/>
              <a:t> </a:t>
            </a:r>
            <a:r>
              <a:rPr dirty="0"/>
              <a:t>Feel</a:t>
            </a:r>
            <a:r>
              <a:rPr spc="-55" dirty="0"/>
              <a:t> </a:t>
            </a:r>
            <a:r>
              <a:rPr dirty="0"/>
              <a:t>Free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25" dirty="0"/>
              <a:t>ask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2438450"/>
            <a:ext cx="4695825" cy="41685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2450" y="5854064"/>
            <a:ext cx="971550" cy="1003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746BA5DCC9394D8011CD1786C7798C" ma:contentTypeVersion="3" ma:contentTypeDescription="Create a new document." ma:contentTypeScope="" ma:versionID="4272aded7ec7d4c7253a29a16373bcfa">
  <xsd:schema xmlns:xsd="http://www.w3.org/2001/XMLSchema" xmlns:xs="http://www.w3.org/2001/XMLSchema" xmlns:p="http://schemas.microsoft.com/office/2006/metadata/properties" xmlns:ns2="bca22fdb-ae7c-4717-b631-3c9f88a96e59" targetNamespace="http://schemas.microsoft.com/office/2006/metadata/properties" ma:root="true" ma:fieldsID="938043f5702327063dcd06b1f0447230" ns2:_="">
    <xsd:import namespace="bca22fdb-ae7c-4717-b631-3c9f88a96e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22fdb-ae7c-4717-b631-3c9f88a96e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D45439-9896-490A-925C-D97F951A7F85}"/>
</file>

<file path=customXml/itemProps2.xml><?xml version="1.0" encoding="utf-8"?>
<ds:datastoreItem xmlns:ds="http://schemas.openxmlformats.org/officeDocument/2006/customXml" ds:itemID="{A84BA9F7-522B-4260-81A7-983955B59E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F282972-720D-432A-AEA8-340E4B2E2C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5748</TotalTime>
  <Words>1805</Words>
  <Application>Microsoft Office PowerPoint</Application>
  <PresentationFormat>On-screen Show (4:3)</PresentationFormat>
  <Paragraphs>211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Arial MT</vt:lpstr>
      <vt:lpstr>Calibri</vt:lpstr>
      <vt:lpstr>Georgia</vt:lpstr>
      <vt:lpstr>Trebuchet MS</vt:lpstr>
      <vt:lpstr>Wingdings</vt:lpstr>
      <vt:lpstr>Office Theme</vt:lpstr>
      <vt:lpstr>Software Engineering        Chapter 4 Requirements</vt:lpstr>
      <vt:lpstr>Presentation Outline</vt:lpstr>
      <vt:lpstr>Requirement</vt:lpstr>
      <vt:lpstr>Software Requirements</vt:lpstr>
      <vt:lpstr>Requirement</vt:lpstr>
      <vt:lpstr>Sources of Requirement</vt:lpstr>
      <vt:lpstr>Sources of Requirement</vt:lpstr>
      <vt:lpstr>The Goal of Software Development[1]</vt:lpstr>
      <vt:lpstr>Context: Stakeholder's Environment</vt:lpstr>
      <vt:lpstr>Importance of Software Requirements</vt:lpstr>
      <vt:lpstr>The Root Causes of Project Success and Failure</vt:lpstr>
      <vt:lpstr>Requirements Engineering Process</vt:lpstr>
      <vt:lpstr>Types of requirement</vt:lpstr>
      <vt:lpstr>Types of requirement</vt:lpstr>
      <vt:lpstr>Types of requirement</vt:lpstr>
      <vt:lpstr>Example</vt:lpstr>
      <vt:lpstr>Example</vt:lpstr>
      <vt:lpstr>Requirements readers</vt:lpstr>
      <vt:lpstr>Functional and non-functional requirements</vt:lpstr>
      <vt:lpstr>Domain requirements</vt:lpstr>
      <vt:lpstr>Library system domain requirements</vt:lpstr>
      <vt:lpstr>Domain requirements problems</vt:lpstr>
      <vt:lpstr>Requirements Management</vt:lpstr>
      <vt:lpstr>Functional requirements</vt:lpstr>
      <vt:lpstr>The LIBSYS system</vt:lpstr>
      <vt:lpstr>Requirements imprecision</vt:lpstr>
      <vt:lpstr>Requirements completeness and consistency</vt:lpstr>
      <vt:lpstr>Non-functional requirements</vt:lpstr>
      <vt:lpstr>Example of NFR</vt:lpstr>
      <vt:lpstr>Non-functional classifications</vt:lpstr>
      <vt:lpstr>Non-functional requirements</vt:lpstr>
      <vt:lpstr>Non-functional requirements</vt:lpstr>
      <vt:lpstr>Non-functional requirements</vt:lpstr>
      <vt:lpstr>Non-functional requirements</vt:lpstr>
      <vt:lpstr>Non-functional requirements</vt:lpstr>
      <vt:lpstr>Non-functional requirements</vt:lpstr>
      <vt:lpstr>Non-functional requirements</vt:lpstr>
      <vt:lpstr>Non-functional requirements</vt:lpstr>
      <vt:lpstr>PowerPoint Presentation</vt:lpstr>
      <vt:lpstr>Attribute Trade-offs</vt:lpstr>
      <vt:lpstr>For any query Feel Free to 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Israr Ahmad Lecturer FCS</cp:lastModifiedBy>
  <cp:revision>32</cp:revision>
  <dcterms:created xsi:type="dcterms:W3CDTF">2025-09-29T16:25:31Z</dcterms:created>
  <dcterms:modified xsi:type="dcterms:W3CDTF">2026-10-10T09:06:57Z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2014-11-14T00:00:00Z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2025-09-29T00:00:00Z</vt:filetime>
  </property>
  <property fmtid="{D5CDD505-2E9C-101B-9397-08002B2CF9AE}" pid="5" name="Producer">
    <vt:lpwstr>Microsoft® Office PowerPoint® 2007</vt:lpwstr>
  </property>
  <property fmtid="{D5CDD505-2E9C-101B-9397-08002B2CF9AE}" pid="6" name="ContentTypeId">
    <vt:lpwstr>0x010100D8746BA5DCC9394D8011CD1786C7798C</vt:lpwstr>
  </property>
</Properties>
</file>