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847"/>
            <a:ext cx="9144000" cy="142240"/>
          </a:xfrm>
          <a:custGeom>
            <a:avLst/>
            <a:gdLst/>
            <a:ahLst/>
            <a:cxnLst/>
            <a:rect l="l" t="t" r="r" b="b"/>
            <a:pathLst>
              <a:path w="9144000" h="142240">
                <a:moveTo>
                  <a:pt x="9144000" y="0"/>
                </a:moveTo>
                <a:lnTo>
                  <a:pt x="0" y="0"/>
                </a:lnTo>
                <a:lnTo>
                  <a:pt x="0" y="91440"/>
                </a:lnTo>
                <a:lnTo>
                  <a:pt x="5410200" y="91440"/>
                </a:lnTo>
                <a:lnTo>
                  <a:pt x="5410200" y="141732"/>
                </a:lnTo>
                <a:lnTo>
                  <a:pt x="9144000" y="141732"/>
                </a:lnTo>
                <a:lnTo>
                  <a:pt x="9144000" y="91440"/>
                </a:lnTo>
                <a:lnTo>
                  <a:pt x="9144000" y="51816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438911"/>
            <a:ext cx="3733800" cy="1798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07152" y="496823"/>
            <a:ext cx="3568065" cy="128270"/>
          </a:xfrm>
          <a:custGeom>
            <a:avLst/>
            <a:gdLst/>
            <a:ahLst/>
            <a:cxnLst/>
            <a:rect l="l" t="t" r="r" b="b"/>
            <a:pathLst>
              <a:path w="3568065" h="128270">
                <a:moveTo>
                  <a:pt x="3064764" y="1524"/>
                </a:moveTo>
                <a:lnTo>
                  <a:pt x="3061716" y="0"/>
                </a:lnTo>
                <a:lnTo>
                  <a:pt x="3048" y="0"/>
                </a:lnTo>
                <a:lnTo>
                  <a:pt x="0" y="1524"/>
                </a:lnTo>
                <a:lnTo>
                  <a:pt x="0" y="4572"/>
                </a:lnTo>
                <a:lnTo>
                  <a:pt x="0" y="25908"/>
                </a:lnTo>
                <a:lnTo>
                  <a:pt x="3048" y="27432"/>
                </a:lnTo>
                <a:lnTo>
                  <a:pt x="3061716" y="27432"/>
                </a:lnTo>
                <a:lnTo>
                  <a:pt x="3064764" y="25908"/>
                </a:lnTo>
                <a:lnTo>
                  <a:pt x="3064764" y="1524"/>
                </a:lnTo>
                <a:close/>
              </a:path>
              <a:path w="3568065" h="128270">
                <a:moveTo>
                  <a:pt x="3567684" y="94488"/>
                </a:moveTo>
                <a:lnTo>
                  <a:pt x="3564636" y="91440"/>
                </a:lnTo>
                <a:lnTo>
                  <a:pt x="1970532" y="91440"/>
                </a:lnTo>
                <a:lnTo>
                  <a:pt x="1967484" y="94488"/>
                </a:lnTo>
                <a:lnTo>
                  <a:pt x="1967484" y="97536"/>
                </a:lnTo>
                <a:lnTo>
                  <a:pt x="1967484" y="124968"/>
                </a:lnTo>
                <a:lnTo>
                  <a:pt x="1970532" y="128016"/>
                </a:lnTo>
                <a:lnTo>
                  <a:pt x="3564636" y="128016"/>
                </a:lnTo>
                <a:lnTo>
                  <a:pt x="3567684" y="124968"/>
                </a:lnTo>
                <a:lnTo>
                  <a:pt x="3567684" y="94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75" y="810163"/>
            <a:ext cx="8224449" cy="12264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668" y="1867979"/>
            <a:ext cx="7825105" cy="358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427729"/>
          </a:xfrm>
          <a:custGeom>
            <a:avLst/>
            <a:gdLst/>
            <a:ahLst/>
            <a:cxnLst/>
            <a:rect l="l" t="t" r="r" b="b"/>
            <a:pathLst>
              <a:path w="9144000" h="3427729">
                <a:moveTo>
                  <a:pt x="9144000" y="0"/>
                </a:moveTo>
                <a:lnTo>
                  <a:pt x="0" y="0"/>
                </a:lnTo>
                <a:lnTo>
                  <a:pt x="0" y="3427476"/>
                </a:lnTo>
                <a:lnTo>
                  <a:pt x="9144000" y="342747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1746525"/>
            <a:ext cx="534670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Software</a:t>
            </a:r>
            <a:r>
              <a:rPr sz="4400" spc="-6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Engineering </a:t>
            </a:r>
            <a:r>
              <a:rPr sz="4400" dirty="0">
                <a:solidFill>
                  <a:srgbClr val="FFFFFF"/>
                </a:solidFill>
              </a:rPr>
              <a:t>Lecture</a:t>
            </a:r>
            <a:r>
              <a:rPr sz="4400" spc="-5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#</a:t>
            </a:r>
            <a:r>
              <a:rPr sz="4400" spc="-25" dirty="0">
                <a:solidFill>
                  <a:srgbClr val="FFFFFF"/>
                </a:solidFill>
              </a:rPr>
              <a:t> </a:t>
            </a:r>
            <a:r>
              <a:rPr lang="en-US" sz="4400" spc="-50" dirty="0">
                <a:solidFill>
                  <a:srgbClr val="FFFFFF"/>
                </a:solidFill>
              </a:rPr>
              <a:t>6</a:t>
            </a:r>
            <a:br>
              <a:rPr lang="en-US" sz="4400" spc="-50" dirty="0">
                <a:solidFill>
                  <a:srgbClr val="FFFFFF"/>
                </a:solidFill>
              </a:rPr>
            </a:br>
            <a:endParaRPr sz="4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3427475"/>
            <a:ext cx="9144000" cy="3426460"/>
            <a:chOff x="0" y="3427475"/>
            <a:chExt cx="9144000" cy="3426460"/>
          </a:xfrm>
        </p:grpSpPr>
        <p:sp>
          <p:nvSpPr>
            <p:cNvPr id="5" name="object 5"/>
            <p:cNvSpPr/>
            <p:nvPr/>
          </p:nvSpPr>
          <p:spPr>
            <a:xfrm>
              <a:off x="0" y="3701795"/>
              <a:ext cx="9144000" cy="3152140"/>
            </a:xfrm>
            <a:custGeom>
              <a:avLst/>
              <a:gdLst/>
              <a:ahLst/>
              <a:cxnLst/>
              <a:rect l="l" t="t" r="r" b="b"/>
              <a:pathLst>
                <a:path w="9144000" h="3152140">
                  <a:moveTo>
                    <a:pt x="0" y="3151631"/>
                  </a:moveTo>
                  <a:lnTo>
                    <a:pt x="9144000" y="315163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16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3808475"/>
              <a:ext cx="3733800" cy="91440"/>
            </a:xfrm>
            <a:custGeom>
              <a:avLst/>
              <a:gdLst/>
              <a:ahLst/>
              <a:cxnLst/>
              <a:rect l="l" t="t" r="r" b="b"/>
              <a:pathLst>
                <a:path w="3733800" h="91439">
                  <a:moveTo>
                    <a:pt x="37338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733800" y="91439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3895343"/>
              <a:ext cx="3733800" cy="228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163567"/>
              <a:ext cx="1965959" cy="42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3960875"/>
              <a:ext cx="3568065" cy="135890"/>
            </a:xfrm>
            <a:custGeom>
              <a:avLst/>
              <a:gdLst/>
              <a:ahLst/>
              <a:cxnLst/>
              <a:rect l="l" t="t" r="r" b="b"/>
              <a:pathLst>
                <a:path w="3568065" h="135889">
                  <a:moveTo>
                    <a:pt x="3064764" y="3048"/>
                  </a:moveTo>
                  <a:lnTo>
                    <a:pt x="306324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3240" y="27432"/>
                  </a:lnTo>
                  <a:lnTo>
                    <a:pt x="3064764" y="25908"/>
                  </a:lnTo>
                  <a:lnTo>
                    <a:pt x="3064764" y="3048"/>
                  </a:lnTo>
                  <a:close/>
                </a:path>
                <a:path w="3568065" h="135889">
                  <a:moveTo>
                    <a:pt x="3567684" y="102108"/>
                  </a:moveTo>
                  <a:lnTo>
                    <a:pt x="3564636" y="99060"/>
                  </a:lnTo>
                  <a:lnTo>
                    <a:pt x="1970532" y="99060"/>
                  </a:lnTo>
                  <a:lnTo>
                    <a:pt x="1967484" y="102108"/>
                  </a:lnTo>
                  <a:lnTo>
                    <a:pt x="1967484" y="105156"/>
                  </a:lnTo>
                  <a:lnTo>
                    <a:pt x="1967484" y="132588"/>
                  </a:lnTo>
                  <a:lnTo>
                    <a:pt x="1970532" y="135636"/>
                  </a:lnTo>
                  <a:lnTo>
                    <a:pt x="3564636" y="135636"/>
                  </a:lnTo>
                  <a:lnTo>
                    <a:pt x="3567684" y="132588"/>
                  </a:lnTo>
                  <a:lnTo>
                    <a:pt x="3567684" y="102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648455"/>
              <a:ext cx="9144000" cy="2438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701795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4516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4516" y="114300"/>
                  </a:lnTo>
                  <a:lnTo>
                    <a:pt x="6414516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427475"/>
              <a:ext cx="9144000" cy="274320"/>
            </a:xfrm>
            <a:custGeom>
              <a:avLst/>
              <a:gdLst/>
              <a:ahLst/>
              <a:cxnLst/>
              <a:rect l="l" t="t" r="r" b="b"/>
              <a:pathLst>
                <a:path w="9144000" h="274320">
                  <a:moveTo>
                    <a:pt x="9144000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9144000" y="2743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5439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5640" y="2231546"/>
            <a:ext cx="3029585" cy="182498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SDLC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Sequential</a:t>
            </a:r>
            <a:r>
              <a:rPr sz="2800" spc="-1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9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Waterfall</a:t>
            </a:r>
            <a:r>
              <a:rPr sz="2600" spc="-15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6"/>
                </a:solidFill>
                <a:latin typeface="Georgia"/>
                <a:cs typeface="Georgia"/>
              </a:rPr>
              <a:t>Model</a:t>
            </a:r>
            <a:endParaRPr sz="26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295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spc="-25" dirty="0">
                <a:solidFill>
                  <a:srgbClr val="438086"/>
                </a:solidFill>
                <a:latin typeface="Georgia"/>
                <a:cs typeface="Georgia"/>
              </a:rPr>
              <a:t>V-</a:t>
            </a:r>
            <a:r>
              <a:rPr sz="2600" spc="-10" dirty="0">
                <a:solidFill>
                  <a:srgbClr val="438086"/>
                </a:solidFill>
                <a:latin typeface="Georgia"/>
                <a:cs typeface="Georgia"/>
              </a:rPr>
              <a:t>Model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3132" y="26910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5439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/>
              <a:t>SDLC</a:t>
            </a:r>
            <a:r>
              <a:rPr spc="-125" dirty="0"/>
              <a:t> </a:t>
            </a:r>
            <a:r>
              <a:rPr spc="-10" dirty="0"/>
              <a:t>Models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04503" y="2691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5917" y="2227267"/>
            <a:ext cx="6922134" cy="3131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420"/>
              </a:spcBef>
              <a:buClr>
                <a:srgbClr val="A04DA3"/>
              </a:buClr>
              <a:buAutoNum type="arabicPeriod"/>
              <a:tabLst>
                <a:tab pos="584200" algn="l"/>
              </a:tabLst>
            </a:pPr>
            <a:r>
              <a:rPr sz="2800" b="1" dirty="0">
                <a:latin typeface="Times New Roman"/>
                <a:cs typeface="Times New Roman"/>
              </a:rPr>
              <a:t>Sequential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1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spc="-20" dirty="0">
                <a:latin typeface="Times New Roman"/>
                <a:cs typeface="Times New Roman"/>
              </a:rPr>
              <a:t>Waterfall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spc="-130" dirty="0">
                <a:latin typeface="Times New Roman"/>
                <a:cs typeface="Times New Roman"/>
              </a:rPr>
              <a:t>V-</a:t>
            </a:r>
            <a:r>
              <a:rPr sz="2600" spc="-2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  <a:p>
            <a:pPr marL="571500" marR="3463925" indent="-571500" algn="r">
              <a:lnSpc>
                <a:spcPct val="100000"/>
              </a:lnSpc>
              <a:spcBef>
                <a:spcPts val="290"/>
              </a:spcBef>
              <a:buClr>
                <a:srgbClr val="A04DA3"/>
              </a:buClr>
              <a:buAutoNum type="arabicPeriod"/>
              <a:tabLst>
                <a:tab pos="571500" algn="l"/>
              </a:tabLst>
            </a:pPr>
            <a:r>
              <a:rPr sz="2800" b="1" dirty="0">
                <a:latin typeface="Times New Roman"/>
                <a:cs typeface="Times New Roman"/>
              </a:rPr>
              <a:t>Incremental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570865" marR="3470910" lvl="1" indent="-570865" algn="r">
              <a:lnSpc>
                <a:spcPct val="100000"/>
              </a:lnSpc>
              <a:spcBef>
                <a:spcPts val="310"/>
              </a:spcBef>
              <a:buClr>
                <a:srgbClr val="438086"/>
              </a:buClr>
              <a:buFont typeface="Wingdings"/>
              <a:buChar char=""/>
              <a:tabLst>
                <a:tab pos="570865" algn="l"/>
              </a:tabLst>
            </a:pPr>
            <a:r>
              <a:rPr sz="2600" dirty="0">
                <a:latin typeface="Times New Roman"/>
                <a:cs typeface="Times New Roman"/>
              </a:rPr>
              <a:t>Incremental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dirty="0">
                <a:latin typeface="Times New Roman"/>
                <a:cs typeface="Times New Roman"/>
              </a:rPr>
              <a:t>Spiral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dirty="0">
                <a:latin typeface="Times New Roman"/>
                <a:cs typeface="Times New Roman"/>
              </a:rPr>
              <a:t>RAD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(Rapid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application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development)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052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rebuchet MS"/>
                <a:cs typeface="Trebuchet MS"/>
              </a:rPr>
              <a:t>Waterfall</a:t>
            </a:r>
            <a:r>
              <a:rPr sz="4800" b="1" spc="-220" dirty="0">
                <a:latin typeface="Trebuchet MS"/>
                <a:cs typeface="Trebuchet MS"/>
              </a:rPr>
              <a:t> </a:t>
            </a:r>
            <a:r>
              <a:rPr sz="4800" b="1" spc="-10" dirty="0">
                <a:latin typeface="Trebuchet MS"/>
                <a:cs typeface="Trebuchet MS"/>
              </a:rPr>
              <a:t>Model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2282951"/>
            <a:ext cx="4258056" cy="4282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0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History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10" dirty="0"/>
              <a:t>waterfall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739" y="2114896"/>
            <a:ext cx="7733665" cy="37846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66700" marR="423545" indent="-254635">
              <a:lnSpc>
                <a:spcPts val="2810"/>
              </a:lnSpc>
              <a:spcBef>
                <a:spcPts val="45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In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b="1" dirty="0">
                <a:latin typeface="Georgia"/>
                <a:cs typeface="Georgia"/>
              </a:rPr>
              <a:t>1970</a:t>
            </a:r>
            <a:r>
              <a:rPr sz="2600" b="1" spc="-10" dirty="0">
                <a:latin typeface="Georgia"/>
                <a:cs typeface="Georgia"/>
              </a:rPr>
              <a:t> </a:t>
            </a:r>
            <a:r>
              <a:rPr sz="2600" b="1" dirty="0">
                <a:latin typeface="Georgia"/>
                <a:cs typeface="Georgia"/>
              </a:rPr>
              <a:t>Royce</a:t>
            </a:r>
            <a:r>
              <a:rPr sz="2600" b="1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proposed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what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now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popularly 	</a:t>
            </a:r>
            <a:r>
              <a:rPr sz="2600" dirty="0">
                <a:latin typeface="Georgia"/>
                <a:cs typeface="Georgia"/>
              </a:rPr>
              <a:t>referred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waterfall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model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initial 	concept.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A04DA3"/>
              </a:buClr>
              <a:buFont typeface="Georgia"/>
              <a:buChar char="•"/>
            </a:pPr>
            <a:endParaRPr sz="2600">
              <a:latin typeface="Georgia"/>
              <a:cs typeface="Georgia"/>
            </a:endParaRPr>
          </a:p>
          <a:p>
            <a:pPr marL="266700" marR="296545" indent="-254635">
              <a:lnSpc>
                <a:spcPts val="2810"/>
              </a:lnSpc>
              <a:spcBef>
                <a:spcPts val="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It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has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been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widely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used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for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projects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ever 	</a:t>
            </a:r>
            <a:r>
              <a:rPr sz="2600" spc="-10" dirty="0">
                <a:latin typeface="Georgia"/>
                <a:cs typeface="Georgia"/>
              </a:rPr>
              <a:t>since.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buClr>
                <a:srgbClr val="A04DA3"/>
              </a:buClr>
              <a:buFont typeface="Georgia"/>
              <a:buChar char="•"/>
            </a:pPr>
            <a:endParaRPr sz="2600">
              <a:latin typeface="Georgia"/>
              <a:cs typeface="Georgia"/>
            </a:endParaRPr>
          </a:p>
          <a:p>
            <a:pPr marL="266700" marR="5080" indent="-254635">
              <a:lnSpc>
                <a:spcPct val="90000"/>
              </a:lnSpc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Afterwards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he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explored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how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initial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model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could 	</a:t>
            </a:r>
            <a:r>
              <a:rPr sz="2600" dirty="0">
                <a:latin typeface="Georgia"/>
                <a:cs typeface="Georgia"/>
              </a:rPr>
              <a:t>be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developed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with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feedback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from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phase 	</a:t>
            </a:r>
            <a:r>
              <a:rPr sz="2600" spc="-10" dirty="0">
                <a:latin typeface="Georgia"/>
                <a:cs typeface="Georgia"/>
              </a:rPr>
              <a:t>influencing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previous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phases.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0676" y="26910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9775" y="810163"/>
            <a:ext cx="3620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Waterfall</a:t>
            </a:r>
            <a:r>
              <a:rPr spc="-290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5668" y="1731813"/>
            <a:ext cx="7827009" cy="439864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4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Sequential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development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model</a:t>
            </a:r>
            <a:endParaRPr sz="2400" dirty="0">
              <a:latin typeface="Georgia"/>
              <a:cs typeface="Georgia"/>
            </a:endParaRPr>
          </a:p>
          <a:p>
            <a:pPr marL="559435" marR="8255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</a:tabLst>
            </a:pPr>
            <a:r>
              <a:rPr sz="22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	development</a:t>
            </a:r>
            <a:r>
              <a:rPr sz="2200" spc="-65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is</a:t>
            </a:r>
            <a:r>
              <a:rPr sz="2200" spc="-8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seen</a:t>
            </a:r>
            <a:r>
              <a:rPr sz="2200" spc="-85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as</a:t>
            </a:r>
            <a:r>
              <a:rPr sz="2200" spc="-8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flowing</a:t>
            </a:r>
            <a:r>
              <a:rPr sz="2200" spc="-7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steadily</a:t>
            </a:r>
            <a:r>
              <a:rPr sz="2200" spc="-7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downward</a:t>
            </a:r>
            <a:r>
              <a:rPr sz="2200" spc="-6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438086"/>
                </a:solidFill>
                <a:latin typeface="Georgia"/>
                <a:cs typeface="Georgia"/>
              </a:rPr>
              <a:t>through </a:t>
            </a:r>
            <a:r>
              <a:rPr sz="2200" dirty="0">
                <a:solidFill>
                  <a:srgbClr val="438086"/>
                </a:solidFill>
                <a:latin typeface="Georgia"/>
                <a:cs typeface="Georgia"/>
              </a:rPr>
              <a:t>several</a:t>
            </a:r>
            <a:r>
              <a:rPr sz="2200" spc="-85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438086"/>
                </a:solidFill>
                <a:latin typeface="Georgia"/>
                <a:cs typeface="Georgia"/>
              </a:rPr>
              <a:t>phases.</a:t>
            </a:r>
            <a:endParaRPr sz="2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200" dirty="0">
              <a:latin typeface="Georgia"/>
              <a:cs typeface="Georgia"/>
            </a:endParaRPr>
          </a:p>
          <a:p>
            <a:pPr marL="268605" marR="565150" indent="-256540">
              <a:lnSpc>
                <a:spcPct val="100000"/>
              </a:lnSpc>
              <a:buChar char="•"/>
              <a:tabLst>
                <a:tab pos="268605" algn="l"/>
                <a:tab pos="339725" algn="l"/>
              </a:tabLst>
            </a:pPr>
            <a:r>
              <a:rPr sz="2400" dirty="0">
                <a:solidFill>
                  <a:srgbClr val="A04DA3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Each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phase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must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completed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fully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before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next </a:t>
            </a:r>
            <a:r>
              <a:rPr sz="2400" dirty="0">
                <a:latin typeface="Georgia"/>
                <a:cs typeface="Georgia"/>
              </a:rPr>
              <a:t>phase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begin.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buClr>
                <a:srgbClr val="A04DA3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Document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Driven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A04DA3"/>
              </a:buClr>
              <a:buFont typeface="Georgia"/>
              <a:buChar char="•"/>
            </a:pPr>
            <a:endParaRPr sz="24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At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end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each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phase,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review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takes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place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to </a:t>
            </a:r>
            <a:r>
              <a:rPr sz="2400" dirty="0">
                <a:latin typeface="Georgia"/>
                <a:cs typeface="Georgia"/>
              </a:rPr>
              <a:t>determine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if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project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right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path</a:t>
            </a:r>
            <a:r>
              <a:rPr lang="en-US" sz="2400" dirty="0">
                <a:latin typeface="Georgia"/>
                <a:cs typeface="Georgia"/>
              </a:rPr>
              <a:t>.</a:t>
            </a:r>
            <a:endParaRPr sz="24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342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/>
              <a:t>Waterfall</a:t>
            </a:r>
            <a:r>
              <a:rPr spc="-29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011936" y="2151887"/>
            <a:ext cx="6971030" cy="3805554"/>
            <a:chOff x="1011936" y="2151887"/>
            <a:chExt cx="6971030" cy="3805554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1936" y="2151887"/>
              <a:ext cx="3443915" cy="14615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42004" y="3880103"/>
              <a:ext cx="4140835" cy="2077720"/>
            </a:xfrm>
            <a:custGeom>
              <a:avLst/>
              <a:gdLst/>
              <a:ahLst/>
              <a:cxnLst/>
              <a:rect l="l" t="t" r="r" b="b"/>
              <a:pathLst>
                <a:path w="4140834" h="2077720">
                  <a:moveTo>
                    <a:pt x="1456944" y="0"/>
                  </a:moveTo>
                  <a:lnTo>
                    <a:pt x="0" y="0"/>
                  </a:lnTo>
                  <a:lnTo>
                    <a:pt x="0" y="513588"/>
                  </a:lnTo>
                  <a:lnTo>
                    <a:pt x="1456944" y="513588"/>
                  </a:lnTo>
                  <a:lnTo>
                    <a:pt x="1456944" y="0"/>
                  </a:lnTo>
                  <a:close/>
                </a:path>
                <a:path w="4140834" h="2077720">
                  <a:moveTo>
                    <a:pt x="2808719" y="801624"/>
                  </a:moveTo>
                  <a:lnTo>
                    <a:pt x="1351788" y="801624"/>
                  </a:lnTo>
                  <a:lnTo>
                    <a:pt x="1351788" y="1316736"/>
                  </a:lnTo>
                  <a:lnTo>
                    <a:pt x="2808719" y="1316736"/>
                  </a:lnTo>
                  <a:lnTo>
                    <a:pt x="2808719" y="801624"/>
                  </a:lnTo>
                  <a:close/>
                </a:path>
                <a:path w="4140834" h="2077720">
                  <a:moveTo>
                    <a:pt x="4140708" y="1542288"/>
                  </a:moveTo>
                  <a:lnTo>
                    <a:pt x="2663952" y="1542288"/>
                  </a:lnTo>
                  <a:lnTo>
                    <a:pt x="2663952" y="2077212"/>
                  </a:lnTo>
                  <a:lnTo>
                    <a:pt x="4140708" y="2077212"/>
                  </a:lnTo>
                  <a:lnTo>
                    <a:pt x="4140708" y="1542288"/>
                  </a:lnTo>
                  <a:close/>
                </a:path>
              </a:pathLst>
            </a:custGeom>
            <a:solidFill>
              <a:srgbClr val="6E7A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17036" y="3714965"/>
              <a:ext cx="1457325" cy="535940"/>
            </a:xfrm>
            <a:custGeom>
              <a:avLst/>
              <a:gdLst/>
              <a:ahLst/>
              <a:cxnLst/>
              <a:rect l="l" t="t" r="r" b="b"/>
              <a:pathLst>
                <a:path w="1457325" h="535939">
                  <a:moveTo>
                    <a:pt x="1456944" y="36830"/>
                  </a:moveTo>
                  <a:lnTo>
                    <a:pt x="1450238" y="36830"/>
                  </a:lnTo>
                  <a:lnTo>
                    <a:pt x="1450238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515620"/>
                  </a:lnTo>
                  <a:lnTo>
                    <a:pt x="0" y="535940"/>
                  </a:lnTo>
                  <a:lnTo>
                    <a:pt x="1453299" y="535940"/>
                  </a:lnTo>
                  <a:lnTo>
                    <a:pt x="1453299" y="515620"/>
                  </a:lnTo>
                  <a:lnTo>
                    <a:pt x="1456944" y="515620"/>
                  </a:lnTo>
                  <a:lnTo>
                    <a:pt x="1456944" y="36830"/>
                  </a:lnTo>
                  <a:close/>
                </a:path>
              </a:pathLst>
            </a:custGeom>
            <a:solidFill>
              <a:srgbClr val="D3E2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17036" y="3715511"/>
              <a:ext cx="1454785" cy="535305"/>
            </a:xfrm>
            <a:custGeom>
              <a:avLst/>
              <a:gdLst/>
              <a:ahLst/>
              <a:cxnLst/>
              <a:rect l="l" t="t" r="r" b="b"/>
              <a:pathLst>
                <a:path w="1454785" h="535304">
                  <a:moveTo>
                    <a:pt x="1454277" y="275844"/>
                  </a:moveTo>
                  <a:lnTo>
                    <a:pt x="1452702" y="227926"/>
                  </a:lnTo>
                  <a:lnTo>
                    <a:pt x="1448054" y="180835"/>
                  </a:lnTo>
                  <a:lnTo>
                    <a:pt x="1440434" y="134670"/>
                  </a:lnTo>
                  <a:lnTo>
                    <a:pt x="1429943" y="89509"/>
                  </a:lnTo>
                  <a:lnTo>
                    <a:pt x="1416659" y="45478"/>
                  </a:lnTo>
                  <a:lnTo>
                    <a:pt x="1400683" y="2654"/>
                  </a:lnTo>
                  <a:lnTo>
                    <a:pt x="1399501" y="0"/>
                  </a:lnTo>
                  <a:lnTo>
                    <a:pt x="1353083" y="0"/>
                  </a:lnTo>
                  <a:lnTo>
                    <a:pt x="1307960" y="0"/>
                  </a:lnTo>
                  <a:lnTo>
                    <a:pt x="33045" y="0"/>
                  </a:lnTo>
                  <a:lnTo>
                    <a:pt x="31864" y="2654"/>
                  </a:lnTo>
                  <a:lnTo>
                    <a:pt x="15887" y="45478"/>
                  </a:lnTo>
                  <a:lnTo>
                    <a:pt x="2603" y="89509"/>
                  </a:lnTo>
                  <a:lnTo>
                    <a:pt x="0" y="100761"/>
                  </a:lnTo>
                  <a:lnTo>
                    <a:pt x="0" y="450938"/>
                  </a:lnTo>
                  <a:lnTo>
                    <a:pt x="2603" y="462191"/>
                  </a:lnTo>
                  <a:lnTo>
                    <a:pt x="15887" y="506222"/>
                  </a:lnTo>
                  <a:lnTo>
                    <a:pt x="26593" y="534924"/>
                  </a:lnTo>
                  <a:lnTo>
                    <a:pt x="70764" y="534924"/>
                  </a:lnTo>
                  <a:lnTo>
                    <a:pt x="117132" y="534924"/>
                  </a:lnTo>
                  <a:lnTo>
                    <a:pt x="1405953" y="534924"/>
                  </a:lnTo>
                  <a:lnTo>
                    <a:pt x="1416659" y="506222"/>
                  </a:lnTo>
                  <a:lnTo>
                    <a:pt x="1429943" y="462191"/>
                  </a:lnTo>
                  <a:lnTo>
                    <a:pt x="1440434" y="417029"/>
                  </a:lnTo>
                  <a:lnTo>
                    <a:pt x="1448054" y="370865"/>
                  </a:lnTo>
                  <a:lnTo>
                    <a:pt x="1452702" y="323773"/>
                  </a:lnTo>
                  <a:lnTo>
                    <a:pt x="1454277" y="275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0158" y="3859910"/>
              <a:ext cx="247650" cy="2446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27417" y="3725798"/>
              <a:ext cx="1456055" cy="535940"/>
            </a:xfrm>
            <a:custGeom>
              <a:avLst/>
              <a:gdLst/>
              <a:ahLst/>
              <a:cxnLst/>
              <a:rect l="l" t="t" r="r" b="b"/>
              <a:pathLst>
                <a:path w="1456054" h="535939">
                  <a:moveTo>
                    <a:pt x="1455992" y="0"/>
                  </a:moveTo>
                  <a:lnTo>
                    <a:pt x="0" y="0"/>
                  </a:lnTo>
                  <a:lnTo>
                    <a:pt x="0" y="535685"/>
                  </a:lnTo>
                  <a:lnTo>
                    <a:pt x="1455992" y="535685"/>
                  </a:lnTo>
                  <a:lnTo>
                    <a:pt x="1455992" y="0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68824" y="4517605"/>
              <a:ext cx="1457325" cy="514350"/>
            </a:xfrm>
            <a:custGeom>
              <a:avLst/>
              <a:gdLst/>
              <a:ahLst/>
              <a:cxnLst/>
              <a:rect l="l" t="t" r="r" b="b"/>
              <a:pathLst>
                <a:path w="1457325" h="514350">
                  <a:moveTo>
                    <a:pt x="1456944" y="12700"/>
                  </a:moveTo>
                  <a:lnTo>
                    <a:pt x="1454835" y="12700"/>
                  </a:lnTo>
                  <a:lnTo>
                    <a:pt x="1454835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99110"/>
                  </a:lnTo>
                  <a:lnTo>
                    <a:pt x="0" y="514350"/>
                  </a:lnTo>
                  <a:lnTo>
                    <a:pt x="1454175" y="514350"/>
                  </a:lnTo>
                  <a:lnTo>
                    <a:pt x="1454175" y="499110"/>
                  </a:lnTo>
                  <a:lnTo>
                    <a:pt x="1456944" y="499110"/>
                  </a:lnTo>
                  <a:lnTo>
                    <a:pt x="1456944" y="12700"/>
                  </a:lnTo>
                  <a:close/>
                </a:path>
              </a:pathLst>
            </a:custGeom>
            <a:solidFill>
              <a:srgbClr val="D3E2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68824" y="4517135"/>
              <a:ext cx="1454785" cy="515620"/>
            </a:xfrm>
            <a:custGeom>
              <a:avLst/>
              <a:gdLst/>
              <a:ahLst/>
              <a:cxnLst/>
              <a:rect l="l" t="t" r="r" b="b"/>
              <a:pathLst>
                <a:path w="1454784" h="515620">
                  <a:moveTo>
                    <a:pt x="1454277" y="256032"/>
                  </a:moveTo>
                  <a:lnTo>
                    <a:pt x="1452702" y="208114"/>
                  </a:lnTo>
                  <a:lnTo>
                    <a:pt x="1448066" y="161023"/>
                  </a:lnTo>
                  <a:lnTo>
                    <a:pt x="1440446" y="114858"/>
                  </a:lnTo>
                  <a:lnTo>
                    <a:pt x="1429956" y="69697"/>
                  </a:lnTo>
                  <a:lnTo>
                    <a:pt x="1416685" y="25666"/>
                  </a:lnTo>
                  <a:lnTo>
                    <a:pt x="1407121" y="0"/>
                  </a:lnTo>
                  <a:lnTo>
                    <a:pt x="1362964" y="0"/>
                  </a:lnTo>
                  <a:lnTo>
                    <a:pt x="1318183" y="0"/>
                  </a:lnTo>
                  <a:lnTo>
                    <a:pt x="26936" y="0"/>
                  </a:lnTo>
                  <a:lnTo>
                    <a:pt x="17386" y="25666"/>
                  </a:lnTo>
                  <a:lnTo>
                    <a:pt x="4114" y="69697"/>
                  </a:lnTo>
                  <a:lnTo>
                    <a:pt x="0" y="87426"/>
                  </a:lnTo>
                  <a:lnTo>
                    <a:pt x="0" y="424649"/>
                  </a:lnTo>
                  <a:lnTo>
                    <a:pt x="4114" y="442379"/>
                  </a:lnTo>
                  <a:lnTo>
                    <a:pt x="17386" y="486410"/>
                  </a:lnTo>
                  <a:lnTo>
                    <a:pt x="28079" y="515112"/>
                  </a:lnTo>
                  <a:lnTo>
                    <a:pt x="72288" y="515112"/>
                  </a:lnTo>
                  <a:lnTo>
                    <a:pt x="117195" y="515112"/>
                  </a:lnTo>
                  <a:lnTo>
                    <a:pt x="1405991" y="515112"/>
                  </a:lnTo>
                  <a:lnTo>
                    <a:pt x="1416685" y="486410"/>
                  </a:lnTo>
                  <a:lnTo>
                    <a:pt x="1429956" y="442379"/>
                  </a:lnTo>
                  <a:lnTo>
                    <a:pt x="1440446" y="397217"/>
                  </a:lnTo>
                  <a:lnTo>
                    <a:pt x="1448066" y="351053"/>
                  </a:lnTo>
                  <a:lnTo>
                    <a:pt x="1452702" y="303961"/>
                  </a:lnTo>
                  <a:lnTo>
                    <a:pt x="1454277" y="256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71946" y="4661534"/>
              <a:ext cx="247650" cy="2232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79205" y="4527422"/>
              <a:ext cx="1457960" cy="514350"/>
            </a:xfrm>
            <a:custGeom>
              <a:avLst/>
              <a:gdLst/>
              <a:ahLst/>
              <a:cxnLst/>
              <a:rect l="l" t="t" r="r" b="b"/>
              <a:pathLst>
                <a:path w="1457959" h="514350">
                  <a:moveTo>
                    <a:pt x="1457516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1457516" y="514349"/>
                  </a:lnTo>
                  <a:lnTo>
                    <a:pt x="1457516" y="0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06570" y="2159723"/>
            <a:ext cx="5320030" cy="28187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78435" marR="4270375" indent="-166370">
              <a:lnSpc>
                <a:spcPts val="1620"/>
              </a:lnSpc>
              <a:spcBef>
                <a:spcPts val="260"/>
              </a:spcBef>
            </a:pPr>
            <a:r>
              <a:rPr sz="1450" spc="-10" dirty="0">
                <a:latin typeface="Times New Roman"/>
                <a:cs typeface="Times New Roman"/>
              </a:rPr>
              <a:t>Requirements definition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450">
              <a:latin typeface="Times New Roman"/>
              <a:cs typeface="Times New Roman"/>
            </a:endParaRPr>
          </a:p>
          <a:p>
            <a:pPr marL="1303020" marR="2854960" indent="144145">
              <a:lnSpc>
                <a:spcPts val="1620"/>
              </a:lnSpc>
            </a:pPr>
            <a:r>
              <a:rPr sz="1450" dirty="0">
                <a:latin typeface="Times New Roman"/>
                <a:cs typeface="Times New Roman"/>
              </a:rPr>
              <a:t>System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and </a:t>
            </a:r>
            <a:r>
              <a:rPr sz="1450" spc="-10" dirty="0">
                <a:latin typeface="Times New Roman"/>
                <a:cs typeface="Times New Roman"/>
              </a:rPr>
              <a:t>software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design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450">
              <a:latin typeface="Times New Roman"/>
              <a:cs typeface="Times New Roman"/>
            </a:endParaRPr>
          </a:p>
          <a:p>
            <a:pPr marL="2654935" marR="1482090" indent="-20320">
              <a:lnSpc>
                <a:spcPts val="1620"/>
              </a:lnSpc>
            </a:pPr>
            <a:r>
              <a:rPr sz="1450" spc="-10" dirty="0">
                <a:latin typeface="Times New Roman"/>
                <a:cs typeface="Times New Roman"/>
              </a:rPr>
              <a:t>Implementation </a:t>
            </a:r>
            <a:r>
              <a:rPr sz="1450" dirty="0">
                <a:latin typeface="Times New Roman"/>
                <a:cs typeface="Times New Roman"/>
              </a:rPr>
              <a:t>and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unit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testing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450">
              <a:latin typeface="Times New Roman"/>
              <a:cs typeface="Times New Roman"/>
            </a:endParaRPr>
          </a:p>
          <a:p>
            <a:pPr marL="4049395" marR="149860" indent="-41275" algn="r">
              <a:lnSpc>
                <a:spcPts val="1620"/>
              </a:lnSpc>
            </a:pPr>
            <a:r>
              <a:rPr sz="1450" dirty="0">
                <a:latin typeface="Times New Roman"/>
                <a:cs typeface="Times New Roman"/>
              </a:rPr>
              <a:t>Integration</a:t>
            </a:r>
            <a:r>
              <a:rPr sz="1450" spc="10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and </a:t>
            </a:r>
            <a:r>
              <a:rPr sz="1450" dirty="0">
                <a:latin typeface="Times New Roman"/>
                <a:cs typeface="Times New Roman"/>
              </a:rPr>
              <a:t>system</a:t>
            </a:r>
            <a:r>
              <a:rPr sz="1450" spc="1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testing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16848" y="26910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80988" y="5298947"/>
            <a:ext cx="1455420" cy="535305"/>
            <a:chOff x="6380988" y="5298947"/>
            <a:chExt cx="1455420" cy="535305"/>
          </a:xfrm>
        </p:grpSpPr>
        <p:sp>
          <p:nvSpPr>
            <p:cNvPr id="24" name="object 24"/>
            <p:cNvSpPr/>
            <p:nvPr/>
          </p:nvSpPr>
          <p:spPr>
            <a:xfrm>
              <a:off x="6380988" y="5298947"/>
              <a:ext cx="1455420" cy="535305"/>
            </a:xfrm>
            <a:custGeom>
              <a:avLst/>
              <a:gdLst/>
              <a:ahLst/>
              <a:cxnLst/>
              <a:rect l="l" t="t" r="r" b="b"/>
              <a:pathLst>
                <a:path w="1455420" h="535304">
                  <a:moveTo>
                    <a:pt x="1451502" y="0"/>
                  </a:moveTo>
                  <a:lnTo>
                    <a:pt x="868" y="0"/>
                  </a:lnTo>
                  <a:lnTo>
                    <a:pt x="0" y="2460"/>
                  </a:lnTo>
                  <a:lnTo>
                    <a:pt x="0" y="509603"/>
                  </a:lnTo>
                  <a:lnTo>
                    <a:pt x="8716" y="534305"/>
                  </a:lnTo>
                  <a:lnTo>
                    <a:pt x="8977" y="534923"/>
                  </a:lnTo>
                  <a:lnTo>
                    <a:pt x="1443393" y="534923"/>
                  </a:lnTo>
                  <a:lnTo>
                    <a:pt x="1443654" y="534305"/>
                  </a:lnTo>
                  <a:lnTo>
                    <a:pt x="1455419" y="500961"/>
                  </a:lnTo>
                  <a:lnTo>
                    <a:pt x="1455419" y="11102"/>
                  </a:lnTo>
                  <a:lnTo>
                    <a:pt x="1451502" y="0"/>
                  </a:lnTo>
                  <a:close/>
                </a:path>
              </a:pathLst>
            </a:custGeom>
            <a:solidFill>
              <a:srgbClr val="D3E2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80988" y="5298947"/>
              <a:ext cx="1452880" cy="535305"/>
            </a:xfrm>
            <a:custGeom>
              <a:avLst/>
              <a:gdLst/>
              <a:ahLst/>
              <a:cxnLst/>
              <a:rect l="l" t="t" r="r" b="b"/>
              <a:pathLst>
                <a:path w="1452879" h="535304">
                  <a:moveTo>
                    <a:pt x="1452753" y="256032"/>
                  </a:moveTo>
                  <a:lnTo>
                    <a:pt x="1451203" y="208114"/>
                  </a:lnTo>
                  <a:lnTo>
                    <a:pt x="1446631" y="161023"/>
                  </a:lnTo>
                  <a:lnTo>
                    <a:pt x="1439125" y="114858"/>
                  </a:lnTo>
                  <a:lnTo>
                    <a:pt x="1428788" y="69697"/>
                  </a:lnTo>
                  <a:lnTo>
                    <a:pt x="1415707" y="25666"/>
                  </a:lnTo>
                  <a:lnTo>
                    <a:pt x="1406283" y="0"/>
                  </a:lnTo>
                  <a:lnTo>
                    <a:pt x="1362087" y="0"/>
                  </a:lnTo>
                  <a:lnTo>
                    <a:pt x="1336535" y="0"/>
                  </a:lnTo>
                  <a:lnTo>
                    <a:pt x="46075" y="0"/>
                  </a:lnTo>
                  <a:lnTo>
                    <a:pt x="36652" y="25666"/>
                  </a:lnTo>
                  <a:lnTo>
                    <a:pt x="23571" y="69697"/>
                  </a:lnTo>
                  <a:lnTo>
                    <a:pt x="13233" y="114858"/>
                  </a:lnTo>
                  <a:lnTo>
                    <a:pt x="5727" y="161023"/>
                  </a:lnTo>
                  <a:lnTo>
                    <a:pt x="1155" y="208114"/>
                  </a:lnTo>
                  <a:lnTo>
                    <a:pt x="0" y="244221"/>
                  </a:lnTo>
                  <a:lnTo>
                    <a:pt x="0" y="267855"/>
                  </a:lnTo>
                  <a:lnTo>
                    <a:pt x="5727" y="351053"/>
                  </a:lnTo>
                  <a:lnTo>
                    <a:pt x="13233" y="397217"/>
                  </a:lnTo>
                  <a:lnTo>
                    <a:pt x="23571" y="442379"/>
                  </a:lnTo>
                  <a:lnTo>
                    <a:pt x="36652" y="486410"/>
                  </a:lnTo>
                  <a:lnTo>
                    <a:pt x="52374" y="529234"/>
                  </a:lnTo>
                  <a:lnTo>
                    <a:pt x="54876" y="534924"/>
                  </a:lnTo>
                  <a:lnTo>
                    <a:pt x="99479" y="534924"/>
                  </a:lnTo>
                  <a:lnTo>
                    <a:pt x="145973" y="534924"/>
                  </a:lnTo>
                  <a:lnTo>
                    <a:pt x="1397469" y="534924"/>
                  </a:lnTo>
                  <a:lnTo>
                    <a:pt x="1399984" y="529234"/>
                  </a:lnTo>
                  <a:lnTo>
                    <a:pt x="1415707" y="486410"/>
                  </a:lnTo>
                  <a:lnTo>
                    <a:pt x="1428788" y="442379"/>
                  </a:lnTo>
                  <a:lnTo>
                    <a:pt x="1439125" y="397217"/>
                  </a:lnTo>
                  <a:lnTo>
                    <a:pt x="1446631" y="351053"/>
                  </a:lnTo>
                  <a:lnTo>
                    <a:pt x="1451203" y="303961"/>
                  </a:lnTo>
                  <a:lnTo>
                    <a:pt x="1452753" y="256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84111" y="5443346"/>
              <a:ext cx="246125" cy="24460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391369" y="5309234"/>
            <a:ext cx="1456055" cy="535940"/>
          </a:xfrm>
          <a:prstGeom prst="rect">
            <a:avLst/>
          </a:prstGeom>
          <a:ln w="20686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38125" marR="201295" indent="-41275">
              <a:lnSpc>
                <a:spcPts val="1620"/>
              </a:lnSpc>
              <a:spcBef>
                <a:spcPts val="240"/>
              </a:spcBef>
            </a:pPr>
            <a:r>
              <a:rPr sz="1450" spc="-10" dirty="0">
                <a:latin typeface="Times New Roman"/>
                <a:cs typeface="Times New Roman"/>
              </a:rPr>
              <a:t>Operation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and </a:t>
            </a:r>
            <a:r>
              <a:rPr sz="1450" spc="-10" dirty="0">
                <a:latin typeface="Times New Roman"/>
                <a:cs typeface="Times New Roman"/>
              </a:rPr>
              <a:t>maintenance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30064" y="3417132"/>
            <a:ext cx="5450840" cy="2160905"/>
            <a:chOff x="1730064" y="3417132"/>
            <a:chExt cx="5450840" cy="2160905"/>
          </a:xfrm>
        </p:grpSpPr>
        <p:sp>
          <p:nvSpPr>
            <p:cNvPr id="29" name="object 29"/>
            <p:cNvSpPr/>
            <p:nvPr/>
          </p:nvSpPr>
          <p:spPr>
            <a:xfrm>
              <a:off x="1740407" y="3427475"/>
              <a:ext cx="4640580" cy="2139950"/>
            </a:xfrm>
            <a:custGeom>
              <a:avLst/>
              <a:gdLst/>
              <a:ahLst/>
              <a:cxnLst/>
              <a:rect l="l" t="t" r="r" b="b"/>
              <a:pathLst>
                <a:path w="4640580" h="2139950">
                  <a:moveTo>
                    <a:pt x="4640579" y="2139695"/>
                  </a:moveTo>
                  <a:lnTo>
                    <a:pt x="0" y="2139695"/>
                  </a:lnTo>
                  <a:lnTo>
                    <a:pt x="0" y="0"/>
                  </a:lnTo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92196" y="3572255"/>
              <a:ext cx="2705100" cy="1995170"/>
            </a:xfrm>
            <a:custGeom>
              <a:avLst/>
              <a:gdLst/>
              <a:ahLst/>
              <a:cxnLst/>
              <a:rect l="l" t="t" r="r" b="b"/>
              <a:pathLst>
                <a:path w="2705100" h="1995170">
                  <a:moveTo>
                    <a:pt x="0" y="0"/>
                  </a:moveTo>
                  <a:lnTo>
                    <a:pt x="0" y="1994915"/>
                  </a:lnTo>
                </a:path>
                <a:path w="2705100" h="1995170">
                  <a:moveTo>
                    <a:pt x="1353311" y="801623"/>
                  </a:moveTo>
                  <a:lnTo>
                    <a:pt x="1353311" y="1994915"/>
                  </a:lnTo>
                </a:path>
                <a:path w="2705100" h="1995170">
                  <a:moveTo>
                    <a:pt x="2705099" y="1603247"/>
                  </a:moveTo>
                  <a:lnTo>
                    <a:pt x="2705099" y="1994915"/>
                  </a:lnTo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45507" y="3427475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39">
                  <a:moveTo>
                    <a:pt x="0" y="0"/>
                  </a:moveTo>
                  <a:lnTo>
                    <a:pt x="0" y="205739"/>
                  </a:lnTo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73979" y="3983735"/>
              <a:ext cx="1935480" cy="1213485"/>
            </a:xfrm>
            <a:custGeom>
              <a:avLst/>
              <a:gdLst/>
              <a:ahLst/>
              <a:cxnLst/>
              <a:rect l="l" t="t" r="r" b="b"/>
              <a:pathLst>
                <a:path w="1935479" h="1213485">
                  <a:moveTo>
                    <a:pt x="0" y="0"/>
                  </a:moveTo>
                  <a:lnTo>
                    <a:pt x="623315" y="0"/>
                  </a:lnTo>
                  <a:lnTo>
                    <a:pt x="623315" y="431291"/>
                  </a:lnTo>
                </a:path>
                <a:path w="1935479" h="1213485">
                  <a:moveTo>
                    <a:pt x="1351787" y="780287"/>
                  </a:moveTo>
                  <a:lnTo>
                    <a:pt x="1935479" y="780287"/>
                  </a:lnTo>
                  <a:lnTo>
                    <a:pt x="1935479" y="1213103"/>
                  </a:lnTo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29712" y="3468623"/>
              <a:ext cx="125095" cy="268605"/>
            </a:xfrm>
            <a:custGeom>
              <a:avLst/>
              <a:gdLst/>
              <a:ahLst/>
              <a:cxnLst/>
              <a:rect l="l" t="t" r="r" b="b"/>
              <a:pathLst>
                <a:path w="125094" h="268604">
                  <a:moveTo>
                    <a:pt x="124967" y="268223"/>
                  </a:moveTo>
                  <a:lnTo>
                    <a:pt x="62483" y="205739"/>
                  </a:lnTo>
                  <a:lnTo>
                    <a:pt x="0" y="268223"/>
                  </a:lnTo>
                  <a:lnTo>
                    <a:pt x="62483" y="0"/>
                  </a:lnTo>
                  <a:lnTo>
                    <a:pt x="124967" y="2682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29712" y="3468623"/>
              <a:ext cx="125095" cy="268605"/>
            </a:xfrm>
            <a:custGeom>
              <a:avLst/>
              <a:gdLst/>
              <a:ahLst/>
              <a:cxnLst/>
              <a:rect l="l" t="t" r="r" b="b"/>
              <a:pathLst>
                <a:path w="125094" h="268604">
                  <a:moveTo>
                    <a:pt x="62483" y="205739"/>
                  </a:moveTo>
                  <a:lnTo>
                    <a:pt x="0" y="268223"/>
                  </a:lnTo>
                  <a:lnTo>
                    <a:pt x="62483" y="0"/>
                  </a:lnTo>
                  <a:lnTo>
                    <a:pt x="124967" y="268223"/>
                  </a:lnTo>
                  <a:lnTo>
                    <a:pt x="62483" y="20573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61688" y="3448811"/>
              <a:ext cx="146685" cy="266700"/>
            </a:xfrm>
            <a:custGeom>
              <a:avLst/>
              <a:gdLst/>
              <a:ahLst/>
              <a:cxnLst/>
              <a:rect l="l" t="t" r="r" b="b"/>
              <a:pathLst>
                <a:path w="146685" h="266700">
                  <a:moveTo>
                    <a:pt x="83819" y="266699"/>
                  </a:moveTo>
                  <a:lnTo>
                    <a:pt x="0" y="0"/>
                  </a:lnTo>
                  <a:lnTo>
                    <a:pt x="83819" y="60959"/>
                  </a:lnTo>
                  <a:lnTo>
                    <a:pt x="146303" y="0"/>
                  </a:lnTo>
                  <a:lnTo>
                    <a:pt x="83819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61688" y="3448811"/>
              <a:ext cx="146685" cy="266700"/>
            </a:xfrm>
            <a:custGeom>
              <a:avLst/>
              <a:gdLst/>
              <a:ahLst/>
              <a:cxnLst/>
              <a:rect l="l" t="t" r="r" b="b"/>
              <a:pathLst>
                <a:path w="146685" h="266700">
                  <a:moveTo>
                    <a:pt x="83819" y="60959"/>
                  </a:moveTo>
                  <a:lnTo>
                    <a:pt x="146303" y="0"/>
                  </a:lnTo>
                  <a:lnTo>
                    <a:pt x="83819" y="266699"/>
                  </a:lnTo>
                  <a:lnTo>
                    <a:pt x="0" y="0"/>
                  </a:lnTo>
                  <a:lnTo>
                    <a:pt x="83819" y="6095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83023" y="4250435"/>
              <a:ext cx="125095" cy="266700"/>
            </a:xfrm>
            <a:custGeom>
              <a:avLst/>
              <a:gdLst/>
              <a:ahLst/>
              <a:cxnLst/>
              <a:rect l="l" t="t" r="r" b="b"/>
              <a:pathLst>
                <a:path w="125095" h="266700">
                  <a:moveTo>
                    <a:pt x="124967" y="266699"/>
                  </a:moveTo>
                  <a:lnTo>
                    <a:pt x="62483" y="205739"/>
                  </a:lnTo>
                  <a:lnTo>
                    <a:pt x="0" y="266699"/>
                  </a:lnTo>
                  <a:lnTo>
                    <a:pt x="62483" y="0"/>
                  </a:lnTo>
                  <a:lnTo>
                    <a:pt x="124967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83023" y="4250435"/>
              <a:ext cx="125095" cy="266700"/>
            </a:xfrm>
            <a:custGeom>
              <a:avLst/>
              <a:gdLst/>
              <a:ahLst/>
              <a:cxnLst/>
              <a:rect l="l" t="t" r="r" b="b"/>
              <a:pathLst>
                <a:path w="125095" h="266700">
                  <a:moveTo>
                    <a:pt x="62483" y="205739"/>
                  </a:moveTo>
                  <a:lnTo>
                    <a:pt x="0" y="266699"/>
                  </a:lnTo>
                  <a:lnTo>
                    <a:pt x="62483" y="0"/>
                  </a:lnTo>
                  <a:lnTo>
                    <a:pt x="124967" y="266699"/>
                  </a:lnTo>
                  <a:lnTo>
                    <a:pt x="62483" y="20573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15000" y="4250435"/>
              <a:ext cx="144780" cy="266700"/>
            </a:xfrm>
            <a:custGeom>
              <a:avLst/>
              <a:gdLst/>
              <a:ahLst/>
              <a:cxnLst/>
              <a:rect l="l" t="t" r="r" b="b"/>
              <a:pathLst>
                <a:path w="144779" h="266700">
                  <a:moveTo>
                    <a:pt x="82295" y="266699"/>
                  </a:moveTo>
                  <a:lnTo>
                    <a:pt x="0" y="0"/>
                  </a:lnTo>
                  <a:lnTo>
                    <a:pt x="82295" y="60959"/>
                  </a:lnTo>
                  <a:lnTo>
                    <a:pt x="144779" y="0"/>
                  </a:lnTo>
                  <a:lnTo>
                    <a:pt x="82295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15000" y="4250435"/>
              <a:ext cx="144780" cy="266700"/>
            </a:xfrm>
            <a:custGeom>
              <a:avLst/>
              <a:gdLst/>
              <a:ahLst/>
              <a:cxnLst/>
              <a:rect l="l" t="t" r="r" b="b"/>
              <a:pathLst>
                <a:path w="144779" h="266700">
                  <a:moveTo>
                    <a:pt x="82295" y="60959"/>
                  </a:moveTo>
                  <a:lnTo>
                    <a:pt x="144779" y="0"/>
                  </a:lnTo>
                  <a:lnTo>
                    <a:pt x="82295" y="266699"/>
                  </a:lnTo>
                  <a:lnTo>
                    <a:pt x="0" y="0"/>
                  </a:lnTo>
                  <a:lnTo>
                    <a:pt x="82295" y="6095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15000" y="5032247"/>
              <a:ext cx="144780" cy="266700"/>
            </a:xfrm>
            <a:custGeom>
              <a:avLst/>
              <a:gdLst/>
              <a:ahLst/>
              <a:cxnLst/>
              <a:rect l="l" t="t" r="r" b="b"/>
              <a:pathLst>
                <a:path w="144779" h="266700">
                  <a:moveTo>
                    <a:pt x="144779" y="266699"/>
                  </a:moveTo>
                  <a:lnTo>
                    <a:pt x="82295" y="205739"/>
                  </a:lnTo>
                  <a:lnTo>
                    <a:pt x="0" y="266699"/>
                  </a:lnTo>
                  <a:lnTo>
                    <a:pt x="82295" y="0"/>
                  </a:lnTo>
                  <a:lnTo>
                    <a:pt x="144779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15000" y="5032247"/>
              <a:ext cx="144780" cy="266700"/>
            </a:xfrm>
            <a:custGeom>
              <a:avLst/>
              <a:gdLst/>
              <a:ahLst/>
              <a:cxnLst/>
              <a:rect l="l" t="t" r="r" b="b"/>
              <a:pathLst>
                <a:path w="144779" h="266700">
                  <a:moveTo>
                    <a:pt x="82295" y="205739"/>
                  </a:moveTo>
                  <a:lnTo>
                    <a:pt x="0" y="266699"/>
                  </a:lnTo>
                  <a:lnTo>
                    <a:pt x="82295" y="0"/>
                  </a:lnTo>
                  <a:lnTo>
                    <a:pt x="144779" y="266699"/>
                  </a:lnTo>
                  <a:lnTo>
                    <a:pt x="82295" y="20573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46976" y="5032247"/>
              <a:ext cx="123825" cy="266700"/>
            </a:xfrm>
            <a:custGeom>
              <a:avLst/>
              <a:gdLst/>
              <a:ahLst/>
              <a:cxnLst/>
              <a:rect l="l" t="t" r="r" b="b"/>
              <a:pathLst>
                <a:path w="123825" h="266700">
                  <a:moveTo>
                    <a:pt x="62483" y="266699"/>
                  </a:moveTo>
                  <a:lnTo>
                    <a:pt x="0" y="0"/>
                  </a:lnTo>
                  <a:lnTo>
                    <a:pt x="62483" y="60959"/>
                  </a:lnTo>
                  <a:lnTo>
                    <a:pt x="123443" y="0"/>
                  </a:lnTo>
                  <a:lnTo>
                    <a:pt x="62483" y="266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46976" y="5032247"/>
              <a:ext cx="123825" cy="266700"/>
            </a:xfrm>
            <a:custGeom>
              <a:avLst/>
              <a:gdLst/>
              <a:ahLst/>
              <a:cxnLst/>
              <a:rect l="l" t="t" r="r" b="b"/>
              <a:pathLst>
                <a:path w="123825" h="266700">
                  <a:moveTo>
                    <a:pt x="62483" y="60959"/>
                  </a:moveTo>
                  <a:lnTo>
                    <a:pt x="123443" y="0"/>
                  </a:lnTo>
                  <a:lnTo>
                    <a:pt x="62483" y="266699"/>
                  </a:lnTo>
                  <a:lnTo>
                    <a:pt x="0" y="0"/>
                  </a:lnTo>
                  <a:lnTo>
                    <a:pt x="62483" y="60959"/>
                  </a:lnTo>
                  <a:close/>
                </a:path>
              </a:pathLst>
            </a:custGeom>
            <a:ln w="20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75" y="1039042"/>
            <a:ext cx="3620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Waterfall</a:t>
            </a:r>
            <a:r>
              <a:rPr spc="-290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640" y="1884168"/>
            <a:ext cx="7669530" cy="42589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2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In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theory:</a:t>
            </a:r>
            <a:endParaRPr sz="28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10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phase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produces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documents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20" dirty="0">
                <a:latin typeface="Georgia"/>
                <a:cs typeface="Georgia"/>
              </a:rPr>
              <a:t> are:</a:t>
            </a:r>
            <a:endParaRPr sz="2600" dirty="0">
              <a:latin typeface="Georgia"/>
              <a:cs typeface="Georgia"/>
            </a:endParaRPr>
          </a:p>
          <a:p>
            <a:pPr marL="824230" lvl="1" indent="-217170">
              <a:lnSpc>
                <a:spcPct val="100000"/>
              </a:lnSpc>
              <a:spcBef>
                <a:spcPts val="310"/>
              </a:spcBef>
              <a:buClr>
                <a:srgbClr val="53548A"/>
              </a:buClr>
              <a:buFont typeface="Wingdings"/>
              <a:buChar char=""/>
              <a:tabLst>
                <a:tab pos="824230" algn="l"/>
              </a:tabLst>
            </a:pPr>
            <a:r>
              <a:rPr sz="2400" dirty="0">
                <a:latin typeface="Georgia"/>
                <a:cs typeface="Georgia"/>
              </a:rPr>
              <a:t>Verified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 dirty="0">
              <a:latin typeface="Georgia"/>
              <a:cs typeface="Georgia"/>
            </a:endParaRPr>
          </a:p>
          <a:p>
            <a:pPr marL="824230" lvl="1" indent="-21717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"/>
              <a:buChar char=""/>
              <a:tabLst>
                <a:tab pos="824230" algn="l"/>
              </a:tabLst>
            </a:pPr>
            <a:r>
              <a:rPr sz="2400" dirty="0">
                <a:latin typeface="Georgia"/>
                <a:cs typeface="Georgia"/>
              </a:rPr>
              <a:t>Assumed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complete.</a:t>
            </a:r>
            <a:endParaRPr sz="2400" dirty="0">
              <a:latin typeface="Georgia"/>
              <a:cs typeface="Georgia"/>
            </a:endParaRPr>
          </a:p>
          <a:p>
            <a:pPr marL="559435" marR="5080" indent="-245745">
              <a:lnSpc>
                <a:spcPct val="100000"/>
              </a:lnSpc>
              <a:spcBef>
                <a:spcPts val="290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phase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depends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on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documents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25" dirty="0">
                <a:latin typeface="Georgia"/>
                <a:cs typeface="Georgia"/>
              </a:rPr>
              <a:t> the </a:t>
            </a:r>
            <a:r>
              <a:rPr sz="2600" dirty="0">
                <a:latin typeface="Georgia"/>
                <a:cs typeface="Georgia"/>
              </a:rPr>
              <a:t>previous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stage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proceed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Georgia"/>
                <a:cs typeface="Georgia"/>
              </a:rPr>
              <a:t>it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has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wait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for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completion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previous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stage.</a:t>
            </a:r>
            <a:endParaRPr sz="26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95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In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practice:</a:t>
            </a:r>
            <a:endParaRPr sz="2800" dirty="0">
              <a:latin typeface="Georgia"/>
              <a:cs typeface="Georgia"/>
            </a:endParaRPr>
          </a:p>
          <a:p>
            <a:pPr marL="559435" marR="323850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phases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overlap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feedback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other </a:t>
            </a:r>
            <a:r>
              <a:rPr sz="2600" dirty="0">
                <a:latin typeface="Georgia"/>
                <a:cs typeface="Georgia"/>
              </a:rPr>
              <a:t>(see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feedback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arrow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diagram).</a:t>
            </a:r>
            <a:endParaRPr sz="26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5359" y="26910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898" y="1000980"/>
            <a:ext cx="7720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Where</a:t>
            </a:r>
            <a:r>
              <a:rPr spc="-8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use</a:t>
            </a:r>
            <a:r>
              <a:rPr spc="-7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waterfall</a:t>
            </a:r>
            <a:r>
              <a:rPr spc="-95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7975" y="1925812"/>
            <a:ext cx="7506334" cy="3117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187325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Requirements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very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well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known,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clear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and 	</a:t>
            </a:r>
            <a:r>
              <a:rPr sz="2800" spc="-10" dirty="0">
                <a:latin typeface="Georgia"/>
                <a:cs typeface="Georgia"/>
              </a:rPr>
              <a:t>fixed.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Product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definition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stable.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Technology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understood.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ts val="334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There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ambiguous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requirements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ts val="3325"/>
              </a:lnSpc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New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version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existing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product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ts val="3340"/>
              </a:lnSpc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Porting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existing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product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new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platform.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91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Challenges</a:t>
            </a:r>
            <a:r>
              <a:rPr spc="-175" dirty="0"/>
              <a:t> </a:t>
            </a:r>
            <a:r>
              <a:rPr dirty="0"/>
              <a:t>with</a:t>
            </a:r>
            <a:r>
              <a:rPr spc="-190" dirty="0"/>
              <a:t> </a:t>
            </a:r>
            <a:r>
              <a:rPr dirty="0"/>
              <a:t>Waterfall</a:t>
            </a:r>
            <a:r>
              <a:rPr spc="-175" dirty="0"/>
              <a:t> </a:t>
            </a:r>
            <a:r>
              <a:rPr spc="-2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3404" y="26910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" y="2359151"/>
            <a:ext cx="9083040" cy="413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898" y="886286"/>
            <a:ext cx="547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Advantages</a:t>
            </a:r>
            <a:r>
              <a:rPr spc="-9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10" dirty="0"/>
              <a:t>Waterfall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5519" y="26910"/>
            <a:ext cx="252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645668" y="1867979"/>
            <a:ext cx="7825105" cy="3198311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dirty="0"/>
              <a:t>Easy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understand,</a:t>
            </a:r>
            <a:r>
              <a:rPr spc="-65" dirty="0"/>
              <a:t> </a:t>
            </a:r>
            <a:r>
              <a:rPr dirty="0"/>
              <a:t>easy</a:t>
            </a:r>
            <a:r>
              <a:rPr spc="-2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25" dirty="0"/>
              <a:t>use</a:t>
            </a: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dirty="0"/>
              <a:t>Sets</a:t>
            </a:r>
            <a:r>
              <a:rPr spc="-70" dirty="0"/>
              <a:t> </a:t>
            </a:r>
            <a:r>
              <a:rPr dirty="0"/>
              <a:t>requirements</a:t>
            </a:r>
            <a:r>
              <a:rPr spc="-70" dirty="0"/>
              <a:t> </a:t>
            </a:r>
            <a:r>
              <a:rPr spc="-10" dirty="0"/>
              <a:t>stability</a:t>
            </a: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dirty="0"/>
              <a:t>Milestones</a:t>
            </a:r>
            <a:r>
              <a:rPr spc="-7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well</a:t>
            </a:r>
            <a:r>
              <a:rPr spc="-55" dirty="0"/>
              <a:t> </a:t>
            </a:r>
            <a:r>
              <a:rPr spc="-10" dirty="0"/>
              <a:t>understood</a:t>
            </a:r>
          </a:p>
          <a:p>
            <a:pPr marL="268605" marR="6350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dirty="0"/>
              <a:t>Works</a:t>
            </a:r>
            <a:r>
              <a:rPr spc="-55" dirty="0"/>
              <a:t> </a:t>
            </a:r>
            <a:r>
              <a:rPr dirty="0"/>
              <a:t>well</a:t>
            </a:r>
            <a:r>
              <a:rPr spc="-50" dirty="0"/>
              <a:t> </a:t>
            </a: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quality</a:t>
            </a:r>
            <a:r>
              <a:rPr spc="-5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more</a:t>
            </a:r>
            <a:r>
              <a:rPr spc="-50" dirty="0"/>
              <a:t> </a:t>
            </a:r>
            <a:r>
              <a:rPr dirty="0"/>
              <a:t>important</a:t>
            </a:r>
            <a:r>
              <a:rPr spc="-50" dirty="0"/>
              <a:t> </a:t>
            </a:r>
            <a:r>
              <a:rPr dirty="0"/>
              <a:t>than</a:t>
            </a:r>
            <a:r>
              <a:rPr spc="-55" dirty="0"/>
              <a:t> </a:t>
            </a:r>
            <a:r>
              <a:rPr dirty="0"/>
              <a:t>cost</a:t>
            </a:r>
            <a:r>
              <a:rPr spc="-50" dirty="0"/>
              <a:t> </a:t>
            </a:r>
            <a:r>
              <a:rPr spc="-25" dirty="0"/>
              <a:t>or </a:t>
            </a:r>
            <a:r>
              <a:rPr spc="-10" dirty="0"/>
              <a:t>schedule</a:t>
            </a: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59435" algn="l"/>
              </a:tabLst>
            </a:pPr>
            <a:r>
              <a:rPr spc="-50" dirty="0">
                <a:solidFill>
                  <a:srgbClr val="438086"/>
                </a:solidFill>
              </a:rPr>
              <a:t>▫</a:t>
            </a:r>
            <a:r>
              <a:rPr dirty="0">
                <a:solidFill>
                  <a:srgbClr val="438086"/>
                </a:solidFill>
              </a:rPr>
              <a:t>	</a:t>
            </a:r>
            <a:r>
              <a:rPr dirty="0"/>
              <a:t>Phases</a:t>
            </a:r>
            <a:r>
              <a:rPr spc="-60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spc="-10" dirty="0"/>
              <a:t>processed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completed</a:t>
            </a:r>
            <a:r>
              <a:rPr spc="-60" dirty="0"/>
              <a:t> </a:t>
            </a:r>
            <a:r>
              <a:rPr dirty="0"/>
              <a:t>one</a:t>
            </a:r>
            <a:r>
              <a:rPr spc="-55" dirty="0"/>
              <a:t> </a:t>
            </a:r>
            <a:r>
              <a:rPr dirty="0"/>
              <a:t>at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20" dirty="0"/>
              <a:t>time.</a:t>
            </a: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dirty="0"/>
              <a:t>No</a:t>
            </a:r>
            <a:r>
              <a:rPr spc="-80" dirty="0"/>
              <a:t> </a:t>
            </a:r>
            <a:r>
              <a:rPr dirty="0"/>
              <a:t>phase</a:t>
            </a:r>
            <a:r>
              <a:rPr spc="-4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complete</a:t>
            </a:r>
            <a:r>
              <a:rPr spc="-65" dirty="0"/>
              <a:t> </a:t>
            </a:r>
            <a:r>
              <a:rPr dirty="0"/>
              <a:t>until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Tangible</a:t>
            </a:r>
            <a:r>
              <a:rPr spc="-65" dirty="0"/>
              <a:t> </a:t>
            </a:r>
            <a:r>
              <a:rPr dirty="0"/>
              <a:t>products</a:t>
            </a:r>
            <a:r>
              <a:rPr spc="-60" dirty="0"/>
              <a:t> </a:t>
            </a:r>
            <a:r>
              <a:rPr spc="-20" dirty="0"/>
              <a:t>(the </a:t>
            </a:r>
            <a:r>
              <a:rPr dirty="0"/>
              <a:t>various</a:t>
            </a:r>
            <a:r>
              <a:rPr spc="-70" dirty="0"/>
              <a:t> </a:t>
            </a:r>
            <a:r>
              <a:rPr dirty="0"/>
              <a:t>documents)</a:t>
            </a:r>
            <a:r>
              <a:rPr spc="-6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done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checked</a:t>
            </a:r>
            <a:r>
              <a:rPr spc="-50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SQA</a:t>
            </a:r>
            <a:r>
              <a:rPr spc="-55" dirty="0"/>
              <a:t> </a:t>
            </a:r>
            <a:r>
              <a:rPr spc="-10" dirty="0"/>
              <a:t>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898" y="1039042"/>
            <a:ext cx="5894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Disadvantage</a:t>
            </a:r>
            <a:r>
              <a:rPr spc="-150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spc="-10" dirty="0"/>
              <a:t>Waterfall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7120" y="26910"/>
            <a:ext cx="25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9468" y="1889315"/>
            <a:ext cx="7585709" cy="32181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All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must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known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upfront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Not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Flexible-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if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change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may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work</a:t>
            </a:r>
            <a:endParaRPr sz="240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Difficult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estimate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time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cost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each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stage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the </a:t>
            </a:r>
            <a:r>
              <a:rPr sz="2400" dirty="0">
                <a:latin typeface="Georgia"/>
                <a:cs typeface="Georgia"/>
              </a:rPr>
              <a:t>development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process.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High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amount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risk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uncertainty.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Constant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testing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design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needed.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Can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excessive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documentation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Few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signs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progress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until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end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2252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rebuchet MS"/>
                <a:cs typeface="Trebuchet MS"/>
              </a:rPr>
              <a:t>Waterfall</a:t>
            </a:r>
            <a:r>
              <a:rPr sz="4800" b="1" spc="-220" dirty="0">
                <a:latin typeface="Trebuchet MS"/>
                <a:cs typeface="Trebuchet MS"/>
              </a:rPr>
              <a:t> </a:t>
            </a:r>
            <a:r>
              <a:rPr sz="4800" b="1" spc="-10" dirty="0">
                <a:latin typeface="Trebuchet MS"/>
                <a:cs typeface="Trebuchet MS"/>
              </a:rPr>
              <a:t>Model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03919" y="26910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104" y="2663951"/>
            <a:ext cx="8250936" cy="31150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44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V-</a:t>
            </a:r>
            <a:r>
              <a:rPr dirty="0"/>
              <a:t>Shaped</a:t>
            </a:r>
            <a:r>
              <a:rPr spc="-110" dirty="0"/>
              <a:t> </a:t>
            </a:r>
            <a:r>
              <a:rPr dirty="0"/>
              <a:t>SDLC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13063" y="26910"/>
            <a:ext cx="244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8400" y="2130551"/>
            <a:ext cx="4258056" cy="4282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944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V-</a:t>
            </a:r>
            <a:r>
              <a:rPr dirty="0"/>
              <a:t>Shaped</a:t>
            </a:r>
            <a:r>
              <a:rPr spc="-110" dirty="0"/>
              <a:t> </a:t>
            </a:r>
            <a:r>
              <a:rPr dirty="0"/>
              <a:t>SDLC</a:t>
            </a:r>
            <a:r>
              <a:rPr spc="-110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3919" y="26910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5668" y="2233739"/>
            <a:ext cx="7886700" cy="35458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V-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model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means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Verification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Validation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model.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  <a:tab pos="1758314" algn="l"/>
              </a:tabLst>
            </a:pPr>
            <a:r>
              <a:rPr sz="2400" dirty="0">
                <a:latin typeface="Georgia"/>
                <a:cs typeface="Georgia"/>
              </a:rPr>
              <a:t>Variant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of</a:t>
            </a:r>
            <a:r>
              <a:rPr sz="2400" dirty="0">
                <a:latin typeface="Georgia"/>
                <a:cs typeface="Georgia"/>
              </a:rPr>
              <a:t>	</a:t>
            </a:r>
            <a:r>
              <a:rPr sz="2400" spc="-10" dirty="0">
                <a:latin typeface="Georgia"/>
                <a:cs typeface="Georgia"/>
              </a:rPr>
              <a:t>Waterfall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model</a:t>
            </a:r>
            <a:endParaRPr sz="240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  <a:tab pos="2021205" algn="l"/>
              </a:tabLst>
            </a:pPr>
            <a:r>
              <a:rPr sz="2400" spc="-10" dirty="0">
                <a:latin typeface="Georgia"/>
                <a:cs typeface="Georgia"/>
              </a:rPr>
              <a:t>Emphasizes</a:t>
            </a:r>
            <a:r>
              <a:rPr sz="2400" dirty="0">
                <a:latin typeface="Georgia"/>
                <a:cs typeface="Georgia"/>
              </a:rPr>
              <a:t>	verification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validation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product</a:t>
            </a:r>
            <a:endParaRPr sz="240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har char="•"/>
              <a:tabLst>
                <a:tab pos="268605" algn="l"/>
                <a:tab pos="339725" algn="l"/>
              </a:tabLst>
            </a:pPr>
            <a:r>
              <a:rPr sz="2400" dirty="0">
                <a:solidFill>
                  <a:srgbClr val="A04DA3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Just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like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waterfall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model,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V-</a:t>
            </a:r>
            <a:r>
              <a:rPr sz="2400" dirty="0">
                <a:latin typeface="Georgia"/>
                <a:cs typeface="Georgia"/>
              </a:rPr>
              <a:t>Shaped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cycle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a </a:t>
            </a:r>
            <a:r>
              <a:rPr sz="2400" dirty="0">
                <a:latin typeface="Georgia"/>
                <a:cs typeface="Georgia"/>
              </a:rPr>
              <a:t>sequential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path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execution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processes.</a:t>
            </a:r>
            <a:endParaRPr sz="2400">
              <a:latin typeface="Georgia"/>
              <a:cs typeface="Georgia"/>
            </a:endParaRPr>
          </a:p>
          <a:p>
            <a:pPr marL="268605" marR="511809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Each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phase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must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completed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before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next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phase begins.</a:t>
            </a:r>
            <a:endParaRPr sz="2400">
              <a:latin typeface="Georgia"/>
              <a:cs typeface="Georgia"/>
            </a:endParaRPr>
          </a:p>
          <a:p>
            <a:pPr marL="268605" marR="852805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Testing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planned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parallel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with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a </a:t>
            </a:r>
            <a:r>
              <a:rPr sz="2400" spc="-10" dirty="0">
                <a:latin typeface="Georgia"/>
                <a:cs typeface="Georgia"/>
              </a:rPr>
              <a:t>corresponding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phase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development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2185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latin typeface="Trebuchet MS"/>
                <a:cs typeface="Trebuchet MS"/>
              </a:rPr>
              <a:t>V-</a:t>
            </a:r>
            <a:r>
              <a:rPr sz="4800" b="1" dirty="0">
                <a:latin typeface="Trebuchet MS"/>
                <a:cs typeface="Trebuchet MS"/>
              </a:rPr>
              <a:t>Shaped</a:t>
            </a:r>
            <a:r>
              <a:rPr sz="4800" b="1" spc="-70" dirty="0">
                <a:latin typeface="Trebuchet MS"/>
                <a:cs typeface="Trebuchet MS"/>
              </a:rPr>
              <a:t> </a:t>
            </a:r>
            <a:r>
              <a:rPr sz="4800" b="1" dirty="0">
                <a:latin typeface="Trebuchet MS"/>
                <a:cs typeface="Trebuchet MS"/>
              </a:rPr>
              <a:t>SDLC</a:t>
            </a:r>
            <a:r>
              <a:rPr sz="4800" b="1" spc="-85" dirty="0">
                <a:latin typeface="Trebuchet MS"/>
                <a:cs typeface="Trebuchet MS"/>
              </a:rPr>
              <a:t> </a:t>
            </a:r>
            <a:r>
              <a:rPr sz="4800" b="1" spc="-10" dirty="0">
                <a:latin typeface="Trebuchet MS"/>
                <a:cs typeface="Trebuchet MS"/>
              </a:rPr>
              <a:t>Model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9235" y="26910"/>
            <a:ext cx="23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026" name="Picture 2" descr="SDLC V-Model">
            <a:extLst>
              <a:ext uri="{FF2B5EF4-FFF2-40B4-BE49-F238E27FC236}">
                <a16:creationId xmlns:a16="http://schemas.microsoft.com/office/drawing/2014/main" id="{9F8BA4ED-7C23-D38A-08A4-2CD16A8A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337" y="1524000"/>
            <a:ext cx="6887324" cy="517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8146" y="962918"/>
            <a:ext cx="4430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V-</a:t>
            </a:r>
            <a:r>
              <a:rPr dirty="0"/>
              <a:t>Shaped</a:t>
            </a:r>
            <a:r>
              <a:rPr spc="-110" dirty="0"/>
              <a:t> </a:t>
            </a:r>
            <a:r>
              <a:rPr spc="-10" dirty="0"/>
              <a:t>Strengths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7975" y="26910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1868" y="1965515"/>
            <a:ext cx="7611745" cy="315983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Higher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chance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success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over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waterfall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model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Simple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easy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use.</a:t>
            </a:r>
            <a:endParaRPr sz="24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Testing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activities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like</a:t>
            </a:r>
            <a:r>
              <a:rPr sz="2400" spc="-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planning,</a:t>
            </a:r>
            <a:r>
              <a:rPr sz="2400" spc="-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test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designing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happens </a:t>
            </a:r>
            <a:r>
              <a:rPr sz="2400" dirty="0">
                <a:latin typeface="Georgia"/>
                <a:cs typeface="Georgia"/>
              </a:rPr>
              <a:t>well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before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coding.</a:t>
            </a:r>
            <a:endParaRPr sz="2400" dirty="0">
              <a:latin typeface="Georgia"/>
              <a:cs typeface="Georgia"/>
            </a:endParaRPr>
          </a:p>
          <a:p>
            <a:pPr marL="268605" marR="1193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Proactive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defect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tracking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–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defects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found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at </a:t>
            </a:r>
            <a:r>
              <a:rPr sz="2400" dirty="0">
                <a:latin typeface="Georgia"/>
                <a:cs typeface="Georgia"/>
              </a:rPr>
              <a:t>early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stage.</a:t>
            </a:r>
            <a:endParaRPr sz="2400" dirty="0">
              <a:latin typeface="Georgia"/>
              <a:cs typeface="Georgia"/>
            </a:endParaRPr>
          </a:p>
          <a:p>
            <a:pPr marL="268605" marR="141605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Works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well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small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projects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where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are </a:t>
            </a:r>
            <a:r>
              <a:rPr sz="2400" dirty="0">
                <a:latin typeface="Georgia"/>
                <a:cs typeface="Georgia"/>
              </a:rPr>
              <a:t>easily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understood.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898" y="810163"/>
            <a:ext cx="4953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V-</a:t>
            </a:r>
            <a:r>
              <a:rPr dirty="0"/>
              <a:t>Shaped</a:t>
            </a:r>
            <a:r>
              <a:rPr spc="-110" dirty="0"/>
              <a:t> </a:t>
            </a:r>
            <a:r>
              <a:rPr spc="-10" dirty="0"/>
              <a:t>Weaknesses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03919" y="26910"/>
            <a:ext cx="253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668" y="1813115"/>
            <a:ext cx="7828280" cy="2790508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No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dynamic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changes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requirements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No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risk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analysis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activities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Very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rigid,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like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waterfall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model.</a:t>
            </a:r>
            <a:endParaRPr sz="24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No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early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prototypes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produced.</a:t>
            </a:r>
            <a:endParaRPr sz="24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400" dirty="0">
                <a:latin typeface="Georgia"/>
                <a:cs typeface="Georgia"/>
              </a:rPr>
              <a:t>If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any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changes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happen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midway,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test </a:t>
            </a:r>
            <a:r>
              <a:rPr sz="2400" dirty="0">
                <a:latin typeface="Georgia"/>
                <a:cs typeface="Georgia"/>
              </a:rPr>
              <a:t>documents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along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with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documents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be </a:t>
            </a:r>
            <a:r>
              <a:rPr sz="2400" spc="-10" dirty="0">
                <a:latin typeface="Georgia"/>
                <a:cs typeface="Georgia"/>
              </a:rPr>
              <a:t>updated.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91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265" dirty="0"/>
              <a:t> </a:t>
            </a:r>
            <a:r>
              <a:rPr spc="-10" dirty="0"/>
              <a:t>Scenario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62771" y="2691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5640" y="2270251"/>
            <a:ext cx="7693659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  <a:tab pos="1830070" algn="l"/>
                <a:tab pos="2349500" algn="l"/>
              </a:tabLst>
            </a:pPr>
            <a:r>
              <a:rPr sz="2800" dirty="0">
                <a:latin typeface="Georgia"/>
                <a:cs typeface="Georgia"/>
              </a:rPr>
              <a:t>We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received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requirement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specification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from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a 	</a:t>
            </a:r>
            <a:r>
              <a:rPr sz="2800" dirty="0">
                <a:latin typeface="Georgia"/>
                <a:cs typeface="Georgia"/>
              </a:rPr>
              <a:t>client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developing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solution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their 	specified</a:t>
            </a:r>
            <a:r>
              <a:rPr sz="2800" dirty="0">
                <a:latin typeface="Georgia"/>
                <a:cs typeface="Georgia"/>
              </a:rPr>
              <a:t>	problem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domain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we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have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little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or 	</a:t>
            </a:r>
            <a:r>
              <a:rPr sz="2800" dirty="0">
                <a:latin typeface="Georgia"/>
                <a:cs typeface="Georgia"/>
              </a:rPr>
              <a:t>no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expertise</a:t>
            </a:r>
            <a:r>
              <a:rPr sz="2800" dirty="0">
                <a:latin typeface="Georgia"/>
                <a:cs typeface="Georgia"/>
              </a:rPr>
              <a:t>	and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obviously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experience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of 	</a:t>
            </a:r>
            <a:r>
              <a:rPr sz="2800" spc="-10" dirty="0">
                <a:latin typeface="Georgia"/>
                <a:cs typeface="Georgia"/>
              </a:rPr>
              <a:t>developing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similar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solution.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0949" y="659437"/>
            <a:ext cx="2418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Questions?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05519" y="26910"/>
            <a:ext cx="251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2911" y="1383791"/>
            <a:ext cx="4718303" cy="499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2F9938-D050-42B3-82C2-1E3376201C45}"/>
</file>

<file path=customXml/itemProps2.xml><?xml version="1.0" encoding="utf-8"?>
<ds:datastoreItem xmlns:ds="http://schemas.openxmlformats.org/officeDocument/2006/customXml" ds:itemID="{E4D59CD0-2D82-4738-B1AB-6229A136C185}"/>
</file>

<file path=customXml/itemProps3.xml><?xml version="1.0" encoding="utf-8"?>
<ds:datastoreItem xmlns:ds="http://schemas.openxmlformats.org/officeDocument/2006/customXml" ds:itemID="{FA997139-52D1-4EA8-AF73-D1324C85DF3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607</TotalTime>
  <Words>653</Words>
  <Application>Microsoft Office PowerPoint</Application>
  <PresentationFormat>On-screen Show (4:3)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Georgia</vt:lpstr>
      <vt:lpstr>Times New Roman</vt:lpstr>
      <vt:lpstr>Trebuchet MS</vt:lpstr>
      <vt:lpstr>Wingdings</vt:lpstr>
      <vt:lpstr>Office Theme</vt:lpstr>
      <vt:lpstr>Software Engineering Lecture # 6 </vt:lpstr>
      <vt:lpstr>Outline</vt:lpstr>
      <vt:lpstr>SDLC Models</vt:lpstr>
      <vt:lpstr>Waterfall Model</vt:lpstr>
      <vt:lpstr>History of waterfall</vt:lpstr>
      <vt:lpstr>Waterfall Model</vt:lpstr>
      <vt:lpstr>Waterfall Model</vt:lpstr>
      <vt:lpstr>Waterfall Model</vt:lpstr>
      <vt:lpstr>Where to use the waterfall model</vt:lpstr>
      <vt:lpstr>Challenges with Waterfall Model</vt:lpstr>
      <vt:lpstr>Advantages of Waterfall</vt:lpstr>
      <vt:lpstr>Disadvantage of Waterfall</vt:lpstr>
      <vt:lpstr>Waterfall Model</vt:lpstr>
      <vt:lpstr>V-Shaped SDLC Model</vt:lpstr>
      <vt:lpstr>V-Shaped SDLC Model</vt:lpstr>
      <vt:lpstr>V-Shaped SDLC Model</vt:lpstr>
      <vt:lpstr>V-Shaped Strengths</vt:lpstr>
      <vt:lpstr>V-Shaped Weaknesses</vt:lpstr>
      <vt:lpstr>Problem Scenario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Israr Ahmad Lecturer FCS</cp:lastModifiedBy>
  <cp:revision>4</cp:revision>
  <dcterms:created xsi:type="dcterms:W3CDTF">2025-09-11T16:14:22Z</dcterms:created>
  <dcterms:modified xsi:type="dcterms:W3CDTF">2025-09-12T03:59:51Z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2014-09-23T00:00:00Z</vt:filetime>
  </property>
  <property fmtid="{D5CDD505-2E9C-101B-9397-08002B2CF9AE}" pid="3" name="LastSaved">
    <vt:filetime>2025-09-11T00:00:00Z</vt:filetime>
  </property>
  <property fmtid="{D5CDD505-2E9C-101B-9397-08002B2CF9AE}" pid="4" name="Producer">
    <vt:lpwstr>Foxit Reader PDF Printer Version 6.0.3.0513</vt:lpwstr>
  </property>
  <property fmtid="{D5CDD505-2E9C-101B-9397-08002B2CF9AE}" pid="5" name="ContentTypeId">
    <vt:lpwstr>0x010100D8746BA5DCC9394D8011CD1786C7798C</vt:lpwstr>
  </property>
</Properties>
</file>