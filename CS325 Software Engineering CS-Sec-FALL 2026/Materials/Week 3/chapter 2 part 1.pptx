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9" r:id="rId6"/>
    <p:sldId id="261" r:id="rId7"/>
    <p:sldId id="262" r:id="rId8"/>
    <p:sldId id="264" r:id="rId9"/>
    <p:sldId id="265" r:id="rId10"/>
    <p:sldId id="283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8" r:id="rId20"/>
    <p:sldId id="280" r:id="rId21"/>
    <p:sldId id="281" r:id="rId22"/>
    <p:sldId id="282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0050"/>
            <a:ext cx="5410200" cy="50800"/>
          </a:xfrm>
          <a:custGeom>
            <a:avLst/>
            <a:gdLst/>
            <a:ahLst/>
            <a:cxnLst/>
            <a:rect l="l" t="t" r="r" b="b"/>
            <a:pathLst>
              <a:path w="5410200" h="50800">
                <a:moveTo>
                  <a:pt x="0" y="50800"/>
                </a:moveTo>
                <a:lnTo>
                  <a:pt x="5410200" y="50800"/>
                </a:lnTo>
                <a:lnTo>
                  <a:pt x="5410200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07975"/>
          </a:xfrm>
          <a:custGeom>
            <a:avLst/>
            <a:gdLst/>
            <a:ahLst/>
            <a:cxnLst/>
            <a:rect l="l" t="t" r="r" b="b"/>
            <a:pathLst>
              <a:path w="9144000" h="307975">
                <a:moveTo>
                  <a:pt x="0" y="307975"/>
                </a:moveTo>
                <a:lnTo>
                  <a:pt x="9144000" y="307975"/>
                </a:lnTo>
                <a:lnTo>
                  <a:pt x="9144000" y="0"/>
                </a:lnTo>
                <a:lnTo>
                  <a:pt x="0" y="0"/>
                </a:lnTo>
                <a:lnTo>
                  <a:pt x="0" y="307975"/>
                </a:lnTo>
                <a:close/>
              </a:path>
            </a:pathLst>
          </a:custGeom>
          <a:solidFill>
            <a:srgbClr val="4244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7974"/>
            <a:ext cx="9144000" cy="142875"/>
          </a:xfrm>
          <a:custGeom>
            <a:avLst/>
            <a:gdLst/>
            <a:ahLst/>
            <a:cxnLst/>
            <a:rect l="l" t="t" r="r" b="b"/>
            <a:pathLst>
              <a:path w="9144000" h="142875">
                <a:moveTo>
                  <a:pt x="9144000" y="0"/>
                </a:moveTo>
                <a:lnTo>
                  <a:pt x="0" y="0"/>
                </a:lnTo>
                <a:lnTo>
                  <a:pt x="0" y="92075"/>
                </a:lnTo>
                <a:lnTo>
                  <a:pt x="5410200" y="92075"/>
                </a:lnTo>
                <a:lnTo>
                  <a:pt x="5410200" y="142875"/>
                </a:lnTo>
                <a:lnTo>
                  <a:pt x="9144000" y="142875"/>
                </a:lnTo>
                <a:lnTo>
                  <a:pt x="9144000" y="92075"/>
                </a:lnTo>
                <a:lnTo>
                  <a:pt x="9144000" y="52387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10200" y="439801"/>
            <a:ext cx="3733800" cy="180975"/>
          </a:xfrm>
          <a:custGeom>
            <a:avLst/>
            <a:gdLst/>
            <a:ahLst/>
            <a:cxnLst/>
            <a:rect l="l" t="t" r="r" b="b"/>
            <a:pathLst>
              <a:path w="3733800" h="180975">
                <a:moveTo>
                  <a:pt x="3733800" y="0"/>
                </a:moveTo>
                <a:lnTo>
                  <a:pt x="0" y="0"/>
                </a:lnTo>
                <a:lnTo>
                  <a:pt x="0" y="180975"/>
                </a:lnTo>
                <a:lnTo>
                  <a:pt x="3733800" y="180975"/>
                </a:lnTo>
                <a:lnTo>
                  <a:pt x="373380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407025" y="496950"/>
            <a:ext cx="3567429" cy="128905"/>
          </a:xfrm>
          <a:custGeom>
            <a:avLst/>
            <a:gdLst/>
            <a:ahLst/>
            <a:cxnLst/>
            <a:rect l="l" t="t" r="r" b="b"/>
            <a:pathLst>
              <a:path w="3567429" h="128904">
                <a:moveTo>
                  <a:pt x="3063875" y="2032"/>
                </a:moveTo>
                <a:lnTo>
                  <a:pt x="3061716" y="0"/>
                </a:lnTo>
                <a:lnTo>
                  <a:pt x="2159" y="0"/>
                </a:lnTo>
                <a:lnTo>
                  <a:pt x="0" y="2032"/>
                </a:lnTo>
                <a:lnTo>
                  <a:pt x="0" y="4699"/>
                </a:lnTo>
                <a:lnTo>
                  <a:pt x="0" y="26416"/>
                </a:lnTo>
                <a:lnTo>
                  <a:pt x="2159" y="28575"/>
                </a:lnTo>
                <a:lnTo>
                  <a:pt x="3061716" y="28575"/>
                </a:lnTo>
                <a:lnTo>
                  <a:pt x="3063875" y="26416"/>
                </a:lnTo>
                <a:lnTo>
                  <a:pt x="3063875" y="2032"/>
                </a:lnTo>
                <a:close/>
              </a:path>
              <a:path w="3567429" h="128904">
                <a:moveTo>
                  <a:pt x="3567176" y="94742"/>
                </a:moveTo>
                <a:lnTo>
                  <a:pt x="3564382" y="92075"/>
                </a:lnTo>
                <a:lnTo>
                  <a:pt x="1969643" y="92075"/>
                </a:lnTo>
                <a:lnTo>
                  <a:pt x="1966976" y="94742"/>
                </a:lnTo>
                <a:lnTo>
                  <a:pt x="1966976" y="98044"/>
                </a:lnTo>
                <a:lnTo>
                  <a:pt x="1966976" y="125857"/>
                </a:lnTo>
                <a:lnTo>
                  <a:pt x="1969643" y="128524"/>
                </a:lnTo>
                <a:lnTo>
                  <a:pt x="3564382" y="128524"/>
                </a:lnTo>
                <a:lnTo>
                  <a:pt x="3567176" y="125857"/>
                </a:lnTo>
                <a:lnTo>
                  <a:pt x="3567176" y="94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044051" y="-1587"/>
            <a:ext cx="98425" cy="621030"/>
          </a:xfrm>
          <a:custGeom>
            <a:avLst/>
            <a:gdLst/>
            <a:ahLst/>
            <a:cxnLst/>
            <a:rect l="l" t="t" r="r" b="b"/>
            <a:pathLst>
              <a:path w="98425" h="621030">
                <a:moveTo>
                  <a:pt x="28575" y="0"/>
                </a:moveTo>
                <a:lnTo>
                  <a:pt x="0" y="0"/>
                </a:lnTo>
                <a:lnTo>
                  <a:pt x="0" y="620712"/>
                </a:lnTo>
                <a:lnTo>
                  <a:pt x="28575" y="620712"/>
                </a:lnTo>
                <a:lnTo>
                  <a:pt x="28575" y="0"/>
                </a:lnTo>
                <a:close/>
              </a:path>
              <a:path w="98425" h="621030">
                <a:moveTo>
                  <a:pt x="98425" y="0"/>
                </a:moveTo>
                <a:lnTo>
                  <a:pt x="41275" y="0"/>
                </a:lnTo>
                <a:lnTo>
                  <a:pt x="41275" y="620712"/>
                </a:lnTo>
                <a:lnTo>
                  <a:pt x="98425" y="620712"/>
                </a:lnTo>
                <a:lnTo>
                  <a:pt x="98425" y="0"/>
                </a:lnTo>
                <a:close/>
              </a:path>
            </a:pathLst>
          </a:custGeom>
          <a:solidFill>
            <a:srgbClr val="FFFFFF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025001" y="-1587"/>
            <a:ext cx="9525" cy="621030"/>
          </a:xfrm>
          <a:custGeom>
            <a:avLst/>
            <a:gdLst/>
            <a:ahLst/>
            <a:cxnLst/>
            <a:rect l="l" t="t" r="r" b="b"/>
            <a:pathLst>
              <a:path w="9525" h="621030">
                <a:moveTo>
                  <a:pt x="9525" y="0"/>
                </a:moveTo>
                <a:lnTo>
                  <a:pt x="0" y="0"/>
                </a:lnTo>
                <a:lnTo>
                  <a:pt x="0" y="620712"/>
                </a:lnTo>
                <a:lnTo>
                  <a:pt x="9525" y="620712"/>
                </a:lnTo>
                <a:lnTo>
                  <a:pt x="9525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75725" y="-1587"/>
            <a:ext cx="27305" cy="621030"/>
          </a:xfrm>
          <a:custGeom>
            <a:avLst/>
            <a:gdLst/>
            <a:ahLst/>
            <a:cxnLst/>
            <a:rect l="l" t="t" r="r" b="b"/>
            <a:pathLst>
              <a:path w="27304" h="621030">
                <a:moveTo>
                  <a:pt x="26988" y="0"/>
                </a:moveTo>
                <a:lnTo>
                  <a:pt x="0" y="0"/>
                </a:lnTo>
                <a:lnTo>
                  <a:pt x="0" y="620712"/>
                </a:lnTo>
                <a:lnTo>
                  <a:pt x="26988" y="620712"/>
                </a:lnTo>
                <a:lnTo>
                  <a:pt x="26988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915400" y="63"/>
            <a:ext cx="55880" cy="586105"/>
          </a:xfrm>
          <a:custGeom>
            <a:avLst/>
            <a:gdLst/>
            <a:ahLst/>
            <a:cxnLst/>
            <a:rect l="l" t="t" r="r" b="b"/>
            <a:pathLst>
              <a:path w="55879" h="586105">
                <a:moveTo>
                  <a:pt x="55563" y="0"/>
                </a:moveTo>
                <a:lnTo>
                  <a:pt x="0" y="0"/>
                </a:lnTo>
                <a:lnTo>
                  <a:pt x="0" y="585787"/>
                </a:lnTo>
                <a:lnTo>
                  <a:pt x="55563" y="585787"/>
                </a:lnTo>
                <a:lnTo>
                  <a:pt x="55563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874125" y="63"/>
            <a:ext cx="8255" cy="586105"/>
          </a:xfrm>
          <a:custGeom>
            <a:avLst/>
            <a:gdLst/>
            <a:ahLst/>
            <a:cxnLst/>
            <a:rect l="l" t="t" r="r" b="b"/>
            <a:pathLst>
              <a:path w="8254" h="586105">
                <a:moveTo>
                  <a:pt x="7938" y="0"/>
                </a:moveTo>
                <a:lnTo>
                  <a:pt x="0" y="0"/>
                </a:lnTo>
                <a:lnTo>
                  <a:pt x="0" y="585787"/>
                </a:lnTo>
                <a:lnTo>
                  <a:pt x="7938" y="585787"/>
                </a:lnTo>
                <a:lnTo>
                  <a:pt x="7938" y="0"/>
                </a:lnTo>
                <a:close/>
              </a:path>
            </a:pathLst>
          </a:custGeom>
          <a:solidFill>
            <a:srgbClr val="FFFFFF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966" y="567639"/>
            <a:ext cx="8092973" cy="1383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972" y="2201621"/>
            <a:ext cx="7591425" cy="4387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208780"/>
            <a:chOff x="0" y="0"/>
            <a:chExt cx="9144000" cy="4208780"/>
          </a:xfrm>
        </p:grpSpPr>
        <p:sp>
          <p:nvSpPr>
            <p:cNvPr id="3" name="object 3"/>
            <p:cNvSpPr/>
            <p:nvPr/>
          </p:nvSpPr>
          <p:spPr>
            <a:xfrm>
              <a:off x="5410200" y="3810063"/>
              <a:ext cx="3733800" cy="90805"/>
            </a:xfrm>
            <a:custGeom>
              <a:avLst/>
              <a:gdLst/>
              <a:ahLst/>
              <a:cxnLst/>
              <a:rect l="l" t="t" r="r" b="b"/>
              <a:pathLst>
                <a:path w="3733800" h="90804">
                  <a:moveTo>
                    <a:pt x="3733800" y="0"/>
                  </a:moveTo>
                  <a:lnTo>
                    <a:pt x="0" y="0"/>
                  </a:lnTo>
                  <a:lnTo>
                    <a:pt x="0" y="90487"/>
                  </a:lnTo>
                  <a:lnTo>
                    <a:pt x="3733800" y="904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10200" y="3897312"/>
              <a:ext cx="3733800" cy="192405"/>
            </a:xfrm>
            <a:custGeom>
              <a:avLst/>
              <a:gdLst/>
              <a:ahLst/>
              <a:cxnLst/>
              <a:rect l="l" t="t" r="r" b="b"/>
              <a:pathLst>
                <a:path w="3733800" h="192404">
                  <a:moveTo>
                    <a:pt x="3733800" y="0"/>
                  </a:moveTo>
                  <a:lnTo>
                    <a:pt x="0" y="0"/>
                  </a:lnTo>
                  <a:lnTo>
                    <a:pt x="0" y="192087"/>
                  </a:lnTo>
                  <a:lnTo>
                    <a:pt x="3733800" y="1920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411480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3733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4164076"/>
              <a:ext cx="1965325" cy="19050"/>
            </a:xfrm>
            <a:custGeom>
              <a:avLst/>
              <a:gdLst/>
              <a:ahLst/>
              <a:cxnLst/>
              <a:rect l="l" t="t" r="r" b="b"/>
              <a:pathLst>
                <a:path w="1965325" h="19050">
                  <a:moveTo>
                    <a:pt x="19653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965325" y="19050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0200" y="4199001"/>
              <a:ext cx="1965325" cy="9525"/>
            </a:xfrm>
            <a:custGeom>
              <a:avLst/>
              <a:gdLst/>
              <a:ahLst/>
              <a:cxnLst/>
              <a:rect l="l" t="t" r="r" b="b"/>
              <a:pathLst>
                <a:path w="1965325" h="9525">
                  <a:moveTo>
                    <a:pt x="19653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965325" y="9525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3962400"/>
              <a:ext cx="3567429" cy="135255"/>
            </a:xfrm>
            <a:custGeom>
              <a:avLst/>
              <a:gdLst/>
              <a:ahLst/>
              <a:cxnLst/>
              <a:rect l="l" t="t" r="r" b="b"/>
              <a:pathLst>
                <a:path w="3567429" h="135254">
                  <a:moveTo>
                    <a:pt x="3063875" y="2032"/>
                  </a:moveTo>
                  <a:lnTo>
                    <a:pt x="3061843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445"/>
                  </a:lnTo>
                  <a:lnTo>
                    <a:pt x="0" y="25019"/>
                  </a:lnTo>
                  <a:lnTo>
                    <a:pt x="2032" y="27051"/>
                  </a:lnTo>
                  <a:lnTo>
                    <a:pt x="3061843" y="27051"/>
                  </a:lnTo>
                  <a:lnTo>
                    <a:pt x="3063875" y="25019"/>
                  </a:lnTo>
                  <a:lnTo>
                    <a:pt x="3063875" y="2032"/>
                  </a:lnTo>
                  <a:close/>
                </a:path>
                <a:path w="3567429" h="135254">
                  <a:moveTo>
                    <a:pt x="3567176" y="101092"/>
                  </a:moveTo>
                  <a:lnTo>
                    <a:pt x="3564382" y="98425"/>
                  </a:lnTo>
                  <a:lnTo>
                    <a:pt x="1969643" y="98425"/>
                  </a:lnTo>
                  <a:lnTo>
                    <a:pt x="1966976" y="101092"/>
                  </a:lnTo>
                  <a:lnTo>
                    <a:pt x="1966976" y="104521"/>
                  </a:lnTo>
                  <a:lnTo>
                    <a:pt x="1966976" y="132207"/>
                  </a:lnTo>
                  <a:lnTo>
                    <a:pt x="1969643" y="135001"/>
                  </a:lnTo>
                  <a:lnTo>
                    <a:pt x="3564382" y="135001"/>
                  </a:lnTo>
                  <a:lnTo>
                    <a:pt x="3567176" y="132207"/>
                  </a:lnTo>
                  <a:lnTo>
                    <a:pt x="3567176" y="1010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816350"/>
              <a:ext cx="9144000" cy="78105"/>
            </a:xfrm>
            <a:custGeom>
              <a:avLst/>
              <a:gdLst/>
              <a:ahLst/>
              <a:cxnLst/>
              <a:rect l="l" t="t" r="r" b="b"/>
              <a:pathLst>
                <a:path w="9144000" h="78104">
                  <a:moveTo>
                    <a:pt x="0" y="77850"/>
                  </a:moveTo>
                  <a:lnTo>
                    <a:pt x="9144000" y="778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85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702050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29">
                  <a:moveTo>
                    <a:pt x="9144000" y="0"/>
                  </a:moveTo>
                  <a:lnTo>
                    <a:pt x="64135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6413500" y="114300"/>
                  </a:lnTo>
                  <a:lnTo>
                    <a:pt x="6413500" y="188976"/>
                  </a:lnTo>
                  <a:lnTo>
                    <a:pt x="9144000" y="188976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3702050"/>
            </a:xfrm>
            <a:custGeom>
              <a:avLst/>
              <a:gdLst/>
              <a:ahLst/>
              <a:cxnLst/>
              <a:rect l="l" t="t" r="r" b="b"/>
              <a:pathLst>
                <a:path w="9144000" h="3702050">
                  <a:moveTo>
                    <a:pt x="9144000" y="0"/>
                  </a:moveTo>
                  <a:lnTo>
                    <a:pt x="0" y="0"/>
                  </a:lnTo>
                  <a:lnTo>
                    <a:pt x="0" y="3702050"/>
                  </a:lnTo>
                  <a:lnTo>
                    <a:pt x="9144000" y="37020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40386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50800">
              <a:solidFill>
                <a:srgbClr val="525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53974" y="2561666"/>
            <a:ext cx="7823200" cy="10483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350" dirty="0">
                <a:solidFill>
                  <a:srgbClr val="FFFFFF"/>
                </a:solidFill>
                <a:latin typeface="Georgia"/>
                <a:cs typeface="Georgia"/>
              </a:rPr>
              <a:t>An</a:t>
            </a:r>
            <a:r>
              <a:rPr sz="335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FFFF"/>
                </a:solidFill>
                <a:latin typeface="Georgia"/>
                <a:cs typeface="Georgia"/>
              </a:rPr>
              <a:t>Introduction</a:t>
            </a:r>
            <a:r>
              <a:rPr sz="3350" spc="1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sz="3350" spc="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335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FFFFFF"/>
                </a:solidFill>
                <a:latin typeface="Georgia"/>
                <a:cs typeface="Georgia"/>
              </a:rPr>
              <a:t>Engineering</a:t>
            </a:r>
            <a:br>
              <a:rPr lang="en-US" sz="3350" spc="-10" dirty="0">
                <a:solidFill>
                  <a:srgbClr val="FFFFFF"/>
                </a:solidFill>
                <a:latin typeface="Georgia"/>
                <a:cs typeface="Georgia"/>
              </a:rPr>
            </a:br>
            <a:r>
              <a:rPr lang="en-US" sz="3350" spc="-10" dirty="0">
                <a:solidFill>
                  <a:srgbClr val="FFFFFF"/>
                </a:solidFill>
                <a:latin typeface="Georgia"/>
                <a:cs typeface="Georgia"/>
              </a:rPr>
              <a:t>Chapter 2</a:t>
            </a:r>
            <a:endParaRPr sz="335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51518" y="20269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966" y="567639"/>
            <a:ext cx="8092973" cy="1075551"/>
          </a:xfrm>
          <a:prstGeom prst="rect">
            <a:avLst/>
          </a:prstGeom>
        </p:spPr>
        <p:txBody>
          <a:bodyPr vert="horz" wrap="square" lIns="0" tIns="516509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Software</a:t>
            </a:r>
            <a:r>
              <a:rPr sz="3600" spc="-9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Development</a:t>
            </a:r>
            <a:r>
              <a:rPr sz="3600" spc="-100" dirty="0">
                <a:solidFill>
                  <a:srgbClr val="000000"/>
                </a:solidFill>
              </a:rPr>
              <a:t> </a:t>
            </a:r>
            <a:r>
              <a:rPr lang="en-US" sz="3600" spc="-10" dirty="0">
                <a:solidFill>
                  <a:srgbClr val="000000"/>
                </a:solidFill>
              </a:rPr>
              <a:t>Life Cycle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645972" y="2233625"/>
            <a:ext cx="6273800" cy="30283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9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600" dirty="0">
                <a:latin typeface="Georgia"/>
                <a:cs typeface="Georgia"/>
              </a:rPr>
              <a:t>SDLC</a:t>
            </a:r>
            <a:r>
              <a:rPr sz="2600" spc="-114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(Software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Development</a:t>
            </a:r>
            <a:r>
              <a:rPr sz="2600" spc="-10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Life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Cycle)</a:t>
            </a:r>
            <a:endParaRPr sz="2600" dirty="0">
              <a:latin typeface="Georgia"/>
              <a:cs typeface="Georgia"/>
            </a:endParaRPr>
          </a:p>
          <a:p>
            <a:pPr marL="267970" indent="-255270">
              <a:lnSpc>
                <a:spcPts val="3120"/>
              </a:lnSpc>
              <a:spcBef>
                <a:spcPts val="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Development</a:t>
            </a:r>
            <a:r>
              <a:rPr sz="2600" spc="-15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Phases</a:t>
            </a:r>
            <a:endParaRPr sz="2600" dirty="0">
              <a:latin typeface="Georgia"/>
              <a:cs typeface="Georgia"/>
            </a:endParaRPr>
          </a:p>
          <a:p>
            <a:pPr marL="314325">
              <a:lnSpc>
                <a:spcPts val="2880"/>
              </a:lnSpc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Concept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Elaboration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5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latin typeface="Georgia"/>
                <a:cs typeface="Georgia"/>
              </a:rPr>
              <a:t>Requirements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Analysis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Design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5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latin typeface="Georgia"/>
                <a:cs typeface="Georgia"/>
              </a:rPr>
              <a:t>Development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5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spc="-10" dirty="0">
                <a:latin typeface="Georgia"/>
                <a:cs typeface="Georgia"/>
              </a:rPr>
              <a:t>Integration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&amp;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Test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5"/>
              </a:spcBef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Deployment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&amp;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Maintenance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783" y="812368"/>
            <a:ext cx="4153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Importance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45972" y="1887230"/>
            <a:ext cx="7896225" cy="3192796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Greatly</a:t>
            </a:r>
            <a:r>
              <a:rPr sz="2800" spc="-1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influences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your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chance</a:t>
            </a:r>
            <a:r>
              <a:rPr sz="2800" spc="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success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Not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choosing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lifecycle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bad</a:t>
            </a:r>
            <a:r>
              <a:rPr sz="2800" spc="-10" dirty="0">
                <a:latin typeface="Georgia"/>
                <a:cs typeface="Georgia"/>
              </a:rPr>
              <a:t> option</a:t>
            </a:r>
            <a:endParaRPr sz="2800" dirty="0">
              <a:latin typeface="Georgia"/>
              <a:cs typeface="Georgia"/>
            </a:endParaRPr>
          </a:p>
          <a:p>
            <a:pPr marL="267335" marR="538480" indent="-255270">
              <a:lnSpc>
                <a:spcPct val="100800"/>
              </a:lnSpc>
              <a:spcBef>
                <a:spcPts val="250"/>
              </a:spcBef>
              <a:buClr>
                <a:srgbClr val="9F4DA2"/>
              </a:buClr>
              <a:buChar char="•"/>
              <a:tabLst>
                <a:tab pos="268605" algn="l"/>
                <a:tab pos="4671695" algn="l"/>
                <a:tab pos="5982335" algn="l"/>
              </a:tabLst>
            </a:pPr>
            <a:r>
              <a:rPr sz="2800" dirty="0">
                <a:latin typeface="Georgia"/>
                <a:cs typeface="Georgia"/>
              </a:rPr>
              <a:t>Different</a:t>
            </a:r>
            <a:r>
              <a:rPr sz="2800" spc="-1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projects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require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different 	approaches</a:t>
            </a:r>
            <a:endParaRPr sz="28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00299"/>
              </a:lnSpc>
              <a:spcBef>
                <a:spcPts val="300"/>
              </a:spcBef>
              <a:buClr>
                <a:srgbClr val="9F4DA2"/>
              </a:buClr>
              <a:buChar char="•"/>
              <a:tabLst>
                <a:tab pos="268605" algn="l"/>
                <a:tab pos="1049655" algn="l"/>
                <a:tab pos="1753235" algn="l"/>
                <a:tab pos="2284730" algn="l"/>
                <a:tab pos="2694305" algn="l"/>
                <a:tab pos="3311525" algn="l"/>
                <a:tab pos="3480435" algn="l"/>
                <a:tab pos="3964940" algn="l"/>
                <a:tab pos="4143375" algn="l"/>
                <a:tab pos="4943475" algn="l"/>
                <a:tab pos="5419090" algn="l"/>
                <a:tab pos="6436995" algn="l"/>
                <a:tab pos="6784340" algn="l"/>
              </a:tabLst>
            </a:pPr>
            <a:r>
              <a:rPr sz="2800" spc="-25" dirty="0">
                <a:latin typeface="Georgia"/>
                <a:cs typeface="Georgia"/>
              </a:rPr>
              <a:t>You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should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0" dirty="0">
                <a:latin typeface="Georgia"/>
                <a:cs typeface="Georgia"/>
              </a:rPr>
              <a:t>know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5" dirty="0">
                <a:latin typeface="Georgia"/>
                <a:cs typeface="Georgia"/>
              </a:rPr>
              <a:t>how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20" dirty="0">
                <a:latin typeface="Georgia"/>
                <a:cs typeface="Georgia"/>
              </a:rPr>
              <a:t>that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5" dirty="0">
                <a:latin typeface="Georgia"/>
                <a:cs typeface="Georgia"/>
              </a:rPr>
              <a:t>if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given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50" dirty="0">
                <a:latin typeface="Georgia"/>
                <a:cs typeface="Georgia"/>
              </a:rPr>
              <a:t>a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certain scenario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0" dirty="0">
                <a:latin typeface="Georgia"/>
                <a:cs typeface="Georgia"/>
              </a:rPr>
              <a:t>what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0" dirty="0">
                <a:latin typeface="Georgia"/>
                <a:cs typeface="Georgia"/>
              </a:rPr>
              <a:t>sort</a:t>
            </a:r>
            <a:r>
              <a:rPr lang="en-US"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5" dirty="0">
                <a:latin typeface="Georgia"/>
                <a:cs typeface="Georgia"/>
              </a:rPr>
              <a:t>of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lang="en-US" sz="2800" dirty="0">
                <a:latin typeface="Georgia"/>
                <a:cs typeface="Georgia"/>
              </a:rPr>
              <a:t>software process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would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be </a:t>
            </a:r>
            <a:r>
              <a:rPr sz="2800" spc="-10" dirty="0">
                <a:latin typeface="Georgia"/>
                <a:cs typeface="Georgia"/>
              </a:rPr>
              <a:t>appropriate</a:t>
            </a:r>
            <a:endParaRPr sz="2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210" dirty="0"/>
              <a:t> </a:t>
            </a:r>
            <a:r>
              <a:rPr dirty="0"/>
              <a:t>Development</a:t>
            </a:r>
            <a:r>
              <a:rPr spc="-180" dirty="0"/>
              <a:t> </a:t>
            </a:r>
            <a:r>
              <a:rPr spc="-10" dirty="0"/>
              <a:t>Phases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996" y="1612199"/>
            <a:ext cx="6551265" cy="4875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393" y="568274"/>
            <a:ext cx="41922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Concept</a:t>
            </a:r>
            <a:r>
              <a:rPr sz="3600" spc="-90" dirty="0"/>
              <a:t> </a:t>
            </a:r>
            <a:r>
              <a:rPr sz="3600" spc="-10" dirty="0"/>
              <a:t>Elaboration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1024" y="1658630"/>
            <a:ext cx="6572884" cy="32232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The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“Why”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phase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Not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“mandatory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formal”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phase</a:t>
            </a:r>
            <a:endParaRPr sz="28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Sometimes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called</a:t>
            </a:r>
            <a:r>
              <a:rPr sz="2600" spc="-1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“pre-</a:t>
            </a:r>
            <a:r>
              <a:rPr sz="2600" dirty="0">
                <a:latin typeface="Georgia"/>
                <a:cs typeface="Georgia"/>
              </a:rPr>
              <a:t>project”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phase</a:t>
            </a:r>
            <a:endParaRPr sz="26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Collecting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project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ideas</a:t>
            </a:r>
            <a:endParaRPr sz="28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Then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“funneling”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process</a:t>
            </a:r>
            <a:endParaRPr sz="26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80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Project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Justification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Initially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rough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Estimations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791" y="570941"/>
            <a:ext cx="5326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3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824" y="1552193"/>
            <a:ext cx="7549515" cy="454098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7335" indent="-254635" algn="just">
              <a:lnSpc>
                <a:spcPts val="2695"/>
              </a:lnSpc>
              <a:spcBef>
                <a:spcPts val="110"/>
              </a:spcBef>
              <a:buClr>
                <a:srgbClr val="9F4DA2"/>
              </a:buClr>
              <a:buChar char="•"/>
              <a:tabLst>
                <a:tab pos="26733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“What”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phase</a:t>
            </a:r>
            <a:endParaRPr sz="2400" dirty="0">
              <a:latin typeface="Georgia"/>
              <a:cs typeface="Georgia"/>
            </a:endParaRPr>
          </a:p>
          <a:p>
            <a:pPr marL="267335" marR="525780" indent="-255270" algn="just">
              <a:lnSpc>
                <a:spcPts val="2590"/>
              </a:lnSpc>
              <a:spcBef>
                <a:spcPts val="44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700" dirty="0">
                <a:latin typeface="Georgia"/>
                <a:cs typeface="Georgia"/>
              </a:rPr>
              <a:t>The</a:t>
            </a:r>
            <a:r>
              <a:rPr sz="2700" spc="-90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process</a:t>
            </a:r>
            <a:r>
              <a:rPr sz="2700" spc="-35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of</a:t>
            </a:r>
            <a:r>
              <a:rPr sz="2700" spc="-60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establishing</a:t>
            </a:r>
            <a:r>
              <a:rPr sz="2700" spc="5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what</a:t>
            </a:r>
            <a:r>
              <a:rPr sz="2700" spc="-50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services</a:t>
            </a:r>
            <a:r>
              <a:rPr sz="2700" spc="-65" dirty="0">
                <a:latin typeface="Georgia"/>
                <a:cs typeface="Georgia"/>
              </a:rPr>
              <a:t> </a:t>
            </a:r>
            <a:r>
              <a:rPr sz="2700" spc="-25" dirty="0">
                <a:latin typeface="Georgia"/>
                <a:cs typeface="Georgia"/>
              </a:rPr>
              <a:t>are 	</a:t>
            </a:r>
            <a:r>
              <a:rPr sz="2700" dirty="0">
                <a:latin typeface="Georgia"/>
                <a:cs typeface="Georgia"/>
              </a:rPr>
              <a:t>required</a:t>
            </a:r>
            <a:r>
              <a:rPr sz="2700" spc="-114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and</a:t>
            </a:r>
            <a:r>
              <a:rPr sz="2700" spc="-5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the</a:t>
            </a:r>
            <a:r>
              <a:rPr sz="2700" spc="-40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constraints</a:t>
            </a:r>
            <a:r>
              <a:rPr sz="2700" spc="-10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on</a:t>
            </a:r>
            <a:r>
              <a:rPr sz="2700" spc="-15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the</a:t>
            </a:r>
            <a:r>
              <a:rPr sz="2700" spc="-40" dirty="0">
                <a:latin typeface="Georgia"/>
                <a:cs typeface="Georgia"/>
              </a:rPr>
              <a:t> </a:t>
            </a:r>
            <a:r>
              <a:rPr sz="2700" spc="-290" dirty="0">
                <a:latin typeface="Georgia"/>
                <a:cs typeface="Georgia"/>
              </a:rPr>
              <a:t>system‟s 	</a:t>
            </a:r>
            <a:r>
              <a:rPr sz="2700" dirty="0">
                <a:latin typeface="Georgia"/>
                <a:cs typeface="Georgia"/>
              </a:rPr>
              <a:t>operation</a:t>
            </a:r>
            <a:r>
              <a:rPr sz="2700" spc="-100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and</a:t>
            </a:r>
            <a:r>
              <a:rPr sz="2700" spc="-25" dirty="0">
                <a:latin typeface="Georgia"/>
                <a:cs typeface="Georgia"/>
              </a:rPr>
              <a:t> </a:t>
            </a:r>
            <a:r>
              <a:rPr sz="2700" spc="-10" dirty="0">
                <a:latin typeface="Georgia"/>
                <a:cs typeface="Georgia"/>
              </a:rPr>
              <a:t>development.</a:t>
            </a:r>
            <a:endParaRPr sz="2700" dirty="0">
              <a:latin typeface="Georgia"/>
              <a:cs typeface="Georgia"/>
            </a:endParaRPr>
          </a:p>
          <a:p>
            <a:pPr marL="267970" indent="-255270" algn="just">
              <a:lnSpc>
                <a:spcPts val="2790"/>
              </a:lnSpc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700" dirty="0">
                <a:latin typeface="Georgia"/>
                <a:cs typeface="Georgia"/>
              </a:rPr>
              <a:t>Requirements</a:t>
            </a:r>
            <a:r>
              <a:rPr sz="2700" spc="-145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engineering</a:t>
            </a:r>
            <a:r>
              <a:rPr sz="2700" spc="-65" dirty="0">
                <a:latin typeface="Georgia"/>
                <a:cs typeface="Georgia"/>
              </a:rPr>
              <a:t> </a:t>
            </a:r>
            <a:r>
              <a:rPr sz="2700" spc="-10" dirty="0">
                <a:latin typeface="Georgia"/>
                <a:cs typeface="Georgia"/>
              </a:rPr>
              <a:t>process</a:t>
            </a:r>
            <a:endParaRPr sz="2700" dirty="0">
              <a:latin typeface="Georgia"/>
              <a:cs typeface="Georgia"/>
            </a:endParaRPr>
          </a:p>
          <a:p>
            <a:pPr marL="314325" algn="just">
              <a:lnSpc>
                <a:spcPts val="2675"/>
              </a:lnSpc>
            </a:pP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spc="52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Feasibility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study</a:t>
            </a:r>
            <a:endParaRPr sz="2400" dirty="0">
              <a:latin typeface="Georgia"/>
              <a:cs typeface="Georgia"/>
            </a:endParaRPr>
          </a:p>
          <a:p>
            <a:pPr marL="607060" algn="just">
              <a:lnSpc>
                <a:spcPts val="2175"/>
              </a:lnSpc>
            </a:pPr>
            <a:r>
              <a:rPr lang="en-US" sz="2000" dirty="0">
                <a:latin typeface="Georgia"/>
                <a:cs typeface="Georgia"/>
              </a:rPr>
              <a:t>I</a:t>
            </a:r>
            <a:r>
              <a:rPr sz="2000" dirty="0">
                <a:latin typeface="Georgia"/>
                <a:cs typeface="Georgia"/>
              </a:rPr>
              <a:t>s</a:t>
            </a:r>
            <a:r>
              <a:rPr sz="2000" spc="-1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it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technically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financially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feasible to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build</a:t>
            </a:r>
            <a:r>
              <a:rPr sz="2000" spc="-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system?</a:t>
            </a:r>
            <a:endParaRPr sz="2000" dirty="0">
              <a:latin typeface="Georgia"/>
              <a:cs typeface="Georgia"/>
            </a:endParaRPr>
          </a:p>
          <a:p>
            <a:pPr marL="314325" algn="just">
              <a:lnSpc>
                <a:spcPts val="2655"/>
              </a:lnSpc>
            </a:pP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spc="50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Requirements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elicitation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analysis</a:t>
            </a:r>
            <a:endParaRPr sz="2400" dirty="0">
              <a:latin typeface="Georgia"/>
              <a:cs typeface="Georgia"/>
            </a:endParaRPr>
          </a:p>
          <a:p>
            <a:pPr marL="607060" algn="just">
              <a:lnSpc>
                <a:spcPts val="2070"/>
              </a:lnSpc>
            </a:pPr>
            <a:r>
              <a:rPr sz="2000" dirty="0">
                <a:latin typeface="Georgia"/>
                <a:cs typeface="Georgia"/>
              </a:rPr>
              <a:t>What</a:t>
            </a:r>
            <a:r>
              <a:rPr sz="2000" spc="-1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do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system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stakeholders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require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expect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from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the</a:t>
            </a:r>
            <a:endParaRPr sz="2000" dirty="0">
              <a:latin typeface="Georgia"/>
              <a:cs typeface="Georgia"/>
            </a:endParaRPr>
          </a:p>
          <a:p>
            <a:pPr marL="826769">
              <a:lnSpc>
                <a:spcPts val="2014"/>
              </a:lnSpc>
            </a:pPr>
            <a:r>
              <a:rPr sz="2000" spc="-10" dirty="0">
                <a:latin typeface="Georgia"/>
                <a:cs typeface="Georgia"/>
              </a:rPr>
              <a:t>system?</a:t>
            </a:r>
            <a:endParaRPr sz="2000" dirty="0">
              <a:latin typeface="Georgia"/>
              <a:cs typeface="Georgia"/>
            </a:endParaRPr>
          </a:p>
          <a:p>
            <a:pPr marL="314325">
              <a:lnSpc>
                <a:spcPts val="2655"/>
              </a:lnSpc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Requirements</a:t>
            </a:r>
            <a:r>
              <a:rPr sz="2400" spc="-1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specification</a:t>
            </a:r>
            <a:endParaRPr sz="2400" dirty="0">
              <a:latin typeface="Georgia"/>
              <a:cs typeface="Georgia"/>
            </a:endParaRPr>
          </a:p>
          <a:p>
            <a:pPr marL="607060">
              <a:lnSpc>
                <a:spcPts val="2175"/>
              </a:lnSpc>
            </a:pPr>
            <a:r>
              <a:rPr sz="2000" dirty="0">
                <a:latin typeface="Georgia"/>
                <a:cs typeface="Georgia"/>
              </a:rPr>
              <a:t>Defining</a:t>
            </a:r>
            <a:r>
              <a:rPr sz="2000" spc="-9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requirements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detail</a:t>
            </a:r>
            <a:endParaRPr sz="2000" dirty="0">
              <a:latin typeface="Georgia"/>
              <a:cs typeface="Georgia"/>
            </a:endParaRPr>
          </a:p>
          <a:p>
            <a:pPr marL="314325">
              <a:lnSpc>
                <a:spcPts val="2655"/>
              </a:lnSpc>
              <a:tabLst>
                <a:tab pos="561340" algn="l"/>
              </a:tabLst>
            </a:pPr>
            <a:r>
              <a:rPr sz="24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Requirements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validation</a:t>
            </a:r>
            <a:endParaRPr sz="2400" dirty="0">
              <a:latin typeface="Georgia"/>
              <a:cs typeface="Georgia"/>
            </a:endParaRPr>
          </a:p>
          <a:p>
            <a:pPr marL="607060">
              <a:lnSpc>
                <a:spcPts val="2310"/>
              </a:lnSpc>
            </a:pPr>
            <a:r>
              <a:rPr sz="2000" dirty="0">
                <a:latin typeface="Georgia"/>
                <a:cs typeface="Georgia"/>
              </a:rPr>
              <a:t>Checking</a:t>
            </a:r>
            <a:r>
              <a:rPr sz="2000" spc="-8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validity of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requirements</a:t>
            </a:r>
            <a:endParaRPr sz="20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23AEE-371F-F9D7-76E2-183439DD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66" y="567639"/>
            <a:ext cx="8092973" cy="615553"/>
          </a:xfrm>
        </p:spPr>
        <p:txBody>
          <a:bodyPr/>
          <a:lstStyle/>
          <a:p>
            <a:r>
              <a:rPr lang="en-US" dirty="0"/>
              <a:t>Feasibility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BCB9A-D895-6E3A-8811-9EB3F5302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5972" y="2201621"/>
            <a:ext cx="7591425" cy="5601533"/>
          </a:xfrm>
        </p:spPr>
        <p:txBody>
          <a:bodyPr/>
          <a:lstStyle/>
          <a:p>
            <a:r>
              <a:rPr lang="en-US" dirty="0"/>
              <a:t>Project tile:</a:t>
            </a:r>
          </a:p>
          <a:p>
            <a:endParaRPr lang="en-US" dirty="0"/>
          </a:p>
          <a:p>
            <a:r>
              <a:rPr lang="en-US" dirty="0"/>
              <a:t>Introduction :</a:t>
            </a:r>
          </a:p>
          <a:p>
            <a:endParaRPr lang="en-US" dirty="0"/>
          </a:p>
          <a:p>
            <a:r>
              <a:rPr lang="en-US" dirty="0"/>
              <a:t>Technical feasibility</a:t>
            </a:r>
          </a:p>
          <a:p>
            <a:r>
              <a:rPr lang="en-US" dirty="0"/>
              <a:t>Economic feasibility</a:t>
            </a:r>
          </a:p>
          <a:p>
            <a:r>
              <a:rPr lang="en-US" dirty="0"/>
              <a:t>Operational feasibility</a:t>
            </a:r>
          </a:p>
          <a:p>
            <a:r>
              <a:rPr lang="en-US" dirty="0"/>
              <a:t>Schedule feasibility</a:t>
            </a:r>
          </a:p>
          <a:p>
            <a:endParaRPr lang="en-US" dirty="0"/>
          </a:p>
          <a:p>
            <a:r>
              <a:rPr lang="en-US" dirty="0"/>
              <a:t>Final recommendation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909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Why</a:t>
            </a:r>
            <a:r>
              <a:rPr sz="3600" spc="-75" dirty="0"/>
              <a:t> </a:t>
            </a:r>
            <a:r>
              <a:rPr sz="3600" dirty="0"/>
              <a:t>are</a:t>
            </a:r>
            <a:r>
              <a:rPr sz="3600" spc="-50" dirty="0"/>
              <a:t> </a:t>
            </a:r>
            <a:r>
              <a:rPr sz="3600" spc="-10" dirty="0"/>
              <a:t>Requirements</a:t>
            </a:r>
            <a:r>
              <a:rPr sz="3600" spc="-150" dirty="0"/>
              <a:t> </a:t>
            </a:r>
            <a:r>
              <a:rPr sz="3600" dirty="0"/>
              <a:t>so</a:t>
            </a:r>
            <a:r>
              <a:rPr sz="3600" spc="15" dirty="0"/>
              <a:t> </a:t>
            </a:r>
            <a:r>
              <a:rPr sz="3600" spc="-10" dirty="0"/>
              <a:t>Important?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6419" y="1752536"/>
            <a:ext cx="6213931" cy="4707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794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50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70200"/>
            <a:ext cx="7729220" cy="30708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7335" marR="1673225" indent="-255270">
              <a:lnSpc>
                <a:spcPct val="100800"/>
              </a:lnSpc>
              <a:spcBef>
                <a:spcPts val="80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The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converting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system 	</a:t>
            </a:r>
            <a:r>
              <a:rPr sz="2800" dirty="0">
                <a:latin typeface="Georgia"/>
                <a:cs typeface="Georgia"/>
              </a:rPr>
              <a:t>specification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into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design.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80"/>
              </a:spcBef>
              <a:buClr>
                <a:srgbClr val="9F4DA2"/>
              </a:buClr>
              <a:buFont typeface="Arial MT"/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design</a:t>
            </a:r>
            <a:endParaRPr sz="2800" dirty="0">
              <a:latin typeface="Georgia"/>
              <a:cs typeface="Georgia"/>
            </a:endParaRPr>
          </a:p>
          <a:p>
            <a:pPr marL="561340" marR="781685" indent="-247015">
              <a:lnSpc>
                <a:spcPts val="3100"/>
              </a:lnSpc>
              <a:spcBef>
                <a:spcPts val="455"/>
              </a:spcBef>
            </a:pPr>
            <a:r>
              <a:rPr sz="2600" spc="-20" dirty="0">
                <a:solidFill>
                  <a:srgbClr val="438085"/>
                </a:solidFill>
                <a:latin typeface="Arial MT"/>
                <a:cs typeface="Arial MT"/>
              </a:rPr>
              <a:t>–</a:t>
            </a:r>
            <a:r>
              <a:rPr sz="2600" spc="-225" dirty="0">
                <a:solidFill>
                  <a:srgbClr val="438085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Georgia"/>
                <a:cs typeface="Georgia"/>
              </a:rPr>
              <a:t>Design</a:t>
            </a:r>
            <a:r>
              <a:rPr sz="2600" spc="-1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 structure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realises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the </a:t>
            </a:r>
            <a:r>
              <a:rPr sz="2600" spc="-10" dirty="0">
                <a:latin typeface="Georgia"/>
                <a:cs typeface="Georgia"/>
              </a:rPr>
              <a:t>specification;</a:t>
            </a:r>
            <a:endParaRPr sz="2600" dirty="0">
              <a:latin typeface="Georgia"/>
              <a:cs typeface="Georgia"/>
            </a:endParaRPr>
          </a:p>
          <a:p>
            <a:pPr marL="267335" marR="5080" indent="-255270">
              <a:lnSpc>
                <a:spcPct val="100000"/>
              </a:lnSpc>
              <a:spcBef>
                <a:spcPts val="21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activities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design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implementation</a:t>
            </a:r>
            <a:r>
              <a:rPr sz="2800" spc="-14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are 	</a:t>
            </a:r>
            <a:r>
              <a:rPr sz="2800" dirty="0">
                <a:latin typeface="Georgia"/>
                <a:cs typeface="Georgia"/>
              </a:rPr>
              <a:t>closely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related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may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inter-</a:t>
            </a:r>
            <a:r>
              <a:rPr sz="2800" spc="-10" dirty="0">
                <a:latin typeface="Georgia"/>
                <a:cs typeface="Georgia"/>
              </a:rPr>
              <a:t>leaved.</a:t>
            </a:r>
            <a:endParaRPr sz="2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</a:t>
            </a:r>
            <a:r>
              <a:rPr sz="3600" spc="-240" dirty="0"/>
              <a:t> </a:t>
            </a:r>
            <a:r>
              <a:rPr sz="3600" dirty="0"/>
              <a:t>general</a:t>
            </a:r>
            <a:r>
              <a:rPr sz="3600" spc="-80" dirty="0"/>
              <a:t> </a:t>
            </a:r>
            <a:r>
              <a:rPr sz="3600" dirty="0"/>
              <a:t>model</a:t>
            </a:r>
            <a:r>
              <a:rPr sz="3600" spc="-80" dirty="0"/>
              <a:t> </a:t>
            </a:r>
            <a:r>
              <a:rPr sz="3600" dirty="0"/>
              <a:t>of the</a:t>
            </a:r>
            <a:r>
              <a:rPr sz="3600" spc="-35" dirty="0"/>
              <a:t> </a:t>
            </a:r>
            <a:r>
              <a:rPr sz="3600" dirty="0"/>
              <a:t>design</a:t>
            </a:r>
            <a:r>
              <a:rPr sz="3600" spc="-45" dirty="0"/>
              <a:t> </a:t>
            </a:r>
            <a:r>
              <a:rPr sz="3600" spc="-10" dirty="0"/>
              <a:t>process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1333907" y="3202432"/>
            <a:ext cx="6191885" cy="3053715"/>
            <a:chOff x="1333907" y="3202432"/>
            <a:chExt cx="6191885" cy="3053715"/>
          </a:xfrm>
        </p:grpSpPr>
        <p:sp>
          <p:nvSpPr>
            <p:cNvPr id="5" name="object 5"/>
            <p:cNvSpPr/>
            <p:nvPr/>
          </p:nvSpPr>
          <p:spPr>
            <a:xfrm>
              <a:off x="4237743" y="4878307"/>
              <a:ext cx="0" cy="311150"/>
            </a:xfrm>
            <a:custGeom>
              <a:avLst/>
              <a:gdLst/>
              <a:ahLst/>
              <a:cxnLst/>
              <a:rect l="l" t="t" r="r" b="b"/>
              <a:pathLst>
                <a:path h="311150">
                  <a:moveTo>
                    <a:pt x="0" y="0"/>
                  </a:moveTo>
                  <a:lnTo>
                    <a:pt x="0" y="310794"/>
                  </a:lnTo>
                </a:path>
              </a:pathLst>
            </a:custGeom>
            <a:ln w="93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5745" y="5116074"/>
              <a:ext cx="83995" cy="1383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44008" y="3212533"/>
              <a:ext cx="6171565" cy="3033395"/>
            </a:xfrm>
            <a:custGeom>
              <a:avLst/>
              <a:gdLst/>
              <a:ahLst/>
              <a:cxnLst/>
              <a:rect l="l" t="t" r="r" b="b"/>
              <a:pathLst>
                <a:path w="6171565" h="3033395">
                  <a:moveTo>
                    <a:pt x="581833" y="1665773"/>
                  </a:moveTo>
                  <a:lnTo>
                    <a:pt x="5186741" y="1665773"/>
                  </a:lnTo>
                  <a:lnTo>
                    <a:pt x="5186741" y="0"/>
                  </a:lnTo>
                  <a:lnTo>
                    <a:pt x="581833" y="0"/>
                  </a:lnTo>
                  <a:lnTo>
                    <a:pt x="581833" y="1665773"/>
                  </a:lnTo>
                  <a:close/>
                </a:path>
                <a:path w="6171565" h="3033395">
                  <a:moveTo>
                    <a:pt x="0" y="3033278"/>
                  </a:moveTo>
                  <a:lnTo>
                    <a:pt x="6171473" y="3033278"/>
                  </a:lnTo>
                  <a:lnTo>
                    <a:pt x="6171473" y="2069807"/>
                  </a:lnTo>
                  <a:lnTo>
                    <a:pt x="0" y="2069807"/>
                  </a:lnTo>
                  <a:lnTo>
                    <a:pt x="0" y="3033278"/>
                  </a:lnTo>
                  <a:close/>
                </a:path>
              </a:pathLst>
            </a:custGeom>
            <a:ln w="20212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490" y="5419102"/>
              <a:ext cx="1233657" cy="59826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8861" y="5419102"/>
              <a:ext cx="1235213" cy="5982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4746" y="5419102"/>
              <a:ext cx="1235254" cy="5982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4976" y="3402077"/>
              <a:ext cx="4245552" cy="13814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10774" y="5425316"/>
              <a:ext cx="1233595" cy="5982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6316" y="5038375"/>
              <a:ext cx="480751" cy="1678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14020" y="5053914"/>
              <a:ext cx="552450" cy="152400"/>
            </a:xfrm>
            <a:custGeom>
              <a:avLst/>
              <a:gdLst/>
              <a:ahLst/>
              <a:cxnLst/>
              <a:rect l="l" t="t" r="r" b="b"/>
              <a:pathLst>
                <a:path w="552450" h="152400">
                  <a:moveTo>
                    <a:pt x="82372" y="66827"/>
                  </a:moveTo>
                  <a:lnTo>
                    <a:pt x="65176" y="30518"/>
                  </a:lnTo>
                  <a:lnTo>
                    <a:pt x="63703" y="29730"/>
                  </a:lnTo>
                  <a:lnTo>
                    <a:pt x="63703" y="52844"/>
                  </a:lnTo>
                  <a:lnTo>
                    <a:pt x="63703" y="82372"/>
                  </a:lnTo>
                  <a:lnTo>
                    <a:pt x="60591" y="90131"/>
                  </a:lnTo>
                  <a:lnTo>
                    <a:pt x="56032" y="99453"/>
                  </a:lnTo>
                  <a:lnTo>
                    <a:pt x="46697" y="101015"/>
                  </a:lnTo>
                  <a:lnTo>
                    <a:pt x="34251" y="101015"/>
                  </a:lnTo>
                  <a:lnTo>
                    <a:pt x="18491" y="68389"/>
                  </a:lnTo>
                  <a:lnTo>
                    <a:pt x="18491" y="52844"/>
                  </a:lnTo>
                  <a:lnTo>
                    <a:pt x="23266" y="46634"/>
                  </a:lnTo>
                  <a:lnTo>
                    <a:pt x="29476" y="37287"/>
                  </a:lnTo>
                  <a:lnTo>
                    <a:pt x="38811" y="35737"/>
                  </a:lnTo>
                  <a:lnTo>
                    <a:pt x="51257" y="35737"/>
                  </a:lnTo>
                  <a:lnTo>
                    <a:pt x="56032" y="40398"/>
                  </a:lnTo>
                  <a:lnTo>
                    <a:pt x="59143" y="45085"/>
                  </a:lnTo>
                  <a:lnTo>
                    <a:pt x="63703" y="52844"/>
                  </a:lnTo>
                  <a:lnTo>
                    <a:pt x="63703" y="29730"/>
                  </a:lnTo>
                  <a:lnTo>
                    <a:pt x="57924" y="26606"/>
                  </a:lnTo>
                  <a:lnTo>
                    <a:pt x="50088" y="24155"/>
                  </a:lnTo>
                  <a:lnTo>
                    <a:pt x="41922" y="23304"/>
                  </a:lnTo>
                  <a:lnTo>
                    <a:pt x="31140" y="24599"/>
                  </a:lnTo>
                  <a:lnTo>
                    <a:pt x="1193" y="53822"/>
                  </a:lnTo>
                  <a:lnTo>
                    <a:pt x="0" y="62191"/>
                  </a:lnTo>
                  <a:lnTo>
                    <a:pt x="76" y="75425"/>
                  </a:lnTo>
                  <a:lnTo>
                    <a:pt x="22694" y="109753"/>
                  </a:lnTo>
                  <a:lnTo>
                    <a:pt x="40474" y="113436"/>
                  </a:lnTo>
                  <a:lnTo>
                    <a:pt x="49250" y="112864"/>
                  </a:lnTo>
                  <a:lnTo>
                    <a:pt x="80911" y="83921"/>
                  </a:lnTo>
                  <a:lnTo>
                    <a:pt x="80911" y="79260"/>
                  </a:lnTo>
                  <a:lnTo>
                    <a:pt x="82372" y="73050"/>
                  </a:lnTo>
                  <a:lnTo>
                    <a:pt x="82372" y="66827"/>
                  </a:lnTo>
                  <a:close/>
                </a:path>
                <a:path w="552450" h="152400">
                  <a:moveTo>
                    <a:pt x="174244" y="26416"/>
                  </a:moveTo>
                  <a:lnTo>
                    <a:pt x="172593" y="24866"/>
                  </a:lnTo>
                  <a:lnTo>
                    <a:pt x="164909" y="26416"/>
                  </a:lnTo>
                  <a:lnTo>
                    <a:pt x="155575" y="26416"/>
                  </a:lnTo>
                  <a:lnTo>
                    <a:pt x="155790" y="33312"/>
                  </a:lnTo>
                  <a:lnTo>
                    <a:pt x="155803" y="33794"/>
                  </a:lnTo>
                  <a:lnTo>
                    <a:pt x="156311" y="41173"/>
                  </a:lnTo>
                  <a:lnTo>
                    <a:pt x="156806" y="50901"/>
                  </a:lnTo>
                  <a:lnTo>
                    <a:pt x="156845" y="78486"/>
                  </a:lnTo>
                  <a:lnTo>
                    <a:pt x="156578" y="82537"/>
                  </a:lnTo>
                  <a:lnTo>
                    <a:pt x="156451" y="84378"/>
                  </a:lnTo>
                  <a:lnTo>
                    <a:pt x="156425" y="84937"/>
                  </a:lnTo>
                  <a:lnTo>
                    <a:pt x="155600" y="91490"/>
                  </a:lnTo>
                  <a:lnTo>
                    <a:pt x="155575" y="91694"/>
                  </a:lnTo>
                  <a:lnTo>
                    <a:pt x="152476" y="94792"/>
                  </a:lnTo>
                  <a:lnTo>
                    <a:pt x="144589" y="99453"/>
                  </a:lnTo>
                  <a:lnTo>
                    <a:pt x="135255" y="99453"/>
                  </a:lnTo>
                  <a:lnTo>
                    <a:pt x="118249" y="62166"/>
                  </a:lnTo>
                  <a:lnTo>
                    <a:pt x="119634" y="27965"/>
                  </a:lnTo>
                  <a:lnTo>
                    <a:pt x="119697" y="26416"/>
                  </a:lnTo>
                  <a:lnTo>
                    <a:pt x="118249" y="24866"/>
                  </a:lnTo>
                  <a:lnTo>
                    <a:pt x="110363" y="26416"/>
                  </a:lnTo>
                  <a:lnTo>
                    <a:pt x="101028" y="26416"/>
                  </a:lnTo>
                  <a:lnTo>
                    <a:pt x="99580" y="27965"/>
                  </a:lnTo>
                  <a:lnTo>
                    <a:pt x="101117" y="77711"/>
                  </a:lnTo>
                  <a:lnTo>
                    <a:pt x="101206" y="82537"/>
                  </a:lnTo>
                  <a:lnTo>
                    <a:pt x="102362" y="91490"/>
                  </a:lnTo>
                  <a:lnTo>
                    <a:pt x="102412" y="91884"/>
                  </a:lnTo>
                  <a:lnTo>
                    <a:pt x="105676" y="100355"/>
                  </a:lnTo>
                  <a:lnTo>
                    <a:pt x="112026" y="107226"/>
                  </a:lnTo>
                  <a:lnTo>
                    <a:pt x="116586" y="111887"/>
                  </a:lnTo>
                  <a:lnTo>
                    <a:pt x="124472" y="113436"/>
                  </a:lnTo>
                  <a:lnTo>
                    <a:pt x="130695" y="113436"/>
                  </a:lnTo>
                  <a:lnTo>
                    <a:pt x="140030" y="112420"/>
                  </a:lnTo>
                  <a:lnTo>
                    <a:pt x="147358" y="109943"/>
                  </a:lnTo>
                  <a:lnTo>
                    <a:pt x="152946" y="106883"/>
                  </a:lnTo>
                  <a:lnTo>
                    <a:pt x="157035" y="104114"/>
                  </a:lnTo>
                  <a:lnTo>
                    <a:pt x="157035" y="111887"/>
                  </a:lnTo>
                  <a:lnTo>
                    <a:pt x="174244" y="111887"/>
                  </a:lnTo>
                  <a:lnTo>
                    <a:pt x="174244" y="104114"/>
                  </a:lnTo>
                  <a:lnTo>
                    <a:pt x="174244" y="99453"/>
                  </a:lnTo>
                  <a:lnTo>
                    <a:pt x="174244" y="26416"/>
                  </a:lnTo>
                  <a:close/>
                </a:path>
                <a:path w="552450" h="152400">
                  <a:moveTo>
                    <a:pt x="236461" y="26416"/>
                  </a:moveTo>
                  <a:lnTo>
                    <a:pt x="234810" y="24866"/>
                  </a:lnTo>
                  <a:lnTo>
                    <a:pt x="225475" y="26416"/>
                  </a:lnTo>
                  <a:lnTo>
                    <a:pt x="217805" y="26416"/>
                  </a:lnTo>
                  <a:lnTo>
                    <a:pt x="217805" y="1562"/>
                  </a:lnTo>
                  <a:lnTo>
                    <a:pt x="216141" y="0"/>
                  </a:lnTo>
                  <a:lnTo>
                    <a:pt x="208470" y="3111"/>
                  </a:lnTo>
                  <a:lnTo>
                    <a:pt x="206806" y="3111"/>
                  </a:lnTo>
                  <a:lnTo>
                    <a:pt x="200583" y="4660"/>
                  </a:lnTo>
                  <a:lnTo>
                    <a:pt x="199136" y="6223"/>
                  </a:lnTo>
                  <a:lnTo>
                    <a:pt x="199136" y="26416"/>
                  </a:lnTo>
                  <a:lnTo>
                    <a:pt x="188137" y="26416"/>
                  </a:lnTo>
                  <a:lnTo>
                    <a:pt x="188137" y="34188"/>
                  </a:lnTo>
                  <a:lnTo>
                    <a:pt x="186690" y="38849"/>
                  </a:lnTo>
                  <a:lnTo>
                    <a:pt x="188137" y="40398"/>
                  </a:lnTo>
                  <a:lnTo>
                    <a:pt x="194360" y="38849"/>
                  </a:lnTo>
                  <a:lnTo>
                    <a:pt x="199136" y="38849"/>
                  </a:lnTo>
                  <a:lnTo>
                    <a:pt x="199186" y="87731"/>
                  </a:lnTo>
                  <a:lnTo>
                    <a:pt x="199491" y="94792"/>
                  </a:lnTo>
                  <a:lnTo>
                    <a:pt x="199529" y="95377"/>
                  </a:lnTo>
                  <a:lnTo>
                    <a:pt x="200444" y="100406"/>
                  </a:lnTo>
                  <a:lnTo>
                    <a:pt x="202247" y="104114"/>
                  </a:lnTo>
                  <a:lnTo>
                    <a:pt x="206806" y="111887"/>
                  </a:lnTo>
                  <a:lnTo>
                    <a:pt x="230238" y="111887"/>
                  </a:lnTo>
                  <a:lnTo>
                    <a:pt x="234810" y="110337"/>
                  </a:lnTo>
                  <a:lnTo>
                    <a:pt x="234810" y="104114"/>
                  </a:lnTo>
                  <a:lnTo>
                    <a:pt x="236054" y="99453"/>
                  </a:lnTo>
                  <a:lnTo>
                    <a:pt x="236461" y="97904"/>
                  </a:lnTo>
                  <a:lnTo>
                    <a:pt x="233349" y="97904"/>
                  </a:lnTo>
                  <a:lnTo>
                    <a:pt x="230238" y="99453"/>
                  </a:lnTo>
                  <a:lnTo>
                    <a:pt x="217805" y="99453"/>
                  </a:lnTo>
                  <a:lnTo>
                    <a:pt x="216141" y="94792"/>
                  </a:lnTo>
                  <a:lnTo>
                    <a:pt x="216141" y="69938"/>
                  </a:lnTo>
                  <a:lnTo>
                    <a:pt x="217716" y="40398"/>
                  </a:lnTo>
                  <a:lnTo>
                    <a:pt x="217805" y="38849"/>
                  </a:lnTo>
                  <a:lnTo>
                    <a:pt x="236461" y="38849"/>
                  </a:lnTo>
                  <a:lnTo>
                    <a:pt x="236461" y="26416"/>
                  </a:lnTo>
                  <a:close/>
                </a:path>
                <a:path w="552450" h="152400">
                  <a:moveTo>
                    <a:pt x="326682" y="63728"/>
                  </a:moveTo>
                  <a:lnTo>
                    <a:pt x="309473" y="29235"/>
                  </a:lnTo>
                  <a:lnTo>
                    <a:pt x="309473" y="65278"/>
                  </a:lnTo>
                  <a:lnTo>
                    <a:pt x="307187" y="79146"/>
                  </a:lnTo>
                  <a:lnTo>
                    <a:pt x="300532" y="89941"/>
                  </a:lnTo>
                  <a:lnTo>
                    <a:pt x="289788" y="96964"/>
                  </a:lnTo>
                  <a:lnTo>
                    <a:pt x="275247" y="99453"/>
                  </a:lnTo>
                  <a:lnTo>
                    <a:pt x="267576" y="99453"/>
                  </a:lnTo>
                  <a:lnTo>
                    <a:pt x="267576" y="45085"/>
                  </a:lnTo>
                  <a:lnTo>
                    <a:pt x="272135" y="41948"/>
                  </a:lnTo>
                  <a:lnTo>
                    <a:pt x="278358" y="37287"/>
                  </a:lnTo>
                  <a:lnTo>
                    <a:pt x="286245" y="37287"/>
                  </a:lnTo>
                  <a:lnTo>
                    <a:pt x="295732" y="39255"/>
                  </a:lnTo>
                  <a:lnTo>
                    <a:pt x="303072" y="44881"/>
                  </a:lnTo>
                  <a:lnTo>
                    <a:pt x="307797" y="53695"/>
                  </a:lnTo>
                  <a:lnTo>
                    <a:pt x="309473" y="65278"/>
                  </a:lnTo>
                  <a:lnTo>
                    <a:pt x="309473" y="29235"/>
                  </a:lnTo>
                  <a:lnTo>
                    <a:pt x="305701" y="26416"/>
                  </a:lnTo>
                  <a:lnTo>
                    <a:pt x="305955" y="26416"/>
                  </a:lnTo>
                  <a:lnTo>
                    <a:pt x="290804" y="23304"/>
                  </a:lnTo>
                  <a:lnTo>
                    <a:pt x="278358" y="23304"/>
                  </a:lnTo>
                  <a:lnTo>
                    <a:pt x="270687" y="29527"/>
                  </a:lnTo>
                  <a:lnTo>
                    <a:pt x="267576" y="32626"/>
                  </a:lnTo>
                  <a:lnTo>
                    <a:pt x="267576" y="26416"/>
                  </a:lnTo>
                  <a:lnTo>
                    <a:pt x="265912" y="24866"/>
                  </a:lnTo>
                  <a:lnTo>
                    <a:pt x="259689" y="26416"/>
                  </a:lnTo>
                  <a:lnTo>
                    <a:pt x="258241" y="26416"/>
                  </a:lnTo>
                  <a:lnTo>
                    <a:pt x="248907" y="27965"/>
                  </a:lnTo>
                  <a:lnTo>
                    <a:pt x="248907" y="29527"/>
                  </a:lnTo>
                  <a:lnTo>
                    <a:pt x="249720" y="41948"/>
                  </a:lnTo>
                  <a:lnTo>
                    <a:pt x="250151" y="53695"/>
                  </a:lnTo>
                  <a:lnTo>
                    <a:pt x="250177" y="54597"/>
                  </a:lnTo>
                  <a:lnTo>
                    <a:pt x="250291" y="63728"/>
                  </a:lnTo>
                  <a:lnTo>
                    <a:pt x="250367" y="152298"/>
                  </a:lnTo>
                  <a:lnTo>
                    <a:pt x="269024" y="152298"/>
                  </a:lnTo>
                  <a:lnTo>
                    <a:pt x="269024" y="150749"/>
                  </a:lnTo>
                  <a:lnTo>
                    <a:pt x="268795" y="140741"/>
                  </a:lnTo>
                  <a:lnTo>
                    <a:pt x="268300" y="132473"/>
                  </a:lnTo>
                  <a:lnTo>
                    <a:pt x="267804" y="123634"/>
                  </a:lnTo>
                  <a:lnTo>
                    <a:pt x="267576" y="111887"/>
                  </a:lnTo>
                  <a:lnTo>
                    <a:pt x="275247" y="111887"/>
                  </a:lnTo>
                  <a:lnTo>
                    <a:pt x="297726" y="108077"/>
                  </a:lnTo>
                  <a:lnTo>
                    <a:pt x="311086" y="99453"/>
                  </a:lnTo>
                  <a:lnTo>
                    <a:pt x="313804" y="97713"/>
                  </a:lnTo>
                  <a:lnTo>
                    <a:pt x="323456" y="82397"/>
                  </a:lnTo>
                  <a:lnTo>
                    <a:pt x="326682" y="63728"/>
                  </a:lnTo>
                  <a:close/>
                </a:path>
                <a:path w="552450" h="152400">
                  <a:moveTo>
                    <a:pt x="420014" y="26416"/>
                  </a:moveTo>
                  <a:lnTo>
                    <a:pt x="418350" y="24866"/>
                  </a:lnTo>
                  <a:lnTo>
                    <a:pt x="410679" y="26416"/>
                  </a:lnTo>
                  <a:lnTo>
                    <a:pt x="401345" y="26416"/>
                  </a:lnTo>
                  <a:lnTo>
                    <a:pt x="401345" y="91694"/>
                  </a:lnTo>
                  <a:lnTo>
                    <a:pt x="398233" y="94792"/>
                  </a:lnTo>
                  <a:lnTo>
                    <a:pt x="390359" y="99453"/>
                  </a:lnTo>
                  <a:lnTo>
                    <a:pt x="381025" y="99453"/>
                  </a:lnTo>
                  <a:lnTo>
                    <a:pt x="371195" y="97155"/>
                  </a:lnTo>
                  <a:lnTo>
                    <a:pt x="366141" y="91490"/>
                  </a:lnTo>
                  <a:lnTo>
                    <a:pt x="364286" y="84378"/>
                  </a:lnTo>
                  <a:lnTo>
                    <a:pt x="364020" y="77711"/>
                  </a:lnTo>
                  <a:lnTo>
                    <a:pt x="364020" y="24866"/>
                  </a:lnTo>
                  <a:lnTo>
                    <a:pt x="356133" y="26416"/>
                  </a:lnTo>
                  <a:lnTo>
                    <a:pt x="346798" y="26416"/>
                  </a:lnTo>
                  <a:lnTo>
                    <a:pt x="345351" y="27965"/>
                  </a:lnTo>
                  <a:lnTo>
                    <a:pt x="346189" y="33312"/>
                  </a:lnTo>
                  <a:lnTo>
                    <a:pt x="346621" y="39243"/>
                  </a:lnTo>
                  <a:lnTo>
                    <a:pt x="346786" y="48082"/>
                  </a:lnTo>
                  <a:lnTo>
                    <a:pt x="346887" y="77470"/>
                  </a:lnTo>
                  <a:lnTo>
                    <a:pt x="346976" y="82537"/>
                  </a:lnTo>
                  <a:lnTo>
                    <a:pt x="348132" y="91490"/>
                  </a:lnTo>
                  <a:lnTo>
                    <a:pt x="348183" y="91884"/>
                  </a:lnTo>
                  <a:lnTo>
                    <a:pt x="351434" y="100355"/>
                  </a:lnTo>
                  <a:lnTo>
                    <a:pt x="357797" y="107226"/>
                  </a:lnTo>
                  <a:lnTo>
                    <a:pt x="362356" y="111887"/>
                  </a:lnTo>
                  <a:lnTo>
                    <a:pt x="370243" y="113436"/>
                  </a:lnTo>
                  <a:lnTo>
                    <a:pt x="376466" y="113436"/>
                  </a:lnTo>
                  <a:lnTo>
                    <a:pt x="385165" y="112420"/>
                  </a:lnTo>
                  <a:lnTo>
                    <a:pt x="392404" y="109943"/>
                  </a:lnTo>
                  <a:lnTo>
                    <a:pt x="397903" y="106883"/>
                  </a:lnTo>
                  <a:lnTo>
                    <a:pt x="401345" y="104114"/>
                  </a:lnTo>
                  <a:lnTo>
                    <a:pt x="401345" y="111887"/>
                  </a:lnTo>
                  <a:lnTo>
                    <a:pt x="420014" y="111887"/>
                  </a:lnTo>
                  <a:lnTo>
                    <a:pt x="420014" y="104114"/>
                  </a:lnTo>
                  <a:lnTo>
                    <a:pt x="419874" y="100355"/>
                  </a:lnTo>
                  <a:lnTo>
                    <a:pt x="419836" y="99453"/>
                  </a:lnTo>
                  <a:lnTo>
                    <a:pt x="419747" y="97155"/>
                  </a:lnTo>
                  <a:lnTo>
                    <a:pt x="419188" y="88582"/>
                  </a:lnTo>
                  <a:lnTo>
                    <a:pt x="418630" y="77711"/>
                  </a:lnTo>
                  <a:lnTo>
                    <a:pt x="418350" y="63728"/>
                  </a:lnTo>
                  <a:lnTo>
                    <a:pt x="418617" y="54394"/>
                  </a:lnTo>
                  <a:lnTo>
                    <a:pt x="419760" y="35737"/>
                  </a:lnTo>
                  <a:lnTo>
                    <a:pt x="419976" y="27965"/>
                  </a:lnTo>
                  <a:lnTo>
                    <a:pt x="420014" y="26416"/>
                  </a:lnTo>
                  <a:close/>
                </a:path>
                <a:path w="552450" h="152400">
                  <a:moveTo>
                    <a:pt x="482231" y="26416"/>
                  </a:moveTo>
                  <a:lnTo>
                    <a:pt x="480580" y="24866"/>
                  </a:lnTo>
                  <a:lnTo>
                    <a:pt x="471246" y="26416"/>
                  </a:lnTo>
                  <a:lnTo>
                    <a:pt x="461911" y="26416"/>
                  </a:lnTo>
                  <a:lnTo>
                    <a:pt x="461911" y="13982"/>
                  </a:lnTo>
                  <a:lnTo>
                    <a:pt x="463562" y="12433"/>
                  </a:lnTo>
                  <a:lnTo>
                    <a:pt x="463562" y="1562"/>
                  </a:lnTo>
                  <a:lnTo>
                    <a:pt x="461911" y="0"/>
                  </a:lnTo>
                  <a:lnTo>
                    <a:pt x="454240" y="3111"/>
                  </a:lnTo>
                  <a:lnTo>
                    <a:pt x="452577" y="3111"/>
                  </a:lnTo>
                  <a:lnTo>
                    <a:pt x="444906" y="4660"/>
                  </a:lnTo>
                  <a:lnTo>
                    <a:pt x="444906" y="26416"/>
                  </a:lnTo>
                  <a:lnTo>
                    <a:pt x="432460" y="26416"/>
                  </a:lnTo>
                  <a:lnTo>
                    <a:pt x="432460" y="38849"/>
                  </a:lnTo>
                  <a:lnTo>
                    <a:pt x="433908" y="40398"/>
                  </a:lnTo>
                  <a:lnTo>
                    <a:pt x="438683" y="38849"/>
                  </a:lnTo>
                  <a:lnTo>
                    <a:pt x="444906" y="38849"/>
                  </a:lnTo>
                  <a:lnTo>
                    <a:pt x="444957" y="87731"/>
                  </a:lnTo>
                  <a:lnTo>
                    <a:pt x="452577" y="111887"/>
                  </a:lnTo>
                  <a:lnTo>
                    <a:pt x="476008" y="111887"/>
                  </a:lnTo>
                  <a:lnTo>
                    <a:pt x="479120" y="110337"/>
                  </a:lnTo>
                  <a:lnTo>
                    <a:pt x="480580" y="110337"/>
                  </a:lnTo>
                  <a:lnTo>
                    <a:pt x="480580" y="99453"/>
                  </a:lnTo>
                  <a:lnTo>
                    <a:pt x="480580" y="97904"/>
                  </a:lnTo>
                  <a:lnTo>
                    <a:pt x="477469" y="97904"/>
                  </a:lnTo>
                  <a:lnTo>
                    <a:pt x="476008" y="99453"/>
                  </a:lnTo>
                  <a:lnTo>
                    <a:pt x="463562" y="99453"/>
                  </a:lnTo>
                  <a:lnTo>
                    <a:pt x="461911" y="94792"/>
                  </a:lnTo>
                  <a:lnTo>
                    <a:pt x="461911" y="38849"/>
                  </a:lnTo>
                  <a:lnTo>
                    <a:pt x="480580" y="38849"/>
                  </a:lnTo>
                  <a:lnTo>
                    <a:pt x="480580" y="32626"/>
                  </a:lnTo>
                  <a:lnTo>
                    <a:pt x="482231" y="31076"/>
                  </a:lnTo>
                  <a:lnTo>
                    <a:pt x="482231" y="26416"/>
                  </a:lnTo>
                  <a:close/>
                </a:path>
                <a:path w="552450" h="152400">
                  <a:moveTo>
                    <a:pt x="552132" y="85471"/>
                  </a:moveTo>
                  <a:lnTo>
                    <a:pt x="549605" y="74841"/>
                  </a:lnTo>
                  <a:lnTo>
                    <a:pt x="543572" y="67995"/>
                  </a:lnTo>
                  <a:lnTo>
                    <a:pt x="536384" y="64071"/>
                  </a:lnTo>
                  <a:lnTo>
                    <a:pt x="530352" y="62166"/>
                  </a:lnTo>
                  <a:lnTo>
                    <a:pt x="524129" y="59067"/>
                  </a:lnTo>
                  <a:lnTo>
                    <a:pt x="513346" y="55956"/>
                  </a:lnTo>
                  <a:lnTo>
                    <a:pt x="507123" y="54406"/>
                  </a:lnTo>
                  <a:lnTo>
                    <a:pt x="507123" y="41948"/>
                  </a:lnTo>
                  <a:lnTo>
                    <a:pt x="511683" y="38849"/>
                  </a:lnTo>
                  <a:lnTo>
                    <a:pt x="516458" y="37287"/>
                  </a:lnTo>
                  <a:lnTo>
                    <a:pt x="533463" y="37287"/>
                  </a:lnTo>
                  <a:lnTo>
                    <a:pt x="539686" y="40398"/>
                  </a:lnTo>
                  <a:lnTo>
                    <a:pt x="544449" y="43522"/>
                  </a:lnTo>
                  <a:lnTo>
                    <a:pt x="545909" y="41948"/>
                  </a:lnTo>
                  <a:lnTo>
                    <a:pt x="545909" y="37287"/>
                  </a:lnTo>
                  <a:lnTo>
                    <a:pt x="545909" y="35737"/>
                  </a:lnTo>
                  <a:lnTo>
                    <a:pt x="547560" y="29527"/>
                  </a:lnTo>
                  <a:lnTo>
                    <a:pt x="545909" y="27965"/>
                  </a:lnTo>
                  <a:lnTo>
                    <a:pt x="542798" y="27965"/>
                  </a:lnTo>
                  <a:lnTo>
                    <a:pt x="535127" y="23304"/>
                  </a:lnTo>
                  <a:lnTo>
                    <a:pt x="522681" y="23304"/>
                  </a:lnTo>
                  <a:lnTo>
                    <a:pt x="509689" y="25031"/>
                  </a:lnTo>
                  <a:lnTo>
                    <a:pt x="499287" y="30111"/>
                  </a:lnTo>
                  <a:lnTo>
                    <a:pt x="492404" y="38392"/>
                  </a:lnTo>
                  <a:lnTo>
                    <a:pt x="489902" y="49745"/>
                  </a:lnTo>
                  <a:lnTo>
                    <a:pt x="492226" y="60375"/>
                  </a:lnTo>
                  <a:lnTo>
                    <a:pt x="497916" y="67221"/>
                  </a:lnTo>
                  <a:lnTo>
                    <a:pt x="505040" y="71158"/>
                  </a:lnTo>
                  <a:lnTo>
                    <a:pt x="511683" y="73050"/>
                  </a:lnTo>
                  <a:lnTo>
                    <a:pt x="525792" y="77711"/>
                  </a:lnTo>
                  <a:lnTo>
                    <a:pt x="533463" y="80810"/>
                  </a:lnTo>
                  <a:lnTo>
                    <a:pt x="533463" y="93243"/>
                  </a:lnTo>
                  <a:lnTo>
                    <a:pt x="528904" y="101015"/>
                  </a:lnTo>
                  <a:lnTo>
                    <a:pt x="502348" y="101015"/>
                  </a:lnTo>
                  <a:lnTo>
                    <a:pt x="496125" y="94792"/>
                  </a:lnTo>
                  <a:lnTo>
                    <a:pt x="493014" y="93243"/>
                  </a:lnTo>
                  <a:lnTo>
                    <a:pt x="491566" y="93243"/>
                  </a:lnTo>
                  <a:lnTo>
                    <a:pt x="491566" y="101015"/>
                  </a:lnTo>
                  <a:lnTo>
                    <a:pt x="489902" y="107226"/>
                  </a:lnTo>
                  <a:lnTo>
                    <a:pt x="491566" y="108775"/>
                  </a:lnTo>
                  <a:lnTo>
                    <a:pt x="493014" y="108775"/>
                  </a:lnTo>
                  <a:lnTo>
                    <a:pt x="499237" y="111887"/>
                  </a:lnTo>
                  <a:lnTo>
                    <a:pt x="507123" y="113436"/>
                  </a:lnTo>
                  <a:lnTo>
                    <a:pt x="520941" y="113436"/>
                  </a:lnTo>
                  <a:lnTo>
                    <a:pt x="552132" y="93243"/>
                  </a:lnTo>
                  <a:lnTo>
                    <a:pt x="552132" y="85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956205" y="1672545"/>
            <a:ext cx="4767580" cy="1478280"/>
            <a:chOff x="1956205" y="1672545"/>
            <a:chExt cx="4767580" cy="1478280"/>
          </a:xfrm>
        </p:grpSpPr>
        <p:sp>
          <p:nvSpPr>
            <p:cNvPr id="16" name="object 16"/>
            <p:cNvSpPr/>
            <p:nvPr/>
          </p:nvSpPr>
          <p:spPr>
            <a:xfrm>
              <a:off x="1966306" y="1888400"/>
              <a:ext cx="4627245" cy="943610"/>
            </a:xfrm>
            <a:custGeom>
              <a:avLst/>
              <a:gdLst/>
              <a:ahLst/>
              <a:cxnLst/>
              <a:rect l="l" t="t" r="r" b="b"/>
              <a:pathLst>
                <a:path w="4627245" h="943610">
                  <a:moveTo>
                    <a:pt x="0" y="943383"/>
                  </a:moveTo>
                  <a:lnTo>
                    <a:pt x="4626663" y="943383"/>
                  </a:lnTo>
                  <a:lnTo>
                    <a:pt x="4626663" y="0"/>
                  </a:lnTo>
                  <a:lnTo>
                    <a:pt x="0" y="0"/>
                  </a:lnTo>
                  <a:lnTo>
                    <a:pt x="0" y="943383"/>
                  </a:lnTo>
                  <a:close/>
                </a:path>
              </a:pathLst>
            </a:custGeom>
            <a:ln w="20201">
              <a:solidFill>
                <a:srgbClr val="00AC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790" y="2068828"/>
              <a:ext cx="1235254" cy="59826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73155" y="2059506"/>
              <a:ext cx="1235254" cy="5966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48327" y="2050184"/>
              <a:ext cx="1235234" cy="5966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41428" y="1672545"/>
              <a:ext cx="482203" cy="1692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299963" y="2837997"/>
              <a:ext cx="1905" cy="245745"/>
            </a:xfrm>
            <a:custGeom>
              <a:avLst/>
              <a:gdLst/>
              <a:ahLst/>
              <a:cxnLst/>
              <a:rect l="l" t="t" r="r" b="b"/>
              <a:pathLst>
                <a:path w="1904" h="245744">
                  <a:moveTo>
                    <a:pt x="0" y="0"/>
                  </a:moveTo>
                  <a:lnTo>
                    <a:pt x="0" y="0"/>
                  </a:lnTo>
                  <a:lnTo>
                    <a:pt x="1451" y="245478"/>
                  </a:lnTo>
                </a:path>
              </a:pathLst>
            </a:custGeom>
            <a:ln w="93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57965" y="3010449"/>
              <a:ext cx="83995" cy="13983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6793732" y="1672545"/>
            <a:ext cx="440690" cy="169545"/>
            <a:chOff x="6793732" y="1672545"/>
            <a:chExt cx="440690" cy="169545"/>
          </a:xfrm>
        </p:grpSpPr>
        <p:sp>
          <p:nvSpPr>
            <p:cNvPr id="24" name="object 24"/>
            <p:cNvSpPr/>
            <p:nvPr/>
          </p:nvSpPr>
          <p:spPr>
            <a:xfrm>
              <a:off x="6793732" y="1672545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117" y="41845"/>
                  </a:moveTo>
                  <a:lnTo>
                    <a:pt x="18665" y="41845"/>
                  </a:lnTo>
                  <a:lnTo>
                    <a:pt x="9332" y="43502"/>
                  </a:lnTo>
                  <a:lnTo>
                    <a:pt x="7673" y="43502"/>
                  </a:lnTo>
                  <a:lnTo>
                    <a:pt x="0" y="44952"/>
                  </a:lnTo>
                  <a:lnTo>
                    <a:pt x="117" y="49008"/>
                  </a:lnTo>
                  <a:lnTo>
                    <a:pt x="226" y="52756"/>
                  </a:lnTo>
                  <a:lnTo>
                    <a:pt x="725" y="61550"/>
                  </a:lnTo>
                  <a:lnTo>
                    <a:pt x="1224" y="74112"/>
                  </a:lnTo>
                  <a:lnTo>
                    <a:pt x="1224" y="105114"/>
                  </a:lnTo>
                  <a:lnTo>
                    <a:pt x="850" y="111630"/>
                  </a:lnTo>
                  <a:lnTo>
                    <a:pt x="725" y="113805"/>
                  </a:lnTo>
                  <a:lnTo>
                    <a:pt x="291" y="119855"/>
                  </a:lnTo>
                  <a:lnTo>
                    <a:pt x="226" y="120748"/>
                  </a:lnTo>
                  <a:lnTo>
                    <a:pt x="0" y="127400"/>
                  </a:lnTo>
                  <a:lnTo>
                    <a:pt x="1451" y="128850"/>
                  </a:lnTo>
                  <a:lnTo>
                    <a:pt x="9332" y="127400"/>
                  </a:lnTo>
                  <a:lnTo>
                    <a:pt x="20117" y="127400"/>
                  </a:lnTo>
                  <a:lnTo>
                    <a:pt x="19377" y="120748"/>
                  </a:lnTo>
                  <a:lnTo>
                    <a:pt x="19278" y="119855"/>
                  </a:lnTo>
                  <a:lnTo>
                    <a:pt x="18961" y="113805"/>
                  </a:lnTo>
                  <a:lnTo>
                    <a:pt x="18847" y="57200"/>
                  </a:lnTo>
                  <a:lnTo>
                    <a:pt x="19278" y="49008"/>
                  </a:lnTo>
                  <a:lnTo>
                    <a:pt x="20117" y="41845"/>
                  </a:lnTo>
                  <a:close/>
                </a:path>
                <a:path w="20320" h="128905">
                  <a:moveTo>
                    <a:pt x="18665" y="0"/>
                  </a:moveTo>
                  <a:lnTo>
                    <a:pt x="10784" y="1450"/>
                  </a:lnTo>
                  <a:lnTo>
                    <a:pt x="9332" y="1450"/>
                  </a:lnTo>
                  <a:lnTo>
                    <a:pt x="0" y="3107"/>
                  </a:lnTo>
                  <a:lnTo>
                    <a:pt x="0" y="20094"/>
                  </a:lnTo>
                  <a:lnTo>
                    <a:pt x="9332" y="18643"/>
                  </a:lnTo>
                  <a:lnTo>
                    <a:pt x="18665" y="18643"/>
                  </a:lnTo>
                  <a:lnTo>
                    <a:pt x="20117" y="16986"/>
                  </a:lnTo>
                  <a:lnTo>
                    <a:pt x="20117" y="1450"/>
                  </a:lnTo>
                  <a:lnTo>
                    <a:pt x="186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34175" y="1712940"/>
              <a:ext cx="76322" cy="8845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30616" y="1689531"/>
              <a:ext cx="303425" cy="152258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258642" y="2965398"/>
            <a:ext cx="482203" cy="169452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6806171" y="2965399"/>
            <a:ext cx="619125" cy="130810"/>
          </a:xfrm>
          <a:custGeom>
            <a:avLst/>
            <a:gdLst/>
            <a:ahLst/>
            <a:cxnLst/>
            <a:rect l="l" t="t" r="r" b="b"/>
            <a:pathLst>
              <a:path w="619125" h="130810">
                <a:moveTo>
                  <a:pt x="70104" y="127406"/>
                </a:moveTo>
                <a:lnTo>
                  <a:pt x="69240" y="121196"/>
                </a:lnTo>
                <a:lnTo>
                  <a:pt x="69138" y="120510"/>
                </a:lnTo>
                <a:lnTo>
                  <a:pt x="68808" y="116420"/>
                </a:lnTo>
                <a:lnTo>
                  <a:pt x="68643" y="114541"/>
                </a:lnTo>
                <a:lnTo>
                  <a:pt x="68541" y="110210"/>
                </a:lnTo>
                <a:lnTo>
                  <a:pt x="68440" y="82245"/>
                </a:lnTo>
                <a:lnTo>
                  <a:pt x="68440" y="62153"/>
                </a:lnTo>
                <a:lnTo>
                  <a:pt x="66992" y="57391"/>
                </a:lnTo>
                <a:lnTo>
                  <a:pt x="40436" y="40398"/>
                </a:lnTo>
                <a:lnTo>
                  <a:pt x="32486" y="40678"/>
                </a:lnTo>
                <a:lnTo>
                  <a:pt x="24993" y="41516"/>
                </a:lnTo>
                <a:lnTo>
                  <a:pt x="17805" y="42938"/>
                </a:lnTo>
                <a:lnTo>
                  <a:pt x="10782" y="44958"/>
                </a:lnTo>
                <a:lnTo>
                  <a:pt x="10782" y="51168"/>
                </a:lnTo>
                <a:lnTo>
                  <a:pt x="9334" y="59042"/>
                </a:lnTo>
                <a:lnTo>
                  <a:pt x="10782" y="59042"/>
                </a:lnTo>
                <a:lnTo>
                  <a:pt x="16484" y="56769"/>
                </a:lnTo>
                <a:lnTo>
                  <a:pt x="22161" y="54775"/>
                </a:lnTo>
                <a:lnTo>
                  <a:pt x="28422" y="53365"/>
                </a:lnTo>
                <a:lnTo>
                  <a:pt x="35877" y="52832"/>
                </a:lnTo>
                <a:lnTo>
                  <a:pt x="45212" y="52832"/>
                </a:lnTo>
                <a:lnTo>
                  <a:pt x="48323" y="55943"/>
                </a:lnTo>
                <a:lnTo>
                  <a:pt x="49771" y="59042"/>
                </a:lnTo>
                <a:lnTo>
                  <a:pt x="51435" y="62153"/>
                </a:lnTo>
                <a:lnTo>
                  <a:pt x="51435" y="69811"/>
                </a:lnTo>
                <a:lnTo>
                  <a:pt x="51435" y="82245"/>
                </a:lnTo>
                <a:lnTo>
                  <a:pt x="51435" y="108762"/>
                </a:lnTo>
                <a:lnTo>
                  <a:pt x="49771" y="110210"/>
                </a:lnTo>
                <a:lnTo>
                  <a:pt x="43548" y="116420"/>
                </a:lnTo>
                <a:lnTo>
                  <a:pt x="18669" y="116420"/>
                </a:lnTo>
                <a:lnTo>
                  <a:pt x="18669" y="100888"/>
                </a:lnTo>
                <a:lnTo>
                  <a:pt x="21107" y="92557"/>
                </a:lnTo>
                <a:lnTo>
                  <a:pt x="27762" y="87528"/>
                </a:lnTo>
                <a:lnTo>
                  <a:pt x="37655" y="84518"/>
                </a:lnTo>
                <a:lnTo>
                  <a:pt x="49771" y="82245"/>
                </a:lnTo>
                <a:lnTo>
                  <a:pt x="51435" y="82245"/>
                </a:lnTo>
                <a:lnTo>
                  <a:pt x="51435" y="69811"/>
                </a:lnTo>
                <a:lnTo>
                  <a:pt x="48323" y="69811"/>
                </a:lnTo>
                <a:lnTo>
                  <a:pt x="28257" y="73177"/>
                </a:lnTo>
                <a:lnTo>
                  <a:pt x="13042" y="79184"/>
                </a:lnTo>
                <a:lnTo>
                  <a:pt x="3378" y="88696"/>
                </a:lnTo>
                <a:lnTo>
                  <a:pt x="0" y="102552"/>
                </a:lnTo>
                <a:lnTo>
                  <a:pt x="2184" y="114173"/>
                </a:lnTo>
                <a:lnTo>
                  <a:pt x="8166" y="122974"/>
                </a:lnTo>
                <a:lnTo>
                  <a:pt x="17056" y="128562"/>
                </a:lnTo>
                <a:lnTo>
                  <a:pt x="28003" y="130517"/>
                </a:lnTo>
                <a:lnTo>
                  <a:pt x="40436" y="130517"/>
                </a:lnTo>
                <a:lnTo>
                  <a:pt x="48323" y="124294"/>
                </a:lnTo>
                <a:lnTo>
                  <a:pt x="51435" y="121196"/>
                </a:lnTo>
                <a:lnTo>
                  <a:pt x="51435" y="129057"/>
                </a:lnTo>
                <a:lnTo>
                  <a:pt x="59105" y="129057"/>
                </a:lnTo>
                <a:lnTo>
                  <a:pt x="60769" y="127406"/>
                </a:lnTo>
                <a:lnTo>
                  <a:pt x="70104" y="127406"/>
                </a:lnTo>
                <a:close/>
              </a:path>
              <a:path w="619125" h="130810">
                <a:moveTo>
                  <a:pt x="154101" y="108762"/>
                </a:moveTo>
                <a:lnTo>
                  <a:pt x="152438" y="107099"/>
                </a:lnTo>
                <a:lnTo>
                  <a:pt x="143103" y="116420"/>
                </a:lnTo>
                <a:lnTo>
                  <a:pt x="130657" y="116420"/>
                </a:lnTo>
                <a:lnTo>
                  <a:pt x="121526" y="114858"/>
                </a:lnTo>
                <a:lnTo>
                  <a:pt x="113550" y="109664"/>
                </a:lnTo>
                <a:lnTo>
                  <a:pt x="107911" y="100088"/>
                </a:lnTo>
                <a:lnTo>
                  <a:pt x="105778" y="85356"/>
                </a:lnTo>
                <a:lnTo>
                  <a:pt x="107937" y="72021"/>
                </a:lnTo>
                <a:lnTo>
                  <a:pt x="113753" y="62280"/>
                </a:lnTo>
                <a:lnTo>
                  <a:pt x="122224" y="56311"/>
                </a:lnTo>
                <a:lnTo>
                  <a:pt x="132321" y="54279"/>
                </a:lnTo>
                <a:lnTo>
                  <a:pt x="138544" y="54279"/>
                </a:lnTo>
                <a:lnTo>
                  <a:pt x="144767" y="55930"/>
                </a:lnTo>
                <a:lnTo>
                  <a:pt x="149326" y="60490"/>
                </a:lnTo>
                <a:lnTo>
                  <a:pt x="150990" y="60490"/>
                </a:lnTo>
                <a:lnTo>
                  <a:pt x="150990" y="54279"/>
                </a:lnTo>
                <a:lnTo>
                  <a:pt x="152438" y="52832"/>
                </a:lnTo>
                <a:lnTo>
                  <a:pt x="152438" y="44958"/>
                </a:lnTo>
                <a:lnTo>
                  <a:pt x="147878" y="43510"/>
                </a:lnTo>
                <a:lnTo>
                  <a:pt x="139992" y="40398"/>
                </a:lnTo>
                <a:lnTo>
                  <a:pt x="129209" y="40398"/>
                </a:lnTo>
                <a:lnTo>
                  <a:pt x="112128" y="43954"/>
                </a:lnTo>
                <a:lnTo>
                  <a:pt x="98818" y="53759"/>
                </a:lnTo>
                <a:lnTo>
                  <a:pt x="90182" y="68541"/>
                </a:lnTo>
                <a:lnTo>
                  <a:pt x="87109" y="87007"/>
                </a:lnTo>
                <a:lnTo>
                  <a:pt x="90182" y="104292"/>
                </a:lnTo>
                <a:lnTo>
                  <a:pt x="98818" y="118084"/>
                </a:lnTo>
                <a:lnTo>
                  <a:pt x="112128" y="127215"/>
                </a:lnTo>
                <a:lnTo>
                  <a:pt x="129209" y="130517"/>
                </a:lnTo>
                <a:lnTo>
                  <a:pt x="139992" y="130517"/>
                </a:lnTo>
                <a:lnTo>
                  <a:pt x="146215" y="127406"/>
                </a:lnTo>
                <a:lnTo>
                  <a:pt x="150990" y="124294"/>
                </a:lnTo>
                <a:lnTo>
                  <a:pt x="152438" y="122847"/>
                </a:lnTo>
                <a:lnTo>
                  <a:pt x="152438" y="116420"/>
                </a:lnTo>
                <a:lnTo>
                  <a:pt x="154101" y="114973"/>
                </a:lnTo>
                <a:lnTo>
                  <a:pt x="154101" y="108762"/>
                </a:lnTo>
                <a:close/>
              </a:path>
              <a:path w="619125" h="130810">
                <a:moveTo>
                  <a:pt x="206984" y="43510"/>
                </a:moveTo>
                <a:lnTo>
                  <a:pt x="205320" y="41846"/>
                </a:lnTo>
                <a:lnTo>
                  <a:pt x="186651" y="41846"/>
                </a:lnTo>
                <a:lnTo>
                  <a:pt x="186651" y="27965"/>
                </a:lnTo>
                <a:lnTo>
                  <a:pt x="188315" y="16992"/>
                </a:lnTo>
                <a:lnTo>
                  <a:pt x="186651" y="16992"/>
                </a:lnTo>
                <a:lnTo>
                  <a:pt x="178981" y="18643"/>
                </a:lnTo>
                <a:lnTo>
                  <a:pt x="177330" y="20104"/>
                </a:lnTo>
                <a:lnTo>
                  <a:pt x="169646" y="21755"/>
                </a:lnTo>
                <a:lnTo>
                  <a:pt x="169646" y="41846"/>
                </a:lnTo>
                <a:lnTo>
                  <a:pt x="158661" y="41846"/>
                </a:lnTo>
                <a:lnTo>
                  <a:pt x="157213" y="43510"/>
                </a:lnTo>
                <a:lnTo>
                  <a:pt x="157213" y="55930"/>
                </a:lnTo>
                <a:lnTo>
                  <a:pt x="169646" y="55930"/>
                </a:lnTo>
                <a:lnTo>
                  <a:pt x="169697" y="103886"/>
                </a:lnTo>
                <a:lnTo>
                  <a:pt x="170040" y="111658"/>
                </a:lnTo>
                <a:lnTo>
                  <a:pt x="170967" y="116789"/>
                </a:lnTo>
                <a:lnTo>
                  <a:pt x="172758" y="121196"/>
                </a:lnTo>
                <a:lnTo>
                  <a:pt x="177330" y="129057"/>
                </a:lnTo>
                <a:lnTo>
                  <a:pt x="200761" y="129057"/>
                </a:lnTo>
                <a:lnTo>
                  <a:pt x="203873" y="127406"/>
                </a:lnTo>
                <a:lnTo>
                  <a:pt x="205320" y="125958"/>
                </a:lnTo>
                <a:lnTo>
                  <a:pt x="205320" y="113322"/>
                </a:lnTo>
                <a:lnTo>
                  <a:pt x="202209" y="114973"/>
                </a:lnTo>
                <a:lnTo>
                  <a:pt x="188315" y="114973"/>
                </a:lnTo>
                <a:lnTo>
                  <a:pt x="186651" y="111874"/>
                </a:lnTo>
                <a:lnTo>
                  <a:pt x="186651" y="55930"/>
                </a:lnTo>
                <a:lnTo>
                  <a:pt x="205320" y="55930"/>
                </a:lnTo>
                <a:lnTo>
                  <a:pt x="205320" y="48069"/>
                </a:lnTo>
                <a:lnTo>
                  <a:pt x="206984" y="43510"/>
                </a:lnTo>
                <a:close/>
              </a:path>
              <a:path w="619125" h="130810">
                <a:moveTo>
                  <a:pt x="239547" y="41846"/>
                </a:moveTo>
                <a:lnTo>
                  <a:pt x="238086" y="41846"/>
                </a:lnTo>
                <a:lnTo>
                  <a:pt x="228765" y="43510"/>
                </a:lnTo>
                <a:lnTo>
                  <a:pt x="227101" y="43510"/>
                </a:lnTo>
                <a:lnTo>
                  <a:pt x="219430" y="44958"/>
                </a:lnTo>
                <a:lnTo>
                  <a:pt x="219544" y="49009"/>
                </a:lnTo>
                <a:lnTo>
                  <a:pt x="219659" y="52755"/>
                </a:lnTo>
                <a:lnTo>
                  <a:pt x="220154" y="61556"/>
                </a:lnTo>
                <a:lnTo>
                  <a:pt x="220649" y="74117"/>
                </a:lnTo>
                <a:lnTo>
                  <a:pt x="220649" y="105117"/>
                </a:lnTo>
                <a:lnTo>
                  <a:pt x="220281" y="111633"/>
                </a:lnTo>
                <a:lnTo>
                  <a:pt x="220154" y="113817"/>
                </a:lnTo>
                <a:lnTo>
                  <a:pt x="219722" y="119862"/>
                </a:lnTo>
                <a:lnTo>
                  <a:pt x="219659" y="120751"/>
                </a:lnTo>
                <a:lnTo>
                  <a:pt x="219430" y="127406"/>
                </a:lnTo>
                <a:lnTo>
                  <a:pt x="219430" y="129057"/>
                </a:lnTo>
                <a:lnTo>
                  <a:pt x="228765" y="127406"/>
                </a:lnTo>
                <a:lnTo>
                  <a:pt x="239547" y="127406"/>
                </a:lnTo>
                <a:lnTo>
                  <a:pt x="238810" y="120751"/>
                </a:lnTo>
                <a:lnTo>
                  <a:pt x="238709" y="119862"/>
                </a:lnTo>
                <a:lnTo>
                  <a:pt x="238391" y="113817"/>
                </a:lnTo>
                <a:lnTo>
                  <a:pt x="238277" y="57200"/>
                </a:lnTo>
                <a:lnTo>
                  <a:pt x="238709" y="49009"/>
                </a:lnTo>
                <a:lnTo>
                  <a:pt x="239547" y="41846"/>
                </a:lnTo>
                <a:close/>
              </a:path>
              <a:path w="619125" h="130810">
                <a:moveTo>
                  <a:pt x="239547" y="1460"/>
                </a:moveTo>
                <a:lnTo>
                  <a:pt x="238086" y="0"/>
                </a:lnTo>
                <a:lnTo>
                  <a:pt x="230212" y="1460"/>
                </a:lnTo>
                <a:lnTo>
                  <a:pt x="228765" y="1460"/>
                </a:lnTo>
                <a:lnTo>
                  <a:pt x="219430" y="3111"/>
                </a:lnTo>
                <a:lnTo>
                  <a:pt x="219430" y="20104"/>
                </a:lnTo>
                <a:lnTo>
                  <a:pt x="228765" y="18643"/>
                </a:lnTo>
                <a:lnTo>
                  <a:pt x="238086" y="18643"/>
                </a:lnTo>
                <a:lnTo>
                  <a:pt x="239547" y="16992"/>
                </a:lnTo>
                <a:lnTo>
                  <a:pt x="239547" y="1460"/>
                </a:lnTo>
                <a:close/>
              </a:path>
              <a:path w="619125" h="130810">
                <a:moveTo>
                  <a:pt x="326656" y="43510"/>
                </a:moveTo>
                <a:lnTo>
                  <a:pt x="325196" y="41846"/>
                </a:lnTo>
                <a:lnTo>
                  <a:pt x="309651" y="41846"/>
                </a:lnTo>
                <a:lnTo>
                  <a:pt x="307987" y="43510"/>
                </a:lnTo>
                <a:lnTo>
                  <a:pt x="307657" y="47663"/>
                </a:lnTo>
                <a:lnTo>
                  <a:pt x="306489" y="53759"/>
                </a:lnTo>
                <a:lnTo>
                  <a:pt x="304139" y="62496"/>
                </a:lnTo>
                <a:lnTo>
                  <a:pt x="300316" y="74587"/>
                </a:lnTo>
                <a:lnTo>
                  <a:pt x="289318" y="114973"/>
                </a:lnTo>
                <a:lnTo>
                  <a:pt x="283819" y="97167"/>
                </a:lnTo>
                <a:lnTo>
                  <a:pt x="278714" y="78955"/>
                </a:lnTo>
                <a:lnTo>
                  <a:pt x="269201" y="41846"/>
                </a:lnTo>
                <a:lnTo>
                  <a:pt x="258216" y="41846"/>
                </a:lnTo>
                <a:lnTo>
                  <a:pt x="250532" y="43510"/>
                </a:lnTo>
                <a:lnTo>
                  <a:pt x="248881" y="43510"/>
                </a:lnTo>
                <a:lnTo>
                  <a:pt x="262699" y="85458"/>
                </a:lnTo>
                <a:lnTo>
                  <a:pt x="269265" y="106426"/>
                </a:lnTo>
                <a:lnTo>
                  <a:pt x="275424" y="127406"/>
                </a:lnTo>
                <a:lnTo>
                  <a:pt x="276872" y="129057"/>
                </a:lnTo>
                <a:lnTo>
                  <a:pt x="286207" y="127406"/>
                </a:lnTo>
                <a:lnTo>
                  <a:pt x="298653" y="127406"/>
                </a:lnTo>
                <a:lnTo>
                  <a:pt x="312102" y="85458"/>
                </a:lnTo>
                <a:lnTo>
                  <a:pt x="319036" y="64477"/>
                </a:lnTo>
                <a:lnTo>
                  <a:pt x="326656" y="43510"/>
                </a:lnTo>
                <a:close/>
              </a:path>
              <a:path w="619125" h="130810">
                <a:moveTo>
                  <a:pt x="356311" y="41846"/>
                </a:moveTo>
                <a:lnTo>
                  <a:pt x="354647" y="41846"/>
                </a:lnTo>
                <a:lnTo>
                  <a:pt x="346976" y="43510"/>
                </a:lnTo>
                <a:lnTo>
                  <a:pt x="343865" y="43510"/>
                </a:lnTo>
                <a:lnTo>
                  <a:pt x="337642" y="44958"/>
                </a:lnTo>
                <a:lnTo>
                  <a:pt x="335991" y="44958"/>
                </a:lnTo>
                <a:lnTo>
                  <a:pt x="336943" y="52755"/>
                </a:lnTo>
                <a:lnTo>
                  <a:pt x="337439" y="61556"/>
                </a:lnTo>
                <a:lnTo>
                  <a:pt x="337527" y="67462"/>
                </a:lnTo>
                <a:lnTo>
                  <a:pt x="337616" y="105117"/>
                </a:lnTo>
                <a:lnTo>
                  <a:pt x="337477" y="111633"/>
                </a:lnTo>
                <a:lnTo>
                  <a:pt x="337439" y="113817"/>
                </a:lnTo>
                <a:lnTo>
                  <a:pt x="337007" y="119862"/>
                </a:lnTo>
                <a:lnTo>
                  <a:pt x="336943" y="120751"/>
                </a:lnTo>
                <a:lnTo>
                  <a:pt x="335991" y="127406"/>
                </a:lnTo>
                <a:lnTo>
                  <a:pt x="337642" y="129057"/>
                </a:lnTo>
                <a:lnTo>
                  <a:pt x="345313" y="127406"/>
                </a:lnTo>
                <a:lnTo>
                  <a:pt x="356311" y="127406"/>
                </a:lnTo>
                <a:lnTo>
                  <a:pt x="356082" y="120751"/>
                </a:lnTo>
                <a:lnTo>
                  <a:pt x="356057" y="119862"/>
                </a:lnTo>
                <a:lnTo>
                  <a:pt x="355485" y="111633"/>
                </a:lnTo>
                <a:lnTo>
                  <a:pt x="354914" y="99644"/>
                </a:lnTo>
                <a:lnTo>
                  <a:pt x="354647" y="80797"/>
                </a:lnTo>
                <a:lnTo>
                  <a:pt x="354914" y="67462"/>
                </a:lnTo>
                <a:lnTo>
                  <a:pt x="355485" y="57200"/>
                </a:lnTo>
                <a:lnTo>
                  <a:pt x="356057" y="49009"/>
                </a:lnTo>
                <a:lnTo>
                  <a:pt x="356196" y="44958"/>
                </a:lnTo>
                <a:lnTo>
                  <a:pt x="356311" y="41846"/>
                </a:lnTo>
                <a:close/>
              </a:path>
              <a:path w="619125" h="130810">
                <a:moveTo>
                  <a:pt x="356311" y="0"/>
                </a:moveTo>
                <a:lnTo>
                  <a:pt x="346976" y="1460"/>
                </a:lnTo>
                <a:lnTo>
                  <a:pt x="345313" y="1460"/>
                </a:lnTo>
                <a:lnTo>
                  <a:pt x="337642" y="3111"/>
                </a:lnTo>
                <a:lnTo>
                  <a:pt x="335991" y="3111"/>
                </a:lnTo>
                <a:lnTo>
                  <a:pt x="335991" y="18643"/>
                </a:lnTo>
                <a:lnTo>
                  <a:pt x="337642" y="20104"/>
                </a:lnTo>
                <a:lnTo>
                  <a:pt x="345313" y="18643"/>
                </a:lnTo>
                <a:lnTo>
                  <a:pt x="356311" y="18643"/>
                </a:lnTo>
                <a:lnTo>
                  <a:pt x="356311" y="0"/>
                </a:lnTo>
                <a:close/>
              </a:path>
              <a:path w="619125" h="130810">
                <a:moveTo>
                  <a:pt x="416877" y="41846"/>
                </a:moveTo>
                <a:lnTo>
                  <a:pt x="398208" y="41846"/>
                </a:lnTo>
                <a:lnTo>
                  <a:pt x="398208" y="16992"/>
                </a:lnTo>
                <a:lnTo>
                  <a:pt x="390537" y="18643"/>
                </a:lnTo>
                <a:lnTo>
                  <a:pt x="388874" y="20104"/>
                </a:lnTo>
                <a:lnTo>
                  <a:pt x="381203" y="21755"/>
                </a:lnTo>
                <a:lnTo>
                  <a:pt x="379539" y="23202"/>
                </a:lnTo>
                <a:lnTo>
                  <a:pt x="379539" y="26314"/>
                </a:lnTo>
                <a:lnTo>
                  <a:pt x="381203" y="29425"/>
                </a:lnTo>
                <a:lnTo>
                  <a:pt x="381203" y="41846"/>
                </a:lnTo>
                <a:lnTo>
                  <a:pt x="370205" y="41846"/>
                </a:lnTo>
                <a:lnTo>
                  <a:pt x="368757" y="43510"/>
                </a:lnTo>
                <a:lnTo>
                  <a:pt x="368757" y="55943"/>
                </a:lnTo>
                <a:lnTo>
                  <a:pt x="381203" y="55943"/>
                </a:lnTo>
                <a:lnTo>
                  <a:pt x="381215" y="103886"/>
                </a:lnTo>
                <a:lnTo>
                  <a:pt x="381381" y="111658"/>
                </a:lnTo>
                <a:lnTo>
                  <a:pt x="381812" y="116789"/>
                </a:lnTo>
                <a:lnTo>
                  <a:pt x="382651" y="121196"/>
                </a:lnTo>
                <a:lnTo>
                  <a:pt x="388874" y="129057"/>
                </a:lnTo>
                <a:lnTo>
                  <a:pt x="412305" y="129057"/>
                </a:lnTo>
                <a:lnTo>
                  <a:pt x="415417" y="127406"/>
                </a:lnTo>
                <a:lnTo>
                  <a:pt x="415417" y="125958"/>
                </a:lnTo>
                <a:lnTo>
                  <a:pt x="416877" y="121196"/>
                </a:lnTo>
                <a:lnTo>
                  <a:pt x="416877" y="114973"/>
                </a:lnTo>
                <a:lnTo>
                  <a:pt x="415417" y="113322"/>
                </a:lnTo>
                <a:lnTo>
                  <a:pt x="413766" y="114973"/>
                </a:lnTo>
                <a:lnTo>
                  <a:pt x="399859" y="114973"/>
                </a:lnTo>
                <a:lnTo>
                  <a:pt x="398208" y="111874"/>
                </a:lnTo>
                <a:lnTo>
                  <a:pt x="398208" y="55943"/>
                </a:lnTo>
                <a:lnTo>
                  <a:pt x="415417" y="55943"/>
                </a:lnTo>
                <a:lnTo>
                  <a:pt x="416877" y="54279"/>
                </a:lnTo>
                <a:lnTo>
                  <a:pt x="416877" y="41846"/>
                </a:lnTo>
                <a:close/>
              </a:path>
              <a:path w="619125" h="130810">
                <a:moveTo>
                  <a:pt x="449643" y="41846"/>
                </a:moveTo>
                <a:lnTo>
                  <a:pt x="447979" y="41846"/>
                </a:lnTo>
                <a:lnTo>
                  <a:pt x="440309" y="43510"/>
                </a:lnTo>
                <a:lnTo>
                  <a:pt x="437197" y="43510"/>
                </a:lnTo>
                <a:lnTo>
                  <a:pt x="430974" y="44958"/>
                </a:lnTo>
                <a:lnTo>
                  <a:pt x="429310" y="44958"/>
                </a:lnTo>
                <a:lnTo>
                  <a:pt x="430276" y="52755"/>
                </a:lnTo>
                <a:lnTo>
                  <a:pt x="430771" y="61556"/>
                </a:lnTo>
                <a:lnTo>
                  <a:pt x="430847" y="67462"/>
                </a:lnTo>
                <a:lnTo>
                  <a:pt x="430974" y="129057"/>
                </a:lnTo>
                <a:lnTo>
                  <a:pt x="438645" y="127406"/>
                </a:lnTo>
                <a:lnTo>
                  <a:pt x="449643" y="127406"/>
                </a:lnTo>
                <a:lnTo>
                  <a:pt x="449376" y="119862"/>
                </a:lnTo>
                <a:lnTo>
                  <a:pt x="448805" y="111633"/>
                </a:lnTo>
                <a:lnTo>
                  <a:pt x="448246" y="99644"/>
                </a:lnTo>
                <a:lnTo>
                  <a:pt x="447979" y="80797"/>
                </a:lnTo>
                <a:lnTo>
                  <a:pt x="448246" y="67462"/>
                </a:lnTo>
                <a:lnTo>
                  <a:pt x="448805" y="57200"/>
                </a:lnTo>
                <a:lnTo>
                  <a:pt x="449376" y="49009"/>
                </a:lnTo>
                <a:lnTo>
                  <a:pt x="449529" y="44958"/>
                </a:lnTo>
                <a:lnTo>
                  <a:pt x="449643" y="41846"/>
                </a:lnTo>
                <a:close/>
              </a:path>
              <a:path w="619125" h="130810">
                <a:moveTo>
                  <a:pt x="449643" y="0"/>
                </a:moveTo>
                <a:lnTo>
                  <a:pt x="440309" y="1460"/>
                </a:lnTo>
                <a:lnTo>
                  <a:pt x="438645" y="1460"/>
                </a:lnTo>
                <a:lnTo>
                  <a:pt x="430974" y="3111"/>
                </a:lnTo>
                <a:lnTo>
                  <a:pt x="429310" y="3111"/>
                </a:lnTo>
                <a:lnTo>
                  <a:pt x="429310" y="18643"/>
                </a:lnTo>
                <a:lnTo>
                  <a:pt x="430974" y="20104"/>
                </a:lnTo>
                <a:lnTo>
                  <a:pt x="438645" y="18643"/>
                </a:lnTo>
                <a:lnTo>
                  <a:pt x="449643" y="18643"/>
                </a:lnTo>
                <a:lnTo>
                  <a:pt x="449643" y="0"/>
                </a:lnTo>
                <a:close/>
              </a:path>
              <a:path w="619125" h="130810">
                <a:moveTo>
                  <a:pt x="544423" y="87007"/>
                </a:moveTo>
                <a:lnTo>
                  <a:pt x="544385" y="85356"/>
                </a:lnTo>
                <a:lnTo>
                  <a:pt x="544271" y="79832"/>
                </a:lnTo>
                <a:lnTo>
                  <a:pt x="543687" y="74587"/>
                </a:lnTo>
                <a:lnTo>
                  <a:pt x="543255" y="70802"/>
                </a:lnTo>
                <a:lnTo>
                  <a:pt x="540486" y="60909"/>
                </a:lnTo>
                <a:lnTo>
                  <a:pt x="536003" y="52832"/>
                </a:lnTo>
                <a:lnTo>
                  <a:pt x="535089" y="51168"/>
                </a:lnTo>
                <a:lnTo>
                  <a:pt x="530796" y="46863"/>
                </a:lnTo>
                <a:lnTo>
                  <a:pt x="527418" y="44932"/>
                </a:lnTo>
                <a:lnTo>
                  <a:pt x="527418" y="68364"/>
                </a:lnTo>
                <a:lnTo>
                  <a:pt x="527418" y="74587"/>
                </a:lnTo>
                <a:lnTo>
                  <a:pt x="485317" y="74587"/>
                </a:lnTo>
                <a:lnTo>
                  <a:pt x="488099" y="64630"/>
                </a:lnTo>
                <a:lnTo>
                  <a:pt x="493318" y="57873"/>
                </a:lnTo>
                <a:lnTo>
                  <a:pt x="499986" y="54038"/>
                </a:lnTo>
                <a:lnTo>
                  <a:pt x="507085" y="52832"/>
                </a:lnTo>
                <a:lnTo>
                  <a:pt x="514972" y="52832"/>
                </a:lnTo>
                <a:lnTo>
                  <a:pt x="522643" y="55943"/>
                </a:lnTo>
                <a:lnTo>
                  <a:pt x="525754" y="65265"/>
                </a:lnTo>
                <a:lnTo>
                  <a:pt x="527418" y="68364"/>
                </a:lnTo>
                <a:lnTo>
                  <a:pt x="527418" y="44932"/>
                </a:lnTo>
                <a:lnTo>
                  <a:pt x="524878" y="43459"/>
                </a:lnTo>
                <a:lnTo>
                  <a:pt x="517474" y="41211"/>
                </a:lnTo>
                <a:lnTo>
                  <a:pt x="508749" y="40398"/>
                </a:lnTo>
                <a:lnTo>
                  <a:pt x="493242" y="43281"/>
                </a:lnTo>
                <a:lnTo>
                  <a:pt x="480364" y="51841"/>
                </a:lnTo>
                <a:lnTo>
                  <a:pt x="471563" y="65925"/>
                </a:lnTo>
                <a:lnTo>
                  <a:pt x="468312" y="85356"/>
                </a:lnTo>
                <a:lnTo>
                  <a:pt x="471373" y="104902"/>
                </a:lnTo>
                <a:lnTo>
                  <a:pt x="480123" y="119037"/>
                </a:lnTo>
                <a:lnTo>
                  <a:pt x="493852" y="127622"/>
                </a:lnTo>
                <a:lnTo>
                  <a:pt x="511860" y="130517"/>
                </a:lnTo>
                <a:lnTo>
                  <a:pt x="522097" y="129781"/>
                </a:lnTo>
                <a:lnTo>
                  <a:pt x="529691" y="128028"/>
                </a:lnTo>
                <a:lnTo>
                  <a:pt x="534962" y="125971"/>
                </a:lnTo>
                <a:lnTo>
                  <a:pt x="538200" y="124294"/>
                </a:lnTo>
                <a:lnTo>
                  <a:pt x="539864" y="122847"/>
                </a:lnTo>
                <a:lnTo>
                  <a:pt x="539864" y="116420"/>
                </a:lnTo>
                <a:lnTo>
                  <a:pt x="539864" y="114973"/>
                </a:lnTo>
                <a:lnTo>
                  <a:pt x="541312" y="108762"/>
                </a:lnTo>
                <a:lnTo>
                  <a:pt x="539864" y="107099"/>
                </a:lnTo>
                <a:lnTo>
                  <a:pt x="536752" y="108762"/>
                </a:lnTo>
                <a:lnTo>
                  <a:pt x="533641" y="111874"/>
                </a:lnTo>
                <a:lnTo>
                  <a:pt x="527418" y="114973"/>
                </a:lnTo>
                <a:lnTo>
                  <a:pt x="522643" y="116420"/>
                </a:lnTo>
                <a:lnTo>
                  <a:pt x="499414" y="116420"/>
                </a:lnTo>
                <a:lnTo>
                  <a:pt x="491540" y="108762"/>
                </a:lnTo>
                <a:lnTo>
                  <a:pt x="486968" y="100888"/>
                </a:lnTo>
                <a:lnTo>
                  <a:pt x="485317" y="93230"/>
                </a:lnTo>
                <a:lnTo>
                  <a:pt x="485317" y="87007"/>
                </a:lnTo>
                <a:lnTo>
                  <a:pt x="544423" y="87007"/>
                </a:lnTo>
                <a:close/>
              </a:path>
              <a:path w="619125" h="130810">
                <a:moveTo>
                  <a:pt x="619086" y="102552"/>
                </a:moveTo>
                <a:lnTo>
                  <a:pt x="591083" y="76034"/>
                </a:lnTo>
                <a:lnTo>
                  <a:pt x="580301" y="72923"/>
                </a:lnTo>
                <a:lnTo>
                  <a:pt x="574078" y="71475"/>
                </a:lnTo>
                <a:lnTo>
                  <a:pt x="574078" y="59042"/>
                </a:lnTo>
                <a:lnTo>
                  <a:pt x="578637" y="55943"/>
                </a:lnTo>
                <a:lnTo>
                  <a:pt x="583412" y="54279"/>
                </a:lnTo>
                <a:lnTo>
                  <a:pt x="584860" y="52832"/>
                </a:lnTo>
                <a:lnTo>
                  <a:pt x="600417" y="52832"/>
                </a:lnTo>
                <a:lnTo>
                  <a:pt x="606640" y="57391"/>
                </a:lnTo>
                <a:lnTo>
                  <a:pt x="611416" y="60490"/>
                </a:lnTo>
                <a:lnTo>
                  <a:pt x="612863" y="59042"/>
                </a:lnTo>
                <a:lnTo>
                  <a:pt x="612863" y="52832"/>
                </a:lnTo>
                <a:lnTo>
                  <a:pt x="614527" y="46609"/>
                </a:lnTo>
                <a:lnTo>
                  <a:pt x="612863" y="44958"/>
                </a:lnTo>
                <a:lnTo>
                  <a:pt x="609752" y="43510"/>
                </a:lnTo>
                <a:lnTo>
                  <a:pt x="602081" y="40398"/>
                </a:lnTo>
                <a:lnTo>
                  <a:pt x="589635" y="40398"/>
                </a:lnTo>
                <a:lnTo>
                  <a:pt x="576643" y="41871"/>
                </a:lnTo>
                <a:lnTo>
                  <a:pt x="566254" y="46380"/>
                </a:lnTo>
                <a:lnTo>
                  <a:pt x="559358" y="54127"/>
                </a:lnTo>
                <a:lnTo>
                  <a:pt x="556869" y="65265"/>
                </a:lnTo>
                <a:lnTo>
                  <a:pt x="559193" y="75869"/>
                </a:lnTo>
                <a:lnTo>
                  <a:pt x="564870" y="82892"/>
                </a:lnTo>
                <a:lnTo>
                  <a:pt x="572008" y="87312"/>
                </a:lnTo>
                <a:lnTo>
                  <a:pt x="578637" y="90119"/>
                </a:lnTo>
                <a:lnTo>
                  <a:pt x="583412" y="91567"/>
                </a:lnTo>
                <a:lnTo>
                  <a:pt x="592747" y="94678"/>
                </a:lnTo>
                <a:lnTo>
                  <a:pt x="600417" y="97777"/>
                </a:lnTo>
                <a:lnTo>
                  <a:pt x="600417" y="110210"/>
                </a:lnTo>
                <a:lnTo>
                  <a:pt x="595858" y="116420"/>
                </a:lnTo>
                <a:lnTo>
                  <a:pt x="569315" y="116420"/>
                </a:lnTo>
                <a:lnTo>
                  <a:pt x="563092" y="111874"/>
                </a:lnTo>
                <a:lnTo>
                  <a:pt x="559981" y="108762"/>
                </a:lnTo>
                <a:lnTo>
                  <a:pt x="558520" y="110210"/>
                </a:lnTo>
                <a:lnTo>
                  <a:pt x="558520" y="116420"/>
                </a:lnTo>
                <a:lnTo>
                  <a:pt x="556869" y="124294"/>
                </a:lnTo>
                <a:lnTo>
                  <a:pt x="558520" y="124294"/>
                </a:lnTo>
                <a:lnTo>
                  <a:pt x="558520" y="125958"/>
                </a:lnTo>
                <a:lnTo>
                  <a:pt x="559981" y="125958"/>
                </a:lnTo>
                <a:lnTo>
                  <a:pt x="566204" y="129057"/>
                </a:lnTo>
                <a:lnTo>
                  <a:pt x="574078" y="130517"/>
                </a:lnTo>
                <a:lnTo>
                  <a:pt x="583412" y="130517"/>
                </a:lnTo>
                <a:lnTo>
                  <a:pt x="588835" y="130187"/>
                </a:lnTo>
                <a:lnTo>
                  <a:pt x="595122" y="129057"/>
                </a:lnTo>
                <a:lnTo>
                  <a:pt x="595261" y="129057"/>
                </a:lnTo>
                <a:lnTo>
                  <a:pt x="602576" y="126669"/>
                </a:lnTo>
                <a:lnTo>
                  <a:pt x="609752" y="122847"/>
                </a:lnTo>
                <a:lnTo>
                  <a:pt x="615975" y="116420"/>
                </a:lnTo>
                <a:lnTo>
                  <a:pt x="619086" y="108762"/>
                </a:lnTo>
                <a:lnTo>
                  <a:pt x="619086" y="102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5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dirty="0"/>
              <a:t>Design</a:t>
            </a:r>
            <a:r>
              <a:rPr spc="-165" dirty="0"/>
              <a:t> </a:t>
            </a:r>
            <a:r>
              <a:rPr spc="-10" dirty="0"/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197049"/>
            <a:ext cx="7802245" cy="402145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68605" marR="549275" indent="-256540">
              <a:lnSpc>
                <a:spcPct val="80000"/>
              </a:lnSpc>
              <a:spcBef>
                <a:spcPts val="71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b="1" i="1" spc="-10" dirty="0">
                <a:latin typeface="Georgia"/>
                <a:cs typeface="Georgia"/>
              </a:rPr>
              <a:t>Architectural</a:t>
            </a:r>
            <a:r>
              <a:rPr sz="2600" b="1" i="1" spc="-85" dirty="0">
                <a:latin typeface="Georgia"/>
                <a:cs typeface="Georgia"/>
              </a:rPr>
              <a:t> </a:t>
            </a:r>
            <a:r>
              <a:rPr sz="2600" b="1" i="1" dirty="0">
                <a:latin typeface="Georgia"/>
                <a:cs typeface="Georgia"/>
              </a:rPr>
              <a:t>design,</a:t>
            </a:r>
            <a:r>
              <a:rPr sz="2600" b="1" i="1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where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you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identify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the </a:t>
            </a:r>
            <a:r>
              <a:rPr sz="2600" dirty="0">
                <a:latin typeface="Georgia"/>
                <a:cs typeface="Georgia"/>
              </a:rPr>
              <a:t>overall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structure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system,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principal components</a:t>
            </a:r>
            <a:r>
              <a:rPr sz="2600" spc="-1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(sometimes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called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sub-</a:t>
            </a:r>
            <a:r>
              <a:rPr sz="2600" dirty="0">
                <a:latin typeface="Georgia"/>
                <a:cs typeface="Georgia"/>
              </a:rPr>
              <a:t>systems</a:t>
            </a:r>
            <a:r>
              <a:rPr sz="2600" spc="1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or </a:t>
            </a:r>
            <a:r>
              <a:rPr sz="2600" spc="-10" dirty="0">
                <a:latin typeface="Georgia"/>
                <a:cs typeface="Georgia"/>
              </a:rPr>
              <a:t>modules),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their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relationships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how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they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are </a:t>
            </a:r>
            <a:r>
              <a:rPr sz="2600" spc="-10" dirty="0">
                <a:latin typeface="Georgia"/>
                <a:cs typeface="Georgia"/>
              </a:rPr>
              <a:t>distributed.</a:t>
            </a:r>
            <a:endParaRPr sz="2600">
              <a:latin typeface="Georgia"/>
              <a:cs typeface="Georgia"/>
            </a:endParaRPr>
          </a:p>
          <a:p>
            <a:pPr marL="268605" marR="5080" indent="-256540">
              <a:lnSpc>
                <a:spcPct val="79600"/>
              </a:lnSpc>
              <a:spcBef>
                <a:spcPts val="330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b="1" i="1" dirty="0">
                <a:latin typeface="Georgia"/>
                <a:cs typeface="Georgia"/>
              </a:rPr>
              <a:t>Interface</a:t>
            </a:r>
            <a:r>
              <a:rPr sz="2600" b="1" i="1" spc="-75" dirty="0">
                <a:latin typeface="Georgia"/>
                <a:cs typeface="Georgia"/>
              </a:rPr>
              <a:t> </a:t>
            </a:r>
            <a:r>
              <a:rPr sz="2600" b="1" i="1" dirty="0">
                <a:latin typeface="Georgia"/>
                <a:cs typeface="Georgia"/>
              </a:rPr>
              <a:t>design,</a:t>
            </a:r>
            <a:r>
              <a:rPr sz="2600" b="1" i="1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where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you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define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interfaces </a:t>
            </a:r>
            <a:r>
              <a:rPr sz="2600" dirty="0">
                <a:latin typeface="Georgia"/>
                <a:cs typeface="Georgia"/>
              </a:rPr>
              <a:t>between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components.</a:t>
            </a:r>
            <a:endParaRPr sz="2600">
              <a:latin typeface="Georgia"/>
              <a:cs typeface="Georgia"/>
            </a:endParaRPr>
          </a:p>
          <a:p>
            <a:pPr marL="268605" marR="102235" indent="-256540">
              <a:lnSpc>
                <a:spcPct val="79700"/>
              </a:lnSpc>
              <a:spcBef>
                <a:spcPts val="320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b="1" i="1" spc="-10" dirty="0">
                <a:latin typeface="Georgia"/>
                <a:cs typeface="Georgia"/>
              </a:rPr>
              <a:t>Component</a:t>
            </a:r>
            <a:r>
              <a:rPr sz="2600" b="1" i="1" spc="-120" dirty="0">
                <a:latin typeface="Georgia"/>
                <a:cs typeface="Georgia"/>
              </a:rPr>
              <a:t> </a:t>
            </a:r>
            <a:r>
              <a:rPr sz="2600" b="1" i="1" dirty="0">
                <a:latin typeface="Georgia"/>
                <a:cs typeface="Georgia"/>
              </a:rPr>
              <a:t>design,</a:t>
            </a:r>
            <a:r>
              <a:rPr sz="2600" b="1" i="1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where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you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take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each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system </a:t>
            </a:r>
            <a:r>
              <a:rPr sz="2600" dirty="0">
                <a:latin typeface="Georgia"/>
                <a:cs typeface="Georgia"/>
              </a:rPr>
              <a:t>component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design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how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it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will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operate.</a:t>
            </a:r>
            <a:endParaRPr sz="2600">
              <a:latin typeface="Georgia"/>
              <a:cs typeface="Georgia"/>
            </a:endParaRPr>
          </a:p>
          <a:p>
            <a:pPr marL="268605" marR="21590" indent="-256540">
              <a:lnSpc>
                <a:spcPct val="79700"/>
              </a:lnSpc>
              <a:spcBef>
                <a:spcPts val="32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b="1" i="1" dirty="0">
                <a:latin typeface="Georgia"/>
                <a:cs typeface="Georgia"/>
              </a:rPr>
              <a:t>Database</a:t>
            </a:r>
            <a:r>
              <a:rPr sz="2600" b="1" i="1" spc="-130" dirty="0">
                <a:latin typeface="Georgia"/>
                <a:cs typeface="Georgia"/>
              </a:rPr>
              <a:t> </a:t>
            </a:r>
            <a:r>
              <a:rPr sz="2600" b="1" i="1" dirty="0">
                <a:latin typeface="Georgia"/>
                <a:cs typeface="Georgia"/>
              </a:rPr>
              <a:t>design,</a:t>
            </a:r>
            <a:r>
              <a:rPr sz="2600" b="1" i="1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where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you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design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system </a:t>
            </a:r>
            <a:r>
              <a:rPr sz="2600" dirty="0">
                <a:latin typeface="Georgia"/>
                <a:cs typeface="Georgia"/>
              </a:rPr>
              <a:t>data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structures</a:t>
            </a:r>
            <a:r>
              <a:rPr sz="2600" spc="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how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these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are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be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represented </a:t>
            </a:r>
            <a:r>
              <a:rPr sz="2600" dirty="0">
                <a:latin typeface="Georgia"/>
                <a:cs typeface="Georgia"/>
              </a:rPr>
              <a:t>in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database.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070" y="736168"/>
            <a:ext cx="302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798" y="1887230"/>
            <a:ext cx="7098030" cy="1904366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The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“Do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It”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phase</a:t>
            </a:r>
            <a:endParaRPr lang="en-US" sz="2800" spc="-2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lang="en-US" sz="2800" spc="-20" dirty="0">
                <a:latin typeface="Georgia"/>
                <a:cs typeface="Georgia"/>
              </a:rPr>
              <a:t>Actual coding/programming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Coding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&amp;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Unit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testing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Other</a:t>
            </a:r>
            <a:r>
              <a:rPr sz="2800" spc="-1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concurrent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activities</a:t>
            </a:r>
            <a:endParaRPr sz="2800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0926" y="3297301"/>
            <a:ext cx="2035175" cy="22589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5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60" dirty="0"/>
              <a:t> </a:t>
            </a:r>
            <a:r>
              <a:rPr dirty="0"/>
              <a:t>validation</a:t>
            </a:r>
            <a:r>
              <a:rPr spc="-125" dirty="0"/>
              <a:t> </a:t>
            </a:r>
            <a:r>
              <a:rPr spc="25" dirty="0"/>
              <a:t>(</a:t>
            </a:r>
            <a:r>
              <a:rPr spc="-500" dirty="0"/>
              <a:t>T</a:t>
            </a:r>
            <a:r>
              <a:rPr spc="35" dirty="0"/>
              <a:t>e</a:t>
            </a:r>
            <a:r>
              <a:rPr spc="15" dirty="0"/>
              <a:t>st</a:t>
            </a:r>
            <a:r>
              <a:rPr spc="30" dirty="0"/>
              <a:t>in</a:t>
            </a:r>
            <a:r>
              <a:rPr spc="15" dirty="0"/>
              <a:t>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74773"/>
            <a:ext cx="7848600" cy="28257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>
              <a:lnSpc>
                <a:spcPct val="99900"/>
              </a:lnSpc>
              <a:spcBef>
                <a:spcPts val="9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dirty="0">
                <a:latin typeface="Georgia"/>
                <a:cs typeface="Georgia"/>
              </a:rPr>
              <a:t>Verification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validation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(V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&amp;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V)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intended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to </a:t>
            </a:r>
            <a:r>
              <a:rPr sz="2600" dirty="0">
                <a:latin typeface="Georgia"/>
                <a:cs typeface="Georgia"/>
              </a:rPr>
              <a:t>show</a:t>
            </a:r>
            <a:r>
              <a:rPr sz="2600" spc="-10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conforms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its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specification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and </a:t>
            </a:r>
            <a:r>
              <a:rPr sz="2600" dirty="0">
                <a:latin typeface="Georgia"/>
                <a:cs typeface="Georgia"/>
              </a:rPr>
              <a:t>meets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requirements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customer.</a:t>
            </a:r>
            <a:endParaRPr lang="en-US" sz="2600" spc="-10" dirty="0">
              <a:latin typeface="Georgia"/>
              <a:cs typeface="Georgia"/>
            </a:endParaRPr>
          </a:p>
          <a:p>
            <a:pPr marL="268605" marR="5080" indent="-256540">
              <a:lnSpc>
                <a:spcPct val="99900"/>
              </a:lnSpc>
              <a:spcBef>
                <a:spcPts val="9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lang="en-US" sz="2600" b="1" spc="-10" dirty="0">
                <a:latin typeface="Georgia"/>
                <a:cs typeface="Georgia"/>
              </a:rPr>
              <a:t>Verification</a:t>
            </a:r>
            <a:r>
              <a:rPr lang="en-US" sz="2600" spc="-10" dirty="0">
                <a:latin typeface="Georgia"/>
                <a:cs typeface="Georgia"/>
              </a:rPr>
              <a:t> : Are we building the product right? (process) </a:t>
            </a:r>
            <a:br>
              <a:rPr lang="en-US" sz="2600" spc="-10" dirty="0">
                <a:latin typeface="Georgia"/>
                <a:cs typeface="Georgia"/>
              </a:rPr>
            </a:br>
            <a:r>
              <a:rPr lang="en-US" sz="2600" b="1" spc="-10" dirty="0">
                <a:latin typeface="Georgia"/>
                <a:cs typeface="Georgia"/>
              </a:rPr>
              <a:t>Validation: </a:t>
            </a:r>
            <a:r>
              <a:rPr lang="en-US" sz="2600" spc="-10" dirty="0">
                <a:latin typeface="Georgia"/>
                <a:cs typeface="Georgia"/>
              </a:rPr>
              <a:t>Are we building the right product? (product)</a:t>
            </a:r>
            <a:endParaRPr sz="26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737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Stages</a:t>
            </a:r>
            <a:r>
              <a:rPr sz="3600" spc="-75" dirty="0"/>
              <a:t> </a:t>
            </a:r>
            <a:r>
              <a:rPr sz="3600" dirty="0"/>
              <a:t>of</a:t>
            </a:r>
            <a:r>
              <a:rPr sz="3600" spc="-20" dirty="0"/>
              <a:t> </a:t>
            </a:r>
            <a:r>
              <a:rPr sz="3600" spc="-10" dirty="0"/>
              <a:t>testing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1492108" y="2845467"/>
            <a:ext cx="6270625" cy="1673860"/>
            <a:chOff x="1492108" y="2845467"/>
            <a:chExt cx="6270625" cy="1673860"/>
          </a:xfrm>
        </p:grpSpPr>
        <p:sp>
          <p:nvSpPr>
            <p:cNvPr id="5" name="object 5"/>
            <p:cNvSpPr/>
            <p:nvPr/>
          </p:nvSpPr>
          <p:spPr>
            <a:xfrm>
              <a:off x="3694637" y="3448261"/>
              <a:ext cx="1859280" cy="704850"/>
            </a:xfrm>
            <a:custGeom>
              <a:avLst/>
              <a:gdLst/>
              <a:ahLst/>
              <a:cxnLst/>
              <a:rect l="l" t="t" r="r" b="b"/>
              <a:pathLst>
                <a:path w="1859279" h="704850">
                  <a:moveTo>
                    <a:pt x="1506939" y="0"/>
                  </a:moveTo>
                  <a:lnTo>
                    <a:pt x="351892" y="0"/>
                  </a:lnTo>
                  <a:lnTo>
                    <a:pt x="304529" y="3210"/>
                  </a:lnTo>
                  <a:lnTo>
                    <a:pt x="258984" y="12562"/>
                  </a:lnTo>
                  <a:lnTo>
                    <a:pt x="215696" y="27640"/>
                  </a:lnTo>
                  <a:lnTo>
                    <a:pt x="175104" y="48025"/>
                  </a:lnTo>
                  <a:lnTo>
                    <a:pt x="137644" y="73301"/>
                  </a:lnTo>
                  <a:lnTo>
                    <a:pt x="103757" y="103051"/>
                  </a:lnTo>
                  <a:lnTo>
                    <a:pt x="73880" y="136858"/>
                  </a:lnTo>
                  <a:lnTo>
                    <a:pt x="48452" y="174303"/>
                  </a:lnTo>
                  <a:lnTo>
                    <a:pt x="27912" y="214971"/>
                  </a:lnTo>
                  <a:lnTo>
                    <a:pt x="12697" y="258444"/>
                  </a:lnTo>
                  <a:lnTo>
                    <a:pt x="3247" y="304305"/>
                  </a:lnTo>
                  <a:lnTo>
                    <a:pt x="0" y="352137"/>
                  </a:lnTo>
                  <a:lnTo>
                    <a:pt x="3247" y="399969"/>
                  </a:lnTo>
                  <a:lnTo>
                    <a:pt x="12697" y="445830"/>
                  </a:lnTo>
                  <a:lnTo>
                    <a:pt x="27912" y="489303"/>
                  </a:lnTo>
                  <a:lnTo>
                    <a:pt x="48452" y="529971"/>
                  </a:lnTo>
                  <a:lnTo>
                    <a:pt x="73880" y="567416"/>
                  </a:lnTo>
                  <a:lnTo>
                    <a:pt x="103757" y="601223"/>
                  </a:lnTo>
                  <a:lnTo>
                    <a:pt x="137644" y="630973"/>
                  </a:lnTo>
                  <a:lnTo>
                    <a:pt x="175104" y="656249"/>
                  </a:lnTo>
                  <a:lnTo>
                    <a:pt x="215696" y="676634"/>
                  </a:lnTo>
                  <a:lnTo>
                    <a:pt x="258984" y="691712"/>
                  </a:lnTo>
                  <a:lnTo>
                    <a:pt x="304529" y="701064"/>
                  </a:lnTo>
                  <a:lnTo>
                    <a:pt x="351892" y="704274"/>
                  </a:lnTo>
                  <a:lnTo>
                    <a:pt x="1506939" y="704274"/>
                  </a:lnTo>
                  <a:lnTo>
                    <a:pt x="1554730" y="701064"/>
                  </a:lnTo>
                  <a:lnTo>
                    <a:pt x="1600551" y="691712"/>
                  </a:lnTo>
                  <a:lnTo>
                    <a:pt x="1643987" y="676634"/>
                  </a:lnTo>
                  <a:lnTo>
                    <a:pt x="1684621" y="656249"/>
                  </a:lnTo>
                  <a:lnTo>
                    <a:pt x="1722034" y="630973"/>
                  </a:lnTo>
                  <a:lnTo>
                    <a:pt x="1755812" y="601223"/>
                  </a:lnTo>
                  <a:lnTo>
                    <a:pt x="1785537" y="567416"/>
                  </a:lnTo>
                  <a:lnTo>
                    <a:pt x="1810791" y="529971"/>
                  </a:lnTo>
                  <a:lnTo>
                    <a:pt x="1831160" y="489303"/>
                  </a:lnTo>
                  <a:lnTo>
                    <a:pt x="1846224" y="445830"/>
                  </a:lnTo>
                  <a:lnTo>
                    <a:pt x="1855569" y="399969"/>
                  </a:lnTo>
                  <a:lnTo>
                    <a:pt x="1858776" y="352137"/>
                  </a:lnTo>
                  <a:lnTo>
                    <a:pt x="1855569" y="304305"/>
                  </a:lnTo>
                  <a:lnTo>
                    <a:pt x="1846224" y="258444"/>
                  </a:lnTo>
                  <a:lnTo>
                    <a:pt x="1831160" y="214971"/>
                  </a:lnTo>
                  <a:lnTo>
                    <a:pt x="1810791" y="174303"/>
                  </a:lnTo>
                  <a:lnTo>
                    <a:pt x="1785537" y="136858"/>
                  </a:lnTo>
                  <a:lnTo>
                    <a:pt x="1755812" y="103051"/>
                  </a:lnTo>
                  <a:lnTo>
                    <a:pt x="1722034" y="73301"/>
                  </a:lnTo>
                  <a:lnTo>
                    <a:pt x="1684621" y="48025"/>
                  </a:lnTo>
                  <a:lnTo>
                    <a:pt x="1643987" y="27640"/>
                  </a:lnTo>
                  <a:lnTo>
                    <a:pt x="1600551" y="12562"/>
                  </a:lnTo>
                  <a:lnTo>
                    <a:pt x="1554730" y="3210"/>
                  </a:lnTo>
                  <a:lnTo>
                    <a:pt x="1506939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94637" y="3448261"/>
              <a:ext cx="1859280" cy="704850"/>
            </a:xfrm>
            <a:custGeom>
              <a:avLst/>
              <a:gdLst/>
              <a:ahLst/>
              <a:cxnLst/>
              <a:rect l="l" t="t" r="r" b="b"/>
              <a:pathLst>
                <a:path w="1859279" h="704850">
                  <a:moveTo>
                    <a:pt x="351892" y="0"/>
                  </a:moveTo>
                  <a:lnTo>
                    <a:pt x="1506939" y="0"/>
                  </a:lnTo>
                  <a:lnTo>
                    <a:pt x="1554730" y="3210"/>
                  </a:lnTo>
                  <a:lnTo>
                    <a:pt x="1600551" y="12562"/>
                  </a:lnTo>
                  <a:lnTo>
                    <a:pt x="1643987" y="27640"/>
                  </a:lnTo>
                  <a:lnTo>
                    <a:pt x="1684621" y="48025"/>
                  </a:lnTo>
                  <a:lnTo>
                    <a:pt x="1722034" y="73301"/>
                  </a:lnTo>
                  <a:lnTo>
                    <a:pt x="1755812" y="103051"/>
                  </a:lnTo>
                  <a:lnTo>
                    <a:pt x="1785537" y="136858"/>
                  </a:lnTo>
                  <a:lnTo>
                    <a:pt x="1810791" y="174303"/>
                  </a:lnTo>
                  <a:lnTo>
                    <a:pt x="1831160" y="214971"/>
                  </a:lnTo>
                  <a:lnTo>
                    <a:pt x="1846224" y="258444"/>
                  </a:lnTo>
                  <a:lnTo>
                    <a:pt x="1855569" y="304305"/>
                  </a:lnTo>
                  <a:lnTo>
                    <a:pt x="1858776" y="352137"/>
                  </a:lnTo>
                  <a:lnTo>
                    <a:pt x="1855569" y="399969"/>
                  </a:lnTo>
                  <a:lnTo>
                    <a:pt x="1846224" y="445830"/>
                  </a:lnTo>
                  <a:lnTo>
                    <a:pt x="1831160" y="489303"/>
                  </a:lnTo>
                  <a:lnTo>
                    <a:pt x="1810791" y="529970"/>
                  </a:lnTo>
                  <a:lnTo>
                    <a:pt x="1785537" y="567416"/>
                  </a:lnTo>
                  <a:lnTo>
                    <a:pt x="1755812" y="601223"/>
                  </a:lnTo>
                  <a:lnTo>
                    <a:pt x="1722034" y="630973"/>
                  </a:lnTo>
                  <a:lnTo>
                    <a:pt x="1684621" y="656249"/>
                  </a:lnTo>
                  <a:lnTo>
                    <a:pt x="1643987" y="676634"/>
                  </a:lnTo>
                  <a:lnTo>
                    <a:pt x="1600551" y="691712"/>
                  </a:lnTo>
                  <a:lnTo>
                    <a:pt x="1554730" y="701064"/>
                  </a:lnTo>
                  <a:lnTo>
                    <a:pt x="1506939" y="704274"/>
                  </a:lnTo>
                  <a:lnTo>
                    <a:pt x="351892" y="704274"/>
                  </a:lnTo>
                  <a:lnTo>
                    <a:pt x="304529" y="701064"/>
                  </a:lnTo>
                  <a:lnTo>
                    <a:pt x="258984" y="691712"/>
                  </a:lnTo>
                  <a:lnTo>
                    <a:pt x="215696" y="676634"/>
                  </a:lnTo>
                  <a:lnTo>
                    <a:pt x="175104" y="656249"/>
                  </a:lnTo>
                  <a:lnTo>
                    <a:pt x="137644" y="630973"/>
                  </a:lnTo>
                  <a:lnTo>
                    <a:pt x="103757" y="601223"/>
                  </a:lnTo>
                  <a:lnTo>
                    <a:pt x="73880" y="567416"/>
                  </a:lnTo>
                  <a:lnTo>
                    <a:pt x="48452" y="529970"/>
                  </a:lnTo>
                  <a:lnTo>
                    <a:pt x="27912" y="489303"/>
                  </a:lnTo>
                  <a:lnTo>
                    <a:pt x="12697" y="445830"/>
                  </a:lnTo>
                  <a:lnTo>
                    <a:pt x="3247" y="399969"/>
                  </a:lnTo>
                  <a:lnTo>
                    <a:pt x="0" y="352137"/>
                  </a:lnTo>
                  <a:lnTo>
                    <a:pt x="3247" y="304305"/>
                  </a:lnTo>
                  <a:lnTo>
                    <a:pt x="12697" y="258444"/>
                  </a:lnTo>
                  <a:lnTo>
                    <a:pt x="27912" y="214971"/>
                  </a:lnTo>
                  <a:lnTo>
                    <a:pt x="48452" y="174303"/>
                  </a:lnTo>
                  <a:lnTo>
                    <a:pt x="73880" y="136858"/>
                  </a:lnTo>
                  <a:lnTo>
                    <a:pt x="103757" y="103051"/>
                  </a:lnTo>
                  <a:lnTo>
                    <a:pt x="137644" y="73301"/>
                  </a:lnTo>
                  <a:lnTo>
                    <a:pt x="175104" y="48025"/>
                  </a:lnTo>
                  <a:lnTo>
                    <a:pt x="215696" y="27640"/>
                  </a:lnTo>
                  <a:lnTo>
                    <a:pt x="258984" y="12562"/>
                  </a:lnTo>
                  <a:lnTo>
                    <a:pt x="304529" y="3210"/>
                  </a:lnTo>
                  <a:lnTo>
                    <a:pt x="351892" y="0"/>
                  </a:lnTo>
                  <a:close/>
                </a:path>
              </a:pathLst>
            </a:custGeom>
            <a:ln w="24843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83191" y="3406834"/>
              <a:ext cx="1780539" cy="704850"/>
            </a:xfrm>
            <a:custGeom>
              <a:avLst/>
              <a:gdLst/>
              <a:ahLst/>
              <a:cxnLst/>
              <a:rect l="l" t="t" r="r" b="b"/>
              <a:pathLst>
                <a:path w="1780539" h="704850">
                  <a:moveTo>
                    <a:pt x="1428329" y="0"/>
                  </a:moveTo>
                  <a:lnTo>
                    <a:pt x="351900" y="0"/>
                  </a:lnTo>
                  <a:lnTo>
                    <a:pt x="304101" y="3210"/>
                  </a:lnTo>
                  <a:lnTo>
                    <a:pt x="258272" y="12562"/>
                  </a:lnTo>
                  <a:lnTo>
                    <a:pt x="214828" y="27640"/>
                  </a:lnTo>
                  <a:lnTo>
                    <a:pt x="174187" y="48025"/>
                  </a:lnTo>
                  <a:lnTo>
                    <a:pt x="136767" y="73301"/>
                  </a:lnTo>
                  <a:lnTo>
                    <a:pt x="102983" y="103051"/>
                  </a:lnTo>
                  <a:lnTo>
                    <a:pt x="73253" y="136858"/>
                  </a:lnTo>
                  <a:lnTo>
                    <a:pt x="47993" y="174303"/>
                  </a:lnTo>
                  <a:lnTo>
                    <a:pt x="27621" y="214971"/>
                  </a:lnTo>
                  <a:lnTo>
                    <a:pt x="12554" y="258444"/>
                  </a:lnTo>
                  <a:lnTo>
                    <a:pt x="3208" y="304305"/>
                  </a:lnTo>
                  <a:lnTo>
                    <a:pt x="0" y="352137"/>
                  </a:lnTo>
                  <a:lnTo>
                    <a:pt x="3208" y="399969"/>
                  </a:lnTo>
                  <a:lnTo>
                    <a:pt x="12554" y="445830"/>
                  </a:lnTo>
                  <a:lnTo>
                    <a:pt x="27621" y="489303"/>
                  </a:lnTo>
                  <a:lnTo>
                    <a:pt x="47993" y="529971"/>
                  </a:lnTo>
                  <a:lnTo>
                    <a:pt x="73253" y="567416"/>
                  </a:lnTo>
                  <a:lnTo>
                    <a:pt x="102983" y="601223"/>
                  </a:lnTo>
                  <a:lnTo>
                    <a:pt x="136767" y="630973"/>
                  </a:lnTo>
                  <a:lnTo>
                    <a:pt x="174187" y="656249"/>
                  </a:lnTo>
                  <a:lnTo>
                    <a:pt x="214828" y="676634"/>
                  </a:lnTo>
                  <a:lnTo>
                    <a:pt x="258272" y="691712"/>
                  </a:lnTo>
                  <a:lnTo>
                    <a:pt x="304101" y="701064"/>
                  </a:lnTo>
                  <a:lnTo>
                    <a:pt x="351900" y="704274"/>
                  </a:lnTo>
                  <a:lnTo>
                    <a:pt x="1428329" y="704274"/>
                  </a:lnTo>
                  <a:lnTo>
                    <a:pt x="1476127" y="701064"/>
                  </a:lnTo>
                  <a:lnTo>
                    <a:pt x="1521955" y="691712"/>
                  </a:lnTo>
                  <a:lnTo>
                    <a:pt x="1565398" y="676634"/>
                  </a:lnTo>
                  <a:lnTo>
                    <a:pt x="1606037" y="656249"/>
                  </a:lnTo>
                  <a:lnTo>
                    <a:pt x="1643457" y="630973"/>
                  </a:lnTo>
                  <a:lnTo>
                    <a:pt x="1677240" y="601223"/>
                  </a:lnTo>
                  <a:lnTo>
                    <a:pt x="1706969" y="567416"/>
                  </a:lnTo>
                  <a:lnTo>
                    <a:pt x="1732228" y="529971"/>
                  </a:lnTo>
                  <a:lnTo>
                    <a:pt x="1752600" y="489303"/>
                  </a:lnTo>
                  <a:lnTo>
                    <a:pt x="1767667" y="445830"/>
                  </a:lnTo>
                  <a:lnTo>
                    <a:pt x="1777013" y="399969"/>
                  </a:lnTo>
                  <a:lnTo>
                    <a:pt x="1780221" y="352137"/>
                  </a:lnTo>
                  <a:lnTo>
                    <a:pt x="1777013" y="304305"/>
                  </a:lnTo>
                  <a:lnTo>
                    <a:pt x="1767667" y="258444"/>
                  </a:lnTo>
                  <a:lnTo>
                    <a:pt x="1752600" y="214971"/>
                  </a:lnTo>
                  <a:lnTo>
                    <a:pt x="1732228" y="174303"/>
                  </a:lnTo>
                  <a:lnTo>
                    <a:pt x="1706969" y="136858"/>
                  </a:lnTo>
                  <a:lnTo>
                    <a:pt x="1677240" y="103051"/>
                  </a:lnTo>
                  <a:lnTo>
                    <a:pt x="1643457" y="73301"/>
                  </a:lnTo>
                  <a:lnTo>
                    <a:pt x="1606037" y="48025"/>
                  </a:lnTo>
                  <a:lnTo>
                    <a:pt x="1565398" y="27640"/>
                  </a:lnTo>
                  <a:lnTo>
                    <a:pt x="1521955" y="12562"/>
                  </a:lnTo>
                  <a:lnTo>
                    <a:pt x="1476127" y="3210"/>
                  </a:lnTo>
                  <a:lnTo>
                    <a:pt x="1428329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83191" y="3406834"/>
              <a:ext cx="1780539" cy="704850"/>
            </a:xfrm>
            <a:custGeom>
              <a:avLst/>
              <a:gdLst/>
              <a:ahLst/>
              <a:cxnLst/>
              <a:rect l="l" t="t" r="r" b="b"/>
              <a:pathLst>
                <a:path w="1780539" h="704850">
                  <a:moveTo>
                    <a:pt x="351900" y="0"/>
                  </a:moveTo>
                  <a:lnTo>
                    <a:pt x="1428329" y="0"/>
                  </a:lnTo>
                  <a:lnTo>
                    <a:pt x="1476127" y="3210"/>
                  </a:lnTo>
                  <a:lnTo>
                    <a:pt x="1521955" y="12562"/>
                  </a:lnTo>
                  <a:lnTo>
                    <a:pt x="1565398" y="27640"/>
                  </a:lnTo>
                  <a:lnTo>
                    <a:pt x="1606037" y="48025"/>
                  </a:lnTo>
                  <a:lnTo>
                    <a:pt x="1643457" y="73301"/>
                  </a:lnTo>
                  <a:lnTo>
                    <a:pt x="1677240" y="103051"/>
                  </a:lnTo>
                  <a:lnTo>
                    <a:pt x="1706969" y="136858"/>
                  </a:lnTo>
                  <a:lnTo>
                    <a:pt x="1732228" y="174303"/>
                  </a:lnTo>
                  <a:lnTo>
                    <a:pt x="1752600" y="214971"/>
                  </a:lnTo>
                  <a:lnTo>
                    <a:pt x="1767667" y="258444"/>
                  </a:lnTo>
                  <a:lnTo>
                    <a:pt x="1777013" y="304305"/>
                  </a:lnTo>
                  <a:lnTo>
                    <a:pt x="1780221" y="352137"/>
                  </a:lnTo>
                  <a:lnTo>
                    <a:pt x="1777013" y="399969"/>
                  </a:lnTo>
                  <a:lnTo>
                    <a:pt x="1767667" y="445830"/>
                  </a:lnTo>
                  <a:lnTo>
                    <a:pt x="1752600" y="489303"/>
                  </a:lnTo>
                  <a:lnTo>
                    <a:pt x="1732228" y="529970"/>
                  </a:lnTo>
                  <a:lnTo>
                    <a:pt x="1706969" y="567416"/>
                  </a:lnTo>
                  <a:lnTo>
                    <a:pt x="1677240" y="601223"/>
                  </a:lnTo>
                  <a:lnTo>
                    <a:pt x="1643457" y="630973"/>
                  </a:lnTo>
                  <a:lnTo>
                    <a:pt x="1606037" y="656249"/>
                  </a:lnTo>
                  <a:lnTo>
                    <a:pt x="1565398" y="676634"/>
                  </a:lnTo>
                  <a:lnTo>
                    <a:pt x="1521955" y="691712"/>
                  </a:lnTo>
                  <a:lnTo>
                    <a:pt x="1476127" y="701064"/>
                  </a:lnTo>
                  <a:lnTo>
                    <a:pt x="1428329" y="704274"/>
                  </a:lnTo>
                  <a:lnTo>
                    <a:pt x="351900" y="704274"/>
                  </a:lnTo>
                  <a:lnTo>
                    <a:pt x="304101" y="701064"/>
                  </a:lnTo>
                  <a:lnTo>
                    <a:pt x="258272" y="691712"/>
                  </a:lnTo>
                  <a:lnTo>
                    <a:pt x="214828" y="676634"/>
                  </a:lnTo>
                  <a:lnTo>
                    <a:pt x="174187" y="656249"/>
                  </a:lnTo>
                  <a:lnTo>
                    <a:pt x="136767" y="630973"/>
                  </a:lnTo>
                  <a:lnTo>
                    <a:pt x="102983" y="601223"/>
                  </a:lnTo>
                  <a:lnTo>
                    <a:pt x="73253" y="567416"/>
                  </a:lnTo>
                  <a:lnTo>
                    <a:pt x="47993" y="529970"/>
                  </a:lnTo>
                  <a:lnTo>
                    <a:pt x="27621" y="489303"/>
                  </a:lnTo>
                  <a:lnTo>
                    <a:pt x="12554" y="445830"/>
                  </a:lnTo>
                  <a:lnTo>
                    <a:pt x="3208" y="399969"/>
                  </a:lnTo>
                  <a:lnTo>
                    <a:pt x="0" y="352137"/>
                  </a:lnTo>
                  <a:lnTo>
                    <a:pt x="3208" y="304305"/>
                  </a:lnTo>
                  <a:lnTo>
                    <a:pt x="12554" y="258444"/>
                  </a:lnTo>
                  <a:lnTo>
                    <a:pt x="27621" y="214971"/>
                  </a:lnTo>
                  <a:lnTo>
                    <a:pt x="47993" y="174303"/>
                  </a:lnTo>
                  <a:lnTo>
                    <a:pt x="73253" y="136858"/>
                  </a:lnTo>
                  <a:lnTo>
                    <a:pt x="102983" y="103051"/>
                  </a:lnTo>
                  <a:lnTo>
                    <a:pt x="136767" y="73301"/>
                  </a:lnTo>
                  <a:lnTo>
                    <a:pt x="174187" y="48025"/>
                  </a:lnTo>
                  <a:lnTo>
                    <a:pt x="214828" y="27640"/>
                  </a:lnTo>
                  <a:lnTo>
                    <a:pt x="258272" y="12562"/>
                  </a:lnTo>
                  <a:lnTo>
                    <a:pt x="304101" y="3210"/>
                  </a:lnTo>
                  <a:lnTo>
                    <a:pt x="351900" y="0"/>
                  </a:lnTo>
                  <a:close/>
                </a:path>
              </a:pathLst>
            </a:custGeom>
            <a:ln w="24843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90901" y="3406834"/>
              <a:ext cx="1859280" cy="704850"/>
            </a:xfrm>
            <a:custGeom>
              <a:avLst/>
              <a:gdLst/>
              <a:ahLst/>
              <a:cxnLst/>
              <a:rect l="l" t="t" r="r" b="b"/>
              <a:pathLst>
                <a:path w="1859279" h="704850">
                  <a:moveTo>
                    <a:pt x="1506967" y="0"/>
                  </a:moveTo>
                  <a:lnTo>
                    <a:pt x="354044" y="0"/>
                  </a:lnTo>
                  <a:lnTo>
                    <a:pt x="306210" y="3210"/>
                  </a:lnTo>
                  <a:lnTo>
                    <a:pt x="260268" y="12562"/>
                  </a:lnTo>
                  <a:lnTo>
                    <a:pt x="216651" y="27640"/>
                  </a:lnTo>
                  <a:lnTo>
                    <a:pt x="175790" y="48025"/>
                  </a:lnTo>
                  <a:lnTo>
                    <a:pt x="138118" y="73301"/>
                  </a:lnTo>
                  <a:lnTo>
                    <a:pt x="104067" y="103051"/>
                  </a:lnTo>
                  <a:lnTo>
                    <a:pt x="74069" y="136858"/>
                  </a:lnTo>
                  <a:lnTo>
                    <a:pt x="48557" y="174303"/>
                  </a:lnTo>
                  <a:lnTo>
                    <a:pt x="27961" y="214971"/>
                  </a:lnTo>
                  <a:lnTo>
                    <a:pt x="12715" y="258444"/>
                  </a:lnTo>
                  <a:lnTo>
                    <a:pt x="3250" y="304305"/>
                  </a:lnTo>
                  <a:lnTo>
                    <a:pt x="0" y="352137"/>
                  </a:lnTo>
                  <a:lnTo>
                    <a:pt x="3250" y="399969"/>
                  </a:lnTo>
                  <a:lnTo>
                    <a:pt x="12715" y="445830"/>
                  </a:lnTo>
                  <a:lnTo>
                    <a:pt x="27961" y="489303"/>
                  </a:lnTo>
                  <a:lnTo>
                    <a:pt x="48557" y="529971"/>
                  </a:lnTo>
                  <a:lnTo>
                    <a:pt x="74069" y="567416"/>
                  </a:lnTo>
                  <a:lnTo>
                    <a:pt x="104067" y="601223"/>
                  </a:lnTo>
                  <a:lnTo>
                    <a:pt x="138118" y="630973"/>
                  </a:lnTo>
                  <a:lnTo>
                    <a:pt x="175790" y="656249"/>
                  </a:lnTo>
                  <a:lnTo>
                    <a:pt x="216651" y="676634"/>
                  </a:lnTo>
                  <a:lnTo>
                    <a:pt x="260268" y="691712"/>
                  </a:lnTo>
                  <a:lnTo>
                    <a:pt x="306210" y="701064"/>
                  </a:lnTo>
                  <a:lnTo>
                    <a:pt x="354044" y="704274"/>
                  </a:lnTo>
                  <a:lnTo>
                    <a:pt x="1506967" y="704274"/>
                  </a:lnTo>
                  <a:lnTo>
                    <a:pt x="1554757" y="701064"/>
                  </a:lnTo>
                  <a:lnTo>
                    <a:pt x="1600579" y="691712"/>
                  </a:lnTo>
                  <a:lnTo>
                    <a:pt x="1644015" y="676634"/>
                  </a:lnTo>
                  <a:lnTo>
                    <a:pt x="1684648" y="656249"/>
                  </a:lnTo>
                  <a:lnTo>
                    <a:pt x="1722062" y="630973"/>
                  </a:lnTo>
                  <a:lnTo>
                    <a:pt x="1755840" y="601223"/>
                  </a:lnTo>
                  <a:lnTo>
                    <a:pt x="1785564" y="567416"/>
                  </a:lnTo>
                  <a:lnTo>
                    <a:pt x="1810819" y="529971"/>
                  </a:lnTo>
                  <a:lnTo>
                    <a:pt x="1831187" y="489303"/>
                  </a:lnTo>
                  <a:lnTo>
                    <a:pt x="1846252" y="445830"/>
                  </a:lnTo>
                  <a:lnTo>
                    <a:pt x="1855596" y="399969"/>
                  </a:lnTo>
                  <a:lnTo>
                    <a:pt x="1858804" y="352137"/>
                  </a:lnTo>
                  <a:lnTo>
                    <a:pt x="1855596" y="304305"/>
                  </a:lnTo>
                  <a:lnTo>
                    <a:pt x="1846252" y="258444"/>
                  </a:lnTo>
                  <a:lnTo>
                    <a:pt x="1831187" y="214971"/>
                  </a:lnTo>
                  <a:lnTo>
                    <a:pt x="1810819" y="174303"/>
                  </a:lnTo>
                  <a:lnTo>
                    <a:pt x="1785564" y="136858"/>
                  </a:lnTo>
                  <a:lnTo>
                    <a:pt x="1755840" y="103051"/>
                  </a:lnTo>
                  <a:lnTo>
                    <a:pt x="1722062" y="73301"/>
                  </a:lnTo>
                  <a:lnTo>
                    <a:pt x="1684648" y="48025"/>
                  </a:lnTo>
                  <a:lnTo>
                    <a:pt x="1644015" y="27640"/>
                  </a:lnTo>
                  <a:lnTo>
                    <a:pt x="1600579" y="12562"/>
                  </a:lnTo>
                  <a:lnTo>
                    <a:pt x="1554757" y="3210"/>
                  </a:lnTo>
                  <a:lnTo>
                    <a:pt x="1506967" y="0"/>
                  </a:lnTo>
                  <a:close/>
                </a:path>
              </a:pathLst>
            </a:custGeom>
            <a:solidFill>
              <a:srgbClr val="7ED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90901" y="3406834"/>
              <a:ext cx="1859280" cy="704850"/>
            </a:xfrm>
            <a:custGeom>
              <a:avLst/>
              <a:gdLst/>
              <a:ahLst/>
              <a:cxnLst/>
              <a:rect l="l" t="t" r="r" b="b"/>
              <a:pathLst>
                <a:path w="1859279" h="704850">
                  <a:moveTo>
                    <a:pt x="354044" y="0"/>
                  </a:moveTo>
                  <a:lnTo>
                    <a:pt x="1506967" y="0"/>
                  </a:lnTo>
                  <a:lnTo>
                    <a:pt x="1554757" y="3210"/>
                  </a:lnTo>
                  <a:lnTo>
                    <a:pt x="1600579" y="12562"/>
                  </a:lnTo>
                  <a:lnTo>
                    <a:pt x="1644015" y="27640"/>
                  </a:lnTo>
                  <a:lnTo>
                    <a:pt x="1684648" y="48025"/>
                  </a:lnTo>
                  <a:lnTo>
                    <a:pt x="1722062" y="73301"/>
                  </a:lnTo>
                  <a:lnTo>
                    <a:pt x="1755840" y="103051"/>
                  </a:lnTo>
                  <a:lnTo>
                    <a:pt x="1785564" y="136858"/>
                  </a:lnTo>
                  <a:lnTo>
                    <a:pt x="1810819" y="174303"/>
                  </a:lnTo>
                  <a:lnTo>
                    <a:pt x="1831187" y="214971"/>
                  </a:lnTo>
                  <a:lnTo>
                    <a:pt x="1846252" y="258444"/>
                  </a:lnTo>
                  <a:lnTo>
                    <a:pt x="1855596" y="304305"/>
                  </a:lnTo>
                  <a:lnTo>
                    <a:pt x="1858804" y="352137"/>
                  </a:lnTo>
                  <a:lnTo>
                    <a:pt x="1855596" y="399969"/>
                  </a:lnTo>
                  <a:lnTo>
                    <a:pt x="1846252" y="445830"/>
                  </a:lnTo>
                  <a:lnTo>
                    <a:pt x="1831187" y="489303"/>
                  </a:lnTo>
                  <a:lnTo>
                    <a:pt x="1810819" y="529970"/>
                  </a:lnTo>
                  <a:lnTo>
                    <a:pt x="1785564" y="567416"/>
                  </a:lnTo>
                  <a:lnTo>
                    <a:pt x="1755840" y="601223"/>
                  </a:lnTo>
                  <a:lnTo>
                    <a:pt x="1722062" y="630973"/>
                  </a:lnTo>
                  <a:lnTo>
                    <a:pt x="1684648" y="656249"/>
                  </a:lnTo>
                  <a:lnTo>
                    <a:pt x="1644015" y="676634"/>
                  </a:lnTo>
                  <a:lnTo>
                    <a:pt x="1600579" y="691712"/>
                  </a:lnTo>
                  <a:lnTo>
                    <a:pt x="1554757" y="701064"/>
                  </a:lnTo>
                  <a:lnTo>
                    <a:pt x="1506967" y="704274"/>
                  </a:lnTo>
                  <a:lnTo>
                    <a:pt x="354044" y="704274"/>
                  </a:lnTo>
                  <a:lnTo>
                    <a:pt x="306210" y="701064"/>
                  </a:lnTo>
                  <a:lnTo>
                    <a:pt x="260268" y="691712"/>
                  </a:lnTo>
                  <a:lnTo>
                    <a:pt x="216651" y="676634"/>
                  </a:lnTo>
                  <a:lnTo>
                    <a:pt x="175790" y="656249"/>
                  </a:lnTo>
                  <a:lnTo>
                    <a:pt x="138118" y="630973"/>
                  </a:lnTo>
                  <a:lnTo>
                    <a:pt x="104067" y="601223"/>
                  </a:lnTo>
                  <a:lnTo>
                    <a:pt x="74069" y="567416"/>
                  </a:lnTo>
                  <a:lnTo>
                    <a:pt x="48557" y="529970"/>
                  </a:lnTo>
                  <a:lnTo>
                    <a:pt x="27961" y="489303"/>
                  </a:lnTo>
                  <a:lnTo>
                    <a:pt x="12715" y="445830"/>
                  </a:lnTo>
                  <a:lnTo>
                    <a:pt x="3250" y="399969"/>
                  </a:lnTo>
                  <a:lnTo>
                    <a:pt x="0" y="352137"/>
                  </a:lnTo>
                  <a:lnTo>
                    <a:pt x="3250" y="304305"/>
                  </a:lnTo>
                  <a:lnTo>
                    <a:pt x="12715" y="258444"/>
                  </a:lnTo>
                  <a:lnTo>
                    <a:pt x="27961" y="214971"/>
                  </a:lnTo>
                  <a:lnTo>
                    <a:pt x="48557" y="174303"/>
                  </a:lnTo>
                  <a:lnTo>
                    <a:pt x="74069" y="136858"/>
                  </a:lnTo>
                  <a:lnTo>
                    <a:pt x="104067" y="103051"/>
                  </a:lnTo>
                  <a:lnTo>
                    <a:pt x="138118" y="73301"/>
                  </a:lnTo>
                  <a:lnTo>
                    <a:pt x="175790" y="48025"/>
                  </a:lnTo>
                  <a:lnTo>
                    <a:pt x="216651" y="27640"/>
                  </a:lnTo>
                  <a:lnTo>
                    <a:pt x="260268" y="12562"/>
                  </a:lnTo>
                  <a:lnTo>
                    <a:pt x="306210" y="3210"/>
                  </a:lnTo>
                  <a:lnTo>
                    <a:pt x="354044" y="0"/>
                  </a:lnTo>
                  <a:close/>
                </a:path>
              </a:pathLst>
            </a:custGeom>
            <a:ln w="24843">
              <a:solidFill>
                <a:srgbClr val="7ED5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56279" y="3680259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>
                  <a:moveTo>
                    <a:pt x="0" y="0"/>
                  </a:moveTo>
                  <a:lnTo>
                    <a:pt x="0" y="0"/>
                  </a:lnTo>
                  <a:lnTo>
                    <a:pt x="254702" y="0"/>
                  </a:lnTo>
                </a:path>
              </a:pathLst>
            </a:custGeom>
            <a:ln w="12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3431" y="3624342"/>
              <a:ext cx="186546" cy="1139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4767" y="3624342"/>
              <a:ext cx="300153" cy="1139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23635" y="2851678"/>
              <a:ext cx="4417695" cy="466090"/>
            </a:xfrm>
            <a:custGeom>
              <a:avLst/>
              <a:gdLst/>
              <a:ahLst/>
              <a:cxnLst/>
              <a:rect l="l" t="t" r="r" b="b"/>
              <a:pathLst>
                <a:path w="4417695" h="466089">
                  <a:moveTo>
                    <a:pt x="4411293" y="372864"/>
                  </a:moveTo>
                  <a:lnTo>
                    <a:pt x="4417364" y="12419"/>
                  </a:lnTo>
                  <a:lnTo>
                    <a:pt x="0" y="0"/>
                  </a:lnTo>
                  <a:lnTo>
                    <a:pt x="0" y="466066"/>
                  </a:lnTo>
                </a:path>
              </a:pathLst>
            </a:custGeom>
            <a:ln w="12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6636" y="3330189"/>
              <a:ext cx="1883786" cy="7291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2108" y="3307393"/>
              <a:ext cx="1805081" cy="7477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2041" y="3127199"/>
              <a:ext cx="1881440" cy="9176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411218" y="4051054"/>
              <a:ext cx="4419600" cy="462280"/>
            </a:xfrm>
            <a:custGeom>
              <a:avLst/>
              <a:gdLst/>
              <a:ahLst/>
              <a:cxnLst/>
              <a:rect l="l" t="t" r="r" b="b"/>
              <a:pathLst>
                <a:path w="4419600" h="462279">
                  <a:moveTo>
                    <a:pt x="6208" y="89062"/>
                  </a:moveTo>
                  <a:lnTo>
                    <a:pt x="0" y="449493"/>
                  </a:lnTo>
                  <a:lnTo>
                    <a:pt x="4419572" y="461923"/>
                  </a:lnTo>
                  <a:lnTo>
                    <a:pt x="4419572" y="0"/>
                  </a:lnTo>
                </a:path>
              </a:pathLst>
            </a:custGeom>
            <a:ln w="12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59448" y="4051053"/>
              <a:ext cx="113860" cy="186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5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spc="-525" dirty="0"/>
              <a:t>T</a:t>
            </a:r>
            <a:r>
              <a:rPr spc="20" dirty="0"/>
              <a:t>e</a:t>
            </a:r>
            <a:r>
              <a:rPr dirty="0"/>
              <a:t>st</a:t>
            </a:r>
            <a:r>
              <a:rPr spc="15" dirty="0"/>
              <a:t>in</a:t>
            </a:r>
            <a:r>
              <a:rPr spc="10" dirty="0"/>
              <a:t>g</a:t>
            </a:r>
            <a:r>
              <a:rPr spc="-240" dirty="0"/>
              <a:t> </a:t>
            </a:r>
            <a:r>
              <a:rPr spc="-10" dirty="0"/>
              <a:t>stages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29053"/>
            <a:ext cx="7732395" cy="3256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9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3000" spc="-10" dirty="0">
                <a:latin typeface="Georgia"/>
                <a:cs typeface="Georgia"/>
              </a:rPr>
              <a:t>Development</a:t>
            </a:r>
            <a:r>
              <a:rPr sz="3000" spc="-90" dirty="0">
                <a:latin typeface="Georgia"/>
                <a:cs typeface="Georgia"/>
              </a:rPr>
              <a:t> </a:t>
            </a:r>
            <a:r>
              <a:rPr sz="3000" dirty="0">
                <a:latin typeface="Georgia"/>
                <a:cs typeface="Georgia"/>
              </a:rPr>
              <a:t>or</a:t>
            </a:r>
            <a:r>
              <a:rPr sz="3000" spc="-120" dirty="0">
                <a:latin typeface="Georgia"/>
                <a:cs typeface="Georgia"/>
              </a:rPr>
              <a:t> </a:t>
            </a:r>
            <a:r>
              <a:rPr sz="3000" dirty="0">
                <a:latin typeface="Georgia"/>
                <a:cs typeface="Georgia"/>
              </a:rPr>
              <a:t>component</a:t>
            </a:r>
            <a:r>
              <a:rPr sz="3000" spc="-60" dirty="0">
                <a:latin typeface="Georgia"/>
                <a:cs typeface="Georgia"/>
              </a:rPr>
              <a:t> </a:t>
            </a:r>
            <a:r>
              <a:rPr sz="3000" spc="-10" dirty="0">
                <a:latin typeface="Georgia"/>
                <a:cs typeface="Georgia"/>
              </a:rPr>
              <a:t>testing</a:t>
            </a:r>
            <a:endParaRPr sz="3000" dirty="0">
              <a:latin typeface="Georgia"/>
              <a:cs typeface="Georgia"/>
            </a:endParaRPr>
          </a:p>
          <a:p>
            <a:pPr marL="314325">
              <a:lnSpc>
                <a:spcPts val="3110"/>
              </a:lnSpc>
              <a:spcBef>
                <a:spcPts val="5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spc="-10" dirty="0">
                <a:latin typeface="Georgia"/>
                <a:cs typeface="Georgia"/>
              </a:rPr>
              <a:t>Individual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components</a:t>
            </a:r>
            <a:r>
              <a:rPr sz="2600" spc="-10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are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tested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independently;</a:t>
            </a:r>
            <a:endParaRPr sz="2600" dirty="0">
              <a:latin typeface="Georgia"/>
              <a:cs typeface="Georgia"/>
            </a:endParaRPr>
          </a:p>
          <a:p>
            <a:pPr marL="561340" marR="852805" indent="-247015">
              <a:lnSpc>
                <a:spcPts val="2810"/>
              </a:lnSpc>
              <a:spcBef>
                <a:spcPts val="34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3000" dirty="0">
                <a:latin typeface="Georgia"/>
                <a:cs typeface="Georgia"/>
              </a:rPr>
              <a:t>System</a:t>
            </a:r>
            <a:r>
              <a:rPr sz="3000" spc="-140" dirty="0">
                <a:latin typeface="Georgia"/>
                <a:cs typeface="Georgia"/>
              </a:rPr>
              <a:t> </a:t>
            </a:r>
            <a:r>
              <a:rPr sz="3000" spc="-10" dirty="0">
                <a:latin typeface="Georgia"/>
                <a:cs typeface="Georgia"/>
              </a:rPr>
              <a:t>testing</a:t>
            </a:r>
            <a:endParaRPr sz="3000" dirty="0">
              <a:latin typeface="Georgia"/>
              <a:cs typeface="Georgia"/>
            </a:endParaRPr>
          </a:p>
          <a:p>
            <a:pPr marL="561340" marR="471805" indent="-247015">
              <a:lnSpc>
                <a:spcPts val="2810"/>
              </a:lnSpc>
              <a:spcBef>
                <a:spcPts val="36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Testing</a:t>
            </a:r>
            <a:r>
              <a:rPr sz="2600" spc="-10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as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whole.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Testing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of </a:t>
            </a:r>
            <a:r>
              <a:rPr sz="2600" dirty="0">
                <a:latin typeface="Georgia"/>
                <a:cs typeface="Georgia"/>
              </a:rPr>
              <a:t>emergent</a:t>
            </a:r>
            <a:r>
              <a:rPr sz="2600" spc="-1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properties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1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particularly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important.</a:t>
            </a:r>
            <a:endParaRPr sz="2600" dirty="0">
              <a:latin typeface="Georgia"/>
              <a:cs typeface="Georgia"/>
            </a:endParaRPr>
          </a:p>
          <a:p>
            <a:pPr marL="268605" indent="-255904">
              <a:lnSpc>
                <a:spcPts val="3450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950" dirty="0">
                <a:latin typeface="Georgia"/>
                <a:cs typeface="Georgia"/>
              </a:rPr>
              <a:t>Acceptance</a:t>
            </a:r>
            <a:r>
              <a:rPr sz="2950" spc="140" dirty="0">
                <a:latin typeface="Georgia"/>
                <a:cs typeface="Georgia"/>
              </a:rPr>
              <a:t> </a:t>
            </a:r>
            <a:r>
              <a:rPr sz="2950" spc="-10" dirty="0">
                <a:latin typeface="Georgia"/>
                <a:cs typeface="Georgia"/>
              </a:rPr>
              <a:t>testing</a:t>
            </a:r>
            <a:endParaRPr sz="2950" dirty="0">
              <a:latin typeface="Georgia"/>
              <a:cs typeface="Georgia"/>
            </a:endParaRPr>
          </a:p>
          <a:p>
            <a:pPr marL="561340" marR="718185" indent="-247015">
              <a:lnSpc>
                <a:spcPts val="2810"/>
              </a:lnSpc>
              <a:spcBef>
                <a:spcPts val="37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Testing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with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customer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data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check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the </a:t>
            </a:r>
            <a:r>
              <a:rPr sz="2600" dirty="0">
                <a:latin typeface="Georgia"/>
                <a:cs typeface="Georgia"/>
              </a:rPr>
              <a:t>system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meets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spc="-225" dirty="0">
                <a:latin typeface="Georgia"/>
                <a:cs typeface="Georgia"/>
              </a:rPr>
              <a:t>customer‟s</a:t>
            </a:r>
            <a:r>
              <a:rPr sz="2600" spc="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needs.</a:t>
            </a:r>
            <a:endParaRPr sz="26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5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50" dirty="0"/>
              <a:t> </a:t>
            </a:r>
            <a:r>
              <a:rPr spc="-10" dirty="0"/>
              <a:t>evolution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Font typeface="Arial MT"/>
              <a:buChar char="•"/>
              <a:tabLst>
                <a:tab pos="267970" algn="l"/>
              </a:tabLst>
            </a:pPr>
            <a:r>
              <a:rPr dirty="0"/>
              <a:t>Software</a:t>
            </a:r>
            <a:r>
              <a:rPr spc="-9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inherently</a:t>
            </a:r>
            <a:r>
              <a:rPr spc="-105" dirty="0"/>
              <a:t> </a:t>
            </a:r>
            <a:r>
              <a:rPr dirty="0"/>
              <a:t>flexible</a:t>
            </a:r>
            <a:r>
              <a:rPr spc="-3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spc="-10" dirty="0"/>
              <a:t>change.</a:t>
            </a:r>
          </a:p>
          <a:p>
            <a:pPr marL="267335" marR="591185" indent="-255270">
              <a:lnSpc>
                <a:spcPct val="100099"/>
              </a:lnSpc>
              <a:spcBef>
                <a:spcPts val="31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dirty="0"/>
              <a:t>As</a:t>
            </a:r>
            <a:r>
              <a:rPr spc="-75" dirty="0"/>
              <a:t> </a:t>
            </a:r>
            <a:r>
              <a:rPr dirty="0"/>
              <a:t>requirements</a:t>
            </a:r>
            <a:r>
              <a:rPr spc="-165" dirty="0"/>
              <a:t> </a:t>
            </a:r>
            <a:r>
              <a:rPr dirty="0"/>
              <a:t>change</a:t>
            </a:r>
            <a:r>
              <a:rPr spc="-20" dirty="0"/>
              <a:t> </a:t>
            </a:r>
            <a:r>
              <a:rPr dirty="0"/>
              <a:t>through</a:t>
            </a:r>
            <a:r>
              <a:rPr spc="-65" dirty="0"/>
              <a:t> </a:t>
            </a:r>
            <a:r>
              <a:rPr spc="-10" dirty="0"/>
              <a:t>changing 	</a:t>
            </a:r>
            <a:r>
              <a:rPr dirty="0"/>
              <a:t>business</a:t>
            </a:r>
            <a:r>
              <a:rPr spc="-155" dirty="0"/>
              <a:t> </a:t>
            </a:r>
            <a:r>
              <a:rPr dirty="0"/>
              <a:t>circumstances,</a:t>
            </a:r>
            <a:r>
              <a:rPr spc="-6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software</a:t>
            </a:r>
            <a:r>
              <a:rPr spc="-85" dirty="0"/>
              <a:t> </a:t>
            </a:r>
            <a:r>
              <a:rPr spc="-20" dirty="0"/>
              <a:t>that 	</a:t>
            </a:r>
            <a:r>
              <a:rPr dirty="0"/>
              <a:t>supports</a:t>
            </a:r>
            <a:r>
              <a:rPr spc="-140" dirty="0"/>
              <a:t> </a:t>
            </a:r>
            <a:r>
              <a:rPr dirty="0"/>
              <a:t>the business</a:t>
            </a:r>
            <a:r>
              <a:rPr spc="-100" dirty="0"/>
              <a:t> </a:t>
            </a:r>
            <a:r>
              <a:rPr dirty="0"/>
              <a:t>must</a:t>
            </a:r>
            <a:r>
              <a:rPr spc="-70" dirty="0"/>
              <a:t> </a:t>
            </a:r>
            <a:r>
              <a:rPr dirty="0"/>
              <a:t>also</a:t>
            </a:r>
            <a:r>
              <a:rPr spc="-5" dirty="0"/>
              <a:t> </a:t>
            </a:r>
            <a:r>
              <a:rPr dirty="0"/>
              <a:t>evolve</a:t>
            </a:r>
            <a:r>
              <a:rPr spc="-60" dirty="0"/>
              <a:t> </a:t>
            </a:r>
            <a:r>
              <a:rPr spc="-25" dirty="0"/>
              <a:t>and 	</a:t>
            </a:r>
            <a:r>
              <a:rPr spc="-10" dirty="0"/>
              <a:t>change.</a:t>
            </a:r>
          </a:p>
          <a:p>
            <a:pPr marL="267335" marR="5080" indent="-255270">
              <a:lnSpc>
                <a:spcPct val="100099"/>
              </a:lnSpc>
              <a:spcBef>
                <a:spcPts val="310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dirty="0"/>
              <a:t>Although</a:t>
            </a:r>
            <a:r>
              <a:rPr spc="-110" dirty="0"/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/>
              <a:t>has</a:t>
            </a:r>
            <a:r>
              <a:rPr spc="-5" dirty="0"/>
              <a:t> </a:t>
            </a:r>
            <a:r>
              <a:rPr dirty="0"/>
              <a:t>been</a:t>
            </a:r>
            <a:r>
              <a:rPr spc="-9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discrimination 	</a:t>
            </a:r>
            <a:r>
              <a:rPr dirty="0"/>
              <a:t>between</a:t>
            </a:r>
            <a:r>
              <a:rPr spc="-155" dirty="0"/>
              <a:t> </a:t>
            </a:r>
            <a:r>
              <a:rPr dirty="0"/>
              <a:t>development</a:t>
            </a:r>
            <a:r>
              <a:rPr spc="-1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evolution 	</a:t>
            </a:r>
            <a:r>
              <a:rPr dirty="0"/>
              <a:t>(maintenance)</a:t>
            </a:r>
            <a:r>
              <a:rPr spc="-110" dirty="0"/>
              <a:t> </a:t>
            </a:r>
            <a:r>
              <a:rPr dirty="0"/>
              <a:t>this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increasingly</a:t>
            </a:r>
            <a:r>
              <a:rPr spc="-80" dirty="0"/>
              <a:t> </a:t>
            </a:r>
            <a:r>
              <a:rPr dirty="0"/>
              <a:t>irrelevant</a:t>
            </a:r>
            <a:r>
              <a:rPr spc="-95" dirty="0"/>
              <a:t> </a:t>
            </a:r>
            <a:r>
              <a:rPr spc="-25" dirty="0"/>
              <a:t>as 	</a:t>
            </a:r>
            <a:r>
              <a:rPr dirty="0"/>
              <a:t>fewer</a:t>
            </a:r>
            <a:r>
              <a:rPr spc="-114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fewer</a:t>
            </a:r>
            <a:r>
              <a:rPr spc="-75" dirty="0"/>
              <a:t> </a:t>
            </a:r>
            <a:r>
              <a:rPr dirty="0"/>
              <a:t>systems</a:t>
            </a:r>
            <a:r>
              <a:rPr spc="-65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completely</a:t>
            </a:r>
            <a:r>
              <a:rPr spc="-55" dirty="0"/>
              <a:t> </a:t>
            </a:r>
            <a:r>
              <a:rPr spc="-20" dirty="0"/>
              <a:t>new.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5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spc="-229" dirty="0"/>
              <a:t> </a:t>
            </a:r>
            <a:r>
              <a:rPr spc="-10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29053"/>
            <a:ext cx="7779384" cy="35648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67335" marR="50165" indent="-255270">
              <a:lnSpc>
                <a:spcPts val="3030"/>
              </a:lnSpc>
              <a:spcBef>
                <a:spcPts val="48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processes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activities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involved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in 	</a:t>
            </a:r>
            <a:r>
              <a:rPr sz="2800" dirty="0">
                <a:latin typeface="Georgia"/>
                <a:cs typeface="Georgia"/>
              </a:rPr>
              <a:t>producing</a:t>
            </a:r>
            <a:r>
              <a:rPr sz="2800" spc="-1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system.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process 	</a:t>
            </a:r>
            <a:r>
              <a:rPr sz="2800" dirty="0">
                <a:latin typeface="Georgia"/>
                <a:cs typeface="Georgia"/>
              </a:rPr>
              <a:t>models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abstract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representations</a:t>
            </a:r>
            <a:r>
              <a:rPr sz="2800" spc="-1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these 	processes.</a:t>
            </a:r>
            <a:endParaRPr sz="2800">
              <a:latin typeface="Georgia"/>
              <a:cs typeface="Georgia"/>
            </a:endParaRPr>
          </a:p>
          <a:p>
            <a:pPr marL="267335" marR="5080" indent="-255270">
              <a:lnSpc>
                <a:spcPct val="90100"/>
              </a:lnSpc>
              <a:spcBef>
                <a:spcPts val="229"/>
              </a:spcBef>
              <a:buClr>
                <a:srgbClr val="9F4DA2"/>
              </a:buClr>
              <a:buChar char="•"/>
              <a:tabLst>
                <a:tab pos="268605" algn="l"/>
                <a:tab pos="1515110" algn="l"/>
              </a:tabLst>
            </a:pPr>
            <a:r>
              <a:rPr sz="2800" dirty="0">
                <a:latin typeface="Georgia"/>
                <a:cs typeface="Georgia"/>
              </a:rPr>
              <a:t>General</a:t>
            </a:r>
            <a:r>
              <a:rPr sz="2800" spc="-1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models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describe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the 	</a:t>
            </a:r>
            <a:r>
              <a:rPr sz="2800" dirty="0">
                <a:latin typeface="Georgia"/>
                <a:cs typeface="Georgia"/>
              </a:rPr>
              <a:t>organization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processes.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Examples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of 	</a:t>
            </a:r>
            <a:r>
              <a:rPr sz="2800" dirty="0">
                <a:latin typeface="Georgia"/>
                <a:cs typeface="Georgia"/>
              </a:rPr>
              <a:t>these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general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models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include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50" dirty="0">
                <a:latin typeface="Georgia"/>
                <a:cs typeface="Georgia"/>
              </a:rPr>
              <a:t> </a:t>
            </a:r>
            <a:r>
              <a:rPr sz="2800" spc="-150" dirty="0">
                <a:latin typeface="Georgia"/>
                <a:cs typeface="Georgia"/>
              </a:rPr>
              <a:t>„waterfall‟ 	</a:t>
            </a:r>
            <a:r>
              <a:rPr sz="2800" spc="-10" dirty="0">
                <a:latin typeface="Georgia"/>
                <a:cs typeface="Georgia"/>
              </a:rPr>
              <a:t>model,</a:t>
            </a:r>
            <a:r>
              <a:rPr sz="2800" dirty="0">
                <a:latin typeface="Georgia"/>
                <a:cs typeface="Georgia"/>
              </a:rPr>
              <a:t>	incremental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development,</a:t>
            </a:r>
            <a:r>
              <a:rPr sz="2800" spc="-1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reuse- 	</a:t>
            </a:r>
            <a:r>
              <a:rPr sz="2800" dirty="0">
                <a:latin typeface="Georgia"/>
                <a:cs typeface="Georgia"/>
              </a:rPr>
              <a:t>oriented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development.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057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spc="-229" dirty="0"/>
              <a:t> </a:t>
            </a:r>
            <a:r>
              <a:rPr spc="-10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197049"/>
            <a:ext cx="7952105" cy="402145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68605" marR="1404620" indent="-256540">
              <a:lnSpc>
                <a:spcPct val="79700"/>
              </a:lnSpc>
              <a:spcBef>
                <a:spcPts val="72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spc="-10" dirty="0">
                <a:latin typeface="Georgia"/>
                <a:cs typeface="Georgia"/>
              </a:rPr>
              <a:t>Requirements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engineering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process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of </a:t>
            </a:r>
            <a:r>
              <a:rPr sz="2600" dirty="0">
                <a:latin typeface="Georgia"/>
                <a:cs typeface="Georgia"/>
              </a:rPr>
              <a:t>developing</a:t>
            </a:r>
            <a:r>
              <a:rPr sz="2600" spc="-1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specification.</a:t>
            </a:r>
            <a:endParaRPr sz="2600">
              <a:latin typeface="Georgia"/>
              <a:cs typeface="Georgia"/>
            </a:endParaRPr>
          </a:p>
          <a:p>
            <a:pPr marL="268605" marR="5080" indent="-256540">
              <a:lnSpc>
                <a:spcPct val="79700"/>
              </a:lnSpc>
              <a:spcBef>
                <a:spcPts val="32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dirty="0">
                <a:latin typeface="Georgia"/>
                <a:cs typeface="Georgia"/>
              </a:rPr>
              <a:t>Design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1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implementation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processes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are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concerned </a:t>
            </a:r>
            <a:r>
              <a:rPr sz="2600" dirty="0">
                <a:latin typeface="Georgia"/>
                <a:cs typeface="Georgia"/>
              </a:rPr>
              <a:t>with</a:t>
            </a:r>
            <a:r>
              <a:rPr sz="2600" spc="-13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transforming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requirements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specification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into </a:t>
            </a:r>
            <a:r>
              <a:rPr sz="2600" dirty="0">
                <a:latin typeface="Georgia"/>
                <a:cs typeface="Georgia"/>
              </a:rPr>
              <a:t>an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executable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10" dirty="0">
                <a:latin typeface="Georgia"/>
                <a:cs typeface="Georgia"/>
              </a:rPr>
              <a:t> system.</a:t>
            </a:r>
            <a:endParaRPr sz="2600">
              <a:latin typeface="Georgia"/>
              <a:cs typeface="Georgia"/>
            </a:endParaRPr>
          </a:p>
          <a:p>
            <a:pPr marL="268605" marR="353060" indent="-256540" algn="just">
              <a:lnSpc>
                <a:spcPct val="80200"/>
              </a:lnSpc>
              <a:spcBef>
                <a:spcPts val="305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validation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process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checking</a:t>
            </a:r>
            <a:r>
              <a:rPr sz="2600" spc="-120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that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1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conforms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its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specification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it </a:t>
            </a:r>
            <a:r>
              <a:rPr sz="2600" dirty="0">
                <a:latin typeface="Georgia"/>
                <a:cs typeface="Georgia"/>
              </a:rPr>
              <a:t>meets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real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needs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users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system.</a:t>
            </a:r>
            <a:endParaRPr sz="2600">
              <a:latin typeface="Georgia"/>
              <a:cs typeface="Georgia"/>
            </a:endParaRPr>
          </a:p>
          <a:p>
            <a:pPr marL="268605" marR="361315" indent="-256540">
              <a:lnSpc>
                <a:spcPct val="80000"/>
              </a:lnSpc>
              <a:spcBef>
                <a:spcPts val="280"/>
              </a:spcBef>
              <a:buClr>
                <a:srgbClr val="9F4DA2"/>
              </a:buClr>
              <a:buFont typeface="Arial MT"/>
              <a:buChar char="•"/>
              <a:tabLst>
                <a:tab pos="268605" algn="l"/>
              </a:tabLst>
            </a:pP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evolution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takes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place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when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you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change </a:t>
            </a:r>
            <a:r>
              <a:rPr sz="2600" dirty="0">
                <a:latin typeface="Georgia"/>
                <a:cs typeface="Georgia"/>
              </a:rPr>
              <a:t>existing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systems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meet</a:t>
            </a:r>
            <a:r>
              <a:rPr sz="2600" spc="-7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new </a:t>
            </a:r>
            <a:r>
              <a:rPr sz="2600" spc="-10" dirty="0">
                <a:latin typeface="Georgia"/>
                <a:cs typeface="Georgia"/>
              </a:rPr>
              <a:t>requirements.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software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must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evolve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remain useful.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918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dirty="0"/>
              <a:t>For</a:t>
            </a:r>
            <a:r>
              <a:rPr spc="-120" dirty="0"/>
              <a:t> </a:t>
            </a:r>
            <a:r>
              <a:rPr dirty="0"/>
              <a:t>any</a:t>
            </a:r>
            <a:r>
              <a:rPr spc="-35" dirty="0"/>
              <a:t> </a:t>
            </a:r>
            <a:r>
              <a:rPr dirty="0"/>
              <a:t>query</a:t>
            </a:r>
            <a:r>
              <a:rPr spc="-110" dirty="0"/>
              <a:t> </a:t>
            </a:r>
            <a:r>
              <a:rPr dirty="0"/>
              <a:t>Feel</a:t>
            </a:r>
            <a:r>
              <a:rPr spc="-65" dirty="0"/>
              <a:t> </a:t>
            </a:r>
            <a:r>
              <a:rPr dirty="0"/>
              <a:t>Free</a:t>
            </a:r>
            <a:r>
              <a:rPr spc="-5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25" dirty="0"/>
              <a:t>ask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0151" y="1385950"/>
            <a:ext cx="4711700" cy="4443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2D3C98-C529-48CB-A037-728EFFE7C3C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B2A6BD7-24B8-4429-A3CB-ACA6EE6638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A5850E-C23B-4AA0-B0C9-885F67650D3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2249</TotalTime>
  <Words>729</Words>
  <Application>Microsoft Office PowerPoint</Application>
  <PresentationFormat>On-screen Show (4:3)</PresentationFormat>
  <Paragraphs>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 MT</vt:lpstr>
      <vt:lpstr>Calibri</vt:lpstr>
      <vt:lpstr>Georgia</vt:lpstr>
      <vt:lpstr>Trebuchet MS</vt:lpstr>
      <vt:lpstr>Office Theme</vt:lpstr>
      <vt:lpstr>An Introduction to Software Engineering Chapter 2</vt:lpstr>
      <vt:lpstr>Software Development Life Cycle</vt:lpstr>
      <vt:lpstr>Importance</vt:lpstr>
      <vt:lpstr>Software Development Phases</vt:lpstr>
      <vt:lpstr>Concept Elaboration</vt:lpstr>
      <vt:lpstr>Software Requirements</vt:lpstr>
      <vt:lpstr>Feasibility report</vt:lpstr>
      <vt:lpstr>Why are Requirements so Important?</vt:lpstr>
      <vt:lpstr>Software design</vt:lpstr>
      <vt:lpstr>A general model of the design process</vt:lpstr>
      <vt:lpstr>Design activities</vt:lpstr>
      <vt:lpstr>Development</vt:lpstr>
      <vt:lpstr>Software validation (Testing)</vt:lpstr>
      <vt:lpstr>Stages of testing</vt:lpstr>
      <vt:lpstr>Testing stages</vt:lpstr>
      <vt:lpstr>Software evolution</vt:lpstr>
      <vt:lpstr>Key points</vt:lpstr>
      <vt:lpstr>Key points</vt:lpstr>
      <vt:lpstr>For any query Feel Free to 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</dc:title>
  <dc:creator>Israr Khan</dc:creator>
  <cp:lastModifiedBy>Israr Ahmad Lecturer FCS</cp:lastModifiedBy>
  <cp:revision>20</cp:revision>
  <dcterms:created xsi:type="dcterms:W3CDTF">2025-09-08T18:09:48Z</dcterms:created>
  <dcterms:modified xsi:type="dcterms:W3CDTF">2026-09-17T09:52:18Z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2014-09-12T00:00:00Z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2025-09-08T00:00:00Z</vt:filetime>
  </property>
  <property fmtid="{D5CDD505-2E9C-101B-9397-08002B2CF9AE}" pid="5" name="Producer">
    <vt:lpwstr>Microsoft® Office PowerPoint® 2007</vt:lpwstr>
  </property>
  <property fmtid="{D5CDD505-2E9C-101B-9397-08002B2CF9AE}" pid="6" name="ContentTypeId">
    <vt:lpwstr>0x010100D8746BA5DCC9394D8011CD1786C7798C</vt:lpwstr>
  </property>
</Properties>
</file>