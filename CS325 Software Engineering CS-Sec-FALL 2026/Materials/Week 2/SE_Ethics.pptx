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4" r:id="rId18"/>
    <p:sldId id="275" r:id="rId19"/>
    <p:sldId id="276" r:id="rId20"/>
    <p:sldId id="284" r:id="rId21"/>
    <p:sldId id="286" r:id="rId22"/>
    <p:sldId id="278" r:id="rId23"/>
    <p:sldId id="279" r:id="rId24"/>
    <p:sldId id="280" r:id="rId25"/>
    <p:sldId id="281" r:id="rId26"/>
    <p:sldId id="269" r:id="rId27"/>
    <p:sldId id="291" r:id="rId28"/>
    <p:sldId id="287" r:id="rId29"/>
    <p:sldId id="290" r:id="rId30"/>
    <p:sldId id="292"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927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(running total 1 min)
SAY: Last week we looked at what software engineering is as a discipline. Today we look at what it costs when it is done badly. Every system in this room's future will affect people who never agreed to be affected by it. That reach is what I am calling the blast radius.
ASK: Nothing yet. Go straight to the next slide before anyone settles in.
ANIMATION: Title appears on entry. Subtitle Fade on click 1. Rings can be left static.
LOCAL LINK: Mention that every example today has a Pakistani equivalent and you will point them out as you 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3 min)
SAY: No theory yet. No definitions. Just this. Read it and decide before I teach you anything, because I want to compare your gut answer now with your answer at the end of the lecture.
ASK: Do not take answers out loud yet. Tell them the vote is on the next slide.
ANIMATION: Line 1 on entry. Click 1: the main paragraph, Fade. Click 2: 'Your lead says ship it', Fade. Click 3: 'What do you do?', Fade. The pause between clicks is doing the work here, so do not rush.
LOCAL LINK: Frame the payment system as a local one such as an e-commerce checkout or a mobile wallet, so the harm feels close.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6 min)
SAY: Four options. Pick one. There is no trick and no marks attached, so vote honestly rather than voting for the answer you think I want.
ASK: Count the hands and write the four numbers in the corner of the whiteboard. You will need them at the end of the lecture. Ask one student from the largest group to say why in one sentence, then move on without debating it.
ANIMATION: All four cards appear at once so nobody anchors on option A. No build here.
LOCAL LINK: Note that most first jobs in Pakistan's software houses are agency or client work, where the deadline pressure in this scenario is the normal working condition rather than the exception.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(running total 10 min)
SAY: Students often read the ethics chapter as the chapter you skip before the exam. The reason it sits in Chapter 1 rather than the appendix is that ethical failures in this field are almost always engineering failures first. Somebody accepted a requirement, or skipped a test, or trusted a single sensor.
ASK: Can anyone name a piece of software that has made a decision about them this week without asking? Expect answers about recommendation feeds, loan or admission screening, or exam proctoring tools.
ANIMATION: Title and subtitle on entry. Then Fade in each numbered row on its own click, three clicks total. Ask the question after row 1 lands, not at the end.
LOCAL LINK: A good local example is any national identity or verification database. Nobody in this room consented to how their record is stored, yet everyone here depends on it being correct.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(running total 10.5 min)
SAY: Before the formal code of ethics, there are four responsibilities that apply to you from your first day of employment, whether or not you have signed anything.
ASK: Nothing. This is a signpost slide, keep it moving.
ANIMATION: None needed.
LOCAL LINK: None.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(running total 14.5 min)
SAY: Note what did not happen here. Nobody broke in. The data was handed over through an API, legitimately, by people with access. The failure was purpose, not security. The engineers who built that pipeline could each say their part was authorised.
ASK: If you are given a dataset for one purpose and your manager asks you to use it for another, who is responsible, you or your manager?
ANIMATION: Left panel on entry. Click 1: the WHAT IT COSTS card, Fade. Click 2 through 5: reveal the four case bullets one at a time, Appear. Deliver the 87 million line as its own beat.
LOCAL LINK: Ask how many of them have given a national ID number to a mobile shop, a housing society office, or an online marketplace, and whether they know where that copy is now.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(running total 18.5 min)
SAY: This is the one students underestimate. Competence sounds like a hiring word, something that matters at interview. It is actually an ongoing duty. The vulnerability was public, the patch existed, and the gap was purely that nobody made sure it was applied.
ASK: Whose job was it to apply that patch? Push back on the first answer. The point is that when the answer is 'somebody', the answer is nobody.
ANIMATION: Same pattern as the previous slide. Left panel, then the cost card, then four bullets on four clicks.
LOCAL LINK: Ask how many have a project running on a dependency they have not updated since first semester.
ACCURACY NOTE: The breach exposed data. It did not change anyone's credit score. Avoid saying it did. The often quoted 1.4 billion dollar figure is Equifax's own spending on its security overhaul, which is a different number from the settlement.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(running total 22.5 min)
SAY: This is the most relevant slide of the four for the way you actually work. You copy a Stack Overflow answer, you pull an npm package, you accept an autocompletion from an AI assistant. Each of those carries a licence, and you almost never read it.
ASK: Who here has read the licence of a single library in their current semester project? Let the silence sit.
ANIMATION: Left panel, then the cost card, then bullets. Put the final bullet on its own click and stop there for the discussion.
LOCAL LINK: Mention that outsourced work for foreign clients, which is a large part of Pakistan's software export sector, usually comes with contractual IP terms that are much stricter than the ones in student projects.
ACCURACY NOTE: The Supreme Court ruled in April 2021 that Google's reuse of the API declaring code was fair use. It did not rule that APIs cannot be copyrighted, and it left the wider question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(running total 26.5 min)
SAY: I want you to sit with the last line. Not a manager, not an executive. An engineer, doing what he was asked, went to prison. 'I was told to' is a defence that fails in a courtroom and it will fail in your career.
ASK: At what point in that project should someone have refused? Take three answers and note how early they are.
ANIMATION: Left panel, cost card, then the four bullets. Hold a long pause before revealing the last one.
LOCAL LINK: Connect to any system whose job is to report a number to a regulator, such as a tax, customs, or metering system. Ask what the equivalent of a defeat device would look like there.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28.5 min)
SAY: The four responsibilities we just covered are the informal version. This is the formal one. Members sign up to it when they join, and it is the closest thing our profession has to the oath that doctors and civil engineers take.
ASK: Why do you think doctors have had a code for two thousand years and we have had one since the 1990s?
ANIMATION: Heading on entry, then the three bullets on one click together.
LOCAL LINK: Mention the Pakistan Engineering Council and that software engineering sits awkwardly outside most formal licensing regimes here, which puts more weight on individual conduct.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31.5 min)
SAY: A single sensor. Every one of you has been taught about redundancy in a systems course. This was not an unknown engineering problem, it was a known one that lost an argument to schedule and cost.
ASK: Who is the public here? The passengers never bought the software, never saw a licence agreement, and had no say. That is exactly the point of this principle.
ANIMATION: Left card on entry. Click 1: the case card. Click 2: the plain words card. Click 3: your version. Keep this order for all eight principles so students learn the rhythm.
LOCAL LINK: Ask what the public interest means for a system that decides who gets a subsidy, a scholarship, or a hospital appointment.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34.5 min)
SAY: Read the wording of this principle carefully. It has a condition attached. Serving the client is bounded by the public interest, and when the two conflict the public wins. That clause is the whole principle.
ASK: The software vendor's client was the Post Office. Who was harmed? Draw out that the people harmed were not the client, were not the user, and had no relationship with the vendor at all.
ANIMATION: Same four step build as the previous slide.
LOCAL LINK: Ask them to imagine a billing or metering system that quietly overcharges, and who would be believed first, the system or the customer.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min (running total 38 min)
SAY: Notice there is no villain in this one. Nobody lied and nobody was greedy. A deployment process that worked eight times out of eight until it worked seven times out of eight. This is what 'highest professional standards' actually protects you from.
ASK: How many of you deploy by hand? Then ask how many of you have ever forgotten a step. The gap between those two numbers is the entire argument for automation, which is where this course goes later in the semester.
ANIMATION: Left title and principle on entry. Click 1: the two big numbers together, Fade. Click 2: the plain words card. Click 3 onward: the five right hand bullets, one per click. The numbers must land before the explanation.
LOCAL LINK: Ask what an equivalent 45 minute failure would cost a local mobile wallet at peak transfer time.
ACCURACY NOTE: 440 million dollars is the widely cited figure. The SEC order refers to about 460 million. Either is defensible, but pick one and stay with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44 min)
SAY: This is the principle that protects the other seven. If your judgment can be bought or pressured, then every other principle becomes negotiable at the same price.
ASK: What is the smallest thing you have ever approved without checking?
ANIMATION: Standard four step build.
LOCAL LINK: Note that in a small industry where everyone knows everyone, saying no professionally carries a social cost, which makes this principle harder here, not easier.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47 min)
SAY: The model was not told to discriminate. It was told to reproduce past decisions, and past decisions were biased. Nobody in that team was a bad person. The ethical failure was in the framing of the objective, and framing the objective is a management act.
ASK: If the training data reflects the world as it is, and the model reproduces it faithfully, whose fault is the result?
ANIMATION: Standard four step build. Pause after the case card so the word 'women's' registers.
LOCAL LINK: Ask what a model trained on ten years of admissions or hiring data from their own institution would learn.
ACCURACY NOTE: Reported by Reuters in October 2018. Amazon's position is that recruiters looked at recommendations but the tool was never the sole basis for a decision. Say that, it makes the example stronger rather than weaker.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min (running total 50.5 min)
SAY: This is the oldest case on the list and still the most taught, because every stage of it is something you can recognise in a project you have worked on. Trusting software to do a job hardware used to do. A concurrency bug nobody could reproduce. And then the worst part, which is not technical at all.
ASK: Which of these four stages was the last chance to prevent a death? Most students say the race condition. Argue for stage three.
ANIMATION: Title and principle on entry. Then reveal the four cards left to right on four clicks so it reads as a timeline. Click 5: the navy conclusion bar.
LOCAL LINK: Ask what happens when a junior tester in a local firm reports something the senior team has already declared impossible.
ACCURACY NOTE: Six known accidents between 1985 and 1987, at least three deaths. The Leveson and Turner investigation is the standard reference if a student asks for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56 min)
SAY: This is the principle you will have the most chances to break this semester, starting with the group project I am about to assign you.
ASK: What does a good code review comment sound like? Take two examples and rewrite one on the board.
ANIMATION: Standard four step build.
LOCAL LINK: Connect directly to their two person semester project.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58.5 min)
SAY: Your degree has a shelf life of roughly the length of one framework's popularity. Lifelong learning is not a motivational poster in this field, it is the minimum condition for staying competent, and competence is principle two.
ASK: Can you explain every dependency in your current project? Not what it does, who maintains it and what happens when it breaks.
ANIMATION: Standard four step build.
LOCAL LINK: None needed, this one is universal.
TEACHING NOTE: Log4Shell is arguably a PRODUCT and dependency management story as much as a SELF story. If a sharp student says so, agree with them. That disagreement is a better use of two minutes than anything on this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min (running total 62 min)
SAY: All eight together. Notice that the first two are about who you serve, the middle four are about how you work, and the last two are about who you are.
ASK: Take the vote and let two students argue for different answers. If nobody picks JUDGMENT, pick it yourself and make the case.
ANIMATION: The eight cards can all appear at once. Then Fade the dark question bar on click 1.
LOCAL LINK: If the room votes overwhelmingly for one principle, ask what that says about the working conditions they expect to enter.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81.5 min)
SAY: Walk the pipeline left to right. Then stop at the controller and point out that the calculation uses the rate of change, not the level, which is the design decision that makes the whole thing hard.
ASK: Which of the four boxes would you least like to be wrong? Most say controller. Argue for the sensor, because everything downstream trusts it, and that is the same failure shape as the 737 MAX earlier in this lecture.
ANIMATION: Click 1 to 4: the four pipeline boxes left to right. Click 5: the three requirement cards together. Click 6: the red line at the bottom.
LOCAL LINK: None needed.
TEACHING NOTE: Deliberately call back to the Boeing slide here. Students remember a pattern repeated twice in one lecture far better than a pattern stated once.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87.5 min)
SAY: Cover the constraint first, because everything else in this system follows from it. Rural clinics with no connectivity force offline copies, and offline copies force everything difficult.
ASK: Nothing yet, the question comes two slides later.
ANIMATION: Click 1: the constraint card. Click 2: what it has to do. Click 3: both navy concern cards together.
LOCAL LINK: This is a strong local fit. Basic health units in rural districts have exactly this connectivity problem, and any national health record system built here faces the same design decision.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67 min)
SAY: Read it once. Move.
DRAW OUT: From Refuse, ask what they would say to the client. From Comply, ask whether legal and acceptable are the same thing, which is the real question of this scenario. From Object then comply, ask who ever reads that email. From Resign, ask whether that is a real option for a first job with a family depending on the salary.
KEY POINT TO LAND: This is the PUBLIC principle. The users are children who cannot evaluate what is being done to them.
ANIMATION: Scenario appears with the slide. Options are already visible since they are the corners of the room.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319075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70 min)
SAY: This one is taken directly from the textbook's own list of ethical dilemmas.
DRAW OUT: The phrase that does the work is 'you are the only person'. Ask each corner how their answer changes if ten other people had also seen the report. Most will move toward Refuse, which shows them that their ethics are partly a function of how alone they feel.
KEY POINT TO LAND: PUBLIC and PRODUCT together. Also connect back to Therac-25, where clinicians raised it and were dismissed.
ANIMATION: None.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6801138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73 min)
SAY: Take this one seriously and set the tone before you read it. Real people are at the other end of this system.
DRAW OUT: The genuinely difficult argument is that refusing does not stop the project, it only removes the most careful engineer from it. Make sure somebody makes that argument. Then ask whether that reasoning has any limit, because it is also the argument every engineer at Volkswagen could have made.
KEY POINT TO LAND: The textbook lists participation in military systems as an ethical dilemma without resolving it, and neither will we. The code of ethics does not tell you the answer here, it tells you that you are required to have thought about it.
CAUTION: Keep this respectful. Do not let it become a nationalist argument or a joke. If it starts to drift, move on to the next scenario.
ANIMATION: None.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79888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76 min)
SAY: Last one. This is the scenario where two principles you have just accepted point in opposite directions.
DRAW OUT: Confidentiality is a genuine professional duty and so is the public interest. Ask which wins, and then show them the wording of the second principle again. It says 'consistent with the public interest'. The code has already answered this, and most of them will not have noticed.
KEY POINT TO LAND: The four responsibilities from Part One are not independent. Confidentiality is bounded by PUBLIC. That subordination is deliberate and it is the single most important structural fact about the code.
ANIMATION: None. Sit them down after this 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674545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min (running total 41.5 min)
SAY: I am flipping it around. You have had three principles named for you. Now you name one.
ASK: Hands for each of the four. Take a defence of PUBLIC too, because it is a reasonable wrong answer and the difference is worth drawing out. PUBLIC is about the harm. JUDGMENT is about the person who was supposed to be independent and was not.
ANIMATION: Critical. Reveal the case card and the four options first. Keep the ANSWER panel hidden until after the vote, then Fade it in on click. If you show the answer with the question the exercise is dead.
LOCAL LINK: Ask who signs off on a system in a project they have worked on, and whether that person had any reason to say no.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98D4-33F5-281C-3E57-68245ADE0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31163-C501-8548-DB28-839E429F0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EEE7A-E8E2-B47F-9AA0-DF6054E604DD}"/>
              </a:ext>
            </a:extLst>
          </p:cNvPr>
          <p:cNvSpPr>
            <a:spLocks noGrp="1"/>
          </p:cNvSpPr>
          <p:nvPr>
            <p:ph type="body" idx="1"/>
          </p:nvPr>
        </p:nvSpPr>
        <p:spPr/>
        <p:txBody>
          <a:bodyPr/>
          <a:lstStyle/>
          <a:p>
            <a:r>
              <a:rPr lang="en-US" dirty="0"/>
              <a:t>TIME: 3.5 min (running total 41.5 min)
SAY: I am flipping it around. You have had three principles named for you. Now you name one.
ASK: Hands for each of the four. Take a defence of PUBLIC too, because it is a reasonable wrong answer and the difference is worth drawing out. PUBLIC is about the harm. JUDGMENT is about the person who was supposed to be independent and was not.
ANIMATION: Critical. Reveal the case card and the four options first. Keep the ANSWER panel hidden until after the vote, then Fade it in on click. If you show the answer with the question the exercise is dead.
LOCAL LINK: Ask who signs off on a system in a project they have worked on, and whether that person had any reason to say no.</a:t>
            </a:r>
          </a:p>
        </p:txBody>
      </p:sp>
      <p:sp>
        <p:nvSpPr>
          <p:cNvPr id="4" name="Slide Number Placeholder 3">
            <a:extLst>
              <a:ext uri="{FF2B5EF4-FFF2-40B4-BE49-F238E27FC236}">
                <a16:creationId xmlns:a16="http://schemas.microsoft.com/office/drawing/2014/main" id="{42B2637B-06C0-A5E5-DFE6-ACA3FD20FCBF}"/>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5704187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(running total 91.5 min)
SAY: Handle this case respectfully and without detail. The teaching point is not the crime, it is that for some systems the data is the harm, so confidentiality cannot be a feature added in a later sprint.
ASK: Run the pair exercise. Expect encryption at rest, authentication that works offline, conflict resolution on sync, remote wipe, audit logging, and a retention limit on the local copy. Every one of those is a requirement that a single architectural decision created.
ANIMATION: Click 1: the Vastaamo panel. Click 2: the engineering point panel. Click 3: the red exercise bar, and start the timer immediately.
TEACHING NOTE: This exercise is the bridge into the requirements chapter. The line to close on is that requirements are not collected from a client, they are derived from decisions, and one architectural choice can generate six of them.
SENSITIVITY: If any student seems uncomfortable, move on promptly. Do not dwell on the blackmail element.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98.5 min)
SAY: Vote again. Then put your original four numbers from the whiteboard next to the new ones.
ASK: Ask anyone who changed their answer to say which slide changed it. That answer tells you what to keep next year and what to cut. Write down what they say.
ANIMATION: Scenario on entry. Click 1: the four options. Click 2: the closing line, only after the vote is counted.
CLOSING LINE: The honest one is that in twenty years none of them will remember the eight principles by name, but they will remember that there was a moment where the answer was supposed to be no. That is enough.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F9FF7-D5B9-C914-1A19-B603CB11B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B7CE1-C5A7-45B0-41F3-77E47435D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01BAD-68A6-DB4E-BB20-D2A3779AFB80}"/>
              </a:ext>
            </a:extLst>
          </p:cNvPr>
          <p:cNvSpPr>
            <a:spLocks noGrp="1"/>
          </p:cNvSpPr>
          <p:nvPr>
            <p:ph type="body" idx="1"/>
          </p:nvPr>
        </p:nvSpPr>
        <p:spPr/>
        <p:txBody>
          <a:bodyPr/>
          <a:lstStyle/>
          <a:p>
            <a:r>
              <a:rPr lang="en-US" dirty="0"/>
              <a:t>TIME: 3 min (running total 98.5 min)
SAY: Vote again. Then put your original four numbers from the whiteboard next to the new ones.
ASK: Ask anyone who changed their answer to say which slide changed it. That answer tells you what to keep next year and what to cut. Write down what they say.
ANIMATION: Scenario on entry. Click 1: the four options. Click 2: the closing line, only after the vote is counted.
CLOSING LINE: The honest one is that in twenty years none of them will remember the eight principles by name, but they will remember that there was a moment where the answer was supposed to be no. That is enough.</a:t>
            </a:r>
          </a:p>
        </p:txBody>
      </p:sp>
      <p:sp>
        <p:nvSpPr>
          <p:cNvPr id="4" name="Slide Number Placeholder 3">
            <a:extLst>
              <a:ext uri="{FF2B5EF4-FFF2-40B4-BE49-F238E27FC236}">
                <a16:creationId xmlns:a16="http://schemas.microsoft.com/office/drawing/2014/main" id="{5F2BE189-1F81-C896-88A0-689C5EC96FEF}"/>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493763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A"/>
        </a:solidFill>
        <a:effectLst/>
      </p:bgPr>
    </p:bg>
    <p:spTree>
      <p:nvGrpSpPr>
        <p:cNvPr id="1" name=""/>
        <p:cNvGrpSpPr/>
        <p:nvPr/>
      </p:nvGrpSpPr>
      <p:grpSpPr>
        <a:xfrm>
          <a:off x="0" y="0"/>
          <a:ext cx="0" cy="0"/>
          <a:chOff x="0" y="0"/>
          <a:chExt cx="0" cy="0"/>
        </a:xfrm>
      </p:grpSpPr>
      <p:sp>
        <p:nvSpPr>
          <p:cNvPr id="2" name="Shape 0"/>
          <p:cNvSpPr/>
          <p:nvPr/>
        </p:nvSpPr>
        <p:spPr>
          <a:xfrm>
            <a:off x="9052560" y="2788920"/>
            <a:ext cx="1280160" cy="1280160"/>
          </a:xfrm>
          <a:prstGeom prst="ellipse">
            <a:avLst/>
          </a:prstGeom>
          <a:ln w="9525">
            <a:solidFill>
              <a:srgbClr val="990011">
                <a:alpha val="55000"/>
              </a:srgbClr>
            </a:solidFill>
            <a:prstDash val="solid"/>
          </a:ln>
        </p:spPr>
        <p:txBody>
          <a:bodyPr/>
          <a:lstStyle/>
          <a:p>
            <a:endParaRPr lang="en-PK"/>
          </a:p>
        </p:txBody>
      </p:sp>
      <p:sp>
        <p:nvSpPr>
          <p:cNvPr id="3" name="Shape 1"/>
          <p:cNvSpPr/>
          <p:nvPr/>
        </p:nvSpPr>
        <p:spPr>
          <a:xfrm>
            <a:off x="8549640" y="2286000"/>
            <a:ext cx="2286000" cy="2286000"/>
          </a:xfrm>
          <a:prstGeom prst="ellipse">
            <a:avLst/>
          </a:prstGeom>
          <a:ln w="9525">
            <a:solidFill>
              <a:srgbClr val="990011">
                <a:alpha val="49000"/>
              </a:srgbClr>
            </a:solidFill>
            <a:prstDash val="solid"/>
          </a:ln>
        </p:spPr>
        <p:txBody>
          <a:bodyPr/>
          <a:lstStyle/>
          <a:p>
            <a:endParaRPr lang="en-PK"/>
          </a:p>
        </p:txBody>
      </p:sp>
      <p:sp>
        <p:nvSpPr>
          <p:cNvPr id="4" name="Shape 2"/>
          <p:cNvSpPr/>
          <p:nvPr/>
        </p:nvSpPr>
        <p:spPr>
          <a:xfrm>
            <a:off x="8046720" y="1783080"/>
            <a:ext cx="3291840" cy="3291840"/>
          </a:xfrm>
          <a:prstGeom prst="ellipse">
            <a:avLst/>
          </a:prstGeom>
          <a:ln w="9525">
            <a:solidFill>
              <a:srgbClr val="990011">
                <a:alpha val="43000"/>
              </a:srgbClr>
            </a:solidFill>
            <a:prstDash val="solid"/>
          </a:ln>
        </p:spPr>
        <p:txBody>
          <a:bodyPr/>
          <a:lstStyle/>
          <a:p>
            <a:endParaRPr lang="en-PK"/>
          </a:p>
        </p:txBody>
      </p:sp>
      <p:sp>
        <p:nvSpPr>
          <p:cNvPr id="5" name="Shape 3"/>
          <p:cNvSpPr/>
          <p:nvPr/>
        </p:nvSpPr>
        <p:spPr>
          <a:xfrm>
            <a:off x="7543800" y="1280160"/>
            <a:ext cx="4297680" cy="4297680"/>
          </a:xfrm>
          <a:prstGeom prst="ellipse">
            <a:avLst/>
          </a:prstGeom>
          <a:ln w="9525">
            <a:solidFill>
              <a:srgbClr val="990011">
                <a:alpha val="37000"/>
              </a:srgbClr>
            </a:solidFill>
            <a:prstDash val="solid"/>
          </a:ln>
        </p:spPr>
        <p:txBody>
          <a:bodyPr/>
          <a:lstStyle/>
          <a:p>
            <a:endParaRPr lang="en-PK"/>
          </a:p>
        </p:txBody>
      </p:sp>
      <p:sp>
        <p:nvSpPr>
          <p:cNvPr id="6" name="Shape 4"/>
          <p:cNvSpPr/>
          <p:nvPr/>
        </p:nvSpPr>
        <p:spPr>
          <a:xfrm>
            <a:off x="7040880" y="777240"/>
            <a:ext cx="5303520" cy="5303520"/>
          </a:xfrm>
          <a:prstGeom prst="ellipse">
            <a:avLst/>
          </a:prstGeom>
          <a:ln w="9525">
            <a:solidFill>
              <a:srgbClr val="990011">
                <a:alpha val="31000"/>
              </a:srgbClr>
            </a:solidFill>
            <a:prstDash val="solid"/>
          </a:ln>
        </p:spPr>
        <p:txBody>
          <a:bodyPr/>
          <a:lstStyle/>
          <a:p>
            <a:endParaRPr lang="en-PK"/>
          </a:p>
        </p:txBody>
      </p:sp>
      <p:sp>
        <p:nvSpPr>
          <p:cNvPr id="7" name="Shape 5"/>
          <p:cNvSpPr/>
          <p:nvPr/>
        </p:nvSpPr>
        <p:spPr>
          <a:xfrm>
            <a:off x="6537960" y="274320"/>
            <a:ext cx="6309360" cy="6309360"/>
          </a:xfrm>
          <a:prstGeom prst="ellipse">
            <a:avLst/>
          </a:prstGeom>
          <a:ln w="9525">
            <a:solidFill>
              <a:srgbClr val="990011">
                <a:alpha val="25000"/>
              </a:srgbClr>
            </a:solidFill>
            <a:prstDash val="solid"/>
          </a:ln>
        </p:spPr>
        <p:txBody>
          <a:bodyPr/>
          <a:lstStyle/>
          <a:p>
            <a:endParaRPr lang="en-PK"/>
          </a:p>
        </p:txBody>
      </p:sp>
      <p:sp>
        <p:nvSpPr>
          <p:cNvPr id="8" name="Shape 6"/>
          <p:cNvSpPr/>
          <p:nvPr/>
        </p:nvSpPr>
        <p:spPr>
          <a:xfrm>
            <a:off x="6035040" y="-228600"/>
            <a:ext cx="7315200" cy="7315200"/>
          </a:xfrm>
          <a:prstGeom prst="ellipse">
            <a:avLst/>
          </a:prstGeom>
          <a:ln w="9525">
            <a:solidFill>
              <a:srgbClr val="990011">
                <a:alpha val="19000"/>
              </a:srgbClr>
            </a:solidFill>
            <a:prstDash val="solid"/>
          </a:ln>
        </p:spPr>
        <p:txBody>
          <a:bodyPr/>
          <a:lstStyle/>
          <a:p>
            <a:endParaRPr lang="en-PK"/>
          </a:p>
        </p:txBody>
      </p:sp>
      <p:sp>
        <p:nvSpPr>
          <p:cNvPr id="9" name="Text 7"/>
          <p:cNvSpPr txBox="1"/>
          <p:nvPr/>
        </p:nvSpPr>
        <p:spPr>
          <a:xfrm>
            <a:off x="731520" y="2057400"/>
            <a:ext cx="7680960" cy="1371600"/>
          </a:xfrm>
          <a:prstGeom prst="rect">
            <a:avLst/>
          </a:prstGeom>
          <a:noFill/>
          <a:ln/>
        </p:spPr>
        <p:txBody>
          <a:bodyPr wrap="square" lIns="0" tIns="0" rIns="0" bIns="0" rtlCol="0" anchor="ctr"/>
          <a:lstStyle/>
          <a:p>
            <a:r>
              <a:rPr lang="en-US" sz="4800">
                <a:solidFill>
                  <a:srgbClr val="C9C4C4"/>
                </a:solidFill>
                <a:latin typeface="Calibri" pitchFamily="34" charset="0"/>
                <a:ea typeface="Calibri" pitchFamily="34" charset="-122"/>
                <a:cs typeface="Calibri" pitchFamily="34" charset="-120"/>
              </a:rPr>
              <a:t>Software Engineering Ethics</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61A"/>
        </a:solidFill>
        <a:effectLst/>
      </p:bgPr>
    </p:bg>
    <p:spTree>
      <p:nvGrpSpPr>
        <p:cNvPr id="1" name=""/>
        <p:cNvGrpSpPr/>
        <p:nvPr/>
      </p:nvGrpSpPr>
      <p:grpSpPr>
        <a:xfrm>
          <a:off x="0" y="0"/>
          <a:ext cx="0" cy="0"/>
          <a:chOff x="0" y="0"/>
          <a:chExt cx="0" cy="0"/>
        </a:xfrm>
      </p:grpSpPr>
      <p:sp>
        <p:nvSpPr>
          <p:cNvPr id="2" name="Text 0"/>
          <p:cNvSpPr txBox="1"/>
          <p:nvPr/>
        </p:nvSpPr>
        <p:spPr>
          <a:xfrm>
            <a:off x="1005840" y="1371600"/>
            <a:ext cx="10149840" cy="640080"/>
          </a:xfrm>
          <a:prstGeom prst="rect">
            <a:avLst/>
          </a:prstGeom>
          <a:noFill/>
          <a:ln/>
        </p:spPr>
        <p:txBody>
          <a:bodyPr wrap="square" lIns="0" tIns="0" rIns="0" bIns="0" rtlCol="0" anchor="ctr"/>
          <a:lstStyle/>
          <a:p>
            <a:pPr marL="0" indent="0">
              <a:buNone/>
            </a:pPr>
            <a:r>
              <a:rPr lang="en-US" sz="3000" b="1" dirty="0">
                <a:solidFill>
                  <a:srgbClr val="C9C4C4"/>
                </a:solidFill>
                <a:latin typeface="Cambria" pitchFamily="34" charset="0"/>
                <a:ea typeface="Cambria" pitchFamily="34" charset="-122"/>
                <a:cs typeface="Cambria" pitchFamily="34" charset="-120"/>
              </a:rPr>
              <a:t>You are a junior developer.</a:t>
            </a:r>
            <a:endParaRPr lang="en-US" sz="3000" dirty="0"/>
          </a:p>
        </p:txBody>
      </p:sp>
      <p:sp>
        <p:nvSpPr>
          <p:cNvPr id="3" name="Text 1"/>
          <p:cNvSpPr txBox="1"/>
          <p:nvPr/>
        </p:nvSpPr>
        <p:spPr>
          <a:xfrm>
            <a:off x="1005840" y="2148840"/>
            <a:ext cx="10149840" cy="1554480"/>
          </a:xfrm>
          <a:prstGeom prst="rect">
            <a:avLst/>
          </a:prstGeom>
          <a:noFill/>
          <a:ln/>
        </p:spPr>
        <p:txBody>
          <a:bodyPr wrap="square" lIns="0" tIns="0" rIns="0" bIns="0" rtlCol="0" anchor="ctr"/>
          <a:lstStyle/>
          <a:p>
            <a:pPr marL="0" indent="0">
              <a:lnSpc>
                <a:spcPts val="4200"/>
              </a:lnSpc>
              <a:buNone/>
            </a:pPr>
            <a:r>
              <a:rPr lang="en-US" sz="3200" b="1" dirty="0">
                <a:solidFill>
                  <a:srgbClr val="FFFFFF"/>
                </a:solidFill>
                <a:latin typeface="Cambria" pitchFamily="34" charset="0"/>
                <a:ea typeface="Cambria" pitchFamily="34" charset="-122"/>
                <a:cs typeface="Cambria" pitchFamily="34" charset="-120"/>
              </a:rPr>
              <a:t>You find a bug that will crash the payment system for about 1 user in 10,000. Shipping on time gets your team the bonus.</a:t>
            </a:r>
            <a:endParaRPr lang="en-US" sz="3200" dirty="0"/>
          </a:p>
        </p:txBody>
      </p:sp>
      <p:sp>
        <p:nvSpPr>
          <p:cNvPr id="4" name="Text 2"/>
          <p:cNvSpPr txBox="1"/>
          <p:nvPr/>
        </p:nvSpPr>
        <p:spPr>
          <a:xfrm>
            <a:off x="1005840" y="3840480"/>
            <a:ext cx="10149840" cy="640080"/>
          </a:xfrm>
          <a:prstGeom prst="rect">
            <a:avLst/>
          </a:prstGeom>
          <a:noFill/>
          <a:ln/>
        </p:spPr>
        <p:txBody>
          <a:bodyPr wrap="square" lIns="0" tIns="0" rIns="0" bIns="0" rtlCol="0" anchor="ctr"/>
          <a:lstStyle/>
          <a:p>
            <a:pPr marL="0" indent="0">
              <a:buNone/>
            </a:pPr>
            <a:r>
              <a:rPr lang="en-US" sz="3200" b="1" dirty="0">
                <a:solidFill>
                  <a:srgbClr val="990011"/>
                </a:solidFill>
                <a:latin typeface="Cambria" pitchFamily="34" charset="0"/>
                <a:ea typeface="Cambria" pitchFamily="34" charset="-122"/>
                <a:cs typeface="Cambria" pitchFamily="34" charset="-120"/>
              </a:rPr>
              <a:t>Your lead says ship it.</a:t>
            </a:r>
            <a:endParaRPr lang="en-US" sz="3200" dirty="0"/>
          </a:p>
        </p:txBody>
      </p:sp>
      <p:sp>
        <p:nvSpPr>
          <p:cNvPr id="5" name="Text 3"/>
          <p:cNvSpPr txBox="1"/>
          <p:nvPr/>
        </p:nvSpPr>
        <p:spPr>
          <a:xfrm>
            <a:off x="1005840" y="4892040"/>
            <a:ext cx="1014984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What do you do?</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6F5"/>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972800" cy="548640"/>
          </a:xfrm>
          <a:prstGeom prst="rect">
            <a:avLst/>
          </a:prstGeom>
          <a:noFill/>
          <a:ln/>
        </p:spPr>
        <p:txBody>
          <a:bodyPr wrap="square" lIns="0" tIns="0" rIns="0" bIns="0" rtlCol="0" anchor="ctr"/>
          <a:lstStyle/>
          <a:p>
            <a:pPr marL="0" indent="0">
              <a:buNone/>
            </a:pPr>
            <a:r>
              <a:rPr lang="en-US" sz="2800" b="1" dirty="0">
                <a:solidFill>
                  <a:srgbClr val="16161A"/>
                </a:solidFill>
                <a:latin typeface="Cambria" pitchFamily="34" charset="0"/>
                <a:ea typeface="Cambria" pitchFamily="34" charset="-122"/>
                <a:cs typeface="Cambria" pitchFamily="34" charset="-120"/>
              </a:rPr>
              <a:t>Vote now. Hands up once, for one option only.</a:t>
            </a:r>
            <a:endParaRPr lang="en-US" sz="2800" dirty="0"/>
          </a:p>
        </p:txBody>
      </p:sp>
      <p:sp>
        <p:nvSpPr>
          <p:cNvPr id="3" name="Shape 1"/>
          <p:cNvSpPr/>
          <p:nvPr/>
        </p:nvSpPr>
        <p:spPr>
          <a:xfrm>
            <a:off x="640080" y="1417320"/>
            <a:ext cx="5193792" cy="2194560"/>
          </a:xfrm>
          <a:prstGeom prst="roundRect">
            <a:avLst>
              <a:gd name="adj" fmla="val 3333"/>
            </a:avLst>
          </a:prstGeom>
          <a:solidFill>
            <a:srgbClr val="F0E7E6"/>
          </a:solidFill>
          <a:ln w="12700">
            <a:solidFill>
              <a:srgbClr val="F0E7E6"/>
            </a:solidFill>
            <a:prstDash val="solid"/>
          </a:ln>
        </p:spPr>
        <p:txBody>
          <a:bodyPr/>
          <a:lstStyle/>
          <a:p>
            <a:endParaRPr lang="en-PK"/>
          </a:p>
        </p:txBody>
      </p:sp>
      <p:sp>
        <p:nvSpPr>
          <p:cNvPr id="4" name="Text 2"/>
          <p:cNvSpPr txBox="1"/>
          <p:nvPr/>
        </p:nvSpPr>
        <p:spPr>
          <a:xfrm>
            <a:off x="914400" y="1737360"/>
            <a:ext cx="548640" cy="457200"/>
          </a:xfrm>
          <a:prstGeom prst="rect">
            <a:avLst/>
          </a:prstGeom>
          <a:noFill/>
          <a:ln/>
        </p:spPr>
        <p:txBody>
          <a:bodyPr wrap="square" lIns="0" tIns="0" rIns="0" bIns="0" rtlCol="0" anchor="ctr"/>
          <a:lstStyle/>
          <a:p>
            <a:pPr marL="0" indent="0">
              <a:buNone/>
            </a:pPr>
            <a:r>
              <a:rPr lang="en-US" sz="2600" b="1" dirty="0">
                <a:solidFill>
                  <a:srgbClr val="990011"/>
                </a:solidFill>
                <a:latin typeface="Cambria" pitchFamily="34" charset="0"/>
                <a:ea typeface="Cambria" pitchFamily="34" charset="-122"/>
                <a:cs typeface="Cambria" pitchFamily="34" charset="-120"/>
              </a:rPr>
              <a:t>A</a:t>
            </a:r>
            <a:endParaRPr lang="en-US" sz="2600" dirty="0"/>
          </a:p>
        </p:txBody>
      </p:sp>
      <p:sp>
        <p:nvSpPr>
          <p:cNvPr id="5" name="Text 3"/>
          <p:cNvSpPr txBox="1"/>
          <p:nvPr/>
        </p:nvSpPr>
        <p:spPr>
          <a:xfrm>
            <a:off x="1508760" y="1737360"/>
            <a:ext cx="4023360" cy="457200"/>
          </a:xfrm>
          <a:prstGeom prst="rect">
            <a:avLst/>
          </a:prstGeom>
          <a:noFill/>
          <a:ln/>
        </p:spPr>
        <p:txBody>
          <a:bodyPr wrap="square" lIns="0" tIns="0" rIns="0" bIns="0" rtlCol="0" anchor="ctr"/>
          <a:lstStyle/>
          <a:p>
            <a:pPr marL="0" indent="0">
              <a:buNone/>
            </a:pPr>
            <a:r>
              <a:rPr lang="en-US" sz="2400" b="1" dirty="0">
                <a:solidFill>
                  <a:srgbClr val="16161A"/>
                </a:solidFill>
                <a:latin typeface="Cambria" pitchFamily="34" charset="0"/>
                <a:ea typeface="Cambria" pitchFamily="34" charset="-122"/>
                <a:cs typeface="Cambria" pitchFamily="34" charset="-120"/>
              </a:rPr>
              <a:t>Refuse</a:t>
            </a:r>
            <a:endParaRPr lang="en-US" sz="2400" dirty="0"/>
          </a:p>
        </p:txBody>
      </p:sp>
      <p:sp>
        <p:nvSpPr>
          <p:cNvPr id="6" name="Text 4"/>
          <p:cNvSpPr txBox="1"/>
          <p:nvPr/>
        </p:nvSpPr>
        <p:spPr>
          <a:xfrm>
            <a:off x="932688" y="2468880"/>
            <a:ext cx="4617720" cy="91440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You do not ship it, even if the team loses the bonus.</a:t>
            </a:r>
            <a:endParaRPr lang="en-US" sz="1500" dirty="0"/>
          </a:p>
        </p:txBody>
      </p:sp>
      <p:sp>
        <p:nvSpPr>
          <p:cNvPr id="7" name="Shape 5"/>
          <p:cNvSpPr/>
          <p:nvPr/>
        </p:nvSpPr>
        <p:spPr>
          <a:xfrm>
            <a:off x="6355080" y="1417320"/>
            <a:ext cx="5193792" cy="2194560"/>
          </a:xfrm>
          <a:prstGeom prst="roundRect">
            <a:avLst>
              <a:gd name="adj" fmla="val 3333"/>
            </a:avLst>
          </a:prstGeom>
          <a:solidFill>
            <a:srgbClr val="F0E7E6"/>
          </a:solidFill>
          <a:ln w="12700">
            <a:solidFill>
              <a:srgbClr val="F0E7E6"/>
            </a:solidFill>
            <a:prstDash val="solid"/>
          </a:ln>
        </p:spPr>
        <p:txBody>
          <a:bodyPr/>
          <a:lstStyle/>
          <a:p>
            <a:endParaRPr lang="en-PK"/>
          </a:p>
        </p:txBody>
      </p:sp>
      <p:sp>
        <p:nvSpPr>
          <p:cNvPr id="8" name="Text 6"/>
          <p:cNvSpPr txBox="1"/>
          <p:nvPr/>
        </p:nvSpPr>
        <p:spPr>
          <a:xfrm>
            <a:off x="6629400" y="1737360"/>
            <a:ext cx="548640" cy="457200"/>
          </a:xfrm>
          <a:prstGeom prst="rect">
            <a:avLst/>
          </a:prstGeom>
          <a:noFill/>
          <a:ln/>
        </p:spPr>
        <p:txBody>
          <a:bodyPr wrap="square" lIns="0" tIns="0" rIns="0" bIns="0" rtlCol="0" anchor="ctr"/>
          <a:lstStyle/>
          <a:p>
            <a:pPr marL="0" indent="0">
              <a:buNone/>
            </a:pPr>
            <a:r>
              <a:rPr lang="en-US" sz="2600" b="1" dirty="0">
                <a:solidFill>
                  <a:srgbClr val="990011"/>
                </a:solidFill>
                <a:latin typeface="Cambria" pitchFamily="34" charset="0"/>
                <a:ea typeface="Cambria" pitchFamily="34" charset="-122"/>
                <a:cs typeface="Cambria" pitchFamily="34" charset="-120"/>
              </a:rPr>
              <a:t>B</a:t>
            </a:r>
            <a:endParaRPr lang="en-US" sz="2600" dirty="0"/>
          </a:p>
        </p:txBody>
      </p:sp>
      <p:sp>
        <p:nvSpPr>
          <p:cNvPr id="9" name="Text 7"/>
          <p:cNvSpPr txBox="1"/>
          <p:nvPr/>
        </p:nvSpPr>
        <p:spPr>
          <a:xfrm>
            <a:off x="7223760" y="1737360"/>
            <a:ext cx="4023360" cy="457200"/>
          </a:xfrm>
          <a:prstGeom prst="rect">
            <a:avLst/>
          </a:prstGeom>
          <a:noFill/>
          <a:ln/>
        </p:spPr>
        <p:txBody>
          <a:bodyPr wrap="square" lIns="0" tIns="0" rIns="0" bIns="0" rtlCol="0" anchor="ctr"/>
          <a:lstStyle/>
          <a:p>
            <a:pPr marL="0" indent="0">
              <a:buNone/>
            </a:pPr>
            <a:r>
              <a:rPr lang="en-US" sz="2400" b="1" dirty="0">
                <a:solidFill>
                  <a:srgbClr val="16161A"/>
                </a:solidFill>
                <a:latin typeface="Cambria" pitchFamily="34" charset="0"/>
                <a:ea typeface="Cambria" pitchFamily="34" charset="-122"/>
                <a:cs typeface="Cambria" pitchFamily="34" charset="-120"/>
              </a:rPr>
              <a:t>Object, then comply</a:t>
            </a:r>
            <a:endParaRPr lang="en-US" sz="2400" dirty="0"/>
          </a:p>
        </p:txBody>
      </p:sp>
      <p:sp>
        <p:nvSpPr>
          <p:cNvPr id="10" name="Text 8"/>
          <p:cNvSpPr txBox="1"/>
          <p:nvPr/>
        </p:nvSpPr>
        <p:spPr>
          <a:xfrm>
            <a:off x="6647688" y="2468880"/>
            <a:ext cx="4617720" cy="91440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You put your concern in writing, then push the code anyway.</a:t>
            </a:r>
            <a:endParaRPr lang="en-US" sz="1500" dirty="0"/>
          </a:p>
        </p:txBody>
      </p:sp>
      <p:sp>
        <p:nvSpPr>
          <p:cNvPr id="11" name="Shape 9"/>
          <p:cNvSpPr/>
          <p:nvPr/>
        </p:nvSpPr>
        <p:spPr>
          <a:xfrm>
            <a:off x="640080" y="3794760"/>
            <a:ext cx="5193792" cy="2194560"/>
          </a:xfrm>
          <a:prstGeom prst="roundRect">
            <a:avLst>
              <a:gd name="adj" fmla="val 3333"/>
            </a:avLst>
          </a:prstGeom>
          <a:solidFill>
            <a:srgbClr val="F0E7E6"/>
          </a:solidFill>
          <a:ln w="12700">
            <a:solidFill>
              <a:srgbClr val="F0E7E6"/>
            </a:solidFill>
            <a:prstDash val="solid"/>
          </a:ln>
        </p:spPr>
        <p:txBody>
          <a:bodyPr/>
          <a:lstStyle/>
          <a:p>
            <a:endParaRPr lang="en-PK"/>
          </a:p>
        </p:txBody>
      </p:sp>
      <p:sp>
        <p:nvSpPr>
          <p:cNvPr id="12" name="Text 10"/>
          <p:cNvSpPr txBox="1"/>
          <p:nvPr/>
        </p:nvSpPr>
        <p:spPr>
          <a:xfrm>
            <a:off x="914400" y="4114800"/>
            <a:ext cx="548640" cy="457200"/>
          </a:xfrm>
          <a:prstGeom prst="rect">
            <a:avLst/>
          </a:prstGeom>
          <a:noFill/>
          <a:ln/>
        </p:spPr>
        <p:txBody>
          <a:bodyPr wrap="square" lIns="0" tIns="0" rIns="0" bIns="0" rtlCol="0" anchor="ctr"/>
          <a:lstStyle/>
          <a:p>
            <a:pPr marL="0" indent="0">
              <a:buNone/>
            </a:pPr>
            <a:r>
              <a:rPr lang="en-US" sz="2600" b="1" dirty="0">
                <a:solidFill>
                  <a:srgbClr val="990011"/>
                </a:solidFill>
                <a:latin typeface="Cambria" pitchFamily="34" charset="0"/>
                <a:ea typeface="Cambria" pitchFamily="34" charset="-122"/>
                <a:cs typeface="Cambria" pitchFamily="34" charset="-120"/>
              </a:rPr>
              <a:t>C</a:t>
            </a:r>
            <a:endParaRPr lang="en-US" sz="2600" dirty="0"/>
          </a:p>
        </p:txBody>
      </p:sp>
      <p:sp>
        <p:nvSpPr>
          <p:cNvPr id="13" name="Text 11"/>
          <p:cNvSpPr txBox="1"/>
          <p:nvPr/>
        </p:nvSpPr>
        <p:spPr>
          <a:xfrm>
            <a:off x="1508760" y="4114800"/>
            <a:ext cx="4023360" cy="457200"/>
          </a:xfrm>
          <a:prstGeom prst="rect">
            <a:avLst/>
          </a:prstGeom>
          <a:noFill/>
          <a:ln/>
        </p:spPr>
        <p:txBody>
          <a:bodyPr wrap="square" lIns="0" tIns="0" rIns="0" bIns="0" rtlCol="0" anchor="ctr"/>
          <a:lstStyle/>
          <a:p>
            <a:pPr marL="0" indent="0">
              <a:buNone/>
            </a:pPr>
            <a:r>
              <a:rPr lang="en-US" sz="2400" b="1" dirty="0">
                <a:solidFill>
                  <a:srgbClr val="16161A"/>
                </a:solidFill>
                <a:latin typeface="Cambria" pitchFamily="34" charset="0"/>
                <a:ea typeface="Cambria" pitchFamily="34" charset="-122"/>
                <a:cs typeface="Cambria" pitchFamily="34" charset="-120"/>
              </a:rPr>
              <a:t>Comply</a:t>
            </a:r>
            <a:endParaRPr lang="en-US" sz="2400" dirty="0"/>
          </a:p>
        </p:txBody>
      </p:sp>
      <p:sp>
        <p:nvSpPr>
          <p:cNvPr id="14" name="Text 12"/>
          <p:cNvSpPr txBox="1"/>
          <p:nvPr/>
        </p:nvSpPr>
        <p:spPr>
          <a:xfrm>
            <a:off x="932688" y="4846320"/>
            <a:ext cx="4617720" cy="91440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Your lead has more experience than you. You trust the call.</a:t>
            </a:r>
            <a:endParaRPr lang="en-US" sz="1500" dirty="0"/>
          </a:p>
        </p:txBody>
      </p:sp>
      <p:sp>
        <p:nvSpPr>
          <p:cNvPr id="15" name="Shape 13"/>
          <p:cNvSpPr/>
          <p:nvPr/>
        </p:nvSpPr>
        <p:spPr>
          <a:xfrm>
            <a:off x="6355080" y="3794760"/>
            <a:ext cx="5193792" cy="2194560"/>
          </a:xfrm>
          <a:prstGeom prst="roundRect">
            <a:avLst>
              <a:gd name="adj" fmla="val 3333"/>
            </a:avLst>
          </a:prstGeom>
          <a:solidFill>
            <a:srgbClr val="F0E7E6"/>
          </a:solidFill>
          <a:ln w="12700">
            <a:solidFill>
              <a:srgbClr val="F0E7E6"/>
            </a:solidFill>
            <a:prstDash val="solid"/>
          </a:ln>
        </p:spPr>
        <p:txBody>
          <a:bodyPr/>
          <a:lstStyle/>
          <a:p>
            <a:endParaRPr lang="en-PK"/>
          </a:p>
        </p:txBody>
      </p:sp>
      <p:sp>
        <p:nvSpPr>
          <p:cNvPr id="16" name="Text 14"/>
          <p:cNvSpPr txBox="1"/>
          <p:nvPr/>
        </p:nvSpPr>
        <p:spPr>
          <a:xfrm>
            <a:off x="6629400" y="4114800"/>
            <a:ext cx="548640" cy="457200"/>
          </a:xfrm>
          <a:prstGeom prst="rect">
            <a:avLst/>
          </a:prstGeom>
          <a:noFill/>
          <a:ln/>
        </p:spPr>
        <p:txBody>
          <a:bodyPr wrap="square" lIns="0" tIns="0" rIns="0" bIns="0" rtlCol="0" anchor="ctr"/>
          <a:lstStyle/>
          <a:p>
            <a:pPr marL="0" indent="0">
              <a:buNone/>
            </a:pPr>
            <a:r>
              <a:rPr lang="en-US" sz="2600" b="1" dirty="0">
                <a:solidFill>
                  <a:srgbClr val="990011"/>
                </a:solidFill>
                <a:latin typeface="Cambria" pitchFamily="34" charset="0"/>
                <a:ea typeface="Cambria" pitchFamily="34" charset="-122"/>
                <a:cs typeface="Cambria" pitchFamily="34" charset="-120"/>
              </a:rPr>
              <a:t>D</a:t>
            </a:r>
            <a:endParaRPr lang="en-US" sz="2600" dirty="0"/>
          </a:p>
        </p:txBody>
      </p:sp>
      <p:sp>
        <p:nvSpPr>
          <p:cNvPr id="17" name="Text 15"/>
          <p:cNvSpPr txBox="1"/>
          <p:nvPr/>
        </p:nvSpPr>
        <p:spPr>
          <a:xfrm>
            <a:off x="7223760" y="4114800"/>
            <a:ext cx="4023360" cy="457200"/>
          </a:xfrm>
          <a:prstGeom prst="rect">
            <a:avLst/>
          </a:prstGeom>
          <a:noFill/>
          <a:ln/>
        </p:spPr>
        <p:txBody>
          <a:bodyPr wrap="square" lIns="0" tIns="0" rIns="0" bIns="0" rtlCol="0" anchor="ctr"/>
          <a:lstStyle/>
          <a:p>
            <a:pPr marL="0" indent="0">
              <a:buNone/>
            </a:pPr>
            <a:r>
              <a:rPr lang="en-US" sz="2400" b="1" dirty="0">
                <a:solidFill>
                  <a:srgbClr val="16161A"/>
                </a:solidFill>
                <a:latin typeface="Cambria" pitchFamily="34" charset="0"/>
                <a:ea typeface="Cambria" pitchFamily="34" charset="-122"/>
                <a:cs typeface="Cambria" pitchFamily="34" charset="-120"/>
              </a:rPr>
              <a:t>Escalate</a:t>
            </a:r>
            <a:endParaRPr lang="en-US" sz="2400" dirty="0"/>
          </a:p>
        </p:txBody>
      </p:sp>
      <p:sp>
        <p:nvSpPr>
          <p:cNvPr id="18" name="Text 16"/>
          <p:cNvSpPr txBox="1"/>
          <p:nvPr/>
        </p:nvSpPr>
        <p:spPr>
          <a:xfrm>
            <a:off x="6647688" y="4846320"/>
            <a:ext cx="4617720" cy="91440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You go over your lead's head to someone more senior.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685800"/>
          </a:xfrm>
          <a:prstGeom prst="rect">
            <a:avLst/>
          </a:prstGeom>
          <a:noFill/>
          <a:ln/>
        </p:spPr>
        <p:txBody>
          <a:bodyPr wrap="square" lIns="0" tIns="0" rIns="0" bIns="0" rtlCol="0" anchor="ctr"/>
          <a:lstStyle/>
          <a:p>
            <a:r>
              <a:rPr lang="en-US" sz="3600" i="1" dirty="0">
                <a:solidFill>
                  <a:srgbClr val="6E6E76"/>
                </a:solidFill>
                <a:latin typeface="Calibri" pitchFamily="34" charset="0"/>
                <a:ea typeface="Calibri" pitchFamily="34" charset="-122"/>
                <a:cs typeface="Calibri" pitchFamily="34" charset="-120"/>
              </a:rPr>
              <a:t>Software engineering involves wider responsibilities than the application of technical skill.</a:t>
            </a:r>
            <a:endParaRPr lang="en-US" sz="3600" dirty="0"/>
          </a:p>
        </p:txBody>
      </p:sp>
      <p:sp>
        <p:nvSpPr>
          <p:cNvPr id="3" name="Text 1"/>
          <p:cNvSpPr txBox="1"/>
          <p:nvPr/>
        </p:nvSpPr>
        <p:spPr>
          <a:xfrm>
            <a:off x="640080" y="1188720"/>
            <a:ext cx="10881360" cy="457200"/>
          </a:xfrm>
          <a:prstGeom prst="rect">
            <a:avLst/>
          </a:prstGeom>
          <a:noFill/>
          <a:ln/>
        </p:spPr>
        <p:txBody>
          <a:bodyPr wrap="square" lIns="0" tIns="0" rIns="0" bIns="0" rtlCol="0" anchor="ctr"/>
          <a:lstStyle/>
          <a:p>
            <a:pPr marL="0" indent="0">
              <a:buNone/>
            </a:pPr>
            <a:endParaRPr lang="en-US" sz="1700" dirty="0"/>
          </a:p>
        </p:txBody>
      </p:sp>
      <p:sp>
        <p:nvSpPr>
          <p:cNvPr id="4" name="Shape 2"/>
          <p:cNvSpPr/>
          <p:nvPr/>
        </p:nvSpPr>
        <p:spPr>
          <a:xfrm>
            <a:off x="640080" y="2057400"/>
            <a:ext cx="566928" cy="566928"/>
          </a:xfrm>
          <a:prstGeom prst="ellipse">
            <a:avLst/>
          </a:prstGeom>
          <a:solidFill>
            <a:srgbClr val="990011"/>
          </a:solidFill>
          <a:ln w="12700">
            <a:solidFill>
              <a:srgbClr val="990011"/>
            </a:solidFill>
            <a:prstDash val="solid"/>
          </a:ln>
        </p:spPr>
        <p:txBody>
          <a:bodyPr/>
          <a:lstStyle/>
          <a:p>
            <a:endParaRPr lang="en-PK"/>
          </a:p>
        </p:txBody>
      </p:sp>
      <p:sp>
        <p:nvSpPr>
          <p:cNvPr id="5" name="Text 3"/>
          <p:cNvSpPr txBox="1"/>
          <p:nvPr/>
        </p:nvSpPr>
        <p:spPr>
          <a:xfrm>
            <a:off x="640080" y="20574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417320" y="2029968"/>
            <a:ext cx="9966960" cy="411480"/>
          </a:xfrm>
          <a:prstGeom prst="rect">
            <a:avLst/>
          </a:prstGeom>
          <a:noFill/>
          <a:ln/>
        </p:spPr>
        <p:txBody>
          <a:bodyPr wrap="square" lIns="0" tIns="0" rIns="0" bIns="0" rtlCol="0" anchor="ctr"/>
          <a:lstStyle/>
          <a:p>
            <a:pPr marL="0" indent="0">
              <a:buNone/>
            </a:pPr>
            <a:r>
              <a:rPr lang="en-US" sz="2000" b="1" dirty="0">
                <a:solidFill>
                  <a:srgbClr val="16161A"/>
                </a:solidFill>
                <a:latin typeface="Cambria" pitchFamily="34" charset="0"/>
                <a:ea typeface="Cambria" pitchFamily="34" charset="-122"/>
                <a:cs typeface="Cambria" pitchFamily="34" charset="-120"/>
              </a:rPr>
              <a:t>Code makes decisions about people who never agreed to be affected by it.</a:t>
            </a:r>
            <a:endParaRPr lang="en-US" sz="2000" dirty="0"/>
          </a:p>
        </p:txBody>
      </p:sp>
      <p:sp>
        <p:nvSpPr>
          <p:cNvPr id="7" name="Text 5"/>
          <p:cNvSpPr txBox="1"/>
          <p:nvPr/>
        </p:nvSpPr>
        <p:spPr>
          <a:xfrm>
            <a:off x="1417320" y="2496312"/>
            <a:ext cx="9966960" cy="54864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The patient did not choose your dosage algorithm. The passenger did not choose your sensor logic.</a:t>
            </a:r>
            <a:endParaRPr lang="en-US" sz="1500" dirty="0"/>
          </a:p>
        </p:txBody>
      </p:sp>
      <p:sp>
        <p:nvSpPr>
          <p:cNvPr id="8" name="Shape 6"/>
          <p:cNvSpPr/>
          <p:nvPr/>
        </p:nvSpPr>
        <p:spPr>
          <a:xfrm>
            <a:off x="640080" y="3474720"/>
            <a:ext cx="566928" cy="566928"/>
          </a:xfrm>
          <a:prstGeom prst="ellipse">
            <a:avLst/>
          </a:prstGeom>
          <a:solidFill>
            <a:srgbClr val="990011"/>
          </a:solidFill>
          <a:ln w="12700">
            <a:solidFill>
              <a:srgbClr val="990011"/>
            </a:solidFill>
            <a:prstDash val="solid"/>
          </a:ln>
        </p:spPr>
        <p:txBody>
          <a:bodyPr/>
          <a:lstStyle/>
          <a:p>
            <a:endParaRPr lang="en-PK"/>
          </a:p>
        </p:txBody>
      </p:sp>
      <p:sp>
        <p:nvSpPr>
          <p:cNvPr id="9" name="Text 7"/>
          <p:cNvSpPr txBox="1"/>
          <p:nvPr/>
        </p:nvSpPr>
        <p:spPr>
          <a:xfrm>
            <a:off x="640080" y="34747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417320" y="3447288"/>
            <a:ext cx="9966960" cy="411480"/>
          </a:xfrm>
          <a:prstGeom prst="rect">
            <a:avLst/>
          </a:prstGeom>
          <a:noFill/>
          <a:ln/>
        </p:spPr>
        <p:txBody>
          <a:bodyPr wrap="square" lIns="0" tIns="0" rIns="0" bIns="0" rtlCol="0" anchor="ctr"/>
          <a:lstStyle/>
          <a:p>
            <a:pPr marL="0" indent="0">
              <a:buNone/>
            </a:pPr>
            <a:r>
              <a:rPr lang="en-US" sz="2000" b="1" dirty="0">
                <a:solidFill>
                  <a:srgbClr val="16161A"/>
                </a:solidFill>
                <a:latin typeface="Cambria" pitchFamily="34" charset="0"/>
                <a:ea typeface="Cambria" pitchFamily="34" charset="-122"/>
                <a:cs typeface="Cambria" pitchFamily="34" charset="-120"/>
              </a:rPr>
              <a:t>An ethical failure usually arrives disguised as a technical shortcut.</a:t>
            </a:r>
            <a:endParaRPr lang="en-US" sz="2000" dirty="0"/>
          </a:p>
        </p:txBody>
      </p:sp>
      <p:sp>
        <p:nvSpPr>
          <p:cNvPr id="11" name="Text 9"/>
          <p:cNvSpPr txBox="1"/>
          <p:nvPr/>
        </p:nvSpPr>
        <p:spPr>
          <a:xfrm>
            <a:off x="1417320" y="3913632"/>
            <a:ext cx="9966960" cy="54864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Nobody writes a commit message saying 'harming users today'. They write 'temporary fix, will revisit'.</a:t>
            </a:r>
            <a:endParaRPr lang="en-US" sz="1500" dirty="0"/>
          </a:p>
        </p:txBody>
      </p:sp>
      <p:sp>
        <p:nvSpPr>
          <p:cNvPr id="12" name="Shape 10"/>
          <p:cNvSpPr/>
          <p:nvPr/>
        </p:nvSpPr>
        <p:spPr>
          <a:xfrm>
            <a:off x="640080" y="4892040"/>
            <a:ext cx="566928" cy="566928"/>
          </a:xfrm>
          <a:prstGeom prst="ellipse">
            <a:avLst/>
          </a:prstGeom>
          <a:solidFill>
            <a:srgbClr val="990011"/>
          </a:solidFill>
          <a:ln w="12700">
            <a:solidFill>
              <a:srgbClr val="990011"/>
            </a:solidFill>
            <a:prstDash val="solid"/>
          </a:ln>
        </p:spPr>
        <p:txBody>
          <a:bodyPr/>
          <a:lstStyle/>
          <a:p>
            <a:endParaRPr lang="en-PK"/>
          </a:p>
        </p:txBody>
      </p:sp>
      <p:sp>
        <p:nvSpPr>
          <p:cNvPr id="13" name="Text 11"/>
          <p:cNvSpPr txBox="1"/>
          <p:nvPr/>
        </p:nvSpPr>
        <p:spPr>
          <a:xfrm>
            <a:off x="640080" y="489204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417320" y="4864608"/>
            <a:ext cx="9966960" cy="411480"/>
          </a:xfrm>
          <a:prstGeom prst="rect">
            <a:avLst/>
          </a:prstGeom>
          <a:noFill/>
          <a:ln/>
        </p:spPr>
        <p:txBody>
          <a:bodyPr wrap="square" lIns="0" tIns="0" rIns="0" bIns="0" rtlCol="0" anchor="ctr"/>
          <a:lstStyle/>
          <a:p>
            <a:pPr marL="0" indent="0">
              <a:buNone/>
            </a:pPr>
            <a:r>
              <a:rPr lang="en-US" sz="2000" b="1" dirty="0">
                <a:solidFill>
                  <a:srgbClr val="16161A"/>
                </a:solidFill>
                <a:latin typeface="Cambria" pitchFamily="34" charset="0"/>
                <a:ea typeface="Cambria" pitchFamily="34" charset="-122"/>
                <a:cs typeface="Cambria" pitchFamily="34" charset="-120"/>
              </a:rPr>
              <a:t>By the time harm is visible, the decision was made months earlier.</a:t>
            </a:r>
            <a:endParaRPr lang="en-US" sz="2000" dirty="0"/>
          </a:p>
        </p:txBody>
      </p:sp>
      <p:sp>
        <p:nvSpPr>
          <p:cNvPr id="15" name="Text 13"/>
          <p:cNvSpPr txBox="1"/>
          <p:nvPr/>
        </p:nvSpPr>
        <p:spPr>
          <a:xfrm>
            <a:off x="1417320" y="5330952"/>
            <a:ext cx="9966960" cy="54864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The requirement you accepted without question is where the failure actually started.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A"/>
        </a:solidFill>
        <a:effectLst/>
      </p:bgPr>
    </p:bg>
    <p:spTree>
      <p:nvGrpSpPr>
        <p:cNvPr id="1" name=""/>
        <p:cNvGrpSpPr/>
        <p:nvPr/>
      </p:nvGrpSpPr>
      <p:grpSpPr>
        <a:xfrm>
          <a:off x="0" y="0"/>
          <a:ext cx="0" cy="0"/>
          <a:chOff x="0" y="0"/>
          <a:chExt cx="0" cy="0"/>
        </a:xfrm>
      </p:grpSpPr>
      <p:sp>
        <p:nvSpPr>
          <p:cNvPr id="2" name="Shape 0"/>
          <p:cNvSpPr/>
          <p:nvPr/>
        </p:nvSpPr>
        <p:spPr>
          <a:xfrm>
            <a:off x="9509760" y="2697480"/>
            <a:ext cx="1463040" cy="1463040"/>
          </a:xfrm>
          <a:prstGeom prst="ellipse">
            <a:avLst/>
          </a:prstGeom>
          <a:ln w="9525">
            <a:solidFill>
              <a:srgbClr val="2F3C7E">
                <a:alpha val="55000"/>
              </a:srgbClr>
            </a:solidFill>
            <a:prstDash val="solid"/>
          </a:ln>
        </p:spPr>
        <p:txBody>
          <a:bodyPr/>
          <a:lstStyle/>
          <a:p>
            <a:endParaRPr lang="en-PK"/>
          </a:p>
        </p:txBody>
      </p:sp>
      <p:sp>
        <p:nvSpPr>
          <p:cNvPr id="3" name="Shape 1"/>
          <p:cNvSpPr/>
          <p:nvPr/>
        </p:nvSpPr>
        <p:spPr>
          <a:xfrm>
            <a:off x="8961120" y="2148840"/>
            <a:ext cx="2560320" cy="2560320"/>
          </a:xfrm>
          <a:prstGeom prst="ellipse">
            <a:avLst/>
          </a:prstGeom>
          <a:ln w="9525">
            <a:solidFill>
              <a:srgbClr val="2F3C7E">
                <a:alpha val="49000"/>
              </a:srgbClr>
            </a:solidFill>
            <a:prstDash val="solid"/>
          </a:ln>
        </p:spPr>
        <p:txBody>
          <a:bodyPr/>
          <a:lstStyle/>
          <a:p>
            <a:endParaRPr lang="en-PK"/>
          </a:p>
        </p:txBody>
      </p:sp>
      <p:sp>
        <p:nvSpPr>
          <p:cNvPr id="4" name="Shape 2"/>
          <p:cNvSpPr/>
          <p:nvPr/>
        </p:nvSpPr>
        <p:spPr>
          <a:xfrm>
            <a:off x="8412480" y="1600200"/>
            <a:ext cx="3657600" cy="3657600"/>
          </a:xfrm>
          <a:prstGeom prst="ellipse">
            <a:avLst/>
          </a:prstGeom>
          <a:ln w="9525">
            <a:solidFill>
              <a:srgbClr val="2F3C7E">
                <a:alpha val="43000"/>
              </a:srgbClr>
            </a:solidFill>
            <a:prstDash val="solid"/>
          </a:ln>
        </p:spPr>
        <p:txBody>
          <a:bodyPr/>
          <a:lstStyle/>
          <a:p>
            <a:endParaRPr lang="en-PK"/>
          </a:p>
        </p:txBody>
      </p:sp>
      <p:sp>
        <p:nvSpPr>
          <p:cNvPr id="5" name="Shape 3"/>
          <p:cNvSpPr/>
          <p:nvPr/>
        </p:nvSpPr>
        <p:spPr>
          <a:xfrm>
            <a:off x="7863840" y="1051560"/>
            <a:ext cx="4754880" cy="4754880"/>
          </a:xfrm>
          <a:prstGeom prst="ellipse">
            <a:avLst/>
          </a:prstGeom>
          <a:ln w="9525">
            <a:solidFill>
              <a:srgbClr val="2F3C7E">
                <a:alpha val="37000"/>
              </a:srgbClr>
            </a:solidFill>
            <a:prstDash val="solid"/>
          </a:ln>
        </p:spPr>
        <p:txBody>
          <a:bodyPr/>
          <a:lstStyle/>
          <a:p>
            <a:endParaRPr lang="en-PK"/>
          </a:p>
        </p:txBody>
      </p:sp>
      <p:sp>
        <p:nvSpPr>
          <p:cNvPr id="6" name="Shape 4"/>
          <p:cNvSpPr/>
          <p:nvPr/>
        </p:nvSpPr>
        <p:spPr>
          <a:xfrm>
            <a:off x="7315200" y="502920"/>
            <a:ext cx="5852160" cy="5852160"/>
          </a:xfrm>
          <a:prstGeom prst="ellipse">
            <a:avLst/>
          </a:prstGeom>
          <a:ln w="9525">
            <a:solidFill>
              <a:srgbClr val="2F3C7E">
                <a:alpha val="31000"/>
              </a:srgbClr>
            </a:solidFill>
            <a:prstDash val="solid"/>
          </a:ln>
        </p:spPr>
        <p:txBody>
          <a:bodyPr/>
          <a:lstStyle/>
          <a:p>
            <a:endParaRPr lang="en-PK"/>
          </a:p>
        </p:txBody>
      </p:sp>
      <p:sp>
        <p:nvSpPr>
          <p:cNvPr id="7" name="Shape 5"/>
          <p:cNvSpPr/>
          <p:nvPr/>
        </p:nvSpPr>
        <p:spPr>
          <a:xfrm>
            <a:off x="6766560" y="-45720"/>
            <a:ext cx="6949440" cy="6949440"/>
          </a:xfrm>
          <a:prstGeom prst="ellipse">
            <a:avLst/>
          </a:prstGeom>
          <a:ln w="9525">
            <a:solidFill>
              <a:srgbClr val="2F3C7E">
                <a:alpha val="25000"/>
              </a:srgbClr>
            </a:solidFill>
            <a:prstDash val="solid"/>
          </a:ln>
        </p:spPr>
        <p:txBody>
          <a:bodyPr/>
          <a:lstStyle/>
          <a:p>
            <a:endParaRPr lang="en-PK"/>
          </a:p>
        </p:txBody>
      </p:sp>
      <p:sp>
        <p:nvSpPr>
          <p:cNvPr id="8" name="Text 6"/>
          <p:cNvSpPr txBox="1"/>
          <p:nvPr/>
        </p:nvSpPr>
        <p:spPr>
          <a:xfrm>
            <a:off x="822960" y="2148840"/>
            <a:ext cx="5486400" cy="411480"/>
          </a:xfrm>
          <a:prstGeom prst="rect">
            <a:avLst/>
          </a:prstGeom>
          <a:noFill/>
          <a:ln/>
        </p:spPr>
        <p:txBody>
          <a:bodyPr wrap="square" lIns="0" tIns="0" rIns="0" bIns="0" rtlCol="0" anchor="ctr"/>
          <a:lstStyle/>
          <a:p>
            <a:pPr marL="0" indent="0">
              <a:buNone/>
            </a:pPr>
            <a:endParaRPr lang="en-US" sz="1500" dirty="0"/>
          </a:p>
        </p:txBody>
      </p:sp>
      <p:sp>
        <p:nvSpPr>
          <p:cNvPr id="9" name="Text 7"/>
          <p:cNvSpPr txBox="1"/>
          <p:nvPr/>
        </p:nvSpPr>
        <p:spPr>
          <a:xfrm>
            <a:off x="822960" y="2651760"/>
            <a:ext cx="7863840" cy="1645920"/>
          </a:xfrm>
          <a:prstGeom prst="rect">
            <a:avLst/>
          </a:prstGeom>
          <a:noFill/>
          <a:ln/>
        </p:spPr>
        <p:txBody>
          <a:bodyPr wrap="square" lIns="0" tIns="0" rIns="0" bIns="0" rtlCol="0" anchor="ctr"/>
          <a:lstStyle/>
          <a:p>
            <a:pPr marL="0" indent="0">
              <a:lnSpc>
                <a:spcPts val="4800"/>
              </a:lnSpc>
              <a:buNone/>
            </a:pPr>
            <a:r>
              <a:rPr lang="en-US" sz="4000" b="1" dirty="0">
                <a:solidFill>
                  <a:srgbClr val="FFFFFF"/>
                </a:solidFill>
                <a:latin typeface="Cambria" pitchFamily="34" charset="0"/>
                <a:ea typeface="Cambria" pitchFamily="34" charset="-122"/>
                <a:cs typeface="Cambria" pitchFamily="34" charset="-120"/>
              </a:rPr>
              <a:t>Four Issues of Professional Responsibility</a:t>
            </a:r>
            <a:endParaRPr lang="en-US" sz="4000" dirty="0"/>
          </a:p>
        </p:txBody>
      </p:sp>
      <p:sp>
        <p:nvSpPr>
          <p:cNvPr id="10" name="Text 8"/>
          <p:cNvSpPr txBox="1"/>
          <p:nvPr/>
        </p:nvSpPr>
        <p:spPr>
          <a:xfrm>
            <a:off x="841248" y="4434840"/>
            <a:ext cx="8229600" cy="457200"/>
          </a:xfrm>
          <a:prstGeom prst="rect">
            <a:avLst/>
          </a:prstGeom>
          <a:noFill/>
          <a:ln/>
        </p:spPr>
        <p:txBody>
          <a:bodyPr wrap="square" lIns="0" tIns="0" rIns="0" bIns="0" rtlCol="0" anchor="ctr"/>
          <a:lstStyle/>
          <a:p>
            <a:pPr marL="0" indent="0">
              <a:buNone/>
            </a:pPr>
            <a:r>
              <a:rPr lang="en-US" sz="1500" dirty="0">
                <a:solidFill>
                  <a:srgbClr val="C9C4C4"/>
                </a:solidFill>
                <a:latin typeface="Calibri" pitchFamily="34" charset="0"/>
                <a:ea typeface="Calibri" pitchFamily="34" charset="-122"/>
                <a:cs typeface="Calibri" pitchFamily="34" charset="-120"/>
              </a:rPr>
              <a:t>Confidentiality   ·   Competence   ·   Intellectual property   ·   Computer misuse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640080" y="685800"/>
            <a:ext cx="566928" cy="566928"/>
          </a:xfrm>
          <a:prstGeom prst="ellipse">
            <a:avLst/>
          </a:prstGeom>
          <a:solidFill>
            <a:srgbClr val="16161A"/>
          </a:solidFill>
          <a:ln w="12700">
            <a:solidFill>
              <a:srgbClr val="16161A"/>
            </a:solidFill>
            <a:prstDash val="solid"/>
          </a:ln>
        </p:spPr>
        <p:txBody>
          <a:bodyPr/>
          <a:lstStyle/>
          <a:p>
            <a:endParaRPr lang="en-PK"/>
          </a:p>
        </p:txBody>
      </p:sp>
      <p:sp>
        <p:nvSpPr>
          <p:cNvPr id="3" name="Text 1"/>
          <p:cNvSpPr txBox="1"/>
          <p:nvPr/>
        </p:nvSpPr>
        <p:spPr>
          <a:xfrm>
            <a:off x="640080" y="685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txBox="1"/>
          <p:nvPr/>
        </p:nvSpPr>
        <p:spPr>
          <a:xfrm>
            <a:off x="1371600" y="658368"/>
            <a:ext cx="4480560" cy="621792"/>
          </a:xfrm>
          <a:prstGeom prst="rect">
            <a:avLst/>
          </a:prstGeom>
          <a:noFill/>
          <a:ln/>
        </p:spPr>
        <p:txBody>
          <a:bodyPr wrap="square" lIns="0" tIns="0" rIns="0" bIns="0" rtlCol="0" anchor="ctr"/>
          <a:lstStyle/>
          <a:p>
            <a:pPr marL="0" indent="0">
              <a:buNone/>
            </a:pPr>
            <a:r>
              <a:rPr lang="en-US" sz="3000" b="1" dirty="0">
                <a:solidFill>
                  <a:srgbClr val="16161A"/>
                </a:solidFill>
                <a:latin typeface="Cambria" pitchFamily="34" charset="0"/>
                <a:ea typeface="Cambria" pitchFamily="34" charset="-122"/>
                <a:cs typeface="Cambria" pitchFamily="34" charset="-120"/>
              </a:rPr>
              <a:t>Confidentiality</a:t>
            </a:r>
            <a:endParaRPr lang="en-US" sz="3000" dirty="0"/>
          </a:p>
        </p:txBody>
      </p:sp>
      <p:sp>
        <p:nvSpPr>
          <p:cNvPr id="5" name="Text 3"/>
          <p:cNvSpPr txBox="1"/>
          <p:nvPr/>
        </p:nvSpPr>
        <p:spPr>
          <a:xfrm>
            <a:off x="658368" y="1645920"/>
            <a:ext cx="5120640" cy="1828800"/>
          </a:xfrm>
          <a:prstGeom prst="rect">
            <a:avLst/>
          </a:prstGeom>
          <a:noFill/>
          <a:ln/>
        </p:spPr>
        <p:txBody>
          <a:bodyPr wrap="square" lIns="0" tIns="0" rIns="0" bIns="0" rtlCol="0" anchor="ctr"/>
          <a:lstStyle/>
          <a:p>
            <a:pPr marL="0" indent="0">
              <a:lnSpc>
                <a:spcPts val="2600"/>
              </a:lnSpc>
              <a:buNone/>
            </a:pPr>
            <a:r>
              <a:rPr lang="en-US" sz="1700" dirty="0">
                <a:solidFill>
                  <a:srgbClr val="16161A"/>
                </a:solidFill>
                <a:latin typeface="Calibri" pitchFamily="34" charset="0"/>
                <a:ea typeface="Calibri" pitchFamily="34" charset="-122"/>
                <a:cs typeface="Calibri" pitchFamily="34" charset="-120"/>
              </a:rPr>
              <a:t>You respect the confidentiality of your employer and your client whether or not a formal agreement has been signed. Data you were given for one purpose is not yours to use for another.</a:t>
            </a:r>
            <a:endParaRPr lang="en-US" sz="1700" dirty="0"/>
          </a:p>
        </p:txBody>
      </p:sp>
      <p:sp>
        <p:nvSpPr>
          <p:cNvPr id="6" name="Shape 4"/>
          <p:cNvSpPr/>
          <p:nvPr/>
        </p:nvSpPr>
        <p:spPr>
          <a:xfrm>
            <a:off x="640080" y="4160520"/>
            <a:ext cx="5166360" cy="1691640"/>
          </a:xfrm>
          <a:prstGeom prst="roundRect">
            <a:avLst>
              <a:gd name="adj" fmla="val 4324"/>
            </a:avLst>
          </a:prstGeom>
          <a:solidFill>
            <a:srgbClr val="F0E7E6"/>
          </a:solidFill>
          <a:ln w="12700">
            <a:solidFill>
              <a:srgbClr val="F0E7E6"/>
            </a:solidFill>
            <a:prstDash val="solid"/>
          </a:ln>
        </p:spPr>
        <p:txBody>
          <a:bodyPr/>
          <a:lstStyle/>
          <a:p>
            <a:endParaRPr lang="en-PK"/>
          </a:p>
        </p:txBody>
      </p:sp>
      <p:sp>
        <p:nvSpPr>
          <p:cNvPr id="7" name="Text 5"/>
          <p:cNvSpPr txBox="1"/>
          <p:nvPr/>
        </p:nvSpPr>
        <p:spPr>
          <a:xfrm>
            <a:off x="914400" y="4407408"/>
            <a:ext cx="4206240" cy="320040"/>
          </a:xfrm>
          <a:prstGeom prst="rect">
            <a:avLst/>
          </a:prstGeom>
          <a:noFill/>
          <a:ln/>
        </p:spPr>
        <p:txBody>
          <a:bodyPr wrap="square" lIns="0" tIns="0" rIns="0" bIns="0" rtlCol="0" anchor="ctr"/>
          <a:lstStyle/>
          <a:p>
            <a:pPr marL="0" indent="0">
              <a:buNone/>
            </a:pPr>
            <a:r>
              <a:rPr lang="en-US" sz="1200" b="1" kern="0" spc="200" dirty="0">
                <a:solidFill>
                  <a:srgbClr val="990011"/>
                </a:solidFill>
                <a:latin typeface="Calibri" pitchFamily="34" charset="0"/>
                <a:ea typeface="Calibri" pitchFamily="34" charset="-122"/>
                <a:cs typeface="Calibri" pitchFamily="34" charset="-120"/>
              </a:rPr>
              <a:t>WHAT IT COSTS</a:t>
            </a:r>
            <a:endParaRPr lang="en-US" sz="1200" dirty="0"/>
          </a:p>
        </p:txBody>
      </p:sp>
      <p:sp>
        <p:nvSpPr>
          <p:cNvPr id="8" name="Text 6"/>
          <p:cNvSpPr txBox="1"/>
          <p:nvPr/>
        </p:nvSpPr>
        <p:spPr>
          <a:xfrm>
            <a:off x="914400" y="4773168"/>
            <a:ext cx="4617720" cy="914400"/>
          </a:xfrm>
          <a:prstGeom prst="rect">
            <a:avLst/>
          </a:prstGeom>
          <a:noFill/>
          <a:ln/>
        </p:spPr>
        <p:txBody>
          <a:bodyPr wrap="square" lIns="0" tIns="0" rIns="0" bIns="0" rtlCol="0" anchor="ctr"/>
          <a:lstStyle/>
          <a:p>
            <a:pPr marL="0" indent="0">
              <a:buNone/>
            </a:pPr>
            <a:r>
              <a:rPr lang="en-US" sz="1500" dirty="0">
                <a:solidFill>
                  <a:srgbClr val="16161A"/>
                </a:solidFill>
                <a:latin typeface="Calibri" pitchFamily="34" charset="0"/>
                <a:ea typeface="Calibri" pitchFamily="34" charset="-122"/>
                <a:cs typeface="Calibri" pitchFamily="34" charset="-120"/>
              </a:rPr>
              <a:t>Information given in trust becomes a weapon in someone else's hands.</a:t>
            </a:r>
            <a:endParaRPr lang="en-US" sz="1500" dirty="0"/>
          </a:p>
        </p:txBody>
      </p:sp>
      <p:sp>
        <p:nvSpPr>
          <p:cNvPr id="9" name="Shape 7"/>
          <p:cNvSpPr/>
          <p:nvPr/>
        </p:nvSpPr>
        <p:spPr>
          <a:xfrm>
            <a:off x="6355080" y="548640"/>
            <a:ext cx="5193792" cy="5303520"/>
          </a:xfrm>
          <a:prstGeom prst="roundRect">
            <a:avLst>
              <a:gd name="adj" fmla="val 1056"/>
            </a:avLst>
          </a:prstGeom>
          <a:solidFill>
            <a:srgbClr val="16161A"/>
          </a:solidFill>
          <a:ln w="12700">
            <a:solidFill>
              <a:srgbClr val="16161A"/>
            </a:solidFill>
            <a:prstDash val="solid"/>
          </a:ln>
        </p:spPr>
        <p:txBody>
          <a:bodyPr/>
          <a:lstStyle/>
          <a:p>
            <a:endParaRPr lang="en-PK"/>
          </a:p>
        </p:txBody>
      </p:sp>
      <p:sp>
        <p:nvSpPr>
          <p:cNvPr id="10" name="Text 8"/>
          <p:cNvSpPr txBox="1"/>
          <p:nvPr/>
        </p:nvSpPr>
        <p:spPr>
          <a:xfrm>
            <a:off x="6720840" y="868680"/>
            <a:ext cx="4480560" cy="292608"/>
          </a:xfrm>
          <a:prstGeom prst="rect">
            <a:avLst/>
          </a:prstGeom>
          <a:noFill/>
          <a:ln/>
        </p:spPr>
        <p:txBody>
          <a:bodyPr wrap="square" lIns="0" tIns="0" rIns="0" bIns="0" rtlCol="0" anchor="ctr"/>
          <a:lstStyle/>
          <a:p>
            <a:pPr marL="0" indent="0">
              <a:buNone/>
            </a:pPr>
            <a:r>
              <a:rPr lang="en-US" sz="1200" b="1" kern="0" spc="200" dirty="0">
                <a:solidFill>
                  <a:srgbClr val="E2707C"/>
                </a:solidFill>
                <a:latin typeface="Calibri" pitchFamily="34" charset="0"/>
                <a:ea typeface="Calibri" pitchFamily="34" charset="-122"/>
                <a:cs typeface="Calibri" pitchFamily="34" charset="-120"/>
              </a:rPr>
              <a:t>THE CASE</a:t>
            </a:r>
            <a:endParaRPr lang="en-US" sz="1200" dirty="0"/>
          </a:p>
        </p:txBody>
      </p:sp>
      <p:sp>
        <p:nvSpPr>
          <p:cNvPr id="11" name="Text 9"/>
          <p:cNvSpPr txBox="1"/>
          <p:nvPr/>
        </p:nvSpPr>
        <p:spPr>
          <a:xfrm>
            <a:off x="6720840" y="1207008"/>
            <a:ext cx="4526280" cy="8686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Cambridge Analytica, 2018</a:t>
            </a:r>
            <a:endParaRPr lang="en-US" sz="2400" dirty="0"/>
          </a:p>
        </p:txBody>
      </p:sp>
      <p:sp>
        <p:nvSpPr>
          <p:cNvPr id="12" name="Shape 10"/>
          <p:cNvSpPr/>
          <p:nvPr/>
        </p:nvSpPr>
        <p:spPr>
          <a:xfrm>
            <a:off x="6748272" y="2368296"/>
            <a:ext cx="118872" cy="118872"/>
          </a:xfrm>
          <a:prstGeom prst="ellipse">
            <a:avLst/>
          </a:prstGeom>
          <a:solidFill>
            <a:srgbClr val="990011"/>
          </a:solidFill>
          <a:ln w="12700">
            <a:solidFill>
              <a:srgbClr val="990011"/>
            </a:solidFill>
            <a:prstDash val="solid"/>
          </a:ln>
        </p:spPr>
        <p:txBody>
          <a:bodyPr/>
          <a:lstStyle/>
          <a:p>
            <a:endParaRPr lang="en-PK"/>
          </a:p>
        </p:txBody>
      </p:sp>
      <p:sp>
        <p:nvSpPr>
          <p:cNvPr id="13" name="Text 11"/>
          <p:cNvSpPr txBox="1"/>
          <p:nvPr/>
        </p:nvSpPr>
        <p:spPr>
          <a:xfrm>
            <a:off x="7022592" y="2249424"/>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A personality quiz app collected Facebook profile data for stated academic research.</a:t>
            </a:r>
            <a:endParaRPr lang="en-US" sz="1450" dirty="0"/>
          </a:p>
        </p:txBody>
      </p:sp>
      <p:sp>
        <p:nvSpPr>
          <p:cNvPr id="14" name="Shape 12"/>
          <p:cNvSpPr/>
          <p:nvPr/>
        </p:nvSpPr>
        <p:spPr>
          <a:xfrm>
            <a:off x="6748272" y="3264408"/>
            <a:ext cx="118872" cy="118872"/>
          </a:xfrm>
          <a:prstGeom prst="ellipse">
            <a:avLst/>
          </a:prstGeom>
          <a:solidFill>
            <a:srgbClr val="990011"/>
          </a:solidFill>
          <a:ln w="12700">
            <a:solidFill>
              <a:srgbClr val="990011"/>
            </a:solidFill>
            <a:prstDash val="solid"/>
          </a:ln>
        </p:spPr>
        <p:txBody>
          <a:bodyPr/>
          <a:lstStyle/>
          <a:p>
            <a:endParaRPr lang="en-PK"/>
          </a:p>
        </p:txBody>
      </p:sp>
      <p:sp>
        <p:nvSpPr>
          <p:cNvPr id="15" name="Text 13"/>
          <p:cNvSpPr txBox="1"/>
          <p:nvPr/>
        </p:nvSpPr>
        <p:spPr>
          <a:xfrm>
            <a:off x="7022592" y="3145536"/>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The data, covering as many as 87 million people, was passed to a political consultancy.</a:t>
            </a:r>
            <a:endParaRPr lang="en-US" sz="1450" dirty="0"/>
          </a:p>
        </p:txBody>
      </p:sp>
      <p:sp>
        <p:nvSpPr>
          <p:cNvPr id="16" name="Shape 14"/>
          <p:cNvSpPr/>
          <p:nvPr/>
        </p:nvSpPr>
        <p:spPr>
          <a:xfrm>
            <a:off x="6748272" y="4160520"/>
            <a:ext cx="118872" cy="118872"/>
          </a:xfrm>
          <a:prstGeom prst="ellipse">
            <a:avLst/>
          </a:prstGeom>
          <a:solidFill>
            <a:srgbClr val="990011"/>
          </a:solidFill>
          <a:ln w="12700">
            <a:solidFill>
              <a:srgbClr val="990011"/>
            </a:solidFill>
            <a:prstDash val="solid"/>
          </a:ln>
        </p:spPr>
        <p:txBody>
          <a:bodyPr/>
          <a:lstStyle/>
          <a:p>
            <a:endParaRPr lang="en-PK"/>
          </a:p>
        </p:txBody>
      </p:sp>
      <p:sp>
        <p:nvSpPr>
          <p:cNvPr id="17" name="Text 15"/>
          <p:cNvSpPr txBox="1"/>
          <p:nvPr/>
        </p:nvSpPr>
        <p:spPr>
          <a:xfrm>
            <a:off x="7022592" y="4041648"/>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Most of those people never installed the app. Their friends did.</a:t>
            </a:r>
            <a:endParaRPr lang="en-US" sz="1450" dirty="0"/>
          </a:p>
        </p:txBody>
      </p:sp>
      <p:sp>
        <p:nvSpPr>
          <p:cNvPr id="18" name="Shape 16"/>
          <p:cNvSpPr/>
          <p:nvPr/>
        </p:nvSpPr>
        <p:spPr>
          <a:xfrm>
            <a:off x="6748272" y="5056632"/>
            <a:ext cx="118872" cy="118872"/>
          </a:xfrm>
          <a:prstGeom prst="ellipse">
            <a:avLst/>
          </a:prstGeom>
          <a:solidFill>
            <a:srgbClr val="990011"/>
          </a:solidFill>
          <a:ln w="12700">
            <a:solidFill>
              <a:srgbClr val="990011"/>
            </a:solidFill>
            <a:prstDash val="solid"/>
          </a:ln>
        </p:spPr>
        <p:txBody>
          <a:bodyPr/>
          <a:lstStyle/>
          <a:p>
            <a:endParaRPr lang="en-PK"/>
          </a:p>
        </p:txBody>
      </p:sp>
      <p:sp>
        <p:nvSpPr>
          <p:cNvPr id="19" name="Text 17"/>
          <p:cNvSpPr txBox="1"/>
          <p:nvPr/>
        </p:nvSpPr>
        <p:spPr>
          <a:xfrm>
            <a:off x="7022592" y="4937760"/>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Facebook was fined 5 billion dollars by the US FTC in 2019.</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640080" y="685800"/>
            <a:ext cx="566928" cy="566928"/>
          </a:xfrm>
          <a:prstGeom prst="ellipse">
            <a:avLst/>
          </a:prstGeom>
          <a:solidFill>
            <a:srgbClr val="16161A"/>
          </a:solidFill>
          <a:ln w="12700">
            <a:solidFill>
              <a:srgbClr val="16161A"/>
            </a:solidFill>
            <a:prstDash val="solid"/>
          </a:ln>
        </p:spPr>
        <p:txBody>
          <a:bodyPr/>
          <a:lstStyle/>
          <a:p>
            <a:endParaRPr lang="en-PK"/>
          </a:p>
        </p:txBody>
      </p:sp>
      <p:sp>
        <p:nvSpPr>
          <p:cNvPr id="3" name="Text 1"/>
          <p:cNvSpPr txBox="1"/>
          <p:nvPr/>
        </p:nvSpPr>
        <p:spPr>
          <a:xfrm>
            <a:off x="640080" y="685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txBox="1"/>
          <p:nvPr/>
        </p:nvSpPr>
        <p:spPr>
          <a:xfrm>
            <a:off x="1371600" y="658368"/>
            <a:ext cx="4480560" cy="621792"/>
          </a:xfrm>
          <a:prstGeom prst="rect">
            <a:avLst/>
          </a:prstGeom>
          <a:noFill/>
          <a:ln/>
        </p:spPr>
        <p:txBody>
          <a:bodyPr wrap="square" lIns="0" tIns="0" rIns="0" bIns="0" rtlCol="0" anchor="ctr"/>
          <a:lstStyle/>
          <a:p>
            <a:pPr marL="0" indent="0">
              <a:buNone/>
            </a:pPr>
            <a:r>
              <a:rPr lang="en-US" sz="3000" b="1" dirty="0">
                <a:solidFill>
                  <a:srgbClr val="16161A"/>
                </a:solidFill>
                <a:latin typeface="Cambria" pitchFamily="34" charset="0"/>
                <a:ea typeface="Cambria" pitchFamily="34" charset="-122"/>
                <a:cs typeface="Cambria" pitchFamily="34" charset="-120"/>
              </a:rPr>
              <a:t>Competence</a:t>
            </a:r>
            <a:endParaRPr lang="en-US" sz="3000" dirty="0"/>
          </a:p>
        </p:txBody>
      </p:sp>
      <p:sp>
        <p:nvSpPr>
          <p:cNvPr id="5" name="Text 3"/>
          <p:cNvSpPr txBox="1"/>
          <p:nvPr/>
        </p:nvSpPr>
        <p:spPr>
          <a:xfrm>
            <a:off x="658368" y="1645920"/>
            <a:ext cx="9850408" cy="1828800"/>
          </a:xfrm>
          <a:prstGeom prst="rect">
            <a:avLst/>
          </a:prstGeom>
          <a:noFill/>
          <a:ln/>
        </p:spPr>
        <p:txBody>
          <a:bodyPr wrap="square" lIns="0" tIns="0" rIns="0" bIns="0" rtlCol="0" anchor="ctr"/>
          <a:lstStyle/>
          <a:p>
            <a:pPr marL="0" indent="0">
              <a:lnSpc>
                <a:spcPts val="2600"/>
              </a:lnSpc>
              <a:buNone/>
            </a:pPr>
            <a:r>
              <a:rPr lang="en-US" sz="1700" dirty="0">
                <a:solidFill>
                  <a:srgbClr val="16161A"/>
                </a:solidFill>
                <a:latin typeface="Calibri" pitchFamily="34" charset="0"/>
                <a:ea typeface="Calibri" pitchFamily="34" charset="-122"/>
                <a:cs typeface="Calibri" pitchFamily="34" charset="-120"/>
              </a:rPr>
              <a:t>You do not misrepresent your level of competence, and you do not knowingly accept work that is beyond it. Competence includes maintaining what you have already built.</a:t>
            </a:r>
            <a:endParaRPr lang="en-US" sz="1700" dirty="0"/>
          </a:p>
        </p:txBody>
      </p:sp>
      <p:sp>
        <p:nvSpPr>
          <p:cNvPr id="6" name="Shape 4"/>
          <p:cNvSpPr/>
          <p:nvPr/>
        </p:nvSpPr>
        <p:spPr>
          <a:xfrm>
            <a:off x="640080" y="4160520"/>
            <a:ext cx="5166360" cy="1691640"/>
          </a:xfrm>
          <a:prstGeom prst="roundRect">
            <a:avLst>
              <a:gd name="adj" fmla="val 4324"/>
            </a:avLst>
          </a:prstGeom>
          <a:solidFill>
            <a:srgbClr val="F0E7E6"/>
          </a:solidFill>
          <a:ln w="12700">
            <a:solidFill>
              <a:srgbClr val="F0E7E6"/>
            </a:solidFill>
            <a:prstDash val="solid"/>
          </a:ln>
        </p:spPr>
        <p:txBody>
          <a:bodyPr/>
          <a:lstStyle/>
          <a:p>
            <a:endParaRPr lang="en-PK"/>
          </a:p>
        </p:txBody>
      </p:sp>
      <p:sp>
        <p:nvSpPr>
          <p:cNvPr id="7" name="Text 5"/>
          <p:cNvSpPr txBox="1"/>
          <p:nvPr/>
        </p:nvSpPr>
        <p:spPr>
          <a:xfrm>
            <a:off x="914400" y="4407408"/>
            <a:ext cx="4206240" cy="320040"/>
          </a:xfrm>
          <a:prstGeom prst="rect">
            <a:avLst/>
          </a:prstGeom>
          <a:noFill/>
          <a:ln/>
        </p:spPr>
        <p:txBody>
          <a:bodyPr wrap="square" lIns="0" tIns="0" rIns="0" bIns="0" rtlCol="0" anchor="ctr"/>
          <a:lstStyle/>
          <a:p>
            <a:pPr marL="0" indent="0">
              <a:buNone/>
            </a:pPr>
            <a:r>
              <a:rPr lang="en-US" sz="1200" b="1" kern="0" spc="200" dirty="0">
                <a:solidFill>
                  <a:srgbClr val="990011"/>
                </a:solidFill>
                <a:latin typeface="Calibri" pitchFamily="34" charset="0"/>
                <a:ea typeface="Calibri" pitchFamily="34" charset="-122"/>
                <a:cs typeface="Calibri" pitchFamily="34" charset="-120"/>
              </a:rPr>
              <a:t>WHAT IT COSTS</a:t>
            </a:r>
            <a:endParaRPr lang="en-US" sz="1200" dirty="0"/>
          </a:p>
        </p:txBody>
      </p:sp>
      <p:sp>
        <p:nvSpPr>
          <p:cNvPr id="8" name="Text 6"/>
          <p:cNvSpPr txBox="1"/>
          <p:nvPr/>
        </p:nvSpPr>
        <p:spPr>
          <a:xfrm>
            <a:off x="914400" y="4773168"/>
            <a:ext cx="4617720" cy="914400"/>
          </a:xfrm>
          <a:prstGeom prst="rect">
            <a:avLst/>
          </a:prstGeom>
          <a:noFill/>
          <a:ln/>
        </p:spPr>
        <p:txBody>
          <a:bodyPr wrap="square" lIns="0" tIns="0" rIns="0" bIns="0" rtlCol="0" anchor="ctr"/>
          <a:lstStyle/>
          <a:p>
            <a:pPr marL="0" indent="0">
              <a:buNone/>
            </a:pPr>
            <a:r>
              <a:rPr lang="en-US" sz="1500" dirty="0">
                <a:solidFill>
                  <a:srgbClr val="16161A"/>
                </a:solidFill>
                <a:latin typeface="Calibri" pitchFamily="34" charset="0"/>
                <a:ea typeface="Calibri" pitchFamily="34" charset="-122"/>
                <a:cs typeface="Calibri" pitchFamily="34" charset="-120"/>
              </a:rPr>
              <a:t>A known problem that nobody was competent to close stays open until somebody else finds it.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640080" y="685800"/>
            <a:ext cx="566928" cy="566928"/>
          </a:xfrm>
          <a:prstGeom prst="ellipse">
            <a:avLst/>
          </a:prstGeom>
          <a:solidFill>
            <a:srgbClr val="16161A"/>
          </a:solidFill>
          <a:ln w="12700">
            <a:solidFill>
              <a:srgbClr val="16161A"/>
            </a:solidFill>
            <a:prstDash val="solid"/>
          </a:ln>
        </p:spPr>
        <p:txBody>
          <a:bodyPr/>
          <a:lstStyle/>
          <a:p>
            <a:endParaRPr lang="en-PK"/>
          </a:p>
        </p:txBody>
      </p:sp>
      <p:sp>
        <p:nvSpPr>
          <p:cNvPr id="3" name="Text 1"/>
          <p:cNvSpPr txBox="1"/>
          <p:nvPr/>
        </p:nvSpPr>
        <p:spPr>
          <a:xfrm>
            <a:off x="640080" y="685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371600" y="658368"/>
            <a:ext cx="4480560" cy="621792"/>
          </a:xfrm>
          <a:prstGeom prst="rect">
            <a:avLst/>
          </a:prstGeom>
          <a:noFill/>
          <a:ln/>
        </p:spPr>
        <p:txBody>
          <a:bodyPr wrap="square" lIns="0" tIns="0" rIns="0" bIns="0" rtlCol="0" anchor="ctr"/>
          <a:lstStyle/>
          <a:p>
            <a:pPr marL="0" indent="0">
              <a:buNone/>
            </a:pPr>
            <a:r>
              <a:rPr lang="en-US" sz="3000" b="1" dirty="0">
                <a:solidFill>
                  <a:srgbClr val="16161A"/>
                </a:solidFill>
                <a:latin typeface="Cambria" pitchFamily="34" charset="0"/>
                <a:ea typeface="Cambria" pitchFamily="34" charset="-122"/>
                <a:cs typeface="Cambria" pitchFamily="34" charset="-120"/>
              </a:rPr>
              <a:t>Intellectual Property</a:t>
            </a:r>
            <a:endParaRPr lang="en-US" sz="3000" dirty="0"/>
          </a:p>
        </p:txBody>
      </p:sp>
      <p:sp>
        <p:nvSpPr>
          <p:cNvPr id="5" name="Text 3"/>
          <p:cNvSpPr txBox="1"/>
          <p:nvPr/>
        </p:nvSpPr>
        <p:spPr>
          <a:xfrm>
            <a:off x="658368" y="1645920"/>
            <a:ext cx="5120640" cy="1828800"/>
          </a:xfrm>
          <a:prstGeom prst="rect">
            <a:avLst/>
          </a:prstGeom>
          <a:noFill/>
          <a:ln/>
        </p:spPr>
        <p:txBody>
          <a:bodyPr wrap="square" lIns="0" tIns="0" rIns="0" bIns="0" rtlCol="0" anchor="ctr"/>
          <a:lstStyle/>
          <a:p>
            <a:pPr marL="0" indent="0">
              <a:lnSpc>
                <a:spcPts val="2600"/>
              </a:lnSpc>
              <a:buNone/>
            </a:pPr>
            <a:r>
              <a:rPr lang="en-US" sz="1700" dirty="0">
                <a:solidFill>
                  <a:srgbClr val="16161A"/>
                </a:solidFill>
                <a:latin typeface="Calibri" pitchFamily="34" charset="0"/>
                <a:ea typeface="Calibri" pitchFamily="34" charset="-122"/>
                <a:cs typeface="Calibri" pitchFamily="34" charset="-120"/>
              </a:rPr>
              <a:t>You are aware of the laws governing patents, copyright and licensing, and you protect the intellectual property of your employer and your client. A licence is a technical constraint, not paperwork.</a:t>
            </a:r>
            <a:endParaRPr lang="en-US" sz="1700" dirty="0"/>
          </a:p>
        </p:txBody>
      </p:sp>
      <p:sp>
        <p:nvSpPr>
          <p:cNvPr id="6" name="Shape 4"/>
          <p:cNvSpPr/>
          <p:nvPr/>
        </p:nvSpPr>
        <p:spPr>
          <a:xfrm>
            <a:off x="640080" y="4160520"/>
            <a:ext cx="5166360" cy="1691640"/>
          </a:xfrm>
          <a:prstGeom prst="roundRect">
            <a:avLst>
              <a:gd name="adj" fmla="val 4324"/>
            </a:avLst>
          </a:prstGeom>
          <a:solidFill>
            <a:srgbClr val="F0E7E6"/>
          </a:solidFill>
          <a:ln w="12700">
            <a:solidFill>
              <a:srgbClr val="F0E7E6"/>
            </a:solidFill>
            <a:prstDash val="solid"/>
          </a:ln>
        </p:spPr>
        <p:txBody>
          <a:bodyPr/>
          <a:lstStyle/>
          <a:p>
            <a:endParaRPr lang="en-PK"/>
          </a:p>
        </p:txBody>
      </p:sp>
      <p:sp>
        <p:nvSpPr>
          <p:cNvPr id="7" name="Text 5"/>
          <p:cNvSpPr txBox="1"/>
          <p:nvPr/>
        </p:nvSpPr>
        <p:spPr>
          <a:xfrm>
            <a:off x="914400" y="4407408"/>
            <a:ext cx="4206240" cy="320040"/>
          </a:xfrm>
          <a:prstGeom prst="rect">
            <a:avLst/>
          </a:prstGeom>
          <a:noFill/>
          <a:ln/>
        </p:spPr>
        <p:txBody>
          <a:bodyPr wrap="square" lIns="0" tIns="0" rIns="0" bIns="0" rtlCol="0" anchor="ctr"/>
          <a:lstStyle/>
          <a:p>
            <a:pPr marL="0" indent="0">
              <a:buNone/>
            </a:pPr>
            <a:r>
              <a:rPr lang="en-US" sz="1200" b="1" kern="0" spc="200" dirty="0">
                <a:solidFill>
                  <a:srgbClr val="990011"/>
                </a:solidFill>
                <a:latin typeface="Calibri" pitchFamily="34" charset="0"/>
                <a:ea typeface="Calibri" pitchFamily="34" charset="-122"/>
                <a:cs typeface="Calibri" pitchFamily="34" charset="-120"/>
              </a:rPr>
              <a:t>WHAT IT COSTS</a:t>
            </a:r>
            <a:endParaRPr lang="en-US" sz="1200" dirty="0"/>
          </a:p>
        </p:txBody>
      </p:sp>
      <p:sp>
        <p:nvSpPr>
          <p:cNvPr id="8" name="Text 6"/>
          <p:cNvSpPr txBox="1"/>
          <p:nvPr/>
        </p:nvSpPr>
        <p:spPr>
          <a:xfrm>
            <a:off x="914400" y="4773168"/>
            <a:ext cx="4617720" cy="914400"/>
          </a:xfrm>
          <a:prstGeom prst="rect">
            <a:avLst/>
          </a:prstGeom>
          <a:noFill/>
          <a:ln/>
        </p:spPr>
        <p:txBody>
          <a:bodyPr wrap="square" lIns="0" tIns="0" rIns="0" bIns="0" rtlCol="0" anchor="ctr"/>
          <a:lstStyle/>
          <a:p>
            <a:pPr marL="0" indent="0">
              <a:buNone/>
            </a:pPr>
            <a:r>
              <a:rPr lang="en-US" sz="1500" dirty="0">
                <a:solidFill>
                  <a:srgbClr val="16161A"/>
                </a:solidFill>
                <a:latin typeface="Calibri" pitchFamily="34" charset="0"/>
                <a:ea typeface="Calibri" pitchFamily="34" charset="-122"/>
                <a:cs typeface="Calibri" pitchFamily="34" charset="-120"/>
              </a:rPr>
              <a:t>Code you did not have the right to use can force a rewrite of a shipped product.</a:t>
            </a:r>
            <a:endParaRPr lang="en-US" sz="1500" dirty="0"/>
          </a:p>
        </p:txBody>
      </p:sp>
      <p:sp>
        <p:nvSpPr>
          <p:cNvPr id="9" name="Shape 7"/>
          <p:cNvSpPr/>
          <p:nvPr/>
        </p:nvSpPr>
        <p:spPr>
          <a:xfrm>
            <a:off x="6355080" y="548640"/>
            <a:ext cx="5193792" cy="5303520"/>
          </a:xfrm>
          <a:prstGeom prst="roundRect">
            <a:avLst>
              <a:gd name="adj" fmla="val 1056"/>
            </a:avLst>
          </a:prstGeom>
          <a:solidFill>
            <a:srgbClr val="16161A"/>
          </a:solidFill>
          <a:ln w="12700">
            <a:solidFill>
              <a:srgbClr val="16161A"/>
            </a:solidFill>
            <a:prstDash val="solid"/>
          </a:ln>
        </p:spPr>
        <p:txBody>
          <a:bodyPr/>
          <a:lstStyle/>
          <a:p>
            <a:endParaRPr lang="en-PK"/>
          </a:p>
        </p:txBody>
      </p:sp>
      <p:sp>
        <p:nvSpPr>
          <p:cNvPr id="10" name="Text 8"/>
          <p:cNvSpPr txBox="1"/>
          <p:nvPr/>
        </p:nvSpPr>
        <p:spPr>
          <a:xfrm>
            <a:off x="6720840" y="868680"/>
            <a:ext cx="4480560" cy="292608"/>
          </a:xfrm>
          <a:prstGeom prst="rect">
            <a:avLst/>
          </a:prstGeom>
          <a:noFill/>
          <a:ln/>
        </p:spPr>
        <p:txBody>
          <a:bodyPr wrap="square" lIns="0" tIns="0" rIns="0" bIns="0" rtlCol="0" anchor="ctr"/>
          <a:lstStyle/>
          <a:p>
            <a:pPr marL="0" indent="0">
              <a:buNone/>
            </a:pPr>
            <a:r>
              <a:rPr lang="en-US" sz="1200" b="1" kern="0" spc="200" dirty="0">
                <a:solidFill>
                  <a:srgbClr val="E2707C"/>
                </a:solidFill>
                <a:latin typeface="Calibri" pitchFamily="34" charset="0"/>
                <a:ea typeface="Calibri" pitchFamily="34" charset="-122"/>
                <a:cs typeface="Calibri" pitchFamily="34" charset="-120"/>
              </a:rPr>
              <a:t>THE CASE</a:t>
            </a:r>
            <a:endParaRPr lang="en-US" sz="1200" dirty="0"/>
          </a:p>
        </p:txBody>
      </p:sp>
      <p:sp>
        <p:nvSpPr>
          <p:cNvPr id="11" name="Text 9"/>
          <p:cNvSpPr txBox="1"/>
          <p:nvPr/>
        </p:nvSpPr>
        <p:spPr>
          <a:xfrm>
            <a:off x="6720840" y="1207008"/>
            <a:ext cx="4526280" cy="8686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Reused code, contested rights</a:t>
            </a:r>
            <a:endParaRPr lang="en-US" sz="2400" dirty="0"/>
          </a:p>
        </p:txBody>
      </p:sp>
      <p:sp>
        <p:nvSpPr>
          <p:cNvPr id="12" name="Shape 10"/>
          <p:cNvSpPr/>
          <p:nvPr/>
        </p:nvSpPr>
        <p:spPr>
          <a:xfrm>
            <a:off x="6748272" y="2368296"/>
            <a:ext cx="118872" cy="118872"/>
          </a:xfrm>
          <a:prstGeom prst="ellipse">
            <a:avLst/>
          </a:prstGeom>
          <a:solidFill>
            <a:srgbClr val="990011"/>
          </a:solidFill>
          <a:ln w="12700">
            <a:solidFill>
              <a:srgbClr val="990011"/>
            </a:solidFill>
            <a:prstDash val="solid"/>
          </a:ln>
        </p:spPr>
        <p:txBody>
          <a:bodyPr/>
          <a:lstStyle/>
          <a:p>
            <a:endParaRPr lang="en-PK"/>
          </a:p>
        </p:txBody>
      </p:sp>
      <p:sp>
        <p:nvSpPr>
          <p:cNvPr id="13" name="Text 11"/>
          <p:cNvSpPr txBox="1"/>
          <p:nvPr/>
        </p:nvSpPr>
        <p:spPr>
          <a:xfrm>
            <a:off x="7022592" y="2249424"/>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Google reimplemented parts of the Java API in Android. Oracle sued.</a:t>
            </a:r>
            <a:endParaRPr lang="en-US" sz="1450" dirty="0"/>
          </a:p>
        </p:txBody>
      </p:sp>
      <p:sp>
        <p:nvSpPr>
          <p:cNvPr id="14" name="Shape 12"/>
          <p:cNvSpPr/>
          <p:nvPr/>
        </p:nvSpPr>
        <p:spPr>
          <a:xfrm>
            <a:off x="6748272" y="3264408"/>
            <a:ext cx="118872" cy="118872"/>
          </a:xfrm>
          <a:prstGeom prst="ellipse">
            <a:avLst/>
          </a:prstGeom>
          <a:solidFill>
            <a:srgbClr val="990011"/>
          </a:solidFill>
          <a:ln w="12700">
            <a:solidFill>
              <a:srgbClr val="990011"/>
            </a:solidFill>
            <a:prstDash val="solid"/>
          </a:ln>
        </p:spPr>
        <p:txBody>
          <a:bodyPr/>
          <a:lstStyle/>
          <a:p>
            <a:endParaRPr lang="en-PK"/>
          </a:p>
        </p:txBody>
      </p:sp>
      <p:sp>
        <p:nvSpPr>
          <p:cNvPr id="15" name="Text 13"/>
          <p:cNvSpPr txBox="1"/>
          <p:nvPr/>
        </p:nvSpPr>
        <p:spPr>
          <a:xfrm>
            <a:off x="7022592" y="3145536"/>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The case ran for a decade before the US Supreme Court found for Google in 2021.</a:t>
            </a:r>
            <a:endParaRPr lang="en-US" sz="1450" dirty="0"/>
          </a:p>
        </p:txBody>
      </p:sp>
      <p:sp>
        <p:nvSpPr>
          <p:cNvPr id="16" name="Shape 14"/>
          <p:cNvSpPr/>
          <p:nvPr/>
        </p:nvSpPr>
        <p:spPr>
          <a:xfrm>
            <a:off x="6748272" y="4160520"/>
            <a:ext cx="118872" cy="118872"/>
          </a:xfrm>
          <a:prstGeom prst="ellipse">
            <a:avLst/>
          </a:prstGeom>
          <a:solidFill>
            <a:srgbClr val="990011"/>
          </a:solidFill>
          <a:ln w="12700">
            <a:solidFill>
              <a:srgbClr val="990011"/>
            </a:solidFill>
            <a:prstDash val="solid"/>
          </a:ln>
        </p:spPr>
        <p:txBody>
          <a:bodyPr/>
          <a:lstStyle/>
          <a:p>
            <a:endParaRPr lang="en-PK"/>
          </a:p>
        </p:txBody>
      </p:sp>
      <p:sp>
        <p:nvSpPr>
          <p:cNvPr id="17" name="Text 15"/>
          <p:cNvSpPr txBox="1"/>
          <p:nvPr/>
        </p:nvSpPr>
        <p:spPr>
          <a:xfrm>
            <a:off x="7022592" y="4041648"/>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AI coding assistants trained on licensed open source have reopened the same question.</a:t>
            </a:r>
            <a:endParaRPr lang="en-US" sz="1450" dirty="0"/>
          </a:p>
        </p:txBody>
      </p:sp>
      <p:sp>
        <p:nvSpPr>
          <p:cNvPr id="18" name="Shape 16"/>
          <p:cNvSpPr/>
          <p:nvPr/>
        </p:nvSpPr>
        <p:spPr>
          <a:xfrm>
            <a:off x="6748272" y="5056632"/>
            <a:ext cx="118872" cy="118872"/>
          </a:xfrm>
          <a:prstGeom prst="ellipse">
            <a:avLst/>
          </a:prstGeom>
          <a:solidFill>
            <a:srgbClr val="990011"/>
          </a:solidFill>
          <a:ln w="12700">
            <a:solidFill>
              <a:srgbClr val="990011"/>
            </a:solidFill>
            <a:prstDash val="solid"/>
          </a:ln>
        </p:spPr>
        <p:txBody>
          <a:bodyPr/>
          <a:lstStyle/>
          <a:p>
            <a:endParaRPr lang="en-PK"/>
          </a:p>
        </p:txBody>
      </p:sp>
      <p:sp>
        <p:nvSpPr>
          <p:cNvPr id="19" name="Text 17"/>
          <p:cNvSpPr txBox="1"/>
          <p:nvPr/>
        </p:nvSpPr>
        <p:spPr>
          <a:xfrm>
            <a:off x="7022592" y="4937760"/>
            <a:ext cx="42519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Legal does not mean settled. A court result is not an engineering practice.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640080" y="685800"/>
            <a:ext cx="566928" cy="566928"/>
          </a:xfrm>
          <a:prstGeom prst="ellipse">
            <a:avLst/>
          </a:prstGeom>
          <a:solidFill>
            <a:srgbClr val="16161A"/>
          </a:solidFill>
          <a:ln w="12700">
            <a:solidFill>
              <a:srgbClr val="16161A"/>
            </a:solidFill>
            <a:prstDash val="solid"/>
          </a:ln>
        </p:spPr>
        <p:txBody>
          <a:bodyPr/>
          <a:lstStyle/>
          <a:p>
            <a:endParaRPr lang="en-PK"/>
          </a:p>
        </p:txBody>
      </p:sp>
      <p:sp>
        <p:nvSpPr>
          <p:cNvPr id="3" name="Text 1"/>
          <p:cNvSpPr txBox="1"/>
          <p:nvPr/>
        </p:nvSpPr>
        <p:spPr>
          <a:xfrm>
            <a:off x="640080" y="685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371600" y="658368"/>
            <a:ext cx="4480560" cy="621792"/>
          </a:xfrm>
          <a:prstGeom prst="rect">
            <a:avLst/>
          </a:prstGeom>
          <a:noFill/>
          <a:ln/>
        </p:spPr>
        <p:txBody>
          <a:bodyPr wrap="square" lIns="0" tIns="0" rIns="0" bIns="0" rtlCol="0" anchor="ctr"/>
          <a:lstStyle/>
          <a:p>
            <a:pPr marL="0" indent="0">
              <a:buNone/>
            </a:pPr>
            <a:r>
              <a:rPr lang="en-US" sz="3000" b="1" dirty="0">
                <a:solidFill>
                  <a:srgbClr val="16161A"/>
                </a:solidFill>
                <a:latin typeface="Cambria" pitchFamily="34" charset="0"/>
                <a:ea typeface="Cambria" pitchFamily="34" charset="-122"/>
                <a:cs typeface="Cambria" pitchFamily="34" charset="-120"/>
              </a:rPr>
              <a:t>Computer Misuse</a:t>
            </a:r>
            <a:endParaRPr lang="en-US" sz="3000" dirty="0"/>
          </a:p>
        </p:txBody>
      </p:sp>
      <p:sp>
        <p:nvSpPr>
          <p:cNvPr id="5" name="Text 3"/>
          <p:cNvSpPr txBox="1"/>
          <p:nvPr/>
        </p:nvSpPr>
        <p:spPr>
          <a:xfrm>
            <a:off x="658368" y="1645920"/>
            <a:ext cx="9727578" cy="1828800"/>
          </a:xfrm>
          <a:prstGeom prst="rect">
            <a:avLst/>
          </a:prstGeom>
          <a:noFill/>
          <a:ln/>
        </p:spPr>
        <p:txBody>
          <a:bodyPr wrap="square" lIns="0" tIns="0" rIns="0" bIns="0" rtlCol="0" anchor="ctr"/>
          <a:lstStyle/>
          <a:p>
            <a:pPr marL="0" indent="0">
              <a:lnSpc>
                <a:spcPts val="2600"/>
              </a:lnSpc>
              <a:buNone/>
            </a:pPr>
            <a:r>
              <a:rPr lang="en-US" sz="1700" dirty="0">
                <a:solidFill>
                  <a:srgbClr val="16161A"/>
                </a:solidFill>
                <a:latin typeface="Calibri" pitchFamily="34" charset="0"/>
                <a:ea typeface="Calibri" pitchFamily="34" charset="-122"/>
                <a:cs typeface="Calibri" pitchFamily="34" charset="-120"/>
              </a:rPr>
              <a:t>You do not use your technical skill to misuse other people's computers. This runs from the trivial, such as game playing on an employer's machine, to the extremely serious, such as writing software designed to deceive.</a:t>
            </a:r>
            <a:endParaRPr lang="en-US" sz="1700" dirty="0"/>
          </a:p>
        </p:txBody>
      </p:sp>
      <p:sp>
        <p:nvSpPr>
          <p:cNvPr id="6" name="Shape 4"/>
          <p:cNvSpPr/>
          <p:nvPr/>
        </p:nvSpPr>
        <p:spPr>
          <a:xfrm>
            <a:off x="640080" y="4160520"/>
            <a:ext cx="5166360" cy="1691640"/>
          </a:xfrm>
          <a:prstGeom prst="roundRect">
            <a:avLst>
              <a:gd name="adj" fmla="val 4324"/>
            </a:avLst>
          </a:prstGeom>
          <a:solidFill>
            <a:srgbClr val="F0E7E6"/>
          </a:solidFill>
          <a:ln w="12700">
            <a:solidFill>
              <a:srgbClr val="F0E7E6"/>
            </a:solidFill>
            <a:prstDash val="solid"/>
          </a:ln>
        </p:spPr>
        <p:txBody>
          <a:bodyPr/>
          <a:lstStyle/>
          <a:p>
            <a:endParaRPr lang="en-PK"/>
          </a:p>
        </p:txBody>
      </p:sp>
      <p:sp>
        <p:nvSpPr>
          <p:cNvPr id="7" name="Text 5"/>
          <p:cNvSpPr txBox="1"/>
          <p:nvPr/>
        </p:nvSpPr>
        <p:spPr>
          <a:xfrm>
            <a:off x="914400" y="4407408"/>
            <a:ext cx="4206240" cy="320040"/>
          </a:xfrm>
          <a:prstGeom prst="rect">
            <a:avLst/>
          </a:prstGeom>
          <a:noFill/>
          <a:ln/>
        </p:spPr>
        <p:txBody>
          <a:bodyPr wrap="square" lIns="0" tIns="0" rIns="0" bIns="0" rtlCol="0" anchor="ctr"/>
          <a:lstStyle/>
          <a:p>
            <a:pPr marL="0" indent="0">
              <a:buNone/>
            </a:pPr>
            <a:r>
              <a:rPr lang="en-US" sz="1200" b="1" kern="0" spc="200" dirty="0">
                <a:solidFill>
                  <a:srgbClr val="990011"/>
                </a:solidFill>
                <a:latin typeface="Calibri" pitchFamily="34" charset="0"/>
                <a:ea typeface="Calibri" pitchFamily="34" charset="-122"/>
                <a:cs typeface="Calibri" pitchFamily="34" charset="-120"/>
              </a:rPr>
              <a:t>WHAT IT COSTS</a:t>
            </a:r>
            <a:endParaRPr lang="en-US" sz="1200" dirty="0"/>
          </a:p>
        </p:txBody>
      </p:sp>
      <p:sp>
        <p:nvSpPr>
          <p:cNvPr id="8" name="Text 6"/>
          <p:cNvSpPr txBox="1"/>
          <p:nvPr/>
        </p:nvSpPr>
        <p:spPr>
          <a:xfrm>
            <a:off x="914400" y="4773168"/>
            <a:ext cx="4617720" cy="914400"/>
          </a:xfrm>
          <a:prstGeom prst="rect">
            <a:avLst/>
          </a:prstGeom>
          <a:noFill/>
          <a:ln/>
        </p:spPr>
        <p:txBody>
          <a:bodyPr wrap="square" lIns="0" tIns="0" rIns="0" bIns="0" rtlCol="0" anchor="ctr"/>
          <a:lstStyle/>
          <a:p>
            <a:pPr marL="0" indent="0">
              <a:buNone/>
            </a:pPr>
            <a:r>
              <a:rPr lang="en-US" sz="1500" dirty="0">
                <a:solidFill>
                  <a:srgbClr val="16161A"/>
                </a:solidFill>
                <a:latin typeface="Calibri" pitchFamily="34" charset="0"/>
                <a:ea typeface="Calibri" pitchFamily="34" charset="-122"/>
                <a:cs typeface="Calibri" pitchFamily="34" charset="-120"/>
              </a:rPr>
              <a:t>The skill that makes you employable is the same skill that makes you dangerous.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1A"/>
        </a:solidFill>
        <a:effectLst/>
      </p:bgPr>
    </p:bg>
    <p:spTree>
      <p:nvGrpSpPr>
        <p:cNvPr id="1" name=""/>
        <p:cNvGrpSpPr/>
        <p:nvPr/>
      </p:nvGrpSpPr>
      <p:grpSpPr>
        <a:xfrm>
          <a:off x="0" y="0"/>
          <a:ext cx="0" cy="0"/>
          <a:chOff x="0" y="0"/>
          <a:chExt cx="0" cy="0"/>
        </a:xfrm>
      </p:grpSpPr>
      <p:sp>
        <p:nvSpPr>
          <p:cNvPr id="2" name="Shape 0"/>
          <p:cNvSpPr/>
          <p:nvPr/>
        </p:nvSpPr>
        <p:spPr>
          <a:xfrm>
            <a:off x="9601200" y="2697480"/>
            <a:ext cx="1463040" cy="1463040"/>
          </a:xfrm>
          <a:prstGeom prst="ellipse">
            <a:avLst/>
          </a:prstGeom>
          <a:ln w="9525">
            <a:solidFill>
              <a:srgbClr val="990011">
                <a:alpha val="55000"/>
              </a:srgbClr>
            </a:solidFill>
            <a:prstDash val="solid"/>
          </a:ln>
        </p:spPr>
        <p:txBody>
          <a:bodyPr/>
          <a:lstStyle/>
          <a:p>
            <a:endParaRPr lang="en-PK"/>
          </a:p>
        </p:txBody>
      </p:sp>
      <p:sp>
        <p:nvSpPr>
          <p:cNvPr id="3" name="Shape 1"/>
          <p:cNvSpPr/>
          <p:nvPr/>
        </p:nvSpPr>
        <p:spPr>
          <a:xfrm>
            <a:off x="9034272" y="2130552"/>
            <a:ext cx="2596896" cy="2596896"/>
          </a:xfrm>
          <a:prstGeom prst="ellipse">
            <a:avLst/>
          </a:prstGeom>
          <a:ln w="9525">
            <a:solidFill>
              <a:srgbClr val="990011">
                <a:alpha val="49000"/>
              </a:srgbClr>
            </a:solidFill>
            <a:prstDash val="solid"/>
          </a:ln>
        </p:spPr>
        <p:txBody>
          <a:bodyPr/>
          <a:lstStyle/>
          <a:p>
            <a:endParaRPr lang="en-PK"/>
          </a:p>
        </p:txBody>
      </p:sp>
      <p:sp>
        <p:nvSpPr>
          <p:cNvPr id="4" name="Shape 2"/>
          <p:cNvSpPr/>
          <p:nvPr/>
        </p:nvSpPr>
        <p:spPr>
          <a:xfrm>
            <a:off x="8467344" y="1563624"/>
            <a:ext cx="3730752" cy="3730752"/>
          </a:xfrm>
          <a:prstGeom prst="ellipse">
            <a:avLst/>
          </a:prstGeom>
          <a:ln w="9525">
            <a:solidFill>
              <a:srgbClr val="990011">
                <a:alpha val="43000"/>
              </a:srgbClr>
            </a:solidFill>
            <a:prstDash val="solid"/>
          </a:ln>
        </p:spPr>
        <p:txBody>
          <a:bodyPr/>
          <a:lstStyle/>
          <a:p>
            <a:endParaRPr lang="en-PK"/>
          </a:p>
        </p:txBody>
      </p:sp>
      <p:sp>
        <p:nvSpPr>
          <p:cNvPr id="5" name="Shape 3"/>
          <p:cNvSpPr/>
          <p:nvPr/>
        </p:nvSpPr>
        <p:spPr>
          <a:xfrm>
            <a:off x="7900416" y="996696"/>
            <a:ext cx="4864608" cy="4864608"/>
          </a:xfrm>
          <a:prstGeom prst="ellipse">
            <a:avLst/>
          </a:prstGeom>
          <a:ln w="9525">
            <a:solidFill>
              <a:srgbClr val="990011">
                <a:alpha val="37000"/>
              </a:srgbClr>
            </a:solidFill>
            <a:prstDash val="solid"/>
          </a:ln>
        </p:spPr>
        <p:txBody>
          <a:bodyPr/>
          <a:lstStyle/>
          <a:p>
            <a:endParaRPr lang="en-PK"/>
          </a:p>
        </p:txBody>
      </p:sp>
      <p:sp>
        <p:nvSpPr>
          <p:cNvPr id="6" name="Shape 4"/>
          <p:cNvSpPr/>
          <p:nvPr/>
        </p:nvSpPr>
        <p:spPr>
          <a:xfrm>
            <a:off x="7333488" y="429768"/>
            <a:ext cx="5998464" cy="5998464"/>
          </a:xfrm>
          <a:prstGeom prst="ellipse">
            <a:avLst/>
          </a:prstGeom>
          <a:ln w="9525">
            <a:solidFill>
              <a:srgbClr val="990011">
                <a:alpha val="31000"/>
              </a:srgbClr>
            </a:solidFill>
            <a:prstDash val="solid"/>
          </a:ln>
        </p:spPr>
        <p:txBody>
          <a:bodyPr/>
          <a:lstStyle/>
          <a:p>
            <a:endParaRPr lang="en-PK"/>
          </a:p>
        </p:txBody>
      </p:sp>
      <p:sp>
        <p:nvSpPr>
          <p:cNvPr id="7" name="Shape 5"/>
          <p:cNvSpPr/>
          <p:nvPr/>
        </p:nvSpPr>
        <p:spPr>
          <a:xfrm>
            <a:off x="6766560" y="-137160"/>
            <a:ext cx="7132320" cy="7132320"/>
          </a:xfrm>
          <a:prstGeom prst="ellipse">
            <a:avLst/>
          </a:prstGeom>
          <a:ln w="9525">
            <a:solidFill>
              <a:srgbClr val="990011">
                <a:alpha val="25000"/>
              </a:srgbClr>
            </a:solidFill>
            <a:prstDash val="solid"/>
          </a:ln>
        </p:spPr>
        <p:txBody>
          <a:bodyPr/>
          <a:lstStyle/>
          <a:p>
            <a:endParaRPr lang="en-PK"/>
          </a:p>
        </p:txBody>
      </p:sp>
      <p:sp>
        <p:nvSpPr>
          <p:cNvPr id="8" name="Text 6"/>
          <p:cNvSpPr txBox="1"/>
          <p:nvPr/>
        </p:nvSpPr>
        <p:spPr>
          <a:xfrm>
            <a:off x="822960" y="1417320"/>
            <a:ext cx="5486400" cy="411480"/>
          </a:xfrm>
          <a:prstGeom prst="rect">
            <a:avLst/>
          </a:prstGeom>
          <a:noFill/>
          <a:ln/>
        </p:spPr>
        <p:txBody>
          <a:bodyPr wrap="square" lIns="0" tIns="0" rIns="0" bIns="0" rtlCol="0" anchor="ctr"/>
          <a:lstStyle/>
          <a:p>
            <a:pPr marL="0" indent="0">
              <a:buNone/>
            </a:pPr>
            <a:r>
              <a:rPr lang="en-US" sz="1500" kern="0" spc="300" dirty="0">
                <a:solidFill>
                  <a:srgbClr val="E2707C"/>
                </a:solidFill>
                <a:latin typeface="Calibri" pitchFamily="34" charset="0"/>
                <a:ea typeface="Calibri" pitchFamily="34" charset="-122"/>
                <a:cs typeface="Calibri" pitchFamily="34" charset="-120"/>
              </a:rPr>
              <a:t>Part Two</a:t>
            </a:r>
            <a:endParaRPr lang="en-US" sz="1500" dirty="0"/>
          </a:p>
        </p:txBody>
      </p:sp>
      <p:sp>
        <p:nvSpPr>
          <p:cNvPr id="9" name="Text 7"/>
          <p:cNvSpPr txBox="1"/>
          <p:nvPr/>
        </p:nvSpPr>
        <p:spPr>
          <a:xfrm>
            <a:off x="822960" y="1920240"/>
            <a:ext cx="7863840" cy="1188720"/>
          </a:xfrm>
          <a:prstGeom prst="rect">
            <a:avLst/>
          </a:prstGeom>
          <a:noFill/>
          <a:ln/>
        </p:spPr>
        <p:txBody>
          <a:bodyPr wrap="square" lIns="0" tIns="0" rIns="0" bIns="0" rtlCol="0" anchor="ctr"/>
          <a:lstStyle/>
          <a:p>
            <a:pPr marL="0" indent="0">
              <a:lnSpc>
                <a:spcPts val="4800"/>
              </a:lnSpc>
              <a:buNone/>
            </a:pPr>
            <a:r>
              <a:rPr lang="en-US" sz="4000" b="1" dirty="0">
                <a:solidFill>
                  <a:srgbClr val="FFFFFF"/>
                </a:solidFill>
                <a:latin typeface="Cambria" pitchFamily="34" charset="0"/>
                <a:ea typeface="Cambria" pitchFamily="34" charset="-122"/>
                <a:cs typeface="Cambria" pitchFamily="34" charset="-120"/>
              </a:rPr>
              <a:t>The ACM/IEEE Code of Ethics</a:t>
            </a:r>
            <a:endParaRPr lang="en-US" sz="4000" dirty="0"/>
          </a:p>
        </p:txBody>
      </p:sp>
      <p:sp>
        <p:nvSpPr>
          <p:cNvPr id="10" name="Text 8"/>
          <p:cNvSpPr txBox="1"/>
          <p:nvPr/>
        </p:nvSpPr>
        <p:spPr>
          <a:xfrm>
            <a:off x="868680" y="3383280"/>
            <a:ext cx="7589520" cy="182880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C9C4C4"/>
                </a:solidFill>
                <a:latin typeface="Calibri" pitchFamily="34" charset="0"/>
                <a:ea typeface="Calibri" pitchFamily="34" charset="-122"/>
                <a:cs typeface="Calibri" pitchFamily="34" charset="-120"/>
              </a:rPr>
              <a:t>Eight principles, agreed jointly by the ACM and the IEEE Computer Society.</a:t>
            </a:r>
            <a:endParaRPr lang="en-US" sz="1600" dirty="0"/>
          </a:p>
          <a:p>
            <a:pPr marL="342900" indent="-342900">
              <a:spcAft>
                <a:spcPts val="1000"/>
              </a:spcAft>
              <a:buSzPct val="100000"/>
              <a:buChar char="•"/>
            </a:pPr>
            <a:r>
              <a:rPr lang="en-US" sz="1600" dirty="0">
                <a:solidFill>
                  <a:srgbClr val="C9C4C4"/>
                </a:solidFill>
                <a:latin typeface="Calibri" pitchFamily="34" charset="0"/>
                <a:ea typeface="Calibri" pitchFamily="34" charset="-122"/>
                <a:cs typeface="Calibri" pitchFamily="34" charset="-120"/>
              </a:rPr>
              <a:t>They bind practitioners, educators, managers and students of the profession.</a:t>
            </a:r>
            <a:endParaRPr lang="en-US" sz="1600" dirty="0"/>
          </a:p>
          <a:p>
            <a:pPr marL="342900" indent="-342900">
              <a:spcAft>
                <a:spcPts val="1000"/>
              </a:spcAft>
              <a:buSzPct val="100000"/>
              <a:buChar char="•"/>
            </a:pPr>
            <a:r>
              <a:rPr lang="en-US" sz="1600" dirty="0">
                <a:solidFill>
                  <a:srgbClr val="C9C4C4"/>
                </a:solidFill>
                <a:latin typeface="Calibri" pitchFamily="34" charset="0"/>
                <a:ea typeface="Calibri" pitchFamily="34" charset="-122"/>
                <a:cs typeface="Calibri" pitchFamily="34" charset="-120"/>
              </a:rPr>
              <a:t>Engineers can do good, cause harm, or enable others to do either. The code exists because of that reach.</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594360" y="566928"/>
            <a:ext cx="5257800" cy="3063240"/>
          </a:xfrm>
          <a:prstGeom prst="roundRect">
            <a:avLst>
              <a:gd name="adj" fmla="val 1791"/>
            </a:avLst>
          </a:prstGeom>
          <a:solidFill>
            <a:srgbClr val="F0E7E6"/>
          </a:solidFill>
          <a:ln w="12700">
            <a:solidFill>
              <a:srgbClr val="F0E7E6"/>
            </a:solidFill>
            <a:prstDash val="solid"/>
          </a:ln>
        </p:spPr>
        <p:txBody>
          <a:bodyPr/>
          <a:lstStyle/>
          <a:p>
            <a:endParaRPr lang="en-PK"/>
          </a:p>
        </p:txBody>
      </p:sp>
      <p:sp>
        <p:nvSpPr>
          <p:cNvPr id="3" name="Shape 1"/>
          <p:cNvSpPr/>
          <p:nvPr/>
        </p:nvSpPr>
        <p:spPr>
          <a:xfrm>
            <a:off x="896112" y="896112"/>
            <a:ext cx="566928" cy="566928"/>
          </a:xfrm>
          <a:prstGeom prst="ellipse">
            <a:avLst/>
          </a:prstGeom>
          <a:solidFill>
            <a:srgbClr val="990011"/>
          </a:solidFill>
          <a:ln w="12700">
            <a:solidFill>
              <a:srgbClr val="990011"/>
            </a:solidFill>
            <a:prstDash val="solid"/>
          </a:ln>
        </p:spPr>
        <p:txBody>
          <a:bodyPr/>
          <a:lstStyle/>
          <a:p>
            <a:endParaRPr lang="en-PK"/>
          </a:p>
        </p:txBody>
      </p:sp>
      <p:sp>
        <p:nvSpPr>
          <p:cNvPr id="4" name="Text 2"/>
          <p:cNvSpPr txBox="1"/>
          <p:nvPr/>
        </p:nvSpPr>
        <p:spPr>
          <a:xfrm>
            <a:off x="896112" y="896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627632" y="868680"/>
            <a:ext cx="4023360" cy="621792"/>
          </a:xfrm>
          <a:prstGeom prst="rect">
            <a:avLst/>
          </a:prstGeom>
          <a:noFill/>
          <a:ln/>
        </p:spPr>
        <p:txBody>
          <a:bodyPr wrap="square" lIns="0" tIns="0" rIns="0" bIns="0" rtlCol="0" anchor="ctr"/>
          <a:lstStyle/>
          <a:p>
            <a:pPr marL="0" indent="0">
              <a:buNone/>
            </a:pPr>
            <a:r>
              <a:rPr lang="en-US" sz="2700" b="1" dirty="0">
                <a:solidFill>
                  <a:srgbClr val="16161A"/>
                </a:solidFill>
                <a:latin typeface="Cambria" pitchFamily="34" charset="0"/>
                <a:ea typeface="Cambria" pitchFamily="34" charset="-122"/>
                <a:cs typeface="Cambria" pitchFamily="34" charset="-120"/>
              </a:rPr>
              <a:t>PUBLIC</a:t>
            </a:r>
            <a:endParaRPr lang="en-US" sz="2700" dirty="0"/>
          </a:p>
        </p:txBody>
      </p:sp>
      <p:sp>
        <p:nvSpPr>
          <p:cNvPr id="6" name="Text 4"/>
          <p:cNvSpPr txBox="1"/>
          <p:nvPr/>
        </p:nvSpPr>
        <p:spPr>
          <a:xfrm>
            <a:off x="914400" y="1783080"/>
            <a:ext cx="4663440" cy="1691640"/>
          </a:xfrm>
          <a:prstGeom prst="rect">
            <a:avLst/>
          </a:prstGeom>
          <a:noFill/>
          <a:ln/>
        </p:spPr>
        <p:txBody>
          <a:bodyPr wrap="square" lIns="0" tIns="0" rIns="0" bIns="0" rtlCol="0" anchor="ctr"/>
          <a:lstStyle/>
          <a:p>
            <a:pPr marL="0" indent="0">
              <a:lnSpc>
                <a:spcPts val="2200"/>
              </a:lnSpc>
              <a:buNone/>
            </a:pPr>
            <a:r>
              <a:rPr lang="en-US" sz="1550" dirty="0">
                <a:solidFill>
                  <a:srgbClr val="16161A"/>
                </a:solidFill>
                <a:latin typeface="Calibri" pitchFamily="34" charset="0"/>
                <a:ea typeface="Calibri" pitchFamily="34" charset="-122"/>
                <a:cs typeface="Calibri" pitchFamily="34" charset="-120"/>
              </a:rPr>
              <a:t>Software engineers shall act consistently with the public interest.</a:t>
            </a:r>
            <a:endParaRPr lang="en-US" sz="1550" dirty="0"/>
          </a:p>
        </p:txBody>
      </p:sp>
      <p:sp>
        <p:nvSpPr>
          <p:cNvPr id="7" name="Shape 5"/>
          <p:cNvSpPr/>
          <p:nvPr/>
        </p:nvSpPr>
        <p:spPr>
          <a:xfrm>
            <a:off x="594360" y="3858768"/>
            <a:ext cx="5257800" cy="2103120"/>
          </a:xfrm>
          <a:prstGeom prst="roundRect">
            <a:avLst>
              <a:gd name="adj" fmla="val 2609"/>
            </a:avLst>
          </a:prstGeom>
          <a:solidFill>
            <a:srgbClr val="2F3C7E"/>
          </a:solidFill>
          <a:ln w="12700">
            <a:solidFill>
              <a:srgbClr val="2F3C7E"/>
            </a:solidFill>
            <a:prstDash val="solid"/>
          </a:ln>
        </p:spPr>
        <p:txBody>
          <a:bodyPr/>
          <a:lstStyle/>
          <a:p>
            <a:endParaRPr lang="en-PK"/>
          </a:p>
        </p:txBody>
      </p:sp>
      <p:sp>
        <p:nvSpPr>
          <p:cNvPr id="8" name="Text 6"/>
          <p:cNvSpPr txBox="1"/>
          <p:nvPr/>
        </p:nvSpPr>
        <p:spPr>
          <a:xfrm>
            <a:off x="914400" y="4114800"/>
            <a:ext cx="438912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9" name="Text 7"/>
          <p:cNvSpPr txBox="1"/>
          <p:nvPr/>
        </p:nvSpPr>
        <p:spPr>
          <a:xfrm>
            <a:off x="914400" y="4480560"/>
            <a:ext cx="4663440" cy="12801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Do not build things that hurt people who never chose your software.</a:t>
            </a:r>
            <a:endParaRPr lang="en-US" sz="2000" dirty="0"/>
          </a:p>
        </p:txBody>
      </p:sp>
      <p:sp>
        <p:nvSpPr>
          <p:cNvPr id="11" name="Text 9"/>
          <p:cNvSpPr txBox="1"/>
          <p:nvPr/>
        </p:nvSpPr>
        <p:spPr>
          <a:xfrm>
            <a:off x="6675120" y="896112"/>
            <a:ext cx="4480560" cy="274320"/>
          </a:xfrm>
          <a:prstGeom prst="rect">
            <a:avLst/>
          </a:prstGeom>
          <a:noFill/>
          <a:ln/>
        </p:spPr>
        <p:txBody>
          <a:bodyPr wrap="square" lIns="0" tIns="0" rIns="0" bIns="0" rtlCol="0" anchor="ctr"/>
          <a:lstStyle/>
          <a:p>
            <a:pPr marL="0" indent="0">
              <a:buNone/>
            </a:pPr>
            <a:endParaRPr lang="en-US" sz="1100" dirty="0"/>
          </a:p>
        </p:txBody>
      </p:sp>
      <p:sp>
        <p:nvSpPr>
          <p:cNvPr id="12" name="Text 10"/>
          <p:cNvSpPr txBox="1"/>
          <p:nvPr/>
        </p:nvSpPr>
        <p:spPr>
          <a:xfrm>
            <a:off x="6675120" y="1225296"/>
            <a:ext cx="4572000" cy="457200"/>
          </a:xfrm>
          <a:prstGeom prst="rect">
            <a:avLst/>
          </a:prstGeom>
          <a:noFill/>
          <a:ln/>
        </p:spPr>
        <p:txBody>
          <a:bodyPr wrap="square" lIns="0" tIns="0" rIns="0" bIns="0" rtlCol="0" anchor="ctr"/>
          <a:lstStyle/>
          <a:p>
            <a:pPr marL="0" indent="0">
              <a:buNone/>
            </a:pPr>
            <a:endParaRPr lang="en-US" sz="2100" dirty="0"/>
          </a:p>
        </p:txBody>
      </p:sp>
      <p:sp>
        <p:nvSpPr>
          <p:cNvPr id="13" name="Text 11"/>
          <p:cNvSpPr txBox="1"/>
          <p:nvPr/>
        </p:nvSpPr>
        <p:spPr>
          <a:xfrm>
            <a:off x="6675120" y="1828800"/>
            <a:ext cx="4617720" cy="1691640"/>
          </a:xfrm>
          <a:prstGeom prst="rect">
            <a:avLst/>
          </a:prstGeom>
          <a:noFill/>
          <a:ln/>
        </p:spPr>
        <p:txBody>
          <a:bodyPr wrap="square" lIns="0" tIns="0" rIns="0" bIns="0" rtlCol="0" anchor="ctr"/>
          <a:lstStyle/>
          <a:p>
            <a:pPr marL="0" indent="0">
              <a:lnSpc>
                <a:spcPts val="2100"/>
              </a:lnSpc>
              <a:buNone/>
            </a:pPr>
            <a:endParaRPr lang="en-US" sz="1500" dirty="0"/>
          </a:p>
        </p:txBody>
      </p:sp>
      <p:sp>
        <p:nvSpPr>
          <p:cNvPr id="14" name="Shape 12"/>
          <p:cNvSpPr/>
          <p:nvPr/>
        </p:nvSpPr>
        <p:spPr>
          <a:xfrm>
            <a:off x="6263640" y="2029966"/>
            <a:ext cx="521208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15" name="Text 13"/>
          <p:cNvSpPr txBox="1"/>
          <p:nvPr/>
        </p:nvSpPr>
        <p:spPr>
          <a:xfrm>
            <a:off x="6675120" y="2377438"/>
            <a:ext cx="4389120" cy="274320"/>
          </a:xfrm>
          <a:prstGeom prst="rect">
            <a:avLst/>
          </a:prstGeom>
          <a:noFill/>
          <a:ln/>
        </p:spPr>
        <p:txBody>
          <a:bodyPr wrap="square" lIns="0" tIns="0" rIns="0" bIns="0" rtlCol="0" anchor="ctr"/>
          <a:lstStyle/>
          <a:p>
            <a:pPr marL="0" indent="0">
              <a:buNone/>
            </a:pPr>
            <a:r>
              <a:rPr lang="en-US" sz="1100" b="1" kern="0" spc="200" dirty="0">
                <a:solidFill>
                  <a:srgbClr val="990011"/>
                </a:solidFill>
                <a:latin typeface="Calibri" pitchFamily="34" charset="0"/>
                <a:ea typeface="Calibri" pitchFamily="34" charset="-122"/>
                <a:cs typeface="Calibri" pitchFamily="34" charset="-120"/>
              </a:rPr>
              <a:t>YOUR VERSION OF IT</a:t>
            </a:r>
            <a:endParaRPr lang="en-US" sz="1100" dirty="0"/>
          </a:p>
        </p:txBody>
      </p:sp>
      <p:sp>
        <p:nvSpPr>
          <p:cNvPr id="16" name="Text 14"/>
          <p:cNvSpPr txBox="1"/>
          <p:nvPr/>
        </p:nvSpPr>
        <p:spPr>
          <a:xfrm>
            <a:off x="6675120" y="2651758"/>
            <a:ext cx="4617720" cy="1280160"/>
          </a:xfrm>
          <a:prstGeom prst="rect">
            <a:avLst/>
          </a:prstGeom>
          <a:noFill/>
          <a:ln/>
        </p:spPr>
        <p:txBody>
          <a:bodyPr wrap="square" lIns="0" tIns="0" rIns="0" bIns="0" rtlCol="0" anchor="ctr"/>
          <a:lstStyle/>
          <a:p>
            <a:pPr marL="0" indent="0">
              <a:buNone/>
            </a:pPr>
            <a:r>
              <a:rPr lang="en-US" sz="1600" dirty="0">
                <a:solidFill>
                  <a:srgbClr val="16161A"/>
                </a:solidFill>
                <a:latin typeface="Calibri" pitchFamily="34" charset="0"/>
                <a:ea typeface="Calibri" pitchFamily="34" charset="-122"/>
                <a:cs typeface="Calibri" pitchFamily="34" charset="-120"/>
              </a:rPr>
              <a:t>Pushing a medical or financial feature to production untested because the client is shouting about a deadline.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594360" y="566928"/>
            <a:ext cx="5257800" cy="3063240"/>
          </a:xfrm>
          <a:prstGeom prst="roundRect">
            <a:avLst>
              <a:gd name="adj" fmla="val 1791"/>
            </a:avLst>
          </a:prstGeom>
          <a:solidFill>
            <a:srgbClr val="F0E7E6"/>
          </a:solidFill>
          <a:ln w="12700">
            <a:solidFill>
              <a:srgbClr val="F0E7E6"/>
            </a:solidFill>
            <a:prstDash val="solid"/>
          </a:ln>
        </p:spPr>
        <p:txBody>
          <a:bodyPr/>
          <a:lstStyle/>
          <a:p>
            <a:endParaRPr lang="en-PK"/>
          </a:p>
        </p:txBody>
      </p:sp>
      <p:sp>
        <p:nvSpPr>
          <p:cNvPr id="3" name="Shape 1"/>
          <p:cNvSpPr/>
          <p:nvPr/>
        </p:nvSpPr>
        <p:spPr>
          <a:xfrm>
            <a:off x="896112" y="896112"/>
            <a:ext cx="566928" cy="566928"/>
          </a:xfrm>
          <a:prstGeom prst="ellipse">
            <a:avLst/>
          </a:prstGeom>
          <a:solidFill>
            <a:srgbClr val="990011"/>
          </a:solidFill>
          <a:ln w="12700">
            <a:solidFill>
              <a:srgbClr val="990011"/>
            </a:solidFill>
            <a:prstDash val="solid"/>
          </a:ln>
        </p:spPr>
        <p:txBody>
          <a:bodyPr/>
          <a:lstStyle/>
          <a:p>
            <a:endParaRPr lang="en-PK"/>
          </a:p>
        </p:txBody>
      </p:sp>
      <p:sp>
        <p:nvSpPr>
          <p:cNvPr id="4" name="Text 2"/>
          <p:cNvSpPr txBox="1"/>
          <p:nvPr/>
        </p:nvSpPr>
        <p:spPr>
          <a:xfrm>
            <a:off x="896112" y="896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5" name="Text 3"/>
          <p:cNvSpPr txBox="1"/>
          <p:nvPr/>
        </p:nvSpPr>
        <p:spPr>
          <a:xfrm>
            <a:off x="1627632" y="868680"/>
            <a:ext cx="4023360" cy="621792"/>
          </a:xfrm>
          <a:prstGeom prst="rect">
            <a:avLst/>
          </a:prstGeom>
          <a:noFill/>
          <a:ln/>
        </p:spPr>
        <p:txBody>
          <a:bodyPr wrap="square" lIns="0" tIns="0" rIns="0" bIns="0" rtlCol="0" anchor="ctr"/>
          <a:lstStyle/>
          <a:p>
            <a:pPr marL="0" indent="0">
              <a:buNone/>
            </a:pPr>
            <a:r>
              <a:rPr lang="en-US" sz="2700" b="1" dirty="0">
                <a:solidFill>
                  <a:srgbClr val="16161A"/>
                </a:solidFill>
                <a:latin typeface="Cambria" pitchFamily="34" charset="0"/>
                <a:ea typeface="Cambria" pitchFamily="34" charset="-122"/>
                <a:cs typeface="Cambria" pitchFamily="34" charset="-120"/>
              </a:rPr>
              <a:t>CLIENT AND EMPLOYER</a:t>
            </a:r>
            <a:endParaRPr lang="en-US" sz="2700" dirty="0"/>
          </a:p>
        </p:txBody>
      </p:sp>
      <p:sp>
        <p:nvSpPr>
          <p:cNvPr id="6" name="Text 4"/>
          <p:cNvSpPr txBox="1"/>
          <p:nvPr/>
        </p:nvSpPr>
        <p:spPr>
          <a:xfrm>
            <a:off x="914400" y="1783080"/>
            <a:ext cx="4663440" cy="1691640"/>
          </a:xfrm>
          <a:prstGeom prst="rect">
            <a:avLst/>
          </a:prstGeom>
          <a:noFill/>
          <a:ln/>
        </p:spPr>
        <p:txBody>
          <a:bodyPr wrap="square" lIns="0" tIns="0" rIns="0" bIns="0" rtlCol="0" anchor="ctr"/>
          <a:lstStyle/>
          <a:p>
            <a:pPr marL="0" indent="0">
              <a:lnSpc>
                <a:spcPts val="2200"/>
              </a:lnSpc>
              <a:buNone/>
            </a:pPr>
            <a:r>
              <a:rPr lang="en-US" sz="1550" dirty="0">
                <a:solidFill>
                  <a:srgbClr val="16161A"/>
                </a:solidFill>
                <a:latin typeface="Calibri" pitchFamily="34" charset="0"/>
                <a:ea typeface="Calibri" pitchFamily="34" charset="-122"/>
                <a:cs typeface="Calibri" pitchFamily="34" charset="-120"/>
              </a:rPr>
              <a:t>Software engineers shall act in the best interests of their client and employer, consistent with the public interest.</a:t>
            </a:r>
            <a:endParaRPr lang="en-US" sz="1550" dirty="0"/>
          </a:p>
        </p:txBody>
      </p:sp>
      <p:sp>
        <p:nvSpPr>
          <p:cNvPr id="7" name="Shape 5"/>
          <p:cNvSpPr/>
          <p:nvPr/>
        </p:nvSpPr>
        <p:spPr>
          <a:xfrm>
            <a:off x="594360" y="3858768"/>
            <a:ext cx="5257800" cy="2103120"/>
          </a:xfrm>
          <a:prstGeom prst="roundRect">
            <a:avLst>
              <a:gd name="adj" fmla="val 2609"/>
            </a:avLst>
          </a:prstGeom>
          <a:solidFill>
            <a:srgbClr val="2F3C7E"/>
          </a:solidFill>
          <a:ln w="12700">
            <a:solidFill>
              <a:srgbClr val="2F3C7E"/>
            </a:solidFill>
            <a:prstDash val="solid"/>
          </a:ln>
        </p:spPr>
        <p:txBody>
          <a:bodyPr/>
          <a:lstStyle/>
          <a:p>
            <a:endParaRPr lang="en-PK"/>
          </a:p>
        </p:txBody>
      </p:sp>
      <p:sp>
        <p:nvSpPr>
          <p:cNvPr id="8" name="Text 6"/>
          <p:cNvSpPr txBox="1"/>
          <p:nvPr/>
        </p:nvSpPr>
        <p:spPr>
          <a:xfrm>
            <a:off x="914400" y="4114800"/>
            <a:ext cx="438912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9" name="Text 7"/>
          <p:cNvSpPr txBox="1"/>
          <p:nvPr/>
        </p:nvSpPr>
        <p:spPr>
          <a:xfrm>
            <a:off x="914400" y="4480560"/>
            <a:ext cx="4663440" cy="12801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Serve your client, but never at the public's expense.</a:t>
            </a:r>
            <a:endParaRPr lang="en-US" sz="2000" dirty="0"/>
          </a:p>
        </p:txBody>
      </p:sp>
      <p:sp>
        <p:nvSpPr>
          <p:cNvPr id="14" name="Shape 12"/>
          <p:cNvSpPr/>
          <p:nvPr/>
        </p:nvSpPr>
        <p:spPr>
          <a:xfrm>
            <a:off x="6355080" y="2002670"/>
            <a:ext cx="521208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15" name="Text 13"/>
          <p:cNvSpPr txBox="1"/>
          <p:nvPr/>
        </p:nvSpPr>
        <p:spPr>
          <a:xfrm>
            <a:off x="6675120" y="2258702"/>
            <a:ext cx="4389120" cy="274320"/>
          </a:xfrm>
          <a:prstGeom prst="rect">
            <a:avLst/>
          </a:prstGeom>
          <a:noFill/>
          <a:ln/>
        </p:spPr>
        <p:txBody>
          <a:bodyPr wrap="square" lIns="0" tIns="0" rIns="0" bIns="0" rtlCol="0" anchor="ctr"/>
          <a:lstStyle/>
          <a:p>
            <a:pPr marL="0" indent="0">
              <a:buNone/>
            </a:pPr>
            <a:r>
              <a:rPr lang="en-US" sz="1100" b="1" kern="0" spc="200" dirty="0">
                <a:solidFill>
                  <a:srgbClr val="990011"/>
                </a:solidFill>
                <a:latin typeface="Calibri" pitchFamily="34" charset="0"/>
                <a:ea typeface="Calibri" pitchFamily="34" charset="-122"/>
                <a:cs typeface="Calibri" pitchFamily="34" charset="-120"/>
              </a:rPr>
              <a:t>YOUR VERSION OF IT</a:t>
            </a:r>
            <a:endParaRPr lang="en-US" sz="1100" dirty="0"/>
          </a:p>
        </p:txBody>
      </p:sp>
      <p:sp>
        <p:nvSpPr>
          <p:cNvPr id="16" name="Text 14"/>
          <p:cNvSpPr txBox="1"/>
          <p:nvPr/>
        </p:nvSpPr>
        <p:spPr>
          <a:xfrm>
            <a:off x="6675120" y="2624462"/>
            <a:ext cx="4617720" cy="1280160"/>
          </a:xfrm>
          <a:prstGeom prst="rect">
            <a:avLst/>
          </a:prstGeom>
          <a:noFill/>
          <a:ln/>
        </p:spPr>
        <p:txBody>
          <a:bodyPr wrap="square" lIns="0" tIns="0" rIns="0" bIns="0" rtlCol="0" anchor="ctr"/>
          <a:lstStyle/>
          <a:p>
            <a:pPr marL="0" indent="0">
              <a:buNone/>
            </a:pPr>
            <a:r>
              <a:rPr lang="en-US" sz="1600" dirty="0">
                <a:solidFill>
                  <a:srgbClr val="16161A"/>
                </a:solidFill>
                <a:latin typeface="Calibri" pitchFamily="34" charset="0"/>
                <a:ea typeface="Calibri" pitchFamily="34" charset="-122"/>
                <a:cs typeface="Calibri" pitchFamily="34" charset="-120"/>
              </a:rPr>
              <a:t>Telling a client their data is safe because saying otherwise would be an awkward meeting.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A"/>
        </a:solid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990011"/>
          </a:solidFill>
          <a:ln w="12700">
            <a:solidFill>
              <a:srgbClr val="990011"/>
            </a:solidFill>
            <a:prstDash val="solid"/>
          </a:ln>
        </p:spPr>
        <p:txBody>
          <a:bodyPr/>
          <a:lstStyle/>
          <a:p>
            <a:endParaRPr lang="en-PK"/>
          </a:p>
        </p:txBody>
      </p:sp>
      <p:sp>
        <p:nvSpPr>
          <p:cNvPr id="3" name="Text 1"/>
          <p:cNvSpPr txBox="1"/>
          <p:nvPr/>
        </p:nvSpPr>
        <p:spPr>
          <a:xfrm>
            <a:off x="640080" y="56692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371600" y="530352"/>
            <a:ext cx="5486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PRODUCT</a:t>
            </a:r>
            <a:endParaRPr lang="en-US" sz="3200" dirty="0"/>
          </a:p>
        </p:txBody>
      </p:sp>
      <p:sp>
        <p:nvSpPr>
          <p:cNvPr id="5" name="Text 3"/>
          <p:cNvSpPr txBox="1"/>
          <p:nvPr/>
        </p:nvSpPr>
        <p:spPr>
          <a:xfrm>
            <a:off x="658368" y="1298448"/>
            <a:ext cx="5669280" cy="1005840"/>
          </a:xfrm>
          <a:prstGeom prst="rect">
            <a:avLst/>
          </a:prstGeom>
          <a:noFill/>
          <a:ln/>
        </p:spPr>
        <p:txBody>
          <a:bodyPr wrap="square" lIns="0" tIns="0" rIns="0" bIns="0" rtlCol="0" anchor="ctr"/>
          <a:lstStyle/>
          <a:p>
            <a:pPr marL="0" indent="0">
              <a:lnSpc>
                <a:spcPts val="2200"/>
              </a:lnSpc>
              <a:buNone/>
            </a:pPr>
            <a:r>
              <a:rPr lang="en-US" sz="1550" dirty="0">
                <a:solidFill>
                  <a:srgbClr val="C9C4C4"/>
                </a:solidFill>
                <a:latin typeface="Calibri" pitchFamily="34" charset="0"/>
                <a:ea typeface="Calibri" pitchFamily="34" charset="-122"/>
                <a:cs typeface="Calibri" pitchFamily="34" charset="-120"/>
              </a:rPr>
              <a:t>Software engineers shall ensure that their products and related modifications meet the highest professional standards possible.</a:t>
            </a:r>
            <a:endParaRPr lang="en-US" sz="1550" dirty="0"/>
          </a:p>
        </p:txBody>
      </p:sp>
      <p:sp>
        <p:nvSpPr>
          <p:cNvPr id="6" name="Text 4"/>
          <p:cNvSpPr txBox="1"/>
          <p:nvPr/>
        </p:nvSpPr>
        <p:spPr>
          <a:xfrm>
            <a:off x="658368" y="2606040"/>
            <a:ext cx="2834640" cy="1005840"/>
          </a:xfrm>
          <a:prstGeom prst="rect">
            <a:avLst/>
          </a:prstGeom>
          <a:noFill/>
          <a:ln/>
        </p:spPr>
        <p:txBody>
          <a:bodyPr wrap="square" lIns="0" tIns="0" rIns="0" bIns="0" rtlCol="0" anchor="ctr"/>
          <a:lstStyle/>
          <a:p>
            <a:pPr marL="0" indent="0">
              <a:buNone/>
            </a:pPr>
            <a:r>
              <a:rPr lang="en-US" sz="5400" b="1" dirty="0">
                <a:solidFill>
                  <a:srgbClr val="990011"/>
                </a:solidFill>
                <a:latin typeface="Cambria" pitchFamily="34" charset="0"/>
                <a:ea typeface="Cambria" pitchFamily="34" charset="-122"/>
                <a:cs typeface="Cambria" pitchFamily="34" charset="-120"/>
              </a:rPr>
              <a:t>$440m</a:t>
            </a:r>
            <a:endParaRPr lang="en-US" sz="5400" dirty="0"/>
          </a:p>
        </p:txBody>
      </p:sp>
      <p:sp>
        <p:nvSpPr>
          <p:cNvPr id="7" name="Text 5"/>
          <p:cNvSpPr txBox="1"/>
          <p:nvPr/>
        </p:nvSpPr>
        <p:spPr>
          <a:xfrm>
            <a:off x="685800" y="3611880"/>
            <a:ext cx="2834640" cy="548640"/>
          </a:xfrm>
          <a:prstGeom prst="rect">
            <a:avLst/>
          </a:prstGeom>
          <a:noFill/>
          <a:ln/>
        </p:spPr>
        <p:txBody>
          <a:bodyPr wrap="square" lIns="0" tIns="0" rIns="0" bIns="0" rtlCol="0" anchor="ctr"/>
          <a:lstStyle/>
          <a:p>
            <a:pPr marL="0" indent="0">
              <a:buNone/>
            </a:pPr>
            <a:r>
              <a:rPr lang="en-US" sz="1300" dirty="0">
                <a:solidFill>
                  <a:srgbClr val="C9C4C4"/>
                </a:solidFill>
                <a:latin typeface="Calibri" pitchFamily="34" charset="0"/>
                <a:ea typeface="Calibri" pitchFamily="34" charset="-122"/>
                <a:cs typeface="Calibri" pitchFamily="34" charset="-120"/>
              </a:rPr>
              <a:t>lost by Knight Capital in 2012</a:t>
            </a:r>
            <a:endParaRPr lang="en-US" sz="1300" dirty="0"/>
          </a:p>
        </p:txBody>
      </p:sp>
      <p:sp>
        <p:nvSpPr>
          <p:cNvPr id="8" name="Text 6"/>
          <p:cNvSpPr txBox="1"/>
          <p:nvPr/>
        </p:nvSpPr>
        <p:spPr>
          <a:xfrm>
            <a:off x="3794760" y="2606040"/>
            <a:ext cx="283464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45 min</a:t>
            </a:r>
            <a:endParaRPr lang="en-US" sz="5400" dirty="0"/>
          </a:p>
        </p:txBody>
      </p:sp>
      <p:sp>
        <p:nvSpPr>
          <p:cNvPr id="9" name="Text 7"/>
          <p:cNvSpPr txBox="1"/>
          <p:nvPr/>
        </p:nvSpPr>
        <p:spPr>
          <a:xfrm>
            <a:off x="3822192" y="3611880"/>
            <a:ext cx="2834640" cy="548640"/>
          </a:xfrm>
          <a:prstGeom prst="rect">
            <a:avLst/>
          </a:prstGeom>
          <a:noFill/>
          <a:ln/>
        </p:spPr>
        <p:txBody>
          <a:bodyPr wrap="square" lIns="0" tIns="0" rIns="0" bIns="0" rtlCol="0" anchor="ctr"/>
          <a:lstStyle/>
          <a:p>
            <a:pPr marL="0" indent="0">
              <a:buNone/>
            </a:pPr>
            <a:r>
              <a:rPr lang="en-US" sz="1300" dirty="0">
                <a:solidFill>
                  <a:srgbClr val="C9C4C4"/>
                </a:solidFill>
                <a:latin typeface="Calibri" pitchFamily="34" charset="0"/>
                <a:ea typeface="Calibri" pitchFamily="34" charset="-122"/>
                <a:cs typeface="Calibri" pitchFamily="34" charset="-120"/>
              </a:rPr>
              <a:t>time taken to lose it</a:t>
            </a:r>
            <a:endParaRPr lang="en-US" sz="1300" dirty="0"/>
          </a:p>
        </p:txBody>
      </p:sp>
      <p:sp>
        <p:nvSpPr>
          <p:cNvPr id="10" name="Shape 8"/>
          <p:cNvSpPr/>
          <p:nvPr/>
        </p:nvSpPr>
        <p:spPr>
          <a:xfrm>
            <a:off x="621792" y="4526280"/>
            <a:ext cx="5943600" cy="1371600"/>
          </a:xfrm>
          <a:prstGeom prst="roundRect">
            <a:avLst>
              <a:gd name="adj" fmla="val 4000"/>
            </a:avLst>
          </a:prstGeom>
          <a:solidFill>
            <a:srgbClr val="2F3C7E"/>
          </a:solidFill>
          <a:ln w="12700">
            <a:solidFill>
              <a:srgbClr val="2F3C7E"/>
            </a:solidFill>
            <a:prstDash val="solid"/>
          </a:ln>
        </p:spPr>
        <p:txBody>
          <a:bodyPr/>
          <a:lstStyle/>
          <a:p>
            <a:endParaRPr lang="en-PK"/>
          </a:p>
        </p:txBody>
      </p:sp>
      <p:sp>
        <p:nvSpPr>
          <p:cNvPr id="11" name="Text 9"/>
          <p:cNvSpPr txBox="1"/>
          <p:nvPr/>
        </p:nvSpPr>
        <p:spPr>
          <a:xfrm>
            <a:off x="914400" y="4736592"/>
            <a:ext cx="512064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12" name="Text 10"/>
          <p:cNvSpPr txBox="1"/>
          <p:nvPr/>
        </p:nvSpPr>
        <p:spPr>
          <a:xfrm>
            <a:off x="914400" y="5047488"/>
            <a:ext cx="5394960" cy="73152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Test it, review it, and deploy it the same way every time.</a:t>
            </a:r>
            <a:endParaRPr lang="en-US" sz="1900" dirty="0"/>
          </a:p>
        </p:txBody>
      </p:sp>
      <p:sp>
        <p:nvSpPr>
          <p:cNvPr id="13" name="Shape 11"/>
          <p:cNvSpPr/>
          <p:nvPr/>
        </p:nvSpPr>
        <p:spPr>
          <a:xfrm>
            <a:off x="6903720" y="548640"/>
            <a:ext cx="4663440" cy="5349240"/>
          </a:xfrm>
          <a:prstGeom prst="roundRect">
            <a:avLst>
              <a:gd name="adj" fmla="val 1176"/>
            </a:avLst>
          </a:prstGeom>
          <a:solidFill>
            <a:srgbClr val="22222A"/>
          </a:solidFill>
          <a:ln w="12700">
            <a:solidFill>
              <a:srgbClr val="3A3A45"/>
            </a:solidFill>
            <a:prstDash val="solid"/>
          </a:ln>
        </p:spPr>
        <p:txBody>
          <a:bodyPr/>
          <a:lstStyle/>
          <a:p>
            <a:endParaRPr lang="en-PK"/>
          </a:p>
        </p:txBody>
      </p:sp>
      <p:sp>
        <p:nvSpPr>
          <p:cNvPr id="14" name="Text 12"/>
          <p:cNvSpPr txBox="1"/>
          <p:nvPr/>
        </p:nvSpPr>
        <p:spPr>
          <a:xfrm>
            <a:off x="7223760" y="841248"/>
            <a:ext cx="4023360" cy="274320"/>
          </a:xfrm>
          <a:prstGeom prst="rect">
            <a:avLst/>
          </a:prstGeom>
          <a:noFill/>
          <a:ln/>
        </p:spPr>
        <p:txBody>
          <a:bodyPr wrap="square" lIns="0" tIns="0" rIns="0" bIns="0" rtlCol="0" anchor="ctr"/>
          <a:lstStyle/>
          <a:p>
            <a:pPr marL="0" indent="0">
              <a:buNone/>
            </a:pPr>
            <a:r>
              <a:rPr lang="en-US" sz="1100" b="1" kern="0" spc="200" dirty="0">
                <a:solidFill>
                  <a:srgbClr val="E2707C"/>
                </a:solidFill>
                <a:latin typeface="Calibri" pitchFamily="34" charset="0"/>
                <a:ea typeface="Calibri" pitchFamily="34" charset="-122"/>
                <a:cs typeface="Calibri" pitchFamily="34" charset="-120"/>
              </a:rPr>
              <a:t>WHAT ACTUALLY HAPPENED</a:t>
            </a:r>
            <a:endParaRPr lang="en-US" sz="1100" dirty="0"/>
          </a:p>
        </p:txBody>
      </p:sp>
      <p:sp>
        <p:nvSpPr>
          <p:cNvPr id="15" name="Shape 13"/>
          <p:cNvSpPr/>
          <p:nvPr/>
        </p:nvSpPr>
        <p:spPr>
          <a:xfrm>
            <a:off x="7251192" y="1453896"/>
            <a:ext cx="118872" cy="118872"/>
          </a:xfrm>
          <a:prstGeom prst="ellipse">
            <a:avLst/>
          </a:prstGeom>
          <a:solidFill>
            <a:srgbClr val="990011"/>
          </a:solidFill>
          <a:ln w="12700">
            <a:solidFill>
              <a:srgbClr val="990011"/>
            </a:solidFill>
            <a:prstDash val="solid"/>
          </a:ln>
        </p:spPr>
        <p:txBody>
          <a:bodyPr/>
          <a:lstStyle/>
          <a:p>
            <a:endParaRPr lang="en-PK"/>
          </a:p>
        </p:txBody>
      </p:sp>
      <p:sp>
        <p:nvSpPr>
          <p:cNvPr id="16" name="Text 14"/>
          <p:cNvSpPr txBox="1"/>
          <p:nvPr/>
        </p:nvSpPr>
        <p:spPr>
          <a:xfrm>
            <a:off x="7525512" y="1335024"/>
            <a:ext cx="37947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New code was deployed to eight servers. One was missed.</a:t>
            </a:r>
            <a:endParaRPr lang="en-US" sz="1450" dirty="0"/>
          </a:p>
        </p:txBody>
      </p:sp>
      <p:sp>
        <p:nvSpPr>
          <p:cNvPr id="17" name="Shape 15"/>
          <p:cNvSpPr/>
          <p:nvPr/>
        </p:nvSpPr>
        <p:spPr>
          <a:xfrm>
            <a:off x="7251192" y="2368296"/>
            <a:ext cx="118872" cy="118872"/>
          </a:xfrm>
          <a:prstGeom prst="ellipse">
            <a:avLst/>
          </a:prstGeom>
          <a:solidFill>
            <a:srgbClr val="990011"/>
          </a:solidFill>
          <a:ln w="12700">
            <a:solidFill>
              <a:srgbClr val="990011"/>
            </a:solidFill>
            <a:prstDash val="solid"/>
          </a:ln>
        </p:spPr>
        <p:txBody>
          <a:bodyPr/>
          <a:lstStyle/>
          <a:p>
            <a:endParaRPr lang="en-PK"/>
          </a:p>
        </p:txBody>
      </p:sp>
      <p:sp>
        <p:nvSpPr>
          <p:cNvPr id="18" name="Text 16"/>
          <p:cNvSpPr txBox="1"/>
          <p:nvPr/>
        </p:nvSpPr>
        <p:spPr>
          <a:xfrm>
            <a:off x="7525512" y="2249424"/>
            <a:ext cx="37947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A repurposed configuration flag reactivated old, dormant code on that one server.</a:t>
            </a:r>
            <a:endParaRPr lang="en-US" sz="1450" dirty="0"/>
          </a:p>
        </p:txBody>
      </p:sp>
      <p:sp>
        <p:nvSpPr>
          <p:cNvPr id="19" name="Shape 17"/>
          <p:cNvSpPr/>
          <p:nvPr/>
        </p:nvSpPr>
        <p:spPr>
          <a:xfrm>
            <a:off x="7251192" y="3282696"/>
            <a:ext cx="118872" cy="118872"/>
          </a:xfrm>
          <a:prstGeom prst="ellipse">
            <a:avLst/>
          </a:prstGeom>
          <a:solidFill>
            <a:srgbClr val="990011"/>
          </a:solidFill>
          <a:ln w="12700">
            <a:solidFill>
              <a:srgbClr val="990011"/>
            </a:solidFill>
            <a:prstDash val="solid"/>
          </a:ln>
        </p:spPr>
        <p:txBody>
          <a:bodyPr/>
          <a:lstStyle/>
          <a:p>
            <a:endParaRPr lang="en-PK"/>
          </a:p>
        </p:txBody>
      </p:sp>
      <p:sp>
        <p:nvSpPr>
          <p:cNvPr id="20" name="Text 18"/>
          <p:cNvSpPr txBox="1"/>
          <p:nvPr/>
        </p:nvSpPr>
        <p:spPr>
          <a:xfrm>
            <a:off x="7525512" y="3163824"/>
            <a:ext cx="37947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It began executing erratic trades automatically at market open.</a:t>
            </a:r>
            <a:endParaRPr lang="en-US" sz="1450" dirty="0"/>
          </a:p>
        </p:txBody>
      </p:sp>
      <p:sp>
        <p:nvSpPr>
          <p:cNvPr id="21" name="Shape 19"/>
          <p:cNvSpPr/>
          <p:nvPr/>
        </p:nvSpPr>
        <p:spPr>
          <a:xfrm>
            <a:off x="7251192" y="4197096"/>
            <a:ext cx="118872" cy="118872"/>
          </a:xfrm>
          <a:prstGeom prst="ellipse">
            <a:avLst/>
          </a:prstGeom>
          <a:solidFill>
            <a:srgbClr val="990011"/>
          </a:solidFill>
          <a:ln w="12700">
            <a:solidFill>
              <a:srgbClr val="990011"/>
            </a:solidFill>
            <a:prstDash val="solid"/>
          </a:ln>
        </p:spPr>
        <p:txBody>
          <a:bodyPr/>
          <a:lstStyle/>
          <a:p>
            <a:endParaRPr lang="en-PK"/>
          </a:p>
        </p:txBody>
      </p:sp>
      <p:sp>
        <p:nvSpPr>
          <p:cNvPr id="22" name="Text 20"/>
          <p:cNvSpPr txBox="1"/>
          <p:nvPr/>
        </p:nvSpPr>
        <p:spPr>
          <a:xfrm>
            <a:off x="7525512" y="4078224"/>
            <a:ext cx="37947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Roughly four million executions ran before anyone could stop it.</a:t>
            </a:r>
            <a:endParaRPr lang="en-US" sz="1450" dirty="0"/>
          </a:p>
        </p:txBody>
      </p:sp>
      <p:sp>
        <p:nvSpPr>
          <p:cNvPr id="23" name="Shape 21"/>
          <p:cNvSpPr/>
          <p:nvPr/>
        </p:nvSpPr>
        <p:spPr>
          <a:xfrm>
            <a:off x="7251192" y="5111496"/>
            <a:ext cx="118872" cy="118872"/>
          </a:xfrm>
          <a:prstGeom prst="ellipse">
            <a:avLst/>
          </a:prstGeom>
          <a:solidFill>
            <a:srgbClr val="990011"/>
          </a:solidFill>
          <a:ln w="12700">
            <a:solidFill>
              <a:srgbClr val="990011"/>
            </a:solidFill>
            <a:prstDash val="solid"/>
          </a:ln>
        </p:spPr>
        <p:txBody>
          <a:bodyPr/>
          <a:lstStyle/>
          <a:p>
            <a:endParaRPr lang="en-PK"/>
          </a:p>
        </p:txBody>
      </p:sp>
      <p:sp>
        <p:nvSpPr>
          <p:cNvPr id="24" name="Text 22"/>
          <p:cNvSpPr txBox="1"/>
          <p:nvPr/>
        </p:nvSpPr>
        <p:spPr>
          <a:xfrm>
            <a:off x="7525512" y="4992624"/>
            <a:ext cx="3794760" cy="822960"/>
          </a:xfrm>
          <a:prstGeom prst="rect">
            <a:avLst/>
          </a:prstGeom>
          <a:noFill/>
          <a:ln/>
        </p:spPr>
        <p:txBody>
          <a:bodyPr wrap="square" lIns="0" tIns="0" rIns="0" bIns="0" rtlCol="0" anchor="ctr"/>
          <a:lstStyle/>
          <a:p>
            <a:pPr marL="0" indent="0">
              <a:buNone/>
            </a:pPr>
            <a:r>
              <a:rPr lang="en-US" sz="1450" dirty="0">
                <a:solidFill>
                  <a:srgbClr val="C9C4C4"/>
                </a:solidFill>
                <a:latin typeface="Calibri" pitchFamily="34" charset="0"/>
                <a:ea typeface="Calibri" pitchFamily="34" charset="-122"/>
                <a:cs typeface="Calibri" pitchFamily="34" charset="-120"/>
              </a:rPr>
              <a:t>The firm never recovered independently.</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594360" y="566928"/>
            <a:ext cx="5257800" cy="3063240"/>
          </a:xfrm>
          <a:prstGeom prst="roundRect">
            <a:avLst>
              <a:gd name="adj" fmla="val 1791"/>
            </a:avLst>
          </a:prstGeom>
          <a:solidFill>
            <a:srgbClr val="F0E7E6"/>
          </a:solidFill>
          <a:ln w="12700">
            <a:solidFill>
              <a:srgbClr val="F0E7E6"/>
            </a:solidFill>
            <a:prstDash val="solid"/>
          </a:ln>
        </p:spPr>
        <p:txBody>
          <a:bodyPr/>
          <a:lstStyle/>
          <a:p>
            <a:endParaRPr lang="en-PK"/>
          </a:p>
        </p:txBody>
      </p:sp>
      <p:sp>
        <p:nvSpPr>
          <p:cNvPr id="3" name="Shape 1"/>
          <p:cNvSpPr/>
          <p:nvPr/>
        </p:nvSpPr>
        <p:spPr>
          <a:xfrm>
            <a:off x="896112" y="896112"/>
            <a:ext cx="566928" cy="566928"/>
          </a:xfrm>
          <a:prstGeom prst="ellipse">
            <a:avLst/>
          </a:prstGeom>
          <a:solidFill>
            <a:srgbClr val="990011"/>
          </a:solidFill>
          <a:ln w="12700">
            <a:solidFill>
              <a:srgbClr val="990011"/>
            </a:solidFill>
            <a:prstDash val="solid"/>
          </a:ln>
        </p:spPr>
        <p:txBody>
          <a:bodyPr/>
          <a:lstStyle/>
          <a:p>
            <a:endParaRPr lang="en-PK"/>
          </a:p>
        </p:txBody>
      </p:sp>
      <p:sp>
        <p:nvSpPr>
          <p:cNvPr id="4" name="Text 2"/>
          <p:cNvSpPr txBox="1"/>
          <p:nvPr/>
        </p:nvSpPr>
        <p:spPr>
          <a:xfrm>
            <a:off x="896112" y="896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5" name="Text 3"/>
          <p:cNvSpPr txBox="1"/>
          <p:nvPr/>
        </p:nvSpPr>
        <p:spPr>
          <a:xfrm>
            <a:off x="1627632" y="868680"/>
            <a:ext cx="4023360" cy="621792"/>
          </a:xfrm>
          <a:prstGeom prst="rect">
            <a:avLst/>
          </a:prstGeom>
          <a:noFill/>
          <a:ln/>
        </p:spPr>
        <p:txBody>
          <a:bodyPr wrap="square" lIns="0" tIns="0" rIns="0" bIns="0" rtlCol="0" anchor="ctr"/>
          <a:lstStyle/>
          <a:p>
            <a:pPr marL="0" indent="0">
              <a:buNone/>
            </a:pPr>
            <a:r>
              <a:rPr lang="en-US" sz="2700" b="1" dirty="0">
                <a:solidFill>
                  <a:srgbClr val="16161A"/>
                </a:solidFill>
                <a:latin typeface="Cambria" pitchFamily="34" charset="0"/>
                <a:ea typeface="Cambria" pitchFamily="34" charset="-122"/>
                <a:cs typeface="Cambria" pitchFamily="34" charset="-120"/>
              </a:rPr>
              <a:t>JUDGMENT</a:t>
            </a:r>
            <a:endParaRPr lang="en-US" sz="2700" dirty="0"/>
          </a:p>
        </p:txBody>
      </p:sp>
      <p:sp>
        <p:nvSpPr>
          <p:cNvPr id="6" name="Text 4"/>
          <p:cNvSpPr txBox="1"/>
          <p:nvPr/>
        </p:nvSpPr>
        <p:spPr>
          <a:xfrm>
            <a:off x="914400" y="1783080"/>
            <a:ext cx="4663440" cy="1691640"/>
          </a:xfrm>
          <a:prstGeom prst="rect">
            <a:avLst/>
          </a:prstGeom>
          <a:noFill/>
          <a:ln/>
        </p:spPr>
        <p:txBody>
          <a:bodyPr wrap="square" lIns="0" tIns="0" rIns="0" bIns="0" rtlCol="0" anchor="ctr"/>
          <a:lstStyle/>
          <a:p>
            <a:pPr marL="0" indent="0">
              <a:lnSpc>
                <a:spcPts val="2200"/>
              </a:lnSpc>
              <a:buNone/>
            </a:pPr>
            <a:r>
              <a:rPr lang="en-US" sz="1550" dirty="0">
                <a:solidFill>
                  <a:srgbClr val="16161A"/>
                </a:solidFill>
                <a:latin typeface="Calibri" pitchFamily="34" charset="0"/>
                <a:ea typeface="Calibri" pitchFamily="34" charset="-122"/>
                <a:cs typeface="Calibri" pitchFamily="34" charset="-120"/>
              </a:rPr>
              <a:t>Software engineers shall maintain integrity and independence in their professional judgment.</a:t>
            </a:r>
            <a:endParaRPr lang="en-US" sz="1550" dirty="0"/>
          </a:p>
        </p:txBody>
      </p:sp>
      <p:sp>
        <p:nvSpPr>
          <p:cNvPr id="7" name="Shape 5"/>
          <p:cNvSpPr/>
          <p:nvPr/>
        </p:nvSpPr>
        <p:spPr>
          <a:xfrm>
            <a:off x="594360" y="3858768"/>
            <a:ext cx="5257800" cy="2103120"/>
          </a:xfrm>
          <a:prstGeom prst="roundRect">
            <a:avLst>
              <a:gd name="adj" fmla="val 2609"/>
            </a:avLst>
          </a:prstGeom>
          <a:solidFill>
            <a:srgbClr val="2F3C7E"/>
          </a:solidFill>
          <a:ln w="12700">
            <a:solidFill>
              <a:srgbClr val="2F3C7E"/>
            </a:solidFill>
            <a:prstDash val="solid"/>
          </a:ln>
        </p:spPr>
        <p:txBody>
          <a:bodyPr/>
          <a:lstStyle/>
          <a:p>
            <a:endParaRPr lang="en-PK"/>
          </a:p>
        </p:txBody>
      </p:sp>
      <p:sp>
        <p:nvSpPr>
          <p:cNvPr id="8" name="Text 6"/>
          <p:cNvSpPr txBox="1"/>
          <p:nvPr/>
        </p:nvSpPr>
        <p:spPr>
          <a:xfrm>
            <a:off x="914400" y="4114800"/>
            <a:ext cx="438912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9" name="Text 7"/>
          <p:cNvSpPr txBox="1"/>
          <p:nvPr/>
        </p:nvSpPr>
        <p:spPr>
          <a:xfrm>
            <a:off x="914400" y="4480560"/>
            <a:ext cx="4663440" cy="12801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Your technical opinion is not for sale, not even to your own employer.</a:t>
            </a:r>
            <a:endParaRPr lang="en-US" sz="2000" dirty="0"/>
          </a:p>
        </p:txBody>
      </p:sp>
      <p:sp>
        <p:nvSpPr>
          <p:cNvPr id="10" name="Shape 8"/>
          <p:cNvSpPr/>
          <p:nvPr/>
        </p:nvSpPr>
        <p:spPr>
          <a:xfrm>
            <a:off x="6355080" y="566928"/>
            <a:ext cx="5212080" cy="3063240"/>
          </a:xfrm>
          <a:prstGeom prst="roundRect">
            <a:avLst>
              <a:gd name="adj" fmla="val 1791"/>
            </a:avLst>
          </a:prstGeom>
          <a:solidFill>
            <a:srgbClr val="16161A"/>
          </a:solidFill>
          <a:ln w="12700">
            <a:solidFill>
              <a:srgbClr val="16161A"/>
            </a:solidFill>
            <a:prstDash val="solid"/>
          </a:ln>
        </p:spPr>
        <p:txBody>
          <a:bodyPr/>
          <a:lstStyle/>
          <a:p>
            <a:endParaRPr lang="en-PK"/>
          </a:p>
        </p:txBody>
      </p:sp>
      <p:sp>
        <p:nvSpPr>
          <p:cNvPr id="11" name="Text 9"/>
          <p:cNvSpPr txBox="1"/>
          <p:nvPr/>
        </p:nvSpPr>
        <p:spPr>
          <a:xfrm>
            <a:off x="6675120" y="896112"/>
            <a:ext cx="4480560" cy="274320"/>
          </a:xfrm>
          <a:prstGeom prst="rect">
            <a:avLst/>
          </a:prstGeom>
          <a:noFill/>
          <a:ln/>
        </p:spPr>
        <p:txBody>
          <a:bodyPr wrap="square" lIns="0" tIns="0" rIns="0" bIns="0" rtlCol="0" anchor="ctr"/>
          <a:lstStyle/>
          <a:p>
            <a:pPr marL="0" indent="0">
              <a:buNone/>
            </a:pPr>
            <a:r>
              <a:rPr lang="en-US" sz="1100" b="1" kern="0" spc="200" dirty="0">
                <a:solidFill>
                  <a:srgbClr val="E2707C"/>
                </a:solidFill>
                <a:latin typeface="Calibri" pitchFamily="34" charset="0"/>
                <a:ea typeface="Calibri" pitchFamily="34" charset="-122"/>
                <a:cs typeface="Calibri" pitchFamily="34" charset="-120"/>
              </a:rPr>
              <a:t>THE CASE</a:t>
            </a:r>
            <a:endParaRPr lang="en-US" sz="1100" dirty="0"/>
          </a:p>
        </p:txBody>
      </p:sp>
      <p:sp>
        <p:nvSpPr>
          <p:cNvPr id="12" name="Text 10"/>
          <p:cNvSpPr txBox="1"/>
          <p:nvPr/>
        </p:nvSpPr>
        <p:spPr>
          <a:xfrm>
            <a:off x="6675120" y="1225296"/>
            <a:ext cx="4572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Why this one is hard</a:t>
            </a:r>
            <a:endParaRPr lang="en-US" sz="2100" dirty="0"/>
          </a:p>
        </p:txBody>
      </p:sp>
      <p:sp>
        <p:nvSpPr>
          <p:cNvPr id="13" name="Text 11"/>
          <p:cNvSpPr txBox="1"/>
          <p:nvPr/>
        </p:nvSpPr>
        <p:spPr>
          <a:xfrm>
            <a:off x="6675120" y="1828800"/>
            <a:ext cx="4617720" cy="1691640"/>
          </a:xfrm>
          <a:prstGeom prst="rect">
            <a:avLst/>
          </a:prstGeom>
          <a:noFill/>
          <a:ln/>
        </p:spPr>
        <p:txBody>
          <a:bodyPr wrap="square" lIns="0" tIns="0" rIns="0" bIns="0" rtlCol="0" anchor="ctr"/>
          <a:lstStyle/>
          <a:p>
            <a:pPr marL="0" indent="0">
              <a:lnSpc>
                <a:spcPts val="2100"/>
              </a:lnSpc>
              <a:buNone/>
            </a:pPr>
            <a:r>
              <a:rPr lang="en-US" sz="1500" dirty="0">
                <a:solidFill>
                  <a:srgbClr val="C9C4C4"/>
                </a:solidFill>
                <a:latin typeface="Calibri" pitchFamily="34" charset="0"/>
                <a:ea typeface="Calibri" pitchFamily="34" charset="-122"/>
                <a:cs typeface="Calibri" pitchFamily="34" charset="-120"/>
              </a:rPr>
              <a:t>The pressure is rarely a bribe. It is a room full of people who need your estimate to be smaller, and the quiet knowledge that the person who says no is the problem.</a:t>
            </a:r>
            <a:endParaRPr lang="en-US" sz="1500" dirty="0"/>
          </a:p>
        </p:txBody>
      </p:sp>
      <p:sp>
        <p:nvSpPr>
          <p:cNvPr id="14" name="Shape 12"/>
          <p:cNvSpPr/>
          <p:nvPr/>
        </p:nvSpPr>
        <p:spPr>
          <a:xfrm>
            <a:off x="6355080" y="3858768"/>
            <a:ext cx="521208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15" name="Text 13"/>
          <p:cNvSpPr txBox="1"/>
          <p:nvPr/>
        </p:nvSpPr>
        <p:spPr>
          <a:xfrm>
            <a:off x="6675120" y="4114800"/>
            <a:ext cx="4389120" cy="274320"/>
          </a:xfrm>
          <a:prstGeom prst="rect">
            <a:avLst/>
          </a:prstGeom>
          <a:noFill/>
          <a:ln/>
        </p:spPr>
        <p:txBody>
          <a:bodyPr wrap="square" lIns="0" tIns="0" rIns="0" bIns="0" rtlCol="0" anchor="ctr"/>
          <a:lstStyle/>
          <a:p>
            <a:pPr marL="0" indent="0">
              <a:buNone/>
            </a:pPr>
            <a:r>
              <a:rPr lang="en-US" sz="1100" b="1" kern="0" spc="200" dirty="0">
                <a:solidFill>
                  <a:srgbClr val="990011"/>
                </a:solidFill>
                <a:latin typeface="Calibri" pitchFamily="34" charset="0"/>
                <a:ea typeface="Calibri" pitchFamily="34" charset="-122"/>
                <a:cs typeface="Calibri" pitchFamily="34" charset="-120"/>
              </a:rPr>
              <a:t>YOUR VERSION OF IT</a:t>
            </a:r>
            <a:endParaRPr lang="en-US" sz="1100" dirty="0"/>
          </a:p>
        </p:txBody>
      </p:sp>
      <p:sp>
        <p:nvSpPr>
          <p:cNvPr id="16" name="Text 14"/>
          <p:cNvSpPr txBox="1"/>
          <p:nvPr/>
        </p:nvSpPr>
        <p:spPr>
          <a:xfrm>
            <a:off x="6675120" y="4480560"/>
            <a:ext cx="4617720" cy="1280160"/>
          </a:xfrm>
          <a:prstGeom prst="rect">
            <a:avLst/>
          </a:prstGeom>
          <a:noFill/>
          <a:ln/>
        </p:spPr>
        <p:txBody>
          <a:bodyPr wrap="square" lIns="0" tIns="0" rIns="0" bIns="0" rtlCol="0" anchor="ctr"/>
          <a:lstStyle/>
          <a:p>
            <a:pPr marL="0" indent="0">
              <a:buNone/>
            </a:pPr>
            <a:r>
              <a:rPr lang="en-US" sz="1600" dirty="0">
                <a:solidFill>
                  <a:srgbClr val="16161A"/>
                </a:solidFill>
                <a:latin typeface="Calibri" pitchFamily="34" charset="0"/>
                <a:ea typeface="Calibri" pitchFamily="34" charset="-122"/>
                <a:cs typeface="Calibri" pitchFamily="34" charset="-120"/>
              </a:rPr>
              <a:t>Signing off on a group member's module you never actually reviewed, because the submission is due tonight.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594360" y="566928"/>
            <a:ext cx="5257800" cy="3063240"/>
          </a:xfrm>
          <a:prstGeom prst="roundRect">
            <a:avLst>
              <a:gd name="adj" fmla="val 1791"/>
            </a:avLst>
          </a:prstGeom>
          <a:solidFill>
            <a:srgbClr val="F0E7E6"/>
          </a:solidFill>
          <a:ln w="12700">
            <a:solidFill>
              <a:srgbClr val="F0E7E6"/>
            </a:solidFill>
            <a:prstDash val="solid"/>
          </a:ln>
        </p:spPr>
        <p:txBody>
          <a:bodyPr/>
          <a:lstStyle/>
          <a:p>
            <a:endParaRPr lang="en-PK"/>
          </a:p>
        </p:txBody>
      </p:sp>
      <p:sp>
        <p:nvSpPr>
          <p:cNvPr id="3" name="Shape 1"/>
          <p:cNvSpPr/>
          <p:nvPr/>
        </p:nvSpPr>
        <p:spPr>
          <a:xfrm>
            <a:off x="896112" y="896112"/>
            <a:ext cx="566928" cy="566928"/>
          </a:xfrm>
          <a:prstGeom prst="ellipse">
            <a:avLst/>
          </a:prstGeom>
          <a:solidFill>
            <a:srgbClr val="990011"/>
          </a:solidFill>
          <a:ln w="12700">
            <a:solidFill>
              <a:srgbClr val="990011"/>
            </a:solidFill>
            <a:prstDash val="solid"/>
          </a:ln>
        </p:spPr>
        <p:txBody>
          <a:bodyPr/>
          <a:lstStyle/>
          <a:p>
            <a:endParaRPr lang="en-PK"/>
          </a:p>
        </p:txBody>
      </p:sp>
      <p:sp>
        <p:nvSpPr>
          <p:cNvPr id="4" name="Text 2"/>
          <p:cNvSpPr txBox="1"/>
          <p:nvPr/>
        </p:nvSpPr>
        <p:spPr>
          <a:xfrm>
            <a:off x="896112" y="896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5" name="Text 3"/>
          <p:cNvSpPr txBox="1"/>
          <p:nvPr/>
        </p:nvSpPr>
        <p:spPr>
          <a:xfrm>
            <a:off x="1627632" y="868680"/>
            <a:ext cx="4023360" cy="621792"/>
          </a:xfrm>
          <a:prstGeom prst="rect">
            <a:avLst/>
          </a:prstGeom>
          <a:noFill/>
          <a:ln/>
        </p:spPr>
        <p:txBody>
          <a:bodyPr wrap="square" lIns="0" tIns="0" rIns="0" bIns="0" rtlCol="0" anchor="ctr"/>
          <a:lstStyle/>
          <a:p>
            <a:pPr marL="0" indent="0">
              <a:buNone/>
            </a:pPr>
            <a:r>
              <a:rPr lang="en-US" sz="2700" b="1" dirty="0">
                <a:solidFill>
                  <a:srgbClr val="16161A"/>
                </a:solidFill>
                <a:latin typeface="Cambria" pitchFamily="34" charset="0"/>
                <a:ea typeface="Cambria" pitchFamily="34" charset="-122"/>
                <a:cs typeface="Cambria" pitchFamily="34" charset="-120"/>
              </a:rPr>
              <a:t>MANAGEMENT</a:t>
            </a:r>
            <a:endParaRPr lang="en-US" sz="2700" dirty="0"/>
          </a:p>
        </p:txBody>
      </p:sp>
      <p:sp>
        <p:nvSpPr>
          <p:cNvPr id="6" name="Text 4"/>
          <p:cNvSpPr txBox="1"/>
          <p:nvPr/>
        </p:nvSpPr>
        <p:spPr>
          <a:xfrm>
            <a:off x="914400" y="1783080"/>
            <a:ext cx="4663440" cy="1691640"/>
          </a:xfrm>
          <a:prstGeom prst="rect">
            <a:avLst/>
          </a:prstGeom>
          <a:noFill/>
          <a:ln/>
        </p:spPr>
        <p:txBody>
          <a:bodyPr wrap="square" lIns="0" tIns="0" rIns="0" bIns="0" rtlCol="0" anchor="ctr"/>
          <a:lstStyle/>
          <a:p>
            <a:pPr marL="0" indent="0">
              <a:lnSpc>
                <a:spcPts val="2200"/>
              </a:lnSpc>
              <a:buNone/>
            </a:pPr>
            <a:r>
              <a:rPr lang="en-US" sz="1550" dirty="0">
                <a:solidFill>
                  <a:srgbClr val="16161A"/>
                </a:solidFill>
                <a:latin typeface="Calibri" pitchFamily="34" charset="0"/>
                <a:ea typeface="Calibri" pitchFamily="34" charset="-122"/>
                <a:cs typeface="Calibri" pitchFamily="34" charset="-120"/>
              </a:rPr>
              <a:t>Managers and leaders shall subscribe to and promote an ethical approach to the management of software development and maintenance.</a:t>
            </a:r>
            <a:endParaRPr lang="en-US" sz="1550" dirty="0"/>
          </a:p>
        </p:txBody>
      </p:sp>
      <p:sp>
        <p:nvSpPr>
          <p:cNvPr id="7" name="Shape 5"/>
          <p:cNvSpPr/>
          <p:nvPr/>
        </p:nvSpPr>
        <p:spPr>
          <a:xfrm>
            <a:off x="594360" y="3858768"/>
            <a:ext cx="5257800" cy="2103120"/>
          </a:xfrm>
          <a:prstGeom prst="roundRect">
            <a:avLst>
              <a:gd name="adj" fmla="val 2609"/>
            </a:avLst>
          </a:prstGeom>
          <a:solidFill>
            <a:srgbClr val="2F3C7E"/>
          </a:solidFill>
          <a:ln w="12700">
            <a:solidFill>
              <a:srgbClr val="2F3C7E"/>
            </a:solidFill>
            <a:prstDash val="solid"/>
          </a:ln>
        </p:spPr>
        <p:txBody>
          <a:bodyPr/>
          <a:lstStyle/>
          <a:p>
            <a:endParaRPr lang="en-PK"/>
          </a:p>
        </p:txBody>
      </p:sp>
      <p:sp>
        <p:nvSpPr>
          <p:cNvPr id="8" name="Text 6"/>
          <p:cNvSpPr txBox="1"/>
          <p:nvPr/>
        </p:nvSpPr>
        <p:spPr>
          <a:xfrm>
            <a:off x="914400" y="4114800"/>
            <a:ext cx="438912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9" name="Text 7"/>
          <p:cNvSpPr txBox="1"/>
          <p:nvPr/>
        </p:nvSpPr>
        <p:spPr>
          <a:xfrm>
            <a:off x="914400" y="4480560"/>
            <a:ext cx="4663440" cy="12801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If you set the deadline, you own the shortcuts it forces.</a:t>
            </a:r>
            <a:endParaRPr lang="en-US" sz="2000" dirty="0"/>
          </a:p>
        </p:txBody>
      </p:sp>
      <p:sp>
        <p:nvSpPr>
          <p:cNvPr id="10" name="Shape 8"/>
          <p:cNvSpPr/>
          <p:nvPr/>
        </p:nvSpPr>
        <p:spPr>
          <a:xfrm>
            <a:off x="6355080" y="566928"/>
            <a:ext cx="5212080" cy="3063240"/>
          </a:xfrm>
          <a:prstGeom prst="roundRect">
            <a:avLst>
              <a:gd name="adj" fmla="val 1791"/>
            </a:avLst>
          </a:prstGeom>
          <a:solidFill>
            <a:srgbClr val="16161A"/>
          </a:solidFill>
          <a:ln w="12700">
            <a:solidFill>
              <a:srgbClr val="16161A"/>
            </a:solidFill>
            <a:prstDash val="solid"/>
          </a:ln>
        </p:spPr>
        <p:txBody>
          <a:bodyPr/>
          <a:lstStyle/>
          <a:p>
            <a:endParaRPr lang="en-PK"/>
          </a:p>
        </p:txBody>
      </p:sp>
      <p:sp>
        <p:nvSpPr>
          <p:cNvPr id="11" name="Text 9"/>
          <p:cNvSpPr txBox="1"/>
          <p:nvPr/>
        </p:nvSpPr>
        <p:spPr>
          <a:xfrm>
            <a:off x="6675120" y="896112"/>
            <a:ext cx="4480560" cy="274320"/>
          </a:xfrm>
          <a:prstGeom prst="rect">
            <a:avLst/>
          </a:prstGeom>
          <a:noFill/>
          <a:ln/>
        </p:spPr>
        <p:txBody>
          <a:bodyPr wrap="square" lIns="0" tIns="0" rIns="0" bIns="0" rtlCol="0" anchor="ctr"/>
          <a:lstStyle/>
          <a:p>
            <a:pPr marL="0" indent="0">
              <a:buNone/>
            </a:pPr>
            <a:r>
              <a:rPr lang="en-US" sz="1100" b="1" kern="0" spc="200" dirty="0">
                <a:solidFill>
                  <a:srgbClr val="E2707C"/>
                </a:solidFill>
                <a:latin typeface="Calibri" pitchFamily="34" charset="0"/>
                <a:ea typeface="Calibri" pitchFamily="34" charset="-122"/>
                <a:cs typeface="Calibri" pitchFamily="34" charset="-120"/>
              </a:rPr>
              <a:t>THE CASE</a:t>
            </a:r>
            <a:endParaRPr lang="en-US" sz="1100" dirty="0"/>
          </a:p>
        </p:txBody>
      </p:sp>
      <p:sp>
        <p:nvSpPr>
          <p:cNvPr id="12" name="Text 10"/>
          <p:cNvSpPr txBox="1"/>
          <p:nvPr/>
        </p:nvSpPr>
        <p:spPr>
          <a:xfrm>
            <a:off x="6675120" y="1225296"/>
            <a:ext cx="4572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Amazon's recruiting model</a:t>
            </a:r>
            <a:endParaRPr lang="en-US" sz="2100" dirty="0"/>
          </a:p>
        </p:txBody>
      </p:sp>
      <p:sp>
        <p:nvSpPr>
          <p:cNvPr id="13" name="Text 11"/>
          <p:cNvSpPr txBox="1"/>
          <p:nvPr/>
        </p:nvSpPr>
        <p:spPr>
          <a:xfrm>
            <a:off x="6675120" y="1828800"/>
            <a:ext cx="4617720" cy="1691640"/>
          </a:xfrm>
          <a:prstGeom prst="rect">
            <a:avLst/>
          </a:prstGeom>
          <a:noFill/>
          <a:ln/>
        </p:spPr>
        <p:txBody>
          <a:bodyPr wrap="square" lIns="0" tIns="0" rIns="0" bIns="0" rtlCol="0" anchor="ctr"/>
          <a:lstStyle/>
          <a:p>
            <a:pPr marL="0" indent="0">
              <a:lnSpc>
                <a:spcPts val="2100"/>
              </a:lnSpc>
              <a:buNone/>
            </a:pPr>
            <a:r>
              <a:rPr lang="en-US" sz="1500" dirty="0">
                <a:solidFill>
                  <a:srgbClr val="C9C4C4"/>
                </a:solidFill>
                <a:latin typeface="Calibri" pitchFamily="34" charset="0"/>
                <a:ea typeface="Calibri" pitchFamily="34" charset="-122"/>
                <a:cs typeface="Calibri" pitchFamily="34" charset="-120"/>
              </a:rPr>
              <a:t>An experimental CV screening tool was trained on ten years of past hiring. It learned to downgrade CVs containing the word women's. Amazon scrapped it in 2017 and says it was never the sole basis for hiring.</a:t>
            </a:r>
            <a:endParaRPr lang="en-US" sz="1500" dirty="0"/>
          </a:p>
        </p:txBody>
      </p:sp>
      <p:sp>
        <p:nvSpPr>
          <p:cNvPr id="14" name="Shape 12"/>
          <p:cNvSpPr/>
          <p:nvPr/>
        </p:nvSpPr>
        <p:spPr>
          <a:xfrm>
            <a:off x="6355080" y="3858768"/>
            <a:ext cx="521208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15" name="Text 13"/>
          <p:cNvSpPr txBox="1"/>
          <p:nvPr/>
        </p:nvSpPr>
        <p:spPr>
          <a:xfrm>
            <a:off x="6675120" y="4114800"/>
            <a:ext cx="4389120" cy="274320"/>
          </a:xfrm>
          <a:prstGeom prst="rect">
            <a:avLst/>
          </a:prstGeom>
          <a:noFill/>
          <a:ln/>
        </p:spPr>
        <p:txBody>
          <a:bodyPr wrap="square" lIns="0" tIns="0" rIns="0" bIns="0" rtlCol="0" anchor="ctr"/>
          <a:lstStyle/>
          <a:p>
            <a:pPr marL="0" indent="0">
              <a:buNone/>
            </a:pPr>
            <a:r>
              <a:rPr lang="en-US" sz="1100" b="1" kern="0" spc="200" dirty="0">
                <a:solidFill>
                  <a:srgbClr val="990011"/>
                </a:solidFill>
                <a:latin typeface="Calibri" pitchFamily="34" charset="0"/>
                <a:ea typeface="Calibri" pitchFamily="34" charset="-122"/>
                <a:cs typeface="Calibri" pitchFamily="34" charset="-120"/>
              </a:rPr>
              <a:t>YOUR VERSION OF IT</a:t>
            </a:r>
            <a:endParaRPr lang="en-US" sz="1100" dirty="0"/>
          </a:p>
        </p:txBody>
      </p:sp>
      <p:sp>
        <p:nvSpPr>
          <p:cNvPr id="16" name="Text 14"/>
          <p:cNvSpPr txBox="1"/>
          <p:nvPr/>
        </p:nvSpPr>
        <p:spPr>
          <a:xfrm>
            <a:off x="6675120" y="4480560"/>
            <a:ext cx="4617720" cy="1280160"/>
          </a:xfrm>
          <a:prstGeom prst="rect">
            <a:avLst/>
          </a:prstGeom>
          <a:noFill/>
          <a:ln/>
        </p:spPr>
        <p:txBody>
          <a:bodyPr wrap="square" lIns="0" tIns="0" rIns="0" bIns="0" rtlCol="0" anchor="ctr"/>
          <a:lstStyle/>
          <a:p>
            <a:pPr marL="0" indent="0">
              <a:buNone/>
            </a:pPr>
            <a:r>
              <a:rPr lang="en-US" sz="1600" dirty="0">
                <a:solidFill>
                  <a:srgbClr val="16161A"/>
                </a:solidFill>
                <a:latin typeface="Calibri" pitchFamily="34" charset="0"/>
                <a:ea typeface="Calibri" pitchFamily="34" charset="-122"/>
                <a:cs typeface="Calibri" pitchFamily="34" charset="-120"/>
              </a:rPr>
              <a:t>Being the group leader who sets a schedule that only works if nobody tests anything.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640080" y="548640"/>
            <a:ext cx="566928" cy="566928"/>
          </a:xfrm>
          <a:prstGeom prst="ellipse">
            <a:avLst/>
          </a:prstGeom>
          <a:solidFill>
            <a:srgbClr val="990011"/>
          </a:solidFill>
          <a:ln w="12700">
            <a:solidFill>
              <a:srgbClr val="990011"/>
            </a:solidFill>
            <a:prstDash val="solid"/>
          </a:ln>
        </p:spPr>
        <p:txBody>
          <a:bodyPr/>
          <a:lstStyle/>
          <a:p>
            <a:endParaRPr lang="en-PK"/>
          </a:p>
        </p:txBody>
      </p:sp>
      <p:sp>
        <p:nvSpPr>
          <p:cNvPr id="3" name="Text 1"/>
          <p:cNvSpPr txBox="1"/>
          <p:nvPr/>
        </p:nvSpPr>
        <p:spPr>
          <a:xfrm>
            <a:off x="640080" y="54864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371600" y="512064"/>
            <a:ext cx="5943600" cy="640080"/>
          </a:xfrm>
          <a:prstGeom prst="rect">
            <a:avLst/>
          </a:prstGeom>
          <a:noFill/>
          <a:ln/>
        </p:spPr>
        <p:txBody>
          <a:bodyPr wrap="square" lIns="0" tIns="0" rIns="0" bIns="0" rtlCol="0" anchor="ctr"/>
          <a:lstStyle/>
          <a:p>
            <a:pPr marL="0" indent="0">
              <a:buNone/>
            </a:pPr>
            <a:r>
              <a:rPr lang="en-US" sz="3200" b="1" dirty="0">
                <a:solidFill>
                  <a:srgbClr val="16161A"/>
                </a:solidFill>
                <a:latin typeface="Cambria" pitchFamily="34" charset="0"/>
                <a:ea typeface="Cambria" pitchFamily="34" charset="-122"/>
                <a:cs typeface="Cambria" pitchFamily="34" charset="-120"/>
              </a:rPr>
              <a:t>PROFESSION</a:t>
            </a:r>
            <a:endParaRPr lang="en-US" sz="3200" dirty="0"/>
          </a:p>
        </p:txBody>
      </p:sp>
      <p:sp>
        <p:nvSpPr>
          <p:cNvPr id="5" name="Text 3"/>
          <p:cNvSpPr txBox="1"/>
          <p:nvPr/>
        </p:nvSpPr>
        <p:spPr>
          <a:xfrm>
            <a:off x="658368" y="1234440"/>
            <a:ext cx="10881360" cy="411480"/>
          </a:xfrm>
          <a:prstGeom prst="rect">
            <a:avLst/>
          </a:prstGeom>
          <a:noFill/>
          <a:ln/>
        </p:spPr>
        <p:txBody>
          <a:bodyPr wrap="square" lIns="0" tIns="0" rIns="0" bIns="0" rtlCol="0" anchor="ctr"/>
          <a:lstStyle/>
          <a:p>
            <a:r>
              <a:rPr lang="en-US" sz="1600" dirty="0"/>
              <a:t>Software engineers shall advance the integrity and reputation of the profession consistent with the public interest.</a:t>
            </a:r>
            <a:endParaRPr lang="en-GB" sz="1600" dirty="0"/>
          </a:p>
        </p:txBody>
      </p:sp>
      <p:sp>
        <p:nvSpPr>
          <p:cNvPr id="6" name="Text 4"/>
          <p:cNvSpPr txBox="1"/>
          <p:nvPr/>
        </p:nvSpPr>
        <p:spPr>
          <a:xfrm>
            <a:off x="658368" y="1828800"/>
            <a:ext cx="5486400" cy="457200"/>
          </a:xfrm>
          <a:prstGeom prst="rect">
            <a:avLst/>
          </a:prstGeom>
          <a:noFill/>
          <a:ln/>
        </p:spPr>
        <p:txBody>
          <a:bodyPr wrap="square" lIns="0" tIns="0" rIns="0" bIns="0" rtlCol="0" anchor="ctr"/>
          <a:lstStyle/>
          <a:p>
            <a:pPr marL="0" indent="0">
              <a:buNone/>
            </a:pPr>
            <a:r>
              <a:rPr lang="en-US" sz="2400" b="1" dirty="0">
                <a:solidFill>
                  <a:srgbClr val="990011"/>
                </a:solidFill>
                <a:latin typeface="Cambria" pitchFamily="34" charset="0"/>
                <a:ea typeface="Cambria" pitchFamily="34" charset="-122"/>
                <a:cs typeface="Cambria" pitchFamily="34" charset="-120"/>
              </a:rPr>
              <a:t>Therac-25, 1985 to 1987</a:t>
            </a:r>
            <a:endParaRPr lang="en-US" sz="2400" dirty="0"/>
          </a:p>
        </p:txBody>
      </p:sp>
      <p:sp>
        <p:nvSpPr>
          <p:cNvPr id="7" name="Shape 5"/>
          <p:cNvSpPr/>
          <p:nvPr/>
        </p:nvSpPr>
        <p:spPr>
          <a:xfrm>
            <a:off x="658368" y="2423160"/>
            <a:ext cx="2606040" cy="1965960"/>
          </a:xfrm>
          <a:prstGeom prst="roundRect">
            <a:avLst>
              <a:gd name="adj" fmla="val 2791"/>
            </a:avLst>
          </a:prstGeom>
          <a:solidFill>
            <a:srgbClr val="F0E7E6"/>
          </a:solidFill>
          <a:ln w="12700">
            <a:solidFill>
              <a:srgbClr val="F0E7E6"/>
            </a:solidFill>
            <a:prstDash val="solid"/>
          </a:ln>
        </p:spPr>
        <p:txBody>
          <a:bodyPr/>
          <a:lstStyle/>
          <a:p>
            <a:endParaRPr lang="en-PK"/>
          </a:p>
        </p:txBody>
      </p:sp>
      <p:sp>
        <p:nvSpPr>
          <p:cNvPr id="8" name="Text 6"/>
          <p:cNvSpPr txBox="1"/>
          <p:nvPr/>
        </p:nvSpPr>
        <p:spPr>
          <a:xfrm>
            <a:off x="886968" y="2651760"/>
            <a:ext cx="2194560" cy="50292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Hardware removed</a:t>
            </a:r>
            <a:endParaRPr lang="en-US" sz="1700" dirty="0"/>
          </a:p>
        </p:txBody>
      </p:sp>
      <p:sp>
        <p:nvSpPr>
          <p:cNvPr id="9" name="Text 7"/>
          <p:cNvSpPr txBox="1"/>
          <p:nvPr/>
        </p:nvSpPr>
        <p:spPr>
          <a:xfrm>
            <a:off x="886968" y="3200400"/>
            <a:ext cx="2194560" cy="1097280"/>
          </a:xfrm>
          <a:prstGeom prst="rect">
            <a:avLst/>
          </a:prstGeom>
          <a:noFill/>
          <a:ln/>
        </p:spPr>
        <p:txBody>
          <a:bodyPr wrap="square" lIns="0" tIns="0" rIns="0" bIns="0" rtlCol="0" anchor="ctr"/>
          <a:lstStyle/>
          <a:p>
            <a:pPr marL="0" indent="0">
              <a:buNone/>
            </a:pPr>
            <a:r>
              <a:rPr lang="en-US" sz="1350" dirty="0">
                <a:solidFill>
                  <a:srgbClr val="6E6E76"/>
                </a:solidFill>
                <a:latin typeface="Calibri" pitchFamily="34" charset="0"/>
                <a:ea typeface="Calibri" pitchFamily="34" charset="-122"/>
                <a:cs typeface="Calibri" pitchFamily="34" charset="-120"/>
              </a:rPr>
              <a:t>The earlier model had physical interlocks. The new model relied on software alone.</a:t>
            </a:r>
            <a:endParaRPr lang="en-US" sz="1350" dirty="0"/>
          </a:p>
        </p:txBody>
      </p:sp>
      <p:sp>
        <p:nvSpPr>
          <p:cNvPr id="10" name="Shape 8"/>
          <p:cNvSpPr/>
          <p:nvPr/>
        </p:nvSpPr>
        <p:spPr>
          <a:xfrm>
            <a:off x="3310128" y="3291840"/>
            <a:ext cx="164592" cy="219456"/>
          </a:xfrm>
          <a:prstGeom prst="rightArrow">
            <a:avLst/>
          </a:prstGeom>
          <a:solidFill>
            <a:srgbClr val="990011"/>
          </a:solidFill>
          <a:ln w="12700">
            <a:solidFill>
              <a:srgbClr val="990011"/>
            </a:solidFill>
            <a:prstDash val="solid"/>
          </a:ln>
        </p:spPr>
        <p:txBody>
          <a:bodyPr/>
          <a:lstStyle/>
          <a:p>
            <a:endParaRPr lang="en-PK"/>
          </a:p>
        </p:txBody>
      </p:sp>
      <p:sp>
        <p:nvSpPr>
          <p:cNvPr id="11" name="Shape 9"/>
          <p:cNvSpPr/>
          <p:nvPr/>
        </p:nvSpPr>
        <p:spPr>
          <a:xfrm>
            <a:off x="3502152" y="2423160"/>
            <a:ext cx="2606040" cy="1965960"/>
          </a:xfrm>
          <a:prstGeom prst="roundRect">
            <a:avLst>
              <a:gd name="adj" fmla="val 2791"/>
            </a:avLst>
          </a:prstGeom>
          <a:solidFill>
            <a:srgbClr val="F0E7E6"/>
          </a:solidFill>
          <a:ln w="12700">
            <a:solidFill>
              <a:srgbClr val="F0E7E6"/>
            </a:solidFill>
            <a:prstDash val="solid"/>
          </a:ln>
        </p:spPr>
        <p:txBody>
          <a:bodyPr/>
          <a:lstStyle/>
          <a:p>
            <a:endParaRPr lang="en-PK"/>
          </a:p>
        </p:txBody>
      </p:sp>
      <p:sp>
        <p:nvSpPr>
          <p:cNvPr id="12" name="Text 10"/>
          <p:cNvSpPr txBox="1"/>
          <p:nvPr/>
        </p:nvSpPr>
        <p:spPr>
          <a:xfrm>
            <a:off x="3730752" y="2651760"/>
            <a:ext cx="2194560" cy="50292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Race condition</a:t>
            </a:r>
            <a:endParaRPr lang="en-US" sz="1700" dirty="0"/>
          </a:p>
        </p:txBody>
      </p:sp>
      <p:sp>
        <p:nvSpPr>
          <p:cNvPr id="13" name="Text 11"/>
          <p:cNvSpPr txBox="1"/>
          <p:nvPr/>
        </p:nvSpPr>
        <p:spPr>
          <a:xfrm>
            <a:off x="3730752" y="3200400"/>
            <a:ext cx="2194560" cy="1097280"/>
          </a:xfrm>
          <a:prstGeom prst="rect">
            <a:avLst/>
          </a:prstGeom>
          <a:noFill/>
          <a:ln/>
        </p:spPr>
        <p:txBody>
          <a:bodyPr wrap="square" lIns="0" tIns="0" rIns="0" bIns="0" rtlCol="0" anchor="ctr"/>
          <a:lstStyle/>
          <a:p>
            <a:pPr marL="0" indent="0">
              <a:buNone/>
            </a:pPr>
            <a:r>
              <a:rPr lang="en-US" sz="1350" dirty="0">
                <a:solidFill>
                  <a:srgbClr val="6E6E76"/>
                </a:solidFill>
                <a:latin typeface="Calibri" pitchFamily="34" charset="0"/>
                <a:ea typeface="Calibri" pitchFamily="34" charset="-122"/>
                <a:cs typeface="Calibri" pitchFamily="34" charset="-120"/>
              </a:rPr>
              <a:t>A fast operator sequence could put the machine in an unsafe state undetected.</a:t>
            </a:r>
            <a:endParaRPr lang="en-US" sz="1350" dirty="0"/>
          </a:p>
        </p:txBody>
      </p:sp>
      <p:sp>
        <p:nvSpPr>
          <p:cNvPr id="14" name="Shape 12"/>
          <p:cNvSpPr/>
          <p:nvPr/>
        </p:nvSpPr>
        <p:spPr>
          <a:xfrm>
            <a:off x="6153912" y="3291840"/>
            <a:ext cx="164592" cy="219456"/>
          </a:xfrm>
          <a:prstGeom prst="rightArrow">
            <a:avLst/>
          </a:prstGeom>
          <a:solidFill>
            <a:srgbClr val="990011"/>
          </a:solidFill>
          <a:ln w="12700">
            <a:solidFill>
              <a:srgbClr val="990011"/>
            </a:solidFill>
            <a:prstDash val="solid"/>
          </a:ln>
        </p:spPr>
        <p:txBody>
          <a:bodyPr/>
          <a:lstStyle/>
          <a:p>
            <a:endParaRPr lang="en-PK"/>
          </a:p>
        </p:txBody>
      </p:sp>
      <p:sp>
        <p:nvSpPr>
          <p:cNvPr id="15" name="Shape 13"/>
          <p:cNvSpPr/>
          <p:nvPr/>
        </p:nvSpPr>
        <p:spPr>
          <a:xfrm>
            <a:off x="6345936" y="2423160"/>
            <a:ext cx="2606040" cy="1965960"/>
          </a:xfrm>
          <a:prstGeom prst="roundRect">
            <a:avLst>
              <a:gd name="adj" fmla="val 2791"/>
            </a:avLst>
          </a:prstGeom>
          <a:solidFill>
            <a:srgbClr val="F0E7E6"/>
          </a:solidFill>
          <a:ln w="12700">
            <a:solidFill>
              <a:srgbClr val="F0E7E6"/>
            </a:solidFill>
            <a:prstDash val="solid"/>
          </a:ln>
        </p:spPr>
        <p:txBody>
          <a:bodyPr/>
          <a:lstStyle/>
          <a:p>
            <a:endParaRPr lang="en-PK"/>
          </a:p>
        </p:txBody>
      </p:sp>
      <p:sp>
        <p:nvSpPr>
          <p:cNvPr id="16" name="Text 14"/>
          <p:cNvSpPr txBox="1"/>
          <p:nvPr/>
        </p:nvSpPr>
        <p:spPr>
          <a:xfrm>
            <a:off x="6574536" y="2651760"/>
            <a:ext cx="2194560" cy="50292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Reports dismissed</a:t>
            </a:r>
            <a:endParaRPr lang="en-US" sz="1700" dirty="0"/>
          </a:p>
        </p:txBody>
      </p:sp>
      <p:sp>
        <p:nvSpPr>
          <p:cNvPr id="17" name="Text 15"/>
          <p:cNvSpPr txBox="1"/>
          <p:nvPr/>
        </p:nvSpPr>
        <p:spPr>
          <a:xfrm>
            <a:off x="6574536" y="3200400"/>
            <a:ext cx="2194560" cy="1097280"/>
          </a:xfrm>
          <a:prstGeom prst="rect">
            <a:avLst/>
          </a:prstGeom>
          <a:noFill/>
          <a:ln/>
        </p:spPr>
        <p:txBody>
          <a:bodyPr wrap="square" lIns="0" tIns="0" rIns="0" bIns="0" rtlCol="0" anchor="ctr"/>
          <a:lstStyle/>
          <a:p>
            <a:pPr marL="0" indent="0">
              <a:buNone/>
            </a:pPr>
            <a:r>
              <a:rPr lang="en-US" sz="1350" dirty="0">
                <a:solidFill>
                  <a:srgbClr val="6E6E76"/>
                </a:solidFill>
                <a:latin typeface="Calibri" pitchFamily="34" charset="0"/>
                <a:ea typeface="Calibri" pitchFamily="34" charset="-122"/>
                <a:cs typeface="Calibri" pitchFamily="34" charset="-120"/>
              </a:rPr>
              <a:t>Clinicians reported injuries. The manufacturer maintained overdose was not possible.</a:t>
            </a:r>
            <a:endParaRPr lang="en-US" sz="1350" dirty="0"/>
          </a:p>
        </p:txBody>
      </p:sp>
      <p:sp>
        <p:nvSpPr>
          <p:cNvPr id="18" name="Shape 16"/>
          <p:cNvSpPr/>
          <p:nvPr/>
        </p:nvSpPr>
        <p:spPr>
          <a:xfrm>
            <a:off x="8997696" y="3291840"/>
            <a:ext cx="164592" cy="219456"/>
          </a:xfrm>
          <a:prstGeom prst="rightArrow">
            <a:avLst/>
          </a:prstGeom>
          <a:solidFill>
            <a:srgbClr val="990011"/>
          </a:solidFill>
          <a:ln w="12700">
            <a:solidFill>
              <a:srgbClr val="990011"/>
            </a:solidFill>
            <a:prstDash val="solid"/>
          </a:ln>
        </p:spPr>
        <p:txBody>
          <a:bodyPr/>
          <a:lstStyle/>
          <a:p>
            <a:endParaRPr lang="en-PK"/>
          </a:p>
        </p:txBody>
      </p:sp>
      <p:sp>
        <p:nvSpPr>
          <p:cNvPr id="19" name="Shape 17"/>
          <p:cNvSpPr/>
          <p:nvPr/>
        </p:nvSpPr>
        <p:spPr>
          <a:xfrm>
            <a:off x="9189720" y="2423160"/>
            <a:ext cx="2606040" cy="1965960"/>
          </a:xfrm>
          <a:prstGeom prst="roundRect">
            <a:avLst>
              <a:gd name="adj" fmla="val 2791"/>
            </a:avLst>
          </a:prstGeom>
          <a:solidFill>
            <a:srgbClr val="F0E7E6"/>
          </a:solidFill>
          <a:ln w="12700">
            <a:solidFill>
              <a:srgbClr val="F0E7E6"/>
            </a:solidFill>
            <a:prstDash val="solid"/>
          </a:ln>
        </p:spPr>
        <p:txBody>
          <a:bodyPr/>
          <a:lstStyle/>
          <a:p>
            <a:endParaRPr lang="en-PK"/>
          </a:p>
        </p:txBody>
      </p:sp>
      <p:sp>
        <p:nvSpPr>
          <p:cNvPr id="20" name="Text 18"/>
          <p:cNvSpPr txBox="1"/>
          <p:nvPr/>
        </p:nvSpPr>
        <p:spPr>
          <a:xfrm>
            <a:off x="9418320" y="2651760"/>
            <a:ext cx="2194560" cy="50292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Six accidents</a:t>
            </a:r>
            <a:endParaRPr lang="en-US" sz="1700" dirty="0"/>
          </a:p>
        </p:txBody>
      </p:sp>
      <p:sp>
        <p:nvSpPr>
          <p:cNvPr id="21" name="Text 19"/>
          <p:cNvSpPr txBox="1"/>
          <p:nvPr/>
        </p:nvSpPr>
        <p:spPr>
          <a:xfrm>
            <a:off x="9418320" y="3200400"/>
            <a:ext cx="2194560" cy="1097280"/>
          </a:xfrm>
          <a:prstGeom prst="rect">
            <a:avLst/>
          </a:prstGeom>
          <a:noFill/>
          <a:ln/>
        </p:spPr>
        <p:txBody>
          <a:bodyPr wrap="square" lIns="0" tIns="0" rIns="0" bIns="0" rtlCol="0" anchor="ctr"/>
          <a:lstStyle/>
          <a:p>
            <a:pPr marL="0" indent="0">
              <a:buNone/>
            </a:pPr>
            <a:r>
              <a:rPr lang="en-US" sz="1350" dirty="0">
                <a:solidFill>
                  <a:srgbClr val="6E6E76"/>
                </a:solidFill>
                <a:latin typeface="Calibri" pitchFamily="34" charset="0"/>
                <a:ea typeface="Calibri" pitchFamily="34" charset="-122"/>
                <a:cs typeface="Calibri" pitchFamily="34" charset="-120"/>
              </a:rPr>
              <a:t>At least three patients died. The machine was withdrawn.</a:t>
            </a:r>
            <a:endParaRPr lang="en-US" sz="1350" dirty="0"/>
          </a:p>
        </p:txBody>
      </p:sp>
      <p:sp>
        <p:nvSpPr>
          <p:cNvPr id="22" name="Shape 20"/>
          <p:cNvSpPr/>
          <p:nvPr/>
        </p:nvSpPr>
        <p:spPr>
          <a:xfrm>
            <a:off x="658368" y="4709160"/>
            <a:ext cx="10881360" cy="1143000"/>
          </a:xfrm>
          <a:prstGeom prst="roundRect">
            <a:avLst>
              <a:gd name="adj" fmla="val 4800"/>
            </a:avLst>
          </a:prstGeom>
          <a:solidFill>
            <a:srgbClr val="2F3C7E"/>
          </a:solidFill>
          <a:ln w="12700">
            <a:solidFill>
              <a:srgbClr val="2F3C7E"/>
            </a:solidFill>
            <a:prstDash val="solid"/>
          </a:ln>
        </p:spPr>
        <p:txBody>
          <a:bodyPr/>
          <a:lstStyle/>
          <a:p>
            <a:endParaRPr lang="en-PK"/>
          </a:p>
        </p:txBody>
      </p:sp>
      <p:sp>
        <p:nvSpPr>
          <p:cNvPr id="23" name="Text 21"/>
          <p:cNvSpPr txBox="1"/>
          <p:nvPr/>
        </p:nvSpPr>
        <p:spPr>
          <a:xfrm>
            <a:off x="1005840" y="4937760"/>
            <a:ext cx="10241280" cy="731520"/>
          </a:xfrm>
          <a:prstGeom prst="rect">
            <a:avLst/>
          </a:prstGeom>
          <a:noFill/>
          <a:ln/>
        </p:spPr>
        <p:txBody>
          <a:bodyPr wrap="square" lIns="0" tIns="0" rIns="0" bIns="0" rtlCol="0" anchor="ctr"/>
          <a:lstStyle/>
          <a:p>
            <a:pPr marL="0" indent="0">
              <a:buNone/>
            </a:pPr>
            <a:r>
              <a:rPr lang="en-US" sz="1750" b="1" dirty="0">
                <a:solidFill>
                  <a:srgbClr val="FFFFFF"/>
                </a:solidFill>
                <a:latin typeface="Cambria" pitchFamily="34" charset="0"/>
                <a:ea typeface="Cambria" pitchFamily="34" charset="-122"/>
                <a:cs typeface="Cambria" pitchFamily="34" charset="-120"/>
              </a:rPr>
              <a:t>The damage to the profession was not the bug. It was three years of telling qualified people that what they had seen with their own eyes was impossible.</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594360" y="566928"/>
            <a:ext cx="5257800" cy="3063240"/>
          </a:xfrm>
          <a:prstGeom prst="roundRect">
            <a:avLst>
              <a:gd name="adj" fmla="val 1791"/>
            </a:avLst>
          </a:prstGeom>
          <a:solidFill>
            <a:srgbClr val="F0E7E6"/>
          </a:solidFill>
          <a:ln w="12700">
            <a:solidFill>
              <a:srgbClr val="F0E7E6"/>
            </a:solidFill>
            <a:prstDash val="solid"/>
          </a:ln>
        </p:spPr>
        <p:txBody>
          <a:bodyPr/>
          <a:lstStyle/>
          <a:p>
            <a:endParaRPr lang="en-PK"/>
          </a:p>
        </p:txBody>
      </p:sp>
      <p:sp>
        <p:nvSpPr>
          <p:cNvPr id="3" name="Shape 1"/>
          <p:cNvSpPr/>
          <p:nvPr/>
        </p:nvSpPr>
        <p:spPr>
          <a:xfrm>
            <a:off x="896112" y="896112"/>
            <a:ext cx="566928" cy="566928"/>
          </a:xfrm>
          <a:prstGeom prst="ellipse">
            <a:avLst/>
          </a:prstGeom>
          <a:solidFill>
            <a:srgbClr val="990011"/>
          </a:solidFill>
          <a:ln w="12700">
            <a:solidFill>
              <a:srgbClr val="990011"/>
            </a:solidFill>
            <a:prstDash val="solid"/>
          </a:ln>
        </p:spPr>
        <p:txBody>
          <a:bodyPr/>
          <a:lstStyle/>
          <a:p>
            <a:endParaRPr lang="en-PK"/>
          </a:p>
        </p:txBody>
      </p:sp>
      <p:sp>
        <p:nvSpPr>
          <p:cNvPr id="4" name="Text 2"/>
          <p:cNvSpPr txBox="1"/>
          <p:nvPr/>
        </p:nvSpPr>
        <p:spPr>
          <a:xfrm>
            <a:off x="896112" y="896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5" name="Text 3"/>
          <p:cNvSpPr txBox="1"/>
          <p:nvPr/>
        </p:nvSpPr>
        <p:spPr>
          <a:xfrm>
            <a:off x="1627632" y="868680"/>
            <a:ext cx="4023360" cy="621792"/>
          </a:xfrm>
          <a:prstGeom prst="rect">
            <a:avLst/>
          </a:prstGeom>
          <a:noFill/>
          <a:ln/>
        </p:spPr>
        <p:txBody>
          <a:bodyPr wrap="square" lIns="0" tIns="0" rIns="0" bIns="0" rtlCol="0" anchor="ctr"/>
          <a:lstStyle/>
          <a:p>
            <a:pPr marL="0" indent="0">
              <a:buNone/>
            </a:pPr>
            <a:r>
              <a:rPr lang="en-US" sz="2700" b="1" dirty="0">
                <a:solidFill>
                  <a:srgbClr val="16161A"/>
                </a:solidFill>
                <a:latin typeface="Cambria" pitchFamily="34" charset="0"/>
                <a:ea typeface="Cambria" pitchFamily="34" charset="-122"/>
                <a:cs typeface="Cambria" pitchFamily="34" charset="-120"/>
              </a:rPr>
              <a:t>COLLEAGUES</a:t>
            </a:r>
            <a:endParaRPr lang="en-US" sz="2700" dirty="0"/>
          </a:p>
        </p:txBody>
      </p:sp>
      <p:sp>
        <p:nvSpPr>
          <p:cNvPr id="6" name="Text 4"/>
          <p:cNvSpPr txBox="1"/>
          <p:nvPr/>
        </p:nvSpPr>
        <p:spPr>
          <a:xfrm>
            <a:off x="914400" y="1783080"/>
            <a:ext cx="4663440" cy="1691640"/>
          </a:xfrm>
          <a:prstGeom prst="rect">
            <a:avLst/>
          </a:prstGeom>
          <a:noFill/>
          <a:ln/>
        </p:spPr>
        <p:txBody>
          <a:bodyPr wrap="square" lIns="0" tIns="0" rIns="0" bIns="0" rtlCol="0" anchor="ctr"/>
          <a:lstStyle/>
          <a:p>
            <a:pPr marL="0" indent="0">
              <a:lnSpc>
                <a:spcPts val="2200"/>
              </a:lnSpc>
              <a:buNone/>
            </a:pPr>
            <a:r>
              <a:rPr lang="en-US" sz="1550" dirty="0">
                <a:solidFill>
                  <a:srgbClr val="16161A"/>
                </a:solidFill>
                <a:latin typeface="Calibri" pitchFamily="34" charset="0"/>
                <a:ea typeface="Calibri" pitchFamily="34" charset="-122"/>
                <a:cs typeface="Calibri" pitchFamily="34" charset="-120"/>
              </a:rPr>
              <a:t>Software engineers shall be fair to and supportive of their colleagues.</a:t>
            </a:r>
            <a:endParaRPr lang="en-US" sz="1550" dirty="0"/>
          </a:p>
        </p:txBody>
      </p:sp>
      <p:sp>
        <p:nvSpPr>
          <p:cNvPr id="7" name="Shape 5"/>
          <p:cNvSpPr/>
          <p:nvPr/>
        </p:nvSpPr>
        <p:spPr>
          <a:xfrm>
            <a:off x="5862412" y="3858768"/>
            <a:ext cx="5257800" cy="2103120"/>
          </a:xfrm>
          <a:prstGeom prst="roundRect">
            <a:avLst>
              <a:gd name="adj" fmla="val 2609"/>
            </a:avLst>
          </a:prstGeom>
          <a:solidFill>
            <a:srgbClr val="2F3C7E"/>
          </a:solidFill>
          <a:ln w="12700">
            <a:solidFill>
              <a:srgbClr val="2F3C7E"/>
            </a:solidFill>
            <a:prstDash val="solid"/>
          </a:ln>
        </p:spPr>
        <p:txBody>
          <a:bodyPr/>
          <a:lstStyle/>
          <a:p>
            <a:endParaRPr lang="en-PK"/>
          </a:p>
        </p:txBody>
      </p:sp>
      <p:sp>
        <p:nvSpPr>
          <p:cNvPr id="8" name="Text 6"/>
          <p:cNvSpPr txBox="1"/>
          <p:nvPr/>
        </p:nvSpPr>
        <p:spPr>
          <a:xfrm>
            <a:off x="6182452" y="4114800"/>
            <a:ext cx="438912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9" name="Text 7"/>
          <p:cNvSpPr txBox="1"/>
          <p:nvPr/>
        </p:nvSpPr>
        <p:spPr>
          <a:xfrm>
            <a:off x="6159592" y="4389120"/>
            <a:ext cx="4663440" cy="12801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Credit honestly, review kindly, and make it safe to say I do not know.</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594360" y="566928"/>
            <a:ext cx="5257800" cy="3063240"/>
          </a:xfrm>
          <a:prstGeom prst="roundRect">
            <a:avLst>
              <a:gd name="adj" fmla="val 1791"/>
            </a:avLst>
          </a:prstGeom>
          <a:solidFill>
            <a:srgbClr val="F0E7E6"/>
          </a:solidFill>
          <a:ln w="12700">
            <a:solidFill>
              <a:srgbClr val="F0E7E6"/>
            </a:solidFill>
            <a:prstDash val="solid"/>
          </a:ln>
        </p:spPr>
        <p:txBody>
          <a:bodyPr/>
          <a:lstStyle/>
          <a:p>
            <a:endParaRPr lang="en-PK"/>
          </a:p>
        </p:txBody>
      </p:sp>
      <p:sp>
        <p:nvSpPr>
          <p:cNvPr id="3" name="Shape 1"/>
          <p:cNvSpPr/>
          <p:nvPr/>
        </p:nvSpPr>
        <p:spPr>
          <a:xfrm>
            <a:off x="896112" y="896112"/>
            <a:ext cx="566928" cy="566928"/>
          </a:xfrm>
          <a:prstGeom prst="ellipse">
            <a:avLst/>
          </a:prstGeom>
          <a:solidFill>
            <a:srgbClr val="990011"/>
          </a:solidFill>
          <a:ln w="12700">
            <a:solidFill>
              <a:srgbClr val="990011"/>
            </a:solidFill>
            <a:prstDash val="solid"/>
          </a:ln>
        </p:spPr>
        <p:txBody>
          <a:bodyPr/>
          <a:lstStyle/>
          <a:p>
            <a:endParaRPr lang="en-PK"/>
          </a:p>
        </p:txBody>
      </p:sp>
      <p:sp>
        <p:nvSpPr>
          <p:cNvPr id="4" name="Text 2"/>
          <p:cNvSpPr txBox="1"/>
          <p:nvPr/>
        </p:nvSpPr>
        <p:spPr>
          <a:xfrm>
            <a:off x="896112" y="896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5" name="Text 3"/>
          <p:cNvSpPr txBox="1"/>
          <p:nvPr/>
        </p:nvSpPr>
        <p:spPr>
          <a:xfrm>
            <a:off x="1627632" y="868680"/>
            <a:ext cx="4023360" cy="621792"/>
          </a:xfrm>
          <a:prstGeom prst="rect">
            <a:avLst/>
          </a:prstGeom>
          <a:noFill/>
          <a:ln/>
        </p:spPr>
        <p:txBody>
          <a:bodyPr wrap="square" lIns="0" tIns="0" rIns="0" bIns="0" rtlCol="0" anchor="ctr"/>
          <a:lstStyle/>
          <a:p>
            <a:pPr marL="0" indent="0">
              <a:buNone/>
            </a:pPr>
            <a:r>
              <a:rPr lang="en-US" sz="2700" b="1" dirty="0">
                <a:solidFill>
                  <a:srgbClr val="16161A"/>
                </a:solidFill>
                <a:latin typeface="Cambria" pitchFamily="34" charset="0"/>
                <a:ea typeface="Cambria" pitchFamily="34" charset="-122"/>
                <a:cs typeface="Cambria" pitchFamily="34" charset="-120"/>
              </a:rPr>
              <a:t>SELF</a:t>
            </a:r>
            <a:endParaRPr lang="en-US" sz="2700" dirty="0"/>
          </a:p>
        </p:txBody>
      </p:sp>
      <p:sp>
        <p:nvSpPr>
          <p:cNvPr id="6" name="Text 4"/>
          <p:cNvSpPr txBox="1"/>
          <p:nvPr/>
        </p:nvSpPr>
        <p:spPr>
          <a:xfrm>
            <a:off x="914400" y="1783080"/>
            <a:ext cx="4663440" cy="1691640"/>
          </a:xfrm>
          <a:prstGeom prst="rect">
            <a:avLst/>
          </a:prstGeom>
          <a:noFill/>
          <a:ln/>
        </p:spPr>
        <p:txBody>
          <a:bodyPr wrap="square" lIns="0" tIns="0" rIns="0" bIns="0" rtlCol="0" anchor="ctr"/>
          <a:lstStyle/>
          <a:p>
            <a:pPr marL="0" indent="0">
              <a:lnSpc>
                <a:spcPts val="2200"/>
              </a:lnSpc>
              <a:buNone/>
            </a:pPr>
            <a:r>
              <a:rPr lang="en-US" sz="1550" dirty="0">
                <a:solidFill>
                  <a:srgbClr val="16161A"/>
                </a:solidFill>
                <a:latin typeface="Calibri" pitchFamily="34" charset="0"/>
                <a:ea typeface="Calibri" pitchFamily="34" charset="-122"/>
                <a:cs typeface="Calibri" pitchFamily="34" charset="-120"/>
              </a:rPr>
              <a:t>Software engineers shall participate in lifelong learning regarding the practice of their profession, and shall promote an ethical approach to the practice of the profession.</a:t>
            </a:r>
            <a:endParaRPr lang="en-US" sz="1550" dirty="0"/>
          </a:p>
        </p:txBody>
      </p:sp>
      <p:sp>
        <p:nvSpPr>
          <p:cNvPr id="7" name="Shape 5"/>
          <p:cNvSpPr/>
          <p:nvPr/>
        </p:nvSpPr>
        <p:spPr>
          <a:xfrm>
            <a:off x="594360" y="3858768"/>
            <a:ext cx="5257800" cy="2103120"/>
          </a:xfrm>
          <a:prstGeom prst="roundRect">
            <a:avLst>
              <a:gd name="adj" fmla="val 2609"/>
            </a:avLst>
          </a:prstGeom>
          <a:solidFill>
            <a:srgbClr val="2F3C7E"/>
          </a:solidFill>
          <a:ln w="12700">
            <a:solidFill>
              <a:srgbClr val="2F3C7E"/>
            </a:solidFill>
            <a:prstDash val="solid"/>
          </a:ln>
        </p:spPr>
        <p:txBody>
          <a:bodyPr/>
          <a:lstStyle/>
          <a:p>
            <a:endParaRPr lang="en-PK"/>
          </a:p>
        </p:txBody>
      </p:sp>
      <p:sp>
        <p:nvSpPr>
          <p:cNvPr id="8" name="Text 6"/>
          <p:cNvSpPr txBox="1"/>
          <p:nvPr/>
        </p:nvSpPr>
        <p:spPr>
          <a:xfrm>
            <a:off x="914400" y="4114800"/>
            <a:ext cx="4389120" cy="274320"/>
          </a:xfrm>
          <a:prstGeom prst="rect">
            <a:avLst/>
          </a:prstGeom>
          <a:noFill/>
          <a:ln/>
        </p:spPr>
        <p:txBody>
          <a:bodyPr wrap="square" lIns="0" tIns="0" rIns="0" bIns="0" rtlCol="0" anchor="ctr"/>
          <a:lstStyle/>
          <a:p>
            <a:pPr marL="0" indent="0">
              <a:buNone/>
            </a:pPr>
            <a:r>
              <a:rPr lang="en-US" sz="1100" b="1" kern="0" spc="200" dirty="0">
                <a:solidFill>
                  <a:srgbClr val="AEBBE8"/>
                </a:solidFill>
                <a:latin typeface="Calibri" pitchFamily="34" charset="0"/>
                <a:ea typeface="Calibri" pitchFamily="34" charset="-122"/>
                <a:cs typeface="Calibri" pitchFamily="34" charset="-120"/>
              </a:rPr>
              <a:t>IN PLAIN WORDS</a:t>
            </a:r>
            <a:endParaRPr lang="en-US" sz="1100" dirty="0"/>
          </a:p>
        </p:txBody>
      </p:sp>
      <p:sp>
        <p:nvSpPr>
          <p:cNvPr id="9" name="Text 7"/>
          <p:cNvSpPr txBox="1"/>
          <p:nvPr/>
        </p:nvSpPr>
        <p:spPr>
          <a:xfrm>
            <a:off x="914400" y="4480560"/>
            <a:ext cx="4663440" cy="12801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Never ship code you do not understand.</a:t>
            </a:r>
            <a:endParaRPr lang="en-US" sz="2000" dirty="0"/>
          </a:p>
        </p:txBody>
      </p:sp>
      <p:sp>
        <p:nvSpPr>
          <p:cNvPr id="14" name="Shape 12"/>
          <p:cNvSpPr/>
          <p:nvPr/>
        </p:nvSpPr>
        <p:spPr>
          <a:xfrm>
            <a:off x="6355080" y="2371160"/>
            <a:ext cx="521208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15" name="Text 13"/>
          <p:cNvSpPr txBox="1"/>
          <p:nvPr/>
        </p:nvSpPr>
        <p:spPr>
          <a:xfrm>
            <a:off x="6675120" y="2627192"/>
            <a:ext cx="4389120" cy="274320"/>
          </a:xfrm>
          <a:prstGeom prst="rect">
            <a:avLst/>
          </a:prstGeom>
          <a:noFill/>
          <a:ln/>
        </p:spPr>
        <p:txBody>
          <a:bodyPr wrap="square" lIns="0" tIns="0" rIns="0" bIns="0" rtlCol="0" anchor="ctr"/>
          <a:lstStyle/>
          <a:p>
            <a:pPr marL="0" indent="0">
              <a:buNone/>
            </a:pPr>
            <a:r>
              <a:rPr lang="en-US" sz="1100" b="1" kern="0" spc="200" dirty="0">
                <a:solidFill>
                  <a:srgbClr val="990011"/>
                </a:solidFill>
                <a:latin typeface="Calibri" pitchFamily="34" charset="0"/>
                <a:ea typeface="Calibri" pitchFamily="34" charset="-122"/>
                <a:cs typeface="Calibri" pitchFamily="34" charset="-120"/>
              </a:rPr>
              <a:t>YOUR VERSION OF IT</a:t>
            </a:r>
            <a:endParaRPr lang="en-US" sz="1100" dirty="0"/>
          </a:p>
        </p:txBody>
      </p:sp>
      <p:sp>
        <p:nvSpPr>
          <p:cNvPr id="16" name="Text 14"/>
          <p:cNvSpPr txBox="1"/>
          <p:nvPr/>
        </p:nvSpPr>
        <p:spPr>
          <a:xfrm>
            <a:off x="6675120" y="2992952"/>
            <a:ext cx="4617720" cy="1280160"/>
          </a:xfrm>
          <a:prstGeom prst="rect">
            <a:avLst/>
          </a:prstGeom>
          <a:noFill/>
          <a:ln/>
        </p:spPr>
        <p:txBody>
          <a:bodyPr wrap="square" lIns="0" tIns="0" rIns="0" bIns="0" rtlCol="0" anchor="ctr"/>
          <a:lstStyle/>
          <a:p>
            <a:pPr marL="0" indent="0">
              <a:buNone/>
            </a:pPr>
            <a:r>
              <a:rPr lang="en-US" sz="1600" dirty="0">
                <a:solidFill>
                  <a:srgbClr val="16161A"/>
                </a:solidFill>
                <a:latin typeface="Calibri" pitchFamily="34" charset="0"/>
                <a:ea typeface="Calibri" pitchFamily="34" charset="-122"/>
                <a:cs typeface="Calibri" pitchFamily="34" charset="-120"/>
              </a:rPr>
              <a:t>Pasting a large block from an AI assistant into your project without being able to explain what it does.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CF6F5"/>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marL="0" indent="0">
              <a:buNone/>
            </a:pPr>
            <a:r>
              <a:rPr lang="en-US" sz="3400" b="1" dirty="0">
                <a:solidFill>
                  <a:srgbClr val="16161A"/>
                </a:solidFill>
                <a:latin typeface="Cambria" pitchFamily="34" charset="0"/>
                <a:ea typeface="Cambria" pitchFamily="34" charset="-122"/>
                <a:cs typeface="Cambria" pitchFamily="34" charset="-120"/>
              </a:rPr>
              <a:t>Eight principles, one question</a:t>
            </a:r>
            <a:endParaRPr lang="en-US" sz="3400" dirty="0"/>
          </a:p>
        </p:txBody>
      </p:sp>
      <p:sp>
        <p:nvSpPr>
          <p:cNvPr id="3" name="Shape 1"/>
          <p:cNvSpPr/>
          <p:nvPr/>
        </p:nvSpPr>
        <p:spPr>
          <a:xfrm>
            <a:off x="640080" y="132588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4" name="Text 2"/>
          <p:cNvSpPr txBox="1"/>
          <p:nvPr/>
        </p:nvSpPr>
        <p:spPr>
          <a:xfrm>
            <a:off x="841248" y="149047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207008" y="147218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PUBLIC</a:t>
            </a:r>
            <a:endParaRPr lang="en-US" sz="1550" dirty="0"/>
          </a:p>
        </p:txBody>
      </p:sp>
      <p:sp>
        <p:nvSpPr>
          <p:cNvPr id="6" name="Text 4"/>
          <p:cNvSpPr txBox="1"/>
          <p:nvPr/>
        </p:nvSpPr>
        <p:spPr>
          <a:xfrm>
            <a:off x="859536" y="192024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society first</a:t>
            </a:r>
            <a:endParaRPr lang="en-US" sz="1300" dirty="0"/>
          </a:p>
        </p:txBody>
      </p:sp>
      <p:sp>
        <p:nvSpPr>
          <p:cNvPr id="7" name="Shape 5"/>
          <p:cNvSpPr/>
          <p:nvPr/>
        </p:nvSpPr>
        <p:spPr>
          <a:xfrm>
            <a:off x="3401568" y="132588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8" name="Text 6"/>
          <p:cNvSpPr txBox="1"/>
          <p:nvPr/>
        </p:nvSpPr>
        <p:spPr>
          <a:xfrm>
            <a:off x="3602736" y="149047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3968496" y="147218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CLIENT</a:t>
            </a:r>
            <a:endParaRPr lang="en-US" sz="1550" dirty="0"/>
          </a:p>
        </p:txBody>
      </p:sp>
      <p:sp>
        <p:nvSpPr>
          <p:cNvPr id="10" name="Text 8"/>
          <p:cNvSpPr txBox="1"/>
          <p:nvPr/>
        </p:nvSpPr>
        <p:spPr>
          <a:xfrm>
            <a:off x="3621024" y="192024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within that limit</a:t>
            </a:r>
            <a:endParaRPr lang="en-US" sz="1300" dirty="0"/>
          </a:p>
        </p:txBody>
      </p:sp>
      <p:sp>
        <p:nvSpPr>
          <p:cNvPr id="11" name="Shape 9"/>
          <p:cNvSpPr/>
          <p:nvPr/>
        </p:nvSpPr>
        <p:spPr>
          <a:xfrm>
            <a:off x="6163056" y="132588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12" name="Text 10"/>
          <p:cNvSpPr txBox="1"/>
          <p:nvPr/>
        </p:nvSpPr>
        <p:spPr>
          <a:xfrm>
            <a:off x="6364224" y="149047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6729984" y="147218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PRODUCT</a:t>
            </a:r>
            <a:endParaRPr lang="en-US" sz="1550" dirty="0"/>
          </a:p>
        </p:txBody>
      </p:sp>
      <p:sp>
        <p:nvSpPr>
          <p:cNvPr id="14" name="Text 12"/>
          <p:cNvSpPr txBox="1"/>
          <p:nvPr/>
        </p:nvSpPr>
        <p:spPr>
          <a:xfrm>
            <a:off x="6382512" y="192024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build it properly</a:t>
            </a:r>
            <a:endParaRPr lang="en-US" sz="1300" dirty="0"/>
          </a:p>
        </p:txBody>
      </p:sp>
      <p:sp>
        <p:nvSpPr>
          <p:cNvPr id="15" name="Shape 13"/>
          <p:cNvSpPr/>
          <p:nvPr/>
        </p:nvSpPr>
        <p:spPr>
          <a:xfrm>
            <a:off x="8924544" y="132588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16" name="Text 14"/>
          <p:cNvSpPr txBox="1"/>
          <p:nvPr/>
        </p:nvSpPr>
        <p:spPr>
          <a:xfrm>
            <a:off x="9125712" y="149047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9491472" y="147218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JUDGMENT</a:t>
            </a:r>
            <a:endParaRPr lang="en-US" sz="1550" dirty="0"/>
          </a:p>
        </p:txBody>
      </p:sp>
      <p:sp>
        <p:nvSpPr>
          <p:cNvPr id="18" name="Text 16"/>
          <p:cNvSpPr txBox="1"/>
          <p:nvPr/>
        </p:nvSpPr>
        <p:spPr>
          <a:xfrm>
            <a:off x="9144000" y="192024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stay independent</a:t>
            </a:r>
            <a:endParaRPr lang="en-US" sz="1300" dirty="0"/>
          </a:p>
        </p:txBody>
      </p:sp>
      <p:sp>
        <p:nvSpPr>
          <p:cNvPr id="19" name="Shape 17"/>
          <p:cNvSpPr/>
          <p:nvPr/>
        </p:nvSpPr>
        <p:spPr>
          <a:xfrm>
            <a:off x="640080" y="256032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20" name="Text 18"/>
          <p:cNvSpPr txBox="1"/>
          <p:nvPr/>
        </p:nvSpPr>
        <p:spPr>
          <a:xfrm>
            <a:off x="841248" y="272491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5</a:t>
            </a:r>
            <a:endParaRPr lang="en-US" sz="1400" dirty="0"/>
          </a:p>
        </p:txBody>
      </p:sp>
      <p:sp>
        <p:nvSpPr>
          <p:cNvPr id="21" name="Text 19"/>
          <p:cNvSpPr txBox="1"/>
          <p:nvPr/>
        </p:nvSpPr>
        <p:spPr>
          <a:xfrm>
            <a:off x="1207008" y="270662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MANAGEMENT</a:t>
            </a:r>
            <a:endParaRPr lang="en-US" sz="1550" dirty="0"/>
          </a:p>
        </p:txBody>
      </p:sp>
      <p:sp>
        <p:nvSpPr>
          <p:cNvPr id="22" name="Text 20"/>
          <p:cNvSpPr txBox="1"/>
          <p:nvPr/>
        </p:nvSpPr>
        <p:spPr>
          <a:xfrm>
            <a:off x="859536" y="315468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own the pressure</a:t>
            </a:r>
            <a:endParaRPr lang="en-US" sz="1300" dirty="0"/>
          </a:p>
        </p:txBody>
      </p:sp>
      <p:sp>
        <p:nvSpPr>
          <p:cNvPr id="23" name="Shape 21"/>
          <p:cNvSpPr/>
          <p:nvPr/>
        </p:nvSpPr>
        <p:spPr>
          <a:xfrm>
            <a:off x="3401568" y="256032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24" name="Text 22"/>
          <p:cNvSpPr txBox="1"/>
          <p:nvPr/>
        </p:nvSpPr>
        <p:spPr>
          <a:xfrm>
            <a:off x="3602736" y="272491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6</a:t>
            </a:r>
            <a:endParaRPr lang="en-US" sz="1400" dirty="0"/>
          </a:p>
        </p:txBody>
      </p:sp>
      <p:sp>
        <p:nvSpPr>
          <p:cNvPr id="25" name="Text 23"/>
          <p:cNvSpPr txBox="1"/>
          <p:nvPr/>
        </p:nvSpPr>
        <p:spPr>
          <a:xfrm>
            <a:off x="3968496" y="270662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PROFESSION</a:t>
            </a:r>
            <a:endParaRPr lang="en-US" sz="1550" dirty="0"/>
          </a:p>
        </p:txBody>
      </p:sp>
      <p:sp>
        <p:nvSpPr>
          <p:cNvPr id="26" name="Text 24"/>
          <p:cNvSpPr txBox="1"/>
          <p:nvPr/>
        </p:nvSpPr>
        <p:spPr>
          <a:xfrm>
            <a:off x="3621024" y="315468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protect the trade</a:t>
            </a:r>
            <a:endParaRPr lang="en-US" sz="1300" dirty="0"/>
          </a:p>
        </p:txBody>
      </p:sp>
      <p:sp>
        <p:nvSpPr>
          <p:cNvPr id="27" name="Shape 25"/>
          <p:cNvSpPr/>
          <p:nvPr/>
        </p:nvSpPr>
        <p:spPr>
          <a:xfrm>
            <a:off x="6163056" y="256032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28" name="Text 26"/>
          <p:cNvSpPr txBox="1"/>
          <p:nvPr/>
        </p:nvSpPr>
        <p:spPr>
          <a:xfrm>
            <a:off x="6364224" y="272491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7</a:t>
            </a:r>
            <a:endParaRPr lang="en-US" sz="1400" dirty="0"/>
          </a:p>
        </p:txBody>
      </p:sp>
      <p:sp>
        <p:nvSpPr>
          <p:cNvPr id="29" name="Text 27"/>
          <p:cNvSpPr txBox="1"/>
          <p:nvPr/>
        </p:nvSpPr>
        <p:spPr>
          <a:xfrm>
            <a:off x="6729984" y="270662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COLLEAGUES</a:t>
            </a:r>
            <a:endParaRPr lang="en-US" sz="1550" dirty="0"/>
          </a:p>
        </p:txBody>
      </p:sp>
      <p:sp>
        <p:nvSpPr>
          <p:cNvPr id="30" name="Text 28"/>
          <p:cNvSpPr txBox="1"/>
          <p:nvPr/>
        </p:nvSpPr>
        <p:spPr>
          <a:xfrm>
            <a:off x="6382512" y="315468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be fair</a:t>
            </a:r>
            <a:endParaRPr lang="en-US" sz="1300" dirty="0"/>
          </a:p>
        </p:txBody>
      </p:sp>
      <p:sp>
        <p:nvSpPr>
          <p:cNvPr id="31" name="Shape 29"/>
          <p:cNvSpPr/>
          <p:nvPr/>
        </p:nvSpPr>
        <p:spPr>
          <a:xfrm>
            <a:off x="8924544" y="2560320"/>
            <a:ext cx="2542032" cy="1024128"/>
          </a:xfrm>
          <a:prstGeom prst="roundRect">
            <a:avLst>
              <a:gd name="adj" fmla="val 5357"/>
            </a:avLst>
          </a:prstGeom>
          <a:solidFill>
            <a:srgbClr val="F0E7E6"/>
          </a:solidFill>
          <a:ln w="12700">
            <a:solidFill>
              <a:srgbClr val="F0E7E6"/>
            </a:solidFill>
            <a:prstDash val="solid"/>
          </a:ln>
        </p:spPr>
        <p:txBody>
          <a:bodyPr/>
          <a:lstStyle/>
          <a:p>
            <a:endParaRPr lang="en-PK"/>
          </a:p>
        </p:txBody>
      </p:sp>
      <p:sp>
        <p:nvSpPr>
          <p:cNvPr id="32" name="Text 30"/>
          <p:cNvSpPr txBox="1"/>
          <p:nvPr/>
        </p:nvSpPr>
        <p:spPr>
          <a:xfrm>
            <a:off x="9125712" y="2724912"/>
            <a:ext cx="365760" cy="320040"/>
          </a:xfrm>
          <a:prstGeom prst="rect">
            <a:avLst/>
          </a:prstGeom>
          <a:noFill/>
          <a:ln/>
        </p:spPr>
        <p:txBody>
          <a:bodyPr wrap="square" lIns="0" tIns="0" rIns="0" bIns="0"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8</a:t>
            </a:r>
            <a:endParaRPr lang="en-US" sz="1400" dirty="0"/>
          </a:p>
        </p:txBody>
      </p:sp>
      <p:sp>
        <p:nvSpPr>
          <p:cNvPr id="33" name="Text 31"/>
          <p:cNvSpPr txBox="1"/>
          <p:nvPr/>
        </p:nvSpPr>
        <p:spPr>
          <a:xfrm>
            <a:off x="9491472" y="2706624"/>
            <a:ext cx="1828800" cy="365760"/>
          </a:xfrm>
          <a:prstGeom prst="rect">
            <a:avLst/>
          </a:prstGeom>
          <a:noFill/>
          <a:ln/>
        </p:spPr>
        <p:txBody>
          <a:bodyPr wrap="square" lIns="0" tIns="0" rIns="0" bIns="0" rtlCol="0" anchor="ctr"/>
          <a:lstStyle/>
          <a:p>
            <a:pPr marL="0" indent="0">
              <a:buNone/>
            </a:pPr>
            <a:r>
              <a:rPr lang="en-US" sz="1550" b="1" dirty="0">
                <a:solidFill>
                  <a:srgbClr val="16161A"/>
                </a:solidFill>
                <a:latin typeface="Cambria" pitchFamily="34" charset="0"/>
                <a:ea typeface="Cambria" pitchFamily="34" charset="-122"/>
                <a:cs typeface="Cambria" pitchFamily="34" charset="-120"/>
              </a:rPr>
              <a:t>SELF</a:t>
            </a:r>
            <a:endParaRPr lang="en-US" sz="1550" dirty="0"/>
          </a:p>
        </p:txBody>
      </p:sp>
      <p:sp>
        <p:nvSpPr>
          <p:cNvPr id="34" name="Text 32"/>
          <p:cNvSpPr txBox="1"/>
          <p:nvPr/>
        </p:nvSpPr>
        <p:spPr>
          <a:xfrm>
            <a:off x="9144000" y="3154680"/>
            <a:ext cx="2194560" cy="32004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keep learning</a:t>
            </a:r>
            <a:endParaRPr lang="en-US" sz="1300" dirty="0"/>
          </a:p>
        </p:txBody>
      </p:sp>
      <p:sp>
        <p:nvSpPr>
          <p:cNvPr id="35" name="Shape 33"/>
          <p:cNvSpPr/>
          <p:nvPr/>
        </p:nvSpPr>
        <p:spPr>
          <a:xfrm>
            <a:off x="640080" y="4114800"/>
            <a:ext cx="10881360" cy="1737360"/>
          </a:xfrm>
          <a:prstGeom prst="roundRect">
            <a:avLst>
              <a:gd name="adj" fmla="val 3158"/>
            </a:avLst>
          </a:prstGeom>
          <a:solidFill>
            <a:srgbClr val="16161A"/>
          </a:solidFill>
          <a:ln w="12700">
            <a:solidFill>
              <a:srgbClr val="16161A"/>
            </a:solidFill>
            <a:prstDash val="solid"/>
          </a:ln>
        </p:spPr>
        <p:txBody>
          <a:bodyPr/>
          <a:lstStyle/>
          <a:p>
            <a:endParaRPr lang="en-PK"/>
          </a:p>
        </p:txBody>
      </p:sp>
      <p:sp>
        <p:nvSpPr>
          <p:cNvPr id="36" name="Text 34"/>
          <p:cNvSpPr txBox="1"/>
          <p:nvPr/>
        </p:nvSpPr>
        <p:spPr>
          <a:xfrm>
            <a:off x="1005840" y="4434840"/>
            <a:ext cx="1014984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Which one is hardest to follow when money, grades or your job is on the line?</a:t>
            </a:r>
            <a:endParaRPr lang="en-US" sz="2400" dirty="0"/>
          </a:p>
        </p:txBody>
      </p:sp>
      <p:sp>
        <p:nvSpPr>
          <p:cNvPr id="37" name="Text 35"/>
          <p:cNvSpPr txBox="1"/>
          <p:nvPr/>
        </p:nvSpPr>
        <p:spPr>
          <a:xfrm>
            <a:off x="1005840" y="5029200"/>
            <a:ext cx="10149840" cy="411480"/>
          </a:xfrm>
          <a:prstGeom prst="rect">
            <a:avLst/>
          </a:prstGeom>
          <a:noFill/>
          <a:ln/>
        </p:spPr>
        <p:txBody>
          <a:bodyPr wrap="square" lIns="0" tIns="0" rIns="0" bIns="0" rtlCol="0" anchor="ctr"/>
          <a:lstStyle/>
          <a:p>
            <a:pPr marL="0" indent="0">
              <a:buNone/>
            </a:pP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9">
    <p:bg>
      <p:bgPr>
        <a:solidFill>
          <a:srgbClr val="FCF6F5"/>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marL="0" indent="0">
              <a:buNone/>
            </a:pPr>
            <a:r>
              <a:rPr lang="en-US" sz="3400" b="1" dirty="0">
                <a:solidFill>
                  <a:srgbClr val="16161A"/>
                </a:solidFill>
                <a:latin typeface="Cambria" pitchFamily="34" charset="0"/>
                <a:ea typeface="Cambria" pitchFamily="34" charset="-122"/>
                <a:cs typeface="Cambria" pitchFamily="34" charset="-120"/>
              </a:rPr>
              <a:t>Insulin pump control system</a:t>
            </a:r>
            <a:endParaRPr lang="en-US" sz="3400" dirty="0"/>
          </a:p>
        </p:txBody>
      </p:sp>
      <p:sp>
        <p:nvSpPr>
          <p:cNvPr id="3" name="Text 1"/>
          <p:cNvSpPr txBox="1"/>
          <p:nvPr/>
        </p:nvSpPr>
        <p:spPr>
          <a:xfrm>
            <a:off x="658368" y="1097280"/>
            <a:ext cx="10881360" cy="36576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An embedded, safety-critical system. Sommerville Chapter 1.</a:t>
            </a:r>
            <a:endParaRPr lang="en-US" sz="1500" dirty="0"/>
          </a:p>
        </p:txBody>
      </p:sp>
      <p:sp>
        <p:nvSpPr>
          <p:cNvPr id="4" name="Shape 2"/>
          <p:cNvSpPr/>
          <p:nvPr/>
        </p:nvSpPr>
        <p:spPr>
          <a:xfrm>
            <a:off x="640080" y="1691640"/>
            <a:ext cx="2587752" cy="1508760"/>
          </a:xfrm>
          <a:prstGeom prst="roundRect">
            <a:avLst>
              <a:gd name="adj" fmla="val 3636"/>
            </a:avLst>
          </a:prstGeom>
          <a:solidFill>
            <a:srgbClr val="F0E7E6"/>
          </a:solidFill>
          <a:ln w="12700">
            <a:solidFill>
              <a:srgbClr val="F0E7E6"/>
            </a:solidFill>
            <a:prstDash val="solid"/>
          </a:ln>
        </p:spPr>
        <p:txBody>
          <a:bodyPr/>
          <a:lstStyle/>
          <a:p>
            <a:endParaRPr lang="en-PK"/>
          </a:p>
        </p:txBody>
      </p:sp>
      <p:sp>
        <p:nvSpPr>
          <p:cNvPr id="5" name="Text 3"/>
          <p:cNvSpPr txBox="1"/>
          <p:nvPr/>
        </p:nvSpPr>
        <p:spPr>
          <a:xfrm>
            <a:off x="841248" y="1920240"/>
            <a:ext cx="2194560" cy="45720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Blood sugar sensor</a:t>
            </a:r>
            <a:endParaRPr lang="en-US" sz="1700" dirty="0"/>
          </a:p>
        </p:txBody>
      </p:sp>
      <p:sp>
        <p:nvSpPr>
          <p:cNvPr id="6" name="Text 4"/>
          <p:cNvSpPr txBox="1"/>
          <p:nvPr/>
        </p:nvSpPr>
        <p:spPr>
          <a:xfrm>
            <a:off x="841248" y="2423160"/>
            <a:ext cx="2194560" cy="64008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Reads current glucose level</a:t>
            </a:r>
            <a:endParaRPr lang="en-US" sz="1300" dirty="0"/>
          </a:p>
        </p:txBody>
      </p:sp>
      <p:sp>
        <p:nvSpPr>
          <p:cNvPr id="7" name="Shape 5"/>
          <p:cNvSpPr/>
          <p:nvPr/>
        </p:nvSpPr>
        <p:spPr>
          <a:xfrm>
            <a:off x="3273552" y="2340864"/>
            <a:ext cx="164592" cy="219456"/>
          </a:xfrm>
          <a:prstGeom prst="rightArrow">
            <a:avLst/>
          </a:prstGeom>
          <a:solidFill>
            <a:srgbClr val="16161A"/>
          </a:solidFill>
          <a:ln w="12700">
            <a:solidFill>
              <a:srgbClr val="16161A"/>
            </a:solidFill>
            <a:prstDash val="solid"/>
          </a:ln>
        </p:spPr>
        <p:txBody>
          <a:bodyPr/>
          <a:lstStyle/>
          <a:p>
            <a:endParaRPr lang="en-PK"/>
          </a:p>
        </p:txBody>
      </p:sp>
      <p:sp>
        <p:nvSpPr>
          <p:cNvPr id="8" name="Shape 6"/>
          <p:cNvSpPr/>
          <p:nvPr/>
        </p:nvSpPr>
        <p:spPr>
          <a:xfrm>
            <a:off x="3465576" y="1691640"/>
            <a:ext cx="2587752" cy="1508760"/>
          </a:xfrm>
          <a:prstGeom prst="roundRect">
            <a:avLst>
              <a:gd name="adj" fmla="val 3636"/>
            </a:avLst>
          </a:prstGeom>
          <a:solidFill>
            <a:srgbClr val="F0E7E6"/>
          </a:solidFill>
          <a:ln w="12700">
            <a:solidFill>
              <a:srgbClr val="F0E7E6"/>
            </a:solidFill>
            <a:prstDash val="solid"/>
          </a:ln>
        </p:spPr>
        <p:txBody>
          <a:bodyPr/>
          <a:lstStyle/>
          <a:p>
            <a:endParaRPr lang="en-PK"/>
          </a:p>
        </p:txBody>
      </p:sp>
      <p:sp>
        <p:nvSpPr>
          <p:cNvPr id="9" name="Text 7"/>
          <p:cNvSpPr txBox="1"/>
          <p:nvPr/>
        </p:nvSpPr>
        <p:spPr>
          <a:xfrm>
            <a:off x="3666744" y="1920240"/>
            <a:ext cx="2194560" cy="45720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Controller</a:t>
            </a:r>
            <a:endParaRPr lang="en-US" sz="1700" dirty="0"/>
          </a:p>
        </p:txBody>
      </p:sp>
      <p:sp>
        <p:nvSpPr>
          <p:cNvPr id="10" name="Text 8"/>
          <p:cNvSpPr txBox="1"/>
          <p:nvPr/>
        </p:nvSpPr>
        <p:spPr>
          <a:xfrm>
            <a:off x="3666744" y="2423160"/>
            <a:ext cx="2194560" cy="64008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Calculates dose from the rate of change</a:t>
            </a:r>
            <a:endParaRPr lang="en-US" sz="1300" dirty="0"/>
          </a:p>
        </p:txBody>
      </p:sp>
      <p:sp>
        <p:nvSpPr>
          <p:cNvPr id="11" name="Shape 9"/>
          <p:cNvSpPr/>
          <p:nvPr/>
        </p:nvSpPr>
        <p:spPr>
          <a:xfrm>
            <a:off x="6099048" y="2340864"/>
            <a:ext cx="164592" cy="219456"/>
          </a:xfrm>
          <a:prstGeom prst="rightArrow">
            <a:avLst/>
          </a:prstGeom>
          <a:solidFill>
            <a:srgbClr val="16161A"/>
          </a:solidFill>
          <a:ln w="12700">
            <a:solidFill>
              <a:srgbClr val="16161A"/>
            </a:solidFill>
            <a:prstDash val="solid"/>
          </a:ln>
        </p:spPr>
        <p:txBody>
          <a:bodyPr/>
          <a:lstStyle/>
          <a:p>
            <a:endParaRPr lang="en-PK"/>
          </a:p>
        </p:txBody>
      </p:sp>
      <p:sp>
        <p:nvSpPr>
          <p:cNvPr id="12" name="Shape 10"/>
          <p:cNvSpPr/>
          <p:nvPr/>
        </p:nvSpPr>
        <p:spPr>
          <a:xfrm>
            <a:off x="6291072" y="1691640"/>
            <a:ext cx="2587752" cy="1508760"/>
          </a:xfrm>
          <a:prstGeom prst="roundRect">
            <a:avLst>
              <a:gd name="adj" fmla="val 3636"/>
            </a:avLst>
          </a:prstGeom>
          <a:solidFill>
            <a:srgbClr val="F0E7E6"/>
          </a:solidFill>
          <a:ln w="12700">
            <a:solidFill>
              <a:srgbClr val="F0E7E6"/>
            </a:solidFill>
            <a:prstDash val="solid"/>
          </a:ln>
        </p:spPr>
        <p:txBody>
          <a:bodyPr/>
          <a:lstStyle/>
          <a:p>
            <a:endParaRPr lang="en-PK"/>
          </a:p>
        </p:txBody>
      </p:sp>
      <p:sp>
        <p:nvSpPr>
          <p:cNvPr id="13" name="Text 11"/>
          <p:cNvSpPr txBox="1"/>
          <p:nvPr/>
        </p:nvSpPr>
        <p:spPr>
          <a:xfrm>
            <a:off x="6492240" y="1920240"/>
            <a:ext cx="2194560" cy="457200"/>
          </a:xfrm>
          <a:prstGeom prst="rect">
            <a:avLst/>
          </a:prstGeom>
          <a:noFill/>
          <a:ln/>
        </p:spPr>
        <p:txBody>
          <a:bodyPr wrap="square" lIns="0" tIns="0" rIns="0" bIns="0" rtlCol="0" anchor="ctr"/>
          <a:lstStyle/>
          <a:p>
            <a:pPr marL="0" indent="0">
              <a:buNone/>
            </a:pPr>
            <a:r>
              <a:rPr lang="en-US" sz="1700" b="1" dirty="0">
                <a:solidFill>
                  <a:srgbClr val="16161A"/>
                </a:solidFill>
                <a:latin typeface="Cambria" pitchFamily="34" charset="0"/>
                <a:ea typeface="Cambria" pitchFamily="34" charset="-122"/>
                <a:cs typeface="Cambria" pitchFamily="34" charset="-120"/>
              </a:rPr>
              <a:t>Micro-pump</a:t>
            </a:r>
            <a:endParaRPr lang="en-US" sz="1700" dirty="0"/>
          </a:p>
        </p:txBody>
      </p:sp>
      <p:sp>
        <p:nvSpPr>
          <p:cNvPr id="14" name="Text 12"/>
          <p:cNvSpPr txBox="1"/>
          <p:nvPr/>
        </p:nvSpPr>
        <p:spPr>
          <a:xfrm>
            <a:off x="6492240" y="2423160"/>
            <a:ext cx="2194560" cy="640080"/>
          </a:xfrm>
          <a:prstGeom prst="rect">
            <a:avLst/>
          </a:prstGeom>
          <a:noFill/>
          <a:ln/>
        </p:spPr>
        <p:txBody>
          <a:bodyPr wrap="square" lIns="0" tIns="0" rIns="0" bIns="0" rtlCol="0" anchor="ctr"/>
          <a:lstStyle/>
          <a:p>
            <a:pPr marL="0" indent="0">
              <a:buNone/>
            </a:pPr>
            <a:r>
              <a:rPr lang="en-US" sz="1300" dirty="0">
                <a:solidFill>
                  <a:srgbClr val="6E6E76"/>
                </a:solidFill>
                <a:latin typeface="Calibri" pitchFamily="34" charset="0"/>
                <a:ea typeface="Calibri" pitchFamily="34" charset="-122"/>
                <a:cs typeface="Calibri" pitchFamily="34" charset="-120"/>
              </a:rPr>
              <a:t>Delivers the calculated dose</a:t>
            </a:r>
            <a:endParaRPr lang="en-US" sz="1300" dirty="0"/>
          </a:p>
        </p:txBody>
      </p:sp>
      <p:sp>
        <p:nvSpPr>
          <p:cNvPr id="15" name="Shape 13"/>
          <p:cNvSpPr/>
          <p:nvPr/>
        </p:nvSpPr>
        <p:spPr>
          <a:xfrm>
            <a:off x="8924544" y="2340864"/>
            <a:ext cx="164592" cy="219456"/>
          </a:xfrm>
          <a:prstGeom prst="rightArrow">
            <a:avLst/>
          </a:prstGeom>
          <a:solidFill>
            <a:srgbClr val="16161A"/>
          </a:solidFill>
          <a:ln w="12700">
            <a:solidFill>
              <a:srgbClr val="16161A"/>
            </a:solidFill>
            <a:prstDash val="solid"/>
          </a:ln>
        </p:spPr>
        <p:txBody>
          <a:bodyPr/>
          <a:lstStyle/>
          <a:p>
            <a:endParaRPr lang="en-PK"/>
          </a:p>
        </p:txBody>
      </p:sp>
      <p:sp>
        <p:nvSpPr>
          <p:cNvPr id="16" name="Shape 14"/>
          <p:cNvSpPr/>
          <p:nvPr/>
        </p:nvSpPr>
        <p:spPr>
          <a:xfrm>
            <a:off x="9116568" y="1691640"/>
            <a:ext cx="2587752" cy="1508760"/>
          </a:xfrm>
          <a:prstGeom prst="roundRect">
            <a:avLst>
              <a:gd name="adj" fmla="val 3636"/>
            </a:avLst>
          </a:prstGeom>
          <a:solidFill>
            <a:srgbClr val="990011"/>
          </a:solidFill>
          <a:ln w="12700">
            <a:solidFill>
              <a:srgbClr val="990011"/>
            </a:solidFill>
            <a:prstDash val="solid"/>
          </a:ln>
        </p:spPr>
        <p:txBody>
          <a:bodyPr/>
          <a:lstStyle/>
          <a:p>
            <a:endParaRPr lang="en-PK"/>
          </a:p>
        </p:txBody>
      </p:sp>
      <p:sp>
        <p:nvSpPr>
          <p:cNvPr id="17" name="Text 15"/>
          <p:cNvSpPr txBox="1"/>
          <p:nvPr/>
        </p:nvSpPr>
        <p:spPr>
          <a:xfrm>
            <a:off x="9317736" y="1920240"/>
            <a:ext cx="219456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Patient</a:t>
            </a:r>
            <a:endParaRPr lang="en-US" sz="1700" dirty="0"/>
          </a:p>
        </p:txBody>
      </p:sp>
      <p:sp>
        <p:nvSpPr>
          <p:cNvPr id="18" name="Text 16"/>
          <p:cNvSpPr txBox="1"/>
          <p:nvPr/>
        </p:nvSpPr>
        <p:spPr>
          <a:xfrm>
            <a:off x="9317736" y="2423160"/>
            <a:ext cx="2194560" cy="640080"/>
          </a:xfrm>
          <a:prstGeom prst="rect">
            <a:avLst/>
          </a:prstGeom>
          <a:noFill/>
          <a:ln/>
        </p:spPr>
        <p:txBody>
          <a:bodyPr wrap="square" lIns="0" tIns="0" rIns="0" bIns="0" rtlCol="0" anchor="ctr"/>
          <a:lstStyle/>
          <a:p>
            <a:pPr marL="0" indent="0">
              <a:buNone/>
            </a:pPr>
            <a:r>
              <a:rPr lang="en-US" sz="1300" dirty="0">
                <a:solidFill>
                  <a:srgbClr val="F5C6CB"/>
                </a:solidFill>
                <a:latin typeface="Calibri" pitchFamily="34" charset="0"/>
                <a:ea typeface="Calibri" pitchFamily="34" charset="-122"/>
                <a:cs typeface="Calibri" pitchFamily="34" charset="-120"/>
              </a:rPr>
              <a:t>Receives the insulin</a:t>
            </a:r>
            <a:endParaRPr lang="en-US" sz="1300" dirty="0"/>
          </a:p>
        </p:txBody>
      </p:sp>
      <p:sp>
        <p:nvSpPr>
          <p:cNvPr id="19" name="Text 17"/>
          <p:cNvSpPr txBox="1"/>
          <p:nvPr/>
        </p:nvSpPr>
        <p:spPr>
          <a:xfrm>
            <a:off x="640080" y="3520440"/>
            <a:ext cx="10881360" cy="457200"/>
          </a:xfrm>
          <a:prstGeom prst="rect">
            <a:avLst/>
          </a:prstGeom>
          <a:noFill/>
          <a:ln/>
        </p:spPr>
        <p:txBody>
          <a:bodyPr wrap="square" lIns="0" tIns="0" rIns="0" bIns="0" rtlCol="0" anchor="ctr"/>
          <a:lstStyle/>
          <a:p>
            <a:pPr marL="0" indent="0">
              <a:buNone/>
            </a:pPr>
            <a:r>
              <a:rPr lang="en-US" sz="2200" b="1" dirty="0">
                <a:solidFill>
                  <a:srgbClr val="16161A"/>
                </a:solidFill>
                <a:latin typeface="Cambria" pitchFamily="34" charset="0"/>
                <a:ea typeface="Cambria" pitchFamily="34" charset="-122"/>
                <a:cs typeface="Cambria" pitchFamily="34" charset="-120"/>
              </a:rPr>
              <a:t>The three essential requirements</a:t>
            </a:r>
            <a:endParaRPr lang="en-US" sz="2200" dirty="0"/>
          </a:p>
        </p:txBody>
      </p:sp>
      <p:sp>
        <p:nvSpPr>
          <p:cNvPr id="20" name="Shape 18"/>
          <p:cNvSpPr/>
          <p:nvPr/>
        </p:nvSpPr>
        <p:spPr>
          <a:xfrm>
            <a:off x="640080" y="4069080"/>
            <a:ext cx="3566160" cy="1463040"/>
          </a:xfrm>
          <a:prstGeom prst="roundRect">
            <a:avLst>
              <a:gd name="adj" fmla="val 3750"/>
            </a:avLst>
          </a:prstGeom>
          <a:solidFill>
            <a:srgbClr val="2F3C7E"/>
          </a:solidFill>
          <a:ln w="12700">
            <a:solidFill>
              <a:srgbClr val="2F3C7E"/>
            </a:solidFill>
            <a:prstDash val="solid"/>
          </a:ln>
        </p:spPr>
        <p:txBody>
          <a:bodyPr/>
          <a:lstStyle/>
          <a:p>
            <a:endParaRPr lang="en-PK"/>
          </a:p>
        </p:txBody>
      </p:sp>
      <p:sp>
        <p:nvSpPr>
          <p:cNvPr id="21" name="Text 19"/>
          <p:cNvSpPr txBox="1"/>
          <p:nvPr/>
        </p:nvSpPr>
        <p:spPr>
          <a:xfrm>
            <a:off x="868680" y="4279392"/>
            <a:ext cx="31089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Availability</a:t>
            </a:r>
            <a:endParaRPr lang="en-US" sz="1600" dirty="0"/>
          </a:p>
        </p:txBody>
      </p:sp>
      <p:sp>
        <p:nvSpPr>
          <p:cNvPr id="22" name="Text 20"/>
          <p:cNvSpPr txBox="1"/>
          <p:nvPr/>
        </p:nvSpPr>
        <p:spPr>
          <a:xfrm>
            <a:off x="868680" y="4681728"/>
            <a:ext cx="3108960" cy="777240"/>
          </a:xfrm>
          <a:prstGeom prst="rect">
            <a:avLst/>
          </a:prstGeom>
          <a:noFill/>
          <a:ln/>
        </p:spPr>
        <p:txBody>
          <a:bodyPr wrap="square" lIns="0" tIns="0" rIns="0" bIns="0" rtlCol="0" anchor="ctr"/>
          <a:lstStyle/>
          <a:p>
            <a:pPr marL="0" indent="0">
              <a:buNone/>
            </a:pPr>
            <a:r>
              <a:rPr lang="en-US" sz="1300" dirty="0">
                <a:solidFill>
                  <a:srgbClr val="CDD6EF"/>
                </a:solidFill>
                <a:latin typeface="Calibri" pitchFamily="34" charset="0"/>
                <a:ea typeface="Calibri" pitchFamily="34" charset="-122"/>
                <a:cs typeface="Calibri" pitchFamily="34" charset="-120"/>
              </a:rPr>
              <a:t>The system shall be available to deliver insulin whenever it is required.</a:t>
            </a:r>
            <a:endParaRPr lang="en-US" sz="1300" dirty="0"/>
          </a:p>
        </p:txBody>
      </p:sp>
      <p:sp>
        <p:nvSpPr>
          <p:cNvPr id="23" name="Shape 21"/>
          <p:cNvSpPr/>
          <p:nvPr/>
        </p:nvSpPr>
        <p:spPr>
          <a:xfrm>
            <a:off x="4361688" y="4069080"/>
            <a:ext cx="3566160" cy="1463040"/>
          </a:xfrm>
          <a:prstGeom prst="roundRect">
            <a:avLst>
              <a:gd name="adj" fmla="val 3750"/>
            </a:avLst>
          </a:prstGeom>
          <a:solidFill>
            <a:srgbClr val="2F3C7E"/>
          </a:solidFill>
          <a:ln w="12700">
            <a:solidFill>
              <a:srgbClr val="2F3C7E"/>
            </a:solidFill>
            <a:prstDash val="solid"/>
          </a:ln>
        </p:spPr>
        <p:txBody>
          <a:bodyPr/>
          <a:lstStyle/>
          <a:p>
            <a:endParaRPr lang="en-PK"/>
          </a:p>
        </p:txBody>
      </p:sp>
      <p:sp>
        <p:nvSpPr>
          <p:cNvPr id="24" name="Text 22"/>
          <p:cNvSpPr txBox="1"/>
          <p:nvPr/>
        </p:nvSpPr>
        <p:spPr>
          <a:xfrm>
            <a:off x="4590288" y="4279392"/>
            <a:ext cx="31089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Reliability</a:t>
            </a:r>
            <a:endParaRPr lang="en-US" sz="1600" dirty="0"/>
          </a:p>
        </p:txBody>
      </p:sp>
      <p:sp>
        <p:nvSpPr>
          <p:cNvPr id="25" name="Text 23"/>
          <p:cNvSpPr txBox="1"/>
          <p:nvPr/>
        </p:nvSpPr>
        <p:spPr>
          <a:xfrm>
            <a:off x="4590288" y="4681728"/>
            <a:ext cx="3108960" cy="777240"/>
          </a:xfrm>
          <a:prstGeom prst="rect">
            <a:avLst/>
          </a:prstGeom>
          <a:noFill/>
          <a:ln/>
        </p:spPr>
        <p:txBody>
          <a:bodyPr wrap="square" lIns="0" tIns="0" rIns="0" bIns="0" rtlCol="0" anchor="ctr"/>
          <a:lstStyle/>
          <a:p>
            <a:pPr marL="0" indent="0">
              <a:buNone/>
            </a:pPr>
            <a:r>
              <a:rPr lang="en-US" sz="1300" dirty="0">
                <a:solidFill>
                  <a:srgbClr val="CDD6EF"/>
                </a:solidFill>
                <a:latin typeface="Calibri" pitchFamily="34" charset="0"/>
                <a:ea typeface="Calibri" pitchFamily="34" charset="-122"/>
                <a:cs typeface="Calibri" pitchFamily="34" charset="-120"/>
              </a:rPr>
              <a:t>It shall deliver the correct dose to counteract the current blood sugar level.</a:t>
            </a:r>
            <a:endParaRPr lang="en-US" sz="1300" dirty="0"/>
          </a:p>
        </p:txBody>
      </p:sp>
      <p:sp>
        <p:nvSpPr>
          <p:cNvPr id="26" name="Shape 24"/>
          <p:cNvSpPr/>
          <p:nvPr/>
        </p:nvSpPr>
        <p:spPr>
          <a:xfrm>
            <a:off x="8083296" y="4069080"/>
            <a:ext cx="3456432" cy="1463040"/>
          </a:xfrm>
          <a:prstGeom prst="roundRect">
            <a:avLst>
              <a:gd name="adj" fmla="val 3750"/>
            </a:avLst>
          </a:prstGeom>
          <a:solidFill>
            <a:srgbClr val="2F3C7E"/>
          </a:solidFill>
          <a:ln w="12700">
            <a:solidFill>
              <a:srgbClr val="2F3C7E"/>
            </a:solidFill>
            <a:prstDash val="solid"/>
          </a:ln>
        </p:spPr>
        <p:txBody>
          <a:bodyPr/>
          <a:lstStyle/>
          <a:p>
            <a:endParaRPr lang="en-PK"/>
          </a:p>
        </p:txBody>
      </p:sp>
      <p:sp>
        <p:nvSpPr>
          <p:cNvPr id="27" name="Text 25"/>
          <p:cNvSpPr txBox="1"/>
          <p:nvPr/>
        </p:nvSpPr>
        <p:spPr>
          <a:xfrm>
            <a:off x="8311896" y="4279392"/>
            <a:ext cx="2999232"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Assured by design</a:t>
            </a:r>
            <a:endParaRPr lang="en-US" sz="1600" dirty="0"/>
          </a:p>
        </p:txBody>
      </p:sp>
      <p:sp>
        <p:nvSpPr>
          <p:cNvPr id="28" name="Text 26"/>
          <p:cNvSpPr txBox="1"/>
          <p:nvPr/>
        </p:nvSpPr>
        <p:spPr>
          <a:xfrm>
            <a:off x="8311896" y="4681728"/>
            <a:ext cx="2999232" cy="777240"/>
          </a:xfrm>
          <a:prstGeom prst="rect">
            <a:avLst/>
          </a:prstGeom>
          <a:noFill/>
          <a:ln/>
        </p:spPr>
        <p:txBody>
          <a:bodyPr wrap="square" lIns="0" tIns="0" rIns="0" bIns="0" rtlCol="0" anchor="ctr"/>
          <a:lstStyle/>
          <a:p>
            <a:pPr marL="0" indent="0">
              <a:buNone/>
            </a:pPr>
            <a:r>
              <a:rPr lang="en-US" sz="1300" dirty="0">
                <a:solidFill>
                  <a:srgbClr val="CDD6EF"/>
                </a:solidFill>
                <a:latin typeface="Calibri" pitchFamily="34" charset="0"/>
                <a:ea typeface="Calibri" pitchFamily="34" charset="-122"/>
                <a:cs typeface="Calibri" pitchFamily="34" charset="-120"/>
              </a:rPr>
              <a:t>Design and implementation must guarantee both, not merely attempt them.</a:t>
            </a:r>
            <a:endParaRPr lang="en-US" sz="1300" dirty="0"/>
          </a:p>
        </p:txBody>
      </p:sp>
      <p:sp>
        <p:nvSpPr>
          <p:cNvPr id="29" name="Text 27"/>
          <p:cNvSpPr txBox="1"/>
          <p:nvPr/>
        </p:nvSpPr>
        <p:spPr>
          <a:xfrm>
            <a:off x="658368" y="5715000"/>
            <a:ext cx="10881360" cy="365760"/>
          </a:xfrm>
          <a:prstGeom prst="rect">
            <a:avLst/>
          </a:prstGeom>
          <a:noFill/>
          <a:ln/>
        </p:spPr>
        <p:txBody>
          <a:bodyPr wrap="square" lIns="0" tIns="0" rIns="0" bIns="0" rtlCol="0" anchor="ctr"/>
          <a:lstStyle/>
          <a:p>
            <a:pPr marL="0" indent="0">
              <a:buNone/>
            </a:pPr>
            <a:r>
              <a:rPr lang="en-US" sz="1400" i="1" dirty="0">
                <a:solidFill>
                  <a:srgbClr val="990011"/>
                </a:solidFill>
                <a:latin typeface="Calibri" pitchFamily="34" charset="0"/>
                <a:ea typeface="Calibri" pitchFamily="34" charset="-122"/>
                <a:cs typeface="Calibri" pitchFamily="34" charset="-120"/>
              </a:rPr>
              <a:t>Low blood sugar can cause coma and death. High blood sugar causes long term eye and kidney damage. Both failure directions are harmful.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1">
    <p:bg>
      <p:bgPr>
        <a:solidFill>
          <a:srgbClr val="FCF6F5"/>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marL="0" indent="0">
              <a:buNone/>
            </a:pPr>
            <a:r>
              <a:rPr lang="en-US" sz="3100" b="1" dirty="0">
                <a:solidFill>
                  <a:srgbClr val="16161A"/>
                </a:solidFill>
                <a:latin typeface="Cambria" pitchFamily="34" charset="0"/>
                <a:ea typeface="Cambria" pitchFamily="34" charset="-122"/>
                <a:cs typeface="Cambria" pitchFamily="34" charset="-120"/>
              </a:rPr>
              <a:t>MHC-PMS: patient management for mental health care</a:t>
            </a:r>
            <a:endParaRPr lang="en-US" sz="3100" dirty="0"/>
          </a:p>
        </p:txBody>
      </p:sp>
      <p:sp>
        <p:nvSpPr>
          <p:cNvPr id="3" name="Text 1"/>
          <p:cNvSpPr txBox="1"/>
          <p:nvPr/>
        </p:nvSpPr>
        <p:spPr>
          <a:xfrm>
            <a:off x="658368" y="1097280"/>
            <a:ext cx="10881360" cy="365760"/>
          </a:xfrm>
          <a:prstGeom prst="rect">
            <a:avLst/>
          </a:prstGeom>
          <a:noFill/>
          <a:ln/>
        </p:spPr>
        <p:txBody>
          <a:bodyPr wrap="square" lIns="0" tIns="0" rIns="0" bIns="0" rtlCol="0" anchor="ctr"/>
          <a:lstStyle/>
          <a:p>
            <a:pPr marL="0" indent="0">
              <a:buNone/>
            </a:pPr>
            <a:r>
              <a:rPr lang="en-US" sz="1500" dirty="0">
                <a:solidFill>
                  <a:srgbClr val="6E6E76"/>
                </a:solidFill>
                <a:latin typeface="Calibri" pitchFamily="34" charset="0"/>
                <a:ea typeface="Calibri" pitchFamily="34" charset="-122"/>
                <a:cs typeface="Calibri" pitchFamily="34" charset="-120"/>
              </a:rPr>
              <a:t>A medical information system holding patient records and treatment histories for specialist clinics.</a:t>
            </a:r>
            <a:endParaRPr lang="en-US" sz="1500" dirty="0"/>
          </a:p>
        </p:txBody>
      </p:sp>
      <p:sp>
        <p:nvSpPr>
          <p:cNvPr id="4" name="Shape 2"/>
          <p:cNvSpPr/>
          <p:nvPr/>
        </p:nvSpPr>
        <p:spPr>
          <a:xfrm>
            <a:off x="640080" y="1691640"/>
            <a:ext cx="530352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5" name="Text 3"/>
          <p:cNvSpPr txBox="1"/>
          <p:nvPr/>
        </p:nvSpPr>
        <p:spPr>
          <a:xfrm>
            <a:off x="914400" y="1920240"/>
            <a:ext cx="4754880" cy="411480"/>
          </a:xfrm>
          <a:prstGeom prst="rect">
            <a:avLst/>
          </a:prstGeom>
          <a:noFill/>
          <a:ln/>
        </p:spPr>
        <p:txBody>
          <a:bodyPr wrap="square" lIns="0" tIns="0" rIns="0" bIns="0" rtlCol="0" anchor="ctr"/>
          <a:lstStyle/>
          <a:p>
            <a:pPr marL="0" indent="0">
              <a:buNone/>
            </a:pPr>
            <a:r>
              <a:rPr lang="en-US" sz="1900" b="1" dirty="0">
                <a:solidFill>
                  <a:srgbClr val="16161A"/>
                </a:solidFill>
                <a:latin typeface="Cambria" pitchFamily="34" charset="0"/>
                <a:ea typeface="Cambria" pitchFamily="34" charset="-122"/>
                <a:cs typeface="Cambria" pitchFamily="34" charset="-120"/>
              </a:rPr>
              <a:t>The constraint that shapes everything</a:t>
            </a:r>
            <a:endParaRPr lang="en-US" sz="1900" dirty="0"/>
          </a:p>
        </p:txBody>
      </p:sp>
      <p:sp>
        <p:nvSpPr>
          <p:cNvPr id="6" name="Text 4"/>
          <p:cNvSpPr txBox="1"/>
          <p:nvPr/>
        </p:nvSpPr>
        <p:spPr>
          <a:xfrm>
            <a:off x="914400" y="2377440"/>
            <a:ext cx="4800600" cy="1280160"/>
          </a:xfrm>
          <a:prstGeom prst="rect">
            <a:avLst/>
          </a:prstGeom>
          <a:noFill/>
          <a:ln/>
        </p:spPr>
        <p:txBody>
          <a:bodyPr wrap="square" lIns="0" tIns="0" rIns="0" bIns="0" rtlCol="0" anchor="ctr"/>
          <a:lstStyle/>
          <a:p>
            <a:pPr marL="0" indent="0">
              <a:lnSpc>
                <a:spcPts val="2000"/>
              </a:lnSpc>
              <a:buNone/>
            </a:pPr>
            <a:r>
              <a:rPr lang="en-US" sz="1400" dirty="0">
                <a:solidFill>
                  <a:srgbClr val="16161A"/>
                </a:solidFill>
                <a:latin typeface="Calibri" pitchFamily="34" charset="0"/>
                <a:ea typeface="Calibri" pitchFamily="34" charset="-122"/>
                <a:cs typeface="Calibri" pitchFamily="34" charset="-120"/>
              </a:rPr>
              <a:t>Clinics are not only in hospitals. They run in local practices and community centres, some without reliable network access. Records are held in a central database, but local copies can be downloaded and used offline, then synchronised later.</a:t>
            </a:r>
            <a:endParaRPr lang="en-US" sz="1400" dirty="0"/>
          </a:p>
        </p:txBody>
      </p:sp>
      <p:sp>
        <p:nvSpPr>
          <p:cNvPr id="7" name="Shape 5"/>
          <p:cNvSpPr/>
          <p:nvPr/>
        </p:nvSpPr>
        <p:spPr>
          <a:xfrm>
            <a:off x="6236208" y="1691640"/>
            <a:ext cx="5303520" cy="2103120"/>
          </a:xfrm>
          <a:prstGeom prst="roundRect">
            <a:avLst>
              <a:gd name="adj" fmla="val 2609"/>
            </a:avLst>
          </a:prstGeom>
          <a:solidFill>
            <a:srgbClr val="F0E7E6"/>
          </a:solidFill>
          <a:ln w="12700">
            <a:solidFill>
              <a:srgbClr val="F0E7E6"/>
            </a:solidFill>
            <a:prstDash val="solid"/>
          </a:ln>
        </p:spPr>
        <p:txBody>
          <a:bodyPr/>
          <a:lstStyle/>
          <a:p>
            <a:endParaRPr lang="en-PK"/>
          </a:p>
        </p:txBody>
      </p:sp>
      <p:sp>
        <p:nvSpPr>
          <p:cNvPr id="8" name="Text 6"/>
          <p:cNvSpPr txBox="1"/>
          <p:nvPr/>
        </p:nvSpPr>
        <p:spPr>
          <a:xfrm>
            <a:off x="6510528" y="1920240"/>
            <a:ext cx="4754880" cy="411480"/>
          </a:xfrm>
          <a:prstGeom prst="rect">
            <a:avLst/>
          </a:prstGeom>
          <a:noFill/>
          <a:ln/>
        </p:spPr>
        <p:txBody>
          <a:bodyPr wrap="square" lIns="0" tIns="0" rIns="0" bIns="0" rtlCol="0" anchor="ctr"/>
          <a:lstStyle/>
          <a:p>
            <a:pPr marL="0" indent="0">
              <a:buNone/>
            </a:pPr>
            <a:r>
              <a:rPr lang="en-US" sz="1900" b="1" dirty="0">
                <a:solidFill>
                  <a:srgbClr val="16161A"/>
                </a:solidFill>
                <a:latin typeface="Cambria" pitchFamily="34" charset="0"/>
                <a:ea typeface="Cambria" pitchFamily="34" charset="-122"/>
                <a:cs typeface="Cambria" pitchFamily="34" charset="-120"/>
              </a:rPr>
              <a:t>What it has to do</a:t>
            </a:r>
            <a:endParaRPr lang="en-US" sz="1900" dirty="0"/>
          </a:p>
        </p:txBody>
      </p:sp>
      <p:sp>
        <p:nvSpPr>
          <p:cNvPr id="9" name="Text 7"/>
          <p:cNvSpPr txBox="1"/>
          <p:nvPr/>
        </p:nvSpPr>
        <p:spPr>
          <a:xfrm>
            <a:off x="6528816" y="2377440"/>
            <a:ext cx="4800600" cy="128016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16161A"/>
                </a:solidFill>
                <a:latin typeface="Calibri" pitchFamily="34" charset="0"/>
                <a:ea typeface="Calibri" pitchFamily="34" charset="-122"/>
                <a:cs typeface="Calibri" pitchFamily="34" charset="-120"/>
              </a:rPr>
              <a:t>Individual care management: create and edit records, view history, summarise.</a:t>
            </a:r>
            <a:endParaRPr lang="en-US" sz="1400" dirty="0"/>
          </a:p>
          <a:p>
            <a:pPr marL="342900" indent="-342900">
              <a:lnSpc>
                <a:spcPts val="1900"/>
              </a:lnSpc>
              <a:spcAft>
                <a:spcPts val="800"/>
              </a:spcAft>
              <a:buSzPct val="100000"/>
              <a:buChar char="•"/>
            </a:pPr>
            <a:r>
              <a:rPr lang="en-US" sz="1400" dirty="0">
                <a:solidFill>
                  <a:srgbClr val="16161A"/>
                </a:solidFill>
                <a:latin typeface="Calibri" pitchFamily="34" charset="0"/>
                <a:ea typeface="Calibri" pitchFamily="34" charset="-122"/>
                <a:cs typeface="Calibri" pitchFamily="34" charset="-120"/>
              </a:rPr>
              <a:t>Patient monitoring: issue warnings when the record suggests a problem.</a:t>
            </a:r>
            <a:endParaRPr lang="en-US" sz="1400" dirty="0"/>
          </a:p>
          <a:p>
            <a:pPr marL="342900" indent="-342900">
              <a:lnSpc>
                <a:spcPts val="1900"/>
              </a:lnSpc>
              <a:spcAft>
                <a:spcPts val="800"/>
              </a:spcAft>
              <a:buSzPct val="100000"/>
              <a:buChar char="•"/>
            </a:pPr>
            <a:r>
              <a:rPr lang="en-US" sz="1400" dirty="0">
                <a:solidFill>
                  <a:srgbClr val="16161A"/>
                </a:solidFill>
                <a:latin typeface="Calibri" pitchFamily="34" charset="0"/>
                <a:ea typeface="Calibri" pitchFamily="34" charset="-122"/>
                <a:cs typeface="Calibri" pitchFamily="34" charset="-120"/>
              </a:rPr>
              <a:t>Administrative reporting: monthly figures on patients, treatments and costs.</a:t>
            </a:r>
            <a:endParaRPr lang="en-US" sz="1400" dirty="0"/>
          </a:p>
        </p:txBody>
      </p:sp>
      <p:sp>
        <p:nvSpPr>
          <p:cNvPr id="10" name="Shape 8"/>
          <p:cNvSpPr/>
          <p:nvPr/>
        </p:nvSpPr>
        <p:spPr>
          <a:xfrm>
            <a:off x="640080" y="4023360"/>
            <a:ext cx="5303520" cy="1828800"/>
          </a:xfrm>
          <a:prstGeom prst="roundRect">
            <a:avLst>
              <a:gd name="adj" fmla="val 3000"/>
            </a:avLst>
          </a:prstGeom>
          <a:solidFill>
            <a:srgbClr val="2F3C7E"/>
          </a:solidFill>
          <a:ln w="12700">
            <a:solidFill>
              <a:srgbClr val="2F3C7E"/>
            </a:solidFill>
            <a:prstDash val="solid"/>
          </a:ln>
        </p:spPr>
        <p:txBody>
          <a:bodyPr/>
          <a:lstStyle/>
          <a:p>
            <a:endParaRPr lang="en-PK"/>
          </a:p>
        </p:txBody>
      </p:sp>
      <p:sp>
        <p:nvSpPr>
          <p:cNvPr id="11" name="Text 9"/>
          <p:cNvSpPr txBox="1"/>
          <p:nvPr/>
        </p:nvSpPr>
        <p:spPr>
          <a:xfrm>
            <a:off x="914400" y="4251960"/>
            <a:ext cx="475488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Privacy</a:t>
            </a:r>
            <a:endParaRPr lang="en-US" sz="2000" dirty="0"/>
          </a:p>
        </p:txBody>
      </p:sp>
      <p:sp>
        <p:nvSpPr>
          <p:cNvPr id="12" name="Text 10"/>
          <p:cNvSpPr txBox="1"/>
          <p:nvPr/>
        </p:nvSpPr>
        <p:spPr>
          <a:xfrm>
            <a:off x="914400" y="4709160"/>
            <a:ext cx="4800600" cy="914400"/>
          </a:xfrm>
          <a:prstGeom prst="rect">
            <a:avLst/>
          </a:prstGeom>
          <a:noFill/>
          <a:ln/>
        </p:spPr>
        <p:txBody>
          <a:bodyPr wrap="square" lIns="0" tIns="0" rIns="0" bIns="0" rtlCol="0" anchor="ctr"/>
          <a:lstStyle/>
          <a:p>
            <a:pPr marL="0" indent="0">
              <a:lnSpc>
                <a:spcPts val="2000"/>
              </a:lnSpc>
              <a:buNone/>
            </a:pPr>
            <a:r>
              <a:rPr lang="en-US" sz="1400" dirty="0">
                <a:solidFill>
                  <a:srgbClr val="CDD6EF"/>
                </a:solidFill>
                <a:latin typeface="Calibri" pitchFamily="34" charset="0"/>
                <a:ea typeface="Calibri" pitchFamily="34" charset="-122"/>
                <a:cs typeface="Calibri" pitchFamily="34" charset="-120"/>
              </a:rPr>
              <a:t>Patient information must never be disclosed to anyone other than authorised medical staff and the patient.</a:t>
            </a:r>
            <a:endParaRPr lang="en-US" sz="1400" dirty="0"/>
          </a:p>
        </p:txBody>
      </p:sp>
      <p:sp>
        <p:nvSpPr>
          <p:cNvPr id="13" name="Shape 11"/>
          <p:cNvSpPr/>
          <p:nvPr/>
        </p:nvSpPr>
        <p:spPr>
          <a:xfrm>
            <a:off x="6236208" y="4023360"/>
            <a:ext cx="5303520" cy="1828800"/>
          </a:xfrm>
          <a:prstGeom prst="roundRect">
            <a:avLst>
              <a:gd name="adj" fmla="val 3000"/>
            </a:avLst>
          </a:prstGeom>
          <a:solidFill>
            <a:srgbClr val="2F3C7E"/>
          </a:solidFill>
          <a:ln w="12700">
            <a:solidFill>
              <a:srgbClr val="2F3C7E"/>
            </a:solidFill>
            <a:prstDash val="solid"/>
          </a:ln>
        </p:spPr>
        <p:txBody>
          <a:bodyPr/>
          <a:lstStyle/>
          <a:p>
            <a:endParaRPr lang="en-PK"/>
          </a:p>
        </p:txBody>
      </p:sp>
      <p:sp>
        <p:nvSpPr>
          <p:cNvPr id="14" name="Text 12"/>
          <p:cNvSpPr txBox="1"/>
          <p:nvPr/>
        </p:nvSpPr>
        <p:spPr>
          <a:xfrm>
            <a:off x="6510528" y="4251960"/>
            <a:ext cx="475488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Safety</a:t>
            </a:r>
            <a:endParaRPr lang="en-US" sz="2000" dirty="0"/>
          </a:p>
        </p:txBody>
      </p:sp>
      <p:sp>
        <p:nvSpPr>
          <p:cNvPr id="15" name="Text 13"/>
          <p:cNvSpPr txBox="1"/>
          <p:nvPr/>
        </p:nvSpPr>
        <p:spPr>
          <a:xfrm>
            <a:off x="6510528" y="4709160"/>
            <a:ext cx="4800600" cy="914400"/>
          </a:xfrm>
          <a:prstGeom prst="rect">
            <a:avLst/>
          </a:prstGeom>
          <a:noFill/>
          <a:ln/>
        </p:spPr>
        <p:txBody>
          <a:bodyPr wrap="square" lIns="0" tIns="0" rIns="0" bIns="0" rtlCol="0" anchor="ctr"/>
          <a:lstStyle/>
          <a:p>
            <a:pPr marL="0" indent="0">
              <a:lnSpc>
                <a:spcPts val="2000"/>
              </a:lnSpc>
              <a:buNone/>
            </a:pPr>
            <a:r>
              <a:rPr lang="en-US" sz="1400" dirty="0">
                <a:solidFill>
                  <a:srgbClr val="CDD6EF"/>
                </a:solidFill>
                <a:latin typeface="Calibri" pitchFamily="34" charset="0"/>
                <a:ea typeface="Calibri" pitchFamily="34" charset="-122"/>
                <a:cs typeface="Calibri" pitchFamily="34" charset="-120"/>
              </a:rPr>
              <a:t>The system must be available when needed, or the correct medication cannot be prescribed.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7315200" cy="365760"/>
          </a:xfrm>
          <a:prstGeom prst="rect">
            <a:avLst/>
          </a:prstGeom>
          <a:noFill/>
          <a:ln/>
        </p:spPr>
        <p:txBody>
          <a:bodyPr wrap="square" lIns="0" tIns="0" rIns="0" bIns="0" rtlCol="0" anchor="ctr"/>
          <a:lstStyle/>
          <a:p>
            <a:pPr marL="0" indent="0">
              <a:buNone/>
            </a:pPr>
            <a:endParaRPr lang="en-US" sz="1300" dirty="0"/>
          </a:p>
        </p:txBody>
      </p:sp>
      <p:sp>
        <p:nvSpPr>
          <p:cNvPr id="3" name="Text 1"/>
          <p:cNvSpPr txBox="1"/>
          <p:nvPr/>
        </p:nvSpPr>
        <p:spPr>
          <a:xfrm>
            <a:off x="640080" y="777240"/>
            <a:ext cx="7315200" cy="640080"/>
          </a:xfrm>
          <a:prstGeom prst="rect">
            <a:avLst/>
          </a:prstGeom>
          <a:noFill/>
          <a:ln/>
        </p:spPr>
        <p:txBody>
          <a:bodyPr wrap="square" lIns="0" tIns="0" rIns="0" bIns="0" rtlCol="0" anchor="ctr"/>
          <a:lstStyle/>
          <a:p>
            <a:pPr marL="0" indent="0">
              <a:buNone/>
            </a:pPr>
            <a:r>
              <a:rPr lang="en-US" sz="3200" b="1" dirty="0">
                <a:solidFill>
                  <a:srgbClr val="16161A"/>
                </a:solidFill>
                <a:latin typeface="Cambria" pitchFamily="34" charset="0"/>
                <a:ea typeface="Cambria" pitchFamily="34" charset="-122"/>
                <a:cs typeface="Cambria" pitchFamily="34" charset="-120"/>
              </a:rPr>
              <a:t>Scenario 1</a:t>
            </a:r>
            <a:endParaRPr lang="en-US" sz="3200" dirty="0"/>
          </a:p>
        </p:txBody>
      </p:sp>
      <p:sp>
        <p:nvSpPr>
          <p:cNvPr id="4" name="Shape 2"/>
          <p:cNvSpPr/>
          <p:nvPr/>
        </p:nvSpPr>
        <p:spPr>
          <a:xfrm>
            <a:off x="640080" y="1691640"/>
            <a:ext cx="10881360" cy="2651760"/>
          </a:xfrm>
          <a:prstGeom prst="roundRect">
            <a:avLst>
              <a:gd name="adj" fmla="val 2069"/>
            </a:avLst>
          </a:prstGeom>
          <a:solidFill>
            <a:srgbClr val="F0E7E6"/>
          </a:solidFill>
          <a:ln w="12700">
            <a:solidFill>
              <a:srgbClr val="F0E7E6"/>
            </a:solidFill>
            <a:prstDash val="solid"/>
          </a:ln>
        </p:spPr>
        <p:txBody>
          <a:bodyPr/>
          <a:lstStyle/>
          <a:p>
            <a:endParaRPr lang="en-PK"/>
          </a:p>
        </p:txBody>
      </p:sp>
      <p:sp>
        <p:nvSpPr>
          <p:cNvPr id="5" name="Text 3"/>
          <p:cNvSpPr txBox="1"/>
          <p:nvPr/>
        </p:nvSpPr>
        <p:spPr>
          <a:xfrm>
            <a:off x="1051560" y="2011680"/>
            <a:ext cx="10058400" cy="2057400"/>
          </a:xfrm>
          <a:prstGeom prst="rect">
            <a:avLst/>
          </a:prstGeom>
          <a:noFill/>
          <a:ln/>
        </p:spPr>
        <p:txBody>
          <a:bodyPr wrap="square" lIns="0" tIns="0" rIns="0" bIns="0" rtlCol="0" anchor="ctr"/>
          <a:lstStyle/>
          <a:p>
            <a:pPr marL="0" indent="0">
              <a:lnSpc>
                <a:spcPts val="3200"/>
              </a:lnSpc>
              <a:buNone/>
            </a:pPr>
            <a:r>
              <a:rPr lang="en-US" sz="2200" dirty="0">
                <a:solidFill>
                  <a:srgbClr val="16161A"/>
                </a:solidFill>
                <a:latin typeface="Cambria" pitchFamily="34" charset="0"/>
                <a:ea typeface="Cambria" pitchFamily="34" charset="-122"/>
                <a:cs typeface="Cambria" pitchFamily="34" charset="-120"/>
              </a:rPr>
              <a:t>A client asks you to build the interface for a children's game. It uses techniques designed to make the game hard to stop playing, and the purchase button is placed where a child is likely to press it by accident. Everything about it is legal.</a:t>
            </a:r>
            <a:endParaRPr lang="en-US" sz="2200" dirty="0"/>
          </a:p>
        </p:txBody>
      </p:sp>
      <p:sp>
        <p:nvSpPr>
          <p:cNvPr id="6" name="Shape 4"/>
          <p:cNvSpPr/>
          <p:nvPr/>
        </p:nvSpPr>
        <p:spPr>
          <a:xfrm>
            <a:off x="640080"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7" name="Text 5"/>
          <p:cNvSpPr txBox="1"/>
          <p:nvPr/>
        </p:nvSpPr>
        <p:spPr>
          <a:xfrm>
            <a:off x="640080"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Refuse</a:t>
            </a:r>
            <a:endParaRPr lang="en-US" sz="1500" dirty="0"/>
          </a:p>
        </p:txBody>
      </p:sp>
      <p:sp>
        <p:nvSpPr>
          <p:cNvPr id="8" name="Shape 6"/>
          <p:cNvSpPr/>
          <p:nvPr/>
        </p:nvSpPr>
        <p:spPr>
          <a:xfrm>
            <a:off x="3401568"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9" name="Text 7"/>
          <p:cNvSpPr txBox="1"/>
          <p:nvPr/>
        </p:nvSpPr>
        <p:spPr>
          <a:xfrm>
            <a:off x="3401568"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Object, then comply</a:t>
            </a:r>
            <a:endParaRPr lang="en-US" sz="1500" dirty="0"/>
          </a:p>
        </p:txBody>
      </p:sp>
      <p:sp>
        <p:nvSpPr>
          <p:cNvPr id="10" name="Shape 8"/>
          <p:cNvSpPr/>
          <p:nvPr/>
        </p:nvSpPr>
        <p:spPr>
          <a:xfrm>
            <a:off x="6163056"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1" name="Text 9"/>
          <p:cNvSpPr txBox="1"/>
          <p:nvPr/>
        </p:nvSpPr>
        <p:spPr>
          <a:xfrm>
            <a:off x="6163056"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Comply</a:t>
            </a:r>
            <a:endParaRPr lang="en-US" sz="1500" dirty="0"/>
          </a:p>
        </p:txBody>
      </p:sp>
      <p:sp>
        <p:nvSpPr>
          <p:cNvPr id="12" name="Shape 10"/>
          <p:cNvSpPr/>
          <p:nvPr/>
        </p:nvSpPr>
        <p:spPr>
          <a:xfrm>
            <a:off x="8924544"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3" name="Text 11"/>
          <p:cNvSpPr txBox="1"/>
          <p:nvPr/>
        </p:nvSpPr>
        <p:spPr>
          <a:xfrm>
            <a:off x="8924544"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Resign</a:t>
            </a:r>
            <a:endParaRPr lang="en-US" sz="1500" dirty="0"/>
          </a:p>
        </p:txBody>
      </p:sp>
    </p:spTree>
    <p:extLst>
      <p:ext uri="{BB962C8B-B14F-4D97-AF65-F5344CB8AC3E}">
        <p14:creationId xmlns:p14="http://schemas.microsoft.com/office/powerpoint/2010/main" val="3808075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7315200" cy="365760"/>
          </a:xfrm>
          <a:prstGeom prst="rect">
            <a:avLst/>
          </a:prstGeom>
          <a:noFill/>
          <a:ln/>
        </p:spPr>
        <p:txBody>
          <a:bodyPr wrap="square" lIns="0" tIns="0" rIns="0" bIns="0" rtlCol="0" anchor="ctr"/>
          <a:lstStyle/>
          <a:p>
            <a:pPr marL="0" indent="0">
              <a:buNone/>
            </a:pPr>
            <a:endParaRPr lang="en-US" sz="1300" dirty="0"/>
          </a:p>
        </p:txBody>
      </p:sp>
      <p:sp>
        <p:nvSpPr>
          <p:cNvPr id="3" name="Text 1"/>
          <p:cNvSpPr txBox="1"/>
          <p:nvPr/>
        </p:nvSpPr>
        <p:spPr>
          <a:xfrm>
            <a:off x="640080" y="777240"/>
            <a:ext cx="7315200" cy="640080"/>
          </a:xfrm>
          <a:prstGeom prst="rect">
            <a:avLst/>
          </a:prstGeom>
          <a:noFill/>
          <a:ln/>
        </p:spPr>
        <p:txBody>
          <a:bodyPr wrap="square" lIns="0" tIns="0" rIns="0" bIns="0" rtlCol="0" anchor="ctr"/>
          <a:lstStyle/>
          <a:p>
            <a:pPr marL="0" indent="0">
              <a:buNone/>
            </a:pPr>
            <a:r>
              <a:rPr lang="en-US" sz="3200" b="1" dirty="0">
                <a:solidFill>
                  <a:srgbClr val="16161A"/>
                </a:solidFill>
                <a:latin typeface="Cambria" pitchFamily="34" charset="0"/>
                <a:ea typeface="Cambria" pitchFamily="34" charset="-122"/>
                <a:cs typeface="Cambria" pitchFamily="34" charset="-120"/>
              </a:rPr>
              <a:t>Scenario 2</a:t>
            </a:r>
            <a:endParaRPr lang="en-US" sz="3200" dirty="0"/>
          </a:p>
        </p:txBody>
      </p:sp>
      <p:sp>
        <p:nvSpPr>
          <p:cNvPr id="4" name="Shape 2"/>
          <p:cNvSpPr/>
          <p:nvPr/>
        </p:nvSpPr>
        <p:spPr>
          <a:xfrm>
            <a:off x="640080" y="1691640"/>
            <a:ext cx="10881360" cy="2651760"/>
          </a:xfrm>
          <a:prstGeom prst="roundRect">
            <a:avLst>
              <a:gd name="adj" fmla="val 2069"/>
            </a:avLst>
          </a:prstGeom>
          <a:solidFill>
            <a:srgbClr val="F0E7E6"/>
          </a:solidFill>
          <a:ln w="12700">
            <a:solidFill>
              <a:srgbClr val="F0E7E6"/>
            </a:solidFill>
            <a:prstDash val="solid"/>
          </a:ln>
        </p:spPr>
        <p:txBody>
          <a:bodyPr/>
          <a:lstStyle/>
          <a:p>
            <a:endParaRPr lang="en-PK"/>
          </a:p>
        </p:txBody>
      </p:sp>
      <p:sp>
        <p:nvSpPr>
          <p:cNvPr id="5" name="Text 3"/>
          <p:cNvSpPr txBox="1"/>
          <p:nvPr/>
        </p:nvSpPr>
        <p:spPr>
          <a:xfrm>
            <a:off x="1051560" y="2011680"/>
            <a:ext cx="10058400" cy="2057400"/>
          </a:xfrm>
          <a:prstGeom prst="rect">
            <a:avLst/>
          </a:prstGeom>
          <a:noFill/>
          <a:ln/>
        </p:spPr>
        <p:txBody>
          <a:bodyPr wrap="square" lIns="0" tIns="0" rIns="0" bIns="0" rtlCol="0" anchor="ctr"/>
          <a:lstStyle/>
          <a:p>
            <a:pPr marL="0" indent="0">
              <a:lnSpc>
                <a:spcPts val="3200"/>
              </a:lnSpc>
              <a:buNone/>
            </a:pPr>
            <a:r>
              <a:rPr lang="en-US" sz="2200" dirty="0">
                <a:solidFill>
                  <a:srgbClr val="16161A"/>
                </a:solidFill>
                <a:latin typeface="Cambria" pitchFamily="34" charset="0"/>
                <a:ea typeface="Cambria" pitchFamily="34" charset="-122"/>
                <a:cs typeface="Cambria" pitchFamily="34" charset="-120"/>
              </a:rPr>
              <a:t>Your employer is about to release a safety-critical system. Testing is not finished. You raise it and are told the remaining tests are a formality and the release date cannot move. You are the only person who has seen the incomplete test report.</a:t>
            </a:r>
            <a:endParaRPr lang="en-US" sz="2200" dirty="0"/>
          </a:p>
        </p:txBody>
      </p:sp>
      <p:sp>
        <p:nvSpPr>
          <p:cNvPr id="6" name="Shape 4"/>
          <p:cNvSpPr/>
          <p:nvPr/>
        </p:nvSpPr>
        <p:spPr>
          <a:xfrm>
            <a:off x="640080"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7" name="Text 5"/>
          <p:cNvSpPr txBox="1"/>
          <p:nvPr/>
        </p:nvSpPr>
        <p:spPr>
          <a:xfrm>
            <a:off x="640080"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Refuse</a:t>
            </a:r>
            <a:endParaRPr lang="en-US" sz="1500" dirty="0"/>
          </a:p>
        </p:txBody>
      </p:sp>
      <p:sp>
        <p:nvSpPr>
          <p:cNvPr id="8" name="Shape 6"/>
          <p:cNvSpPr/>
          <p:nvPr/>
        </p:nvSpPr>
        <p:spPr>
          <a:xfrm>
            <a:off x="3401568"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9" name="Text 7"/>
          <p:cNvSpPr txBox="1"/>
          <p:nvPr/>
        </p:nvSpPr>
        <p:spPr>
          <a:xfrm>
            <a:off x="3401568"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Object, then comply</a:t>
            </a:r>
            <a:endParaRPr lang="en-US" sz="1500" dirty="0"/>
          </a:p>
        </p:txBody>
      </p:sp>
      <p:sp>
        <p:nvSpPr>
          <p:cNvPr id="10" name="Shape 8"/>
          <p:cNvSpPr/>
          <p:nvPr/>
        </p:nvSpPr>
        <p:spPr>
          <a:xfrm>
            <a:off x="6163056"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1" name="Text 9"/>
          <p:cNvSpPr txBox="1"/>
          <p:nvPr/>
        </p:nvSpPr>
        <p:spPr>
          <a:xfrm>
            <a:off x="6163056"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Comply</a:t>
            </a:r>
            <a:endParaRPr lang="en-US" sz="1500" dirty="0"/>
          </a:p>
        </p:txBody>
      </p:sp>
      <p:sp>
        <p:nvSpPr>
          <p:cNvPr id="12" name="Shape 10"/>
          <p:cNvSpPr/>
          <p:nvPr/>
        </p:nvSpPr>
        <p:spPr>
          <a:xfrm>
            <a:off x="8924544"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3" name="Text 11"/>
          <p:cNvSpPr txBox="1"/>
          <p:nvPr/>
        </p:nvSpPr>
        <p:spPr>
          <a:xfrm>
            <a:off x="8924544"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Resign</a:t>
            </a:r>
            <a:endParaRPr lang="en-US" sz="1500" dirty="0"/>
          </a:p>
        </p:txBody>
      </p:sp>
    </p:spTree>
    <p:extLst>
      <p:ext uri="{BB962C8B-B14F-4D97-AF65-F5344CB8AC3E}">
        <p14:creationId xmlns:p14="http://schemas.microsoft.com/office/powerpoint/2010/main" val="3381310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7315200" cy="365760"/>
          </a:xfrm>
          <a:prstGeom prst="rect">
            <a:avLst/>
          </a:prstGeom>
          <a:noFill/>
          <a:ln/>
        </p:spPr>
        <p:txBody>
          <a:bodyPr wrap="square" lIns="0" tIns="0" rIns="0" bIns="0" rtlCol="0" anchor="ctr"/>
          <a:lstStyle/>
          <a:p>
            <a:pPr marL="0" indent="0">
              <a:buNone/>
            </a:pPr>
            <a:endParaRPr lang="en-US" sz="1300" dirty="0"/>
          </a:p>
        </p:txBody>
      </p:sp>
      <p:sp>
        <p:nvSpPr>
          <p:cNvPr id="3" name="Text 1"/>
          <p:cNvSpPr txBox="1"/>
          <p:nvPr/>
        </p:nvSpPr>
        <p:spPr>
          <a:xfrm>
            <a:off x="640080" y="777240"/>
            <a:ext cx="7315200" cy="640080"/>
          </a:xfrm>
          <a:prstGeom prst="rect">
            <a:avLst/>
          </a:prstGeom>
          <a:noFill/>
          <a:ln/>
        </p:spPr>
        <p:txBody>
          <a:bodyPr wrap="square" lIns="0" tIns="0" rIns="0" bIns="0" rtlCol="0" anchor="ctr"/>
          <a:lstStyle/>
          <a:p>
            <a:pPr marL="0" indent="0">
              <a:buNone/>
            </a:pPr>
            <a:r>
              <a:rPr lang="en-US" sz="3200" b="1" dirty="0">
                <a:solidFill>
                  <a:srgbClr val="16161A"/>
                </a:solidFill>
                <a:latin typeface="Cambria" pitchFamily="34" charset="0"/>
                <a:ea typeface="Cambria" pitchFamily="34" charset="-122"/>
                <a:cs typeface="Cambria" pitchFamily="34" charset="-120"/>
              </a:rPr>
              <a:t>Scenario 3</a:t>
            </a:r>
            <a:endParaRPr lang="en-US" sz="3200" dirty="0"/>
          </a:p>
        </p:txBody>
      </p:sp>
      <p:sp>
        <p:nvSpPr>
          <p:cNvPr id="4" name="Shape 2"/>
          <p:cNvSpPr/>
          <p:nvPr/>
        </p:nvSpPr>
        <p:spPr>
          <a:xfrm>
            <a:off x="640080" y="1691640"/>
            <a:ext cx="10881360" cy="2651760"/>
          </a:xfrm>
          <a:prstGeom prst="roundRect">
            <a:avLst>
              <a:gd name="adj" fmla="val 2069"/>
            </a:avLst>
          </a:prstGeom>
          <a:solidFill>
            <a:srgbClr val="F0E7E6"/>
          </a:solidFill>
          <a:ln w="12700">
            <a:solidFill>
              <a:srgbClr val="F0E7E6"/>
            </a:solidFill>
            <a:prstDash val="solid"/>
          </a:ln>
        </p:spPr>
        <p:txBody>
          <a:bodyPr/>
          <a:lstStyle/>
          <a:p>
            <a:endParaRPr lang="en-PK"/>
          </a:p>
        </p:txBody>
      </p:sp>
      <p:sp>
        <p:nvSpPr>
          <p:cNvPr id="5" name="Text 3"/>
          <p:cNvSpPr txBox="1"/>
          <p:nvPr/>
        </p:nvSpPr>
        <p:spPr>
          <a:xfrm>
            <a:off x="1051560" y="2011680"/>
            <a:ext cx="10058400" cy="2057400"/>
          </a:xfrm>
          <a:prstGeom prst="rect">
            <a:avLst/>
          </a:prstGeom>
          <a:noFill/>
          <a:ln/>
        </p:spPr>
        <p:txBody>
          <a:bodyPr wrap="square" lIns="0" tIns="0" rIns="0" bIns="0" rtlCol="0" anchor="ctr"/>
          <a:lstStyle/>
          <a:p>
            <a:pPr marL="0" indent="0">
              <a:lnSpc>
                <a:spcPts val="3200"/>
              </a:lnSpc>
              <a:buNone/>
            </a:pPr>
            <a:r>
              <a:rPr lang="en-US" sz="2200" dirty="0">
                <a:solidFill>
                  <a:srgbClr val="16161A"/>
                </a:solidFill>
                <a:latin typeface="Cambria" pitchFamily="34" charset="0"/>
                <a:ea typeface="Cambria" pitchFamily="34" charset="-122"/>
                <a:cs typeface="Cambria" pitchFamily="34" charset="-120"/>
              </a:rPr>
              <a:t>You are assigned to the target recognition component of a military drone system. The training data has a known error rate for distinguishing civilian vehicles. Your work will improve that rate, but not eliminate the error.</a:t>
            </a:r>
            <a:endParaRPr lang="en-US" sz="2200" dirty="0"/>
          </a:p>
        </p:txBody>
      </p:sp>
      <p:sp>
        <p:nvSpPr>
          <p:cNvPr id="6" name="Shape 4"/>
          <p:cNvSpPr/>
          <p:nvPr/>
        </p:nvSpPr>
        <p:spPr>
          <a:xfrm>
            <a:off x="640080"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7" name="Text 5"/>
          <p:cNvSpPr txBox="1"/>
          <p:nvPr/>
        </p:nvSpPr>
        <p:spPr>
          <a:xfrm>
            <a:off x="640080"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Refuse</a:t>
            </a:r>
            <a:endParaRPr lang="en-US" sz="1500" dirty="0"/>
          </a:p>
        </p:txBody>
      </p:sp>
      <p:sp>
        <p:nvSpPr>
          <p:cNvPr id="8" name="Shape 6"/>
          <p:cNvSpPr/>
          <p:nvPr/>
        </p:nvSpPr>
        <p:spPr>
          <a:xfrm>
            <a:off x="3401568"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9" name="Text 7"/>
          <p:cNvSpPr txBox="1"/>
          <p:nvPr/>
        </p:nvSpPr>
        <p:spPr>
          <a:xfrm>
            <a:off x="3401568"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Object, then comply</a:t>
            </a:r>
            <a:endParaRPr lang="en-US" sz="1500" dirty="0"/>
          </a:p>
        </p:txBody>
      </p:sp>
      <p:sp>
        <p:nvSpPr>
          <p:cNvPr id="10" name="Shape 8"/>
          <p:cNvSpPr/>
          <p:nvPr/>
        </p:nvSpPr>
        <p:spPr>
          <a:xfrm>
            <a:off x="6163056"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1" name="Text 9"/>
          <p:cNvSpPr txBox="1"/>
          <p:nvPr/>
        </p:nvSpPr>
        <p:spPr>
          <a:xfrm>
            <a:off x="6163056"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Comply</a:t>
            </a:r>
            <a:endParaRPr lang="en-US" sz="1500" dirty="0"/>
          </a:p>
        </p:txBody>
      </p:sp>
      <p:sp>
        <p:nvSpPr>
          <p:cNvPr id="12" name="Shape 10"/>
          <p:cNvSpPr/>
          <p:nvPr/>
        </p:nvSpPr>
        <p:spPr>
          <a:xfrm>
            <a:off x="8924544"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3" name="Text 11"/>
          <p:cNvSpPr txBox="1"/>
          <p:nvPr/>
        </p:nvSpPr>
        <p:spPr>
          <a:xfrm>
            <a:off x="8924544"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Resign</a:t>
            </a:r>
            <a:endParaRPr lang="en-US" sz="1500" dirty="0"/>
          </a:p>
        </p:txBody>
      </p:sp>
    </p:spTree>
    <p:extLst>
      <p:ext uri="{BB962C8B-B14F-4D97-AF65-F5344CB8AC3E}">
        <p14:creationId xmlns:p14="http://schemas.microsoft.com/office/powerpoint/2010/main" val="288232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7315200" cy="365760"/>
          </a:xfrm>
          <a:prstGeom prst="rect">
            <a:avLst/>
          </a:prstGeom>
          <a:noFill/>
          <a:ln/>
        </p:spPr>
        <p:txBody>
          <a:bodyPr wrap="square" lIns="0" tIns="0" rIns="0" bIns="0" rtlCol="0" anchor="ctr"/>
          <a:lstStyle/>
          <a:p>
            <a:pPr marL="0" indent="0">
              <a:buNone/>
            </a:pPr>
            <a:endParaRPr lang="en-US" sz="1300" dirty="0"/>
          </a:p>
        </p:txBody>
      </p:sp>
      <p:sp>
        <p:nvSpPr>
          <p:cNvPr id="3" name="Text 1"/>
          <p:cNvSpPr txBox="1"/>
          <p:nvPr/>
        </p:nvSpPr>
        <p:spPr>
          <a:xfrm>
            <a:off x="640080" y="777240"/>
            <a:ext cx="7315200" cy="640080"/>
          </a:xfrm>
          <a:prstGeom prst="rect">
            <a:avLst/>
          </a:prstGeom>
          <a:noFill/>
          <a:ln/>
        </p:spPr>
        <p:txBody>
          <a:bodyPr wrap="square" lIns="0" tIns="0" rIns="0" bIns="0" rtlCol="0" anchor="ctr"/>
          <a:lstStyle/>
          <a:p>
            <a:pPr marL="0" indent="0">
              <a:buNone/>
            </a:pPr>
            <a:r>
              <a:rPr lang="en-US" sz="3200" b="1" dirty="0">
                <a:solidFill>
                  <a:srgbClr val="16161A"/>
                </a:solidFill>
                <a:latin typeface="Cambria" pitchFamily="34" charset="0"/>
                <a:ea typeface="Cambria" pitchFamily="34" charset="-122"/>
                <a:cs typeface="Cambria" pitchFamily="34" charset="-120"/>
              </a:rPr>
              <a:t>Scenario 4</a:t>
            </a:r>
            <a:endParaRPr lang="en-US" sz="3200" dirty="0"/>
          </a:p>
        </p:txBody>
      </p:sp>
      <p:sp>
        <p:nvSpPr>
          <p:cNvPr id="4" name="Shape 2"/>
          <p:cNvSpPr/>
          <p:nvPr/>
        </p:nvSpPr>
        <p:spPr>
          <a:xfrm>
            <a:off x="640080" y="1691640"/>
            <a:ext cx="10881360" cy="2651760"/>
          </a:xfrm>
          <a:prstGeom prst="roundRect">
            <a:avLst>
              <a:gd name="adj" fmla="val 2069"/>
            </a:avLst>
          </a:prstGeom>
          <a:solidFill>
            <a:srgbClr val="F0E7E6"/>
          </a:solidFill>
          <a:ln w="12700">
            <a:solidFill>
              <a:srgbClr val="F0E7E6"/>
            </a:solidFill>
            <a:prstDash val="solid"/>
          </a:ln>
        </p:spPr>
        <p:txBody>
          <a:bodyPr/>
          <a:lstStyle/>
          <a:p>
            <a:endParaRPr lang="en-PK"/>
          </a:p>
        </p:txBody>
      </p:sp>
      <p:sp>
        <p:nvSpPr>
          <p:cNvPr id="5" name="Text 3"/>
          <p:cNvSpPr txBox="1"/>
          <p:nvPr/>
        </p:nvSpPr>
        <p:spPr>
          <a:xfrm>
            <a:off x="1051560" y="2011680"/>
            <a:ext cx="10058400" cy="2057400"/>
          </a:xfrm>
          <a:prstGeom prst="rect">
            <a:avLst/>
          </a:prstGeom>
          <a:noFill/>
          <a:ln/>
        </p:spPr>
        <p:txBody>
          <a:bodyPr wrap="square" lIns="0" tIns="0" rIns="0" bIns="0" rtlCol="0" anchor="ctr"/>
          <a:lstStyle/>
          <a:p>
            <a:pPr marL="0" indent="0">
              <a:lnSpc>
                <a:spcPts val="3200"/>
              </a:lnSpc>
              <a:buNone/>
            </a:pPr>
            <a:r>
              <a:rPr lang="en-US" sz="2200" dirty="0">
                <a:solidFill>
                  <a:srgbClr val="16161A"/>
                </a:solidFill>
                <a:latin typeface="Cambria" pitchFamily="34" charset="0"/>
                <a:ea typeface="Cambria" pitchFamily="34" charset="-122"/>
                <a:cs typeface="Cambria" pitchFamily="34" charset="-120"/>
              </a:rPr>
              <a:t>You discover that a product you helped build has been quietly collecting more user data than the privacy policy states. Your contract has a confidentiality clause. Going public would breach it. Internal reports have gone nowhere for three months.</a:t>
            </a:r>
            <a:endParaRPr lang="en-US" sz="2200" dirty="0"/>
          </a:p>
        </p:txBody>
      </p:sp>
      <p:sp>
        <p:nvSpPr>
          <p:cNvPr id="6" name="Shape 4"/>
          <p:cNvSpPr/>
          <p:nvPr/>
        </p:nvSpPr>
        <p:spPr>
          <a:xfrm>
            <a:off x="640080"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7" name="Text 5"/>
          <p:cNvSpPr txBox="1"/>
          <p:nvPr/>
        </p:nvSpPr>
        <p:spPr>
          <a:xfrm>
            <a:off x="640080"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Refuse</a:t>
            </a:r>
            <a:endParaRPr lang="en-US" sz="1500" dirty="0"/>
          </a:p>
        </p:txBody>
      </p:sp>
      <p:sp>
        <p:nvSpPr>
          <p:cNvPr id="8" name="Shape 6"/>
          <p:cNvSpPr/>
          <p:nvPr/>
        </p:nvSpPr>
        <p:spPr>
          <a:xfrm>
            <a:off x="3401568"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9" name="Text 7"/>
          <p:cNvSpPr txBox="1"/>
          <p:nvPr/>
        </p:nvSpPr>
        <p:spPr>
          <a:xfrm>
            <a:off x="3401568"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Object, then comply</a:t>
            </a:r>
            <a:endParaRPr lang="en-US" sz="1500" dirty="0"/>
          </a:p>
        </p:txBody>
      </p:sp>
      <p:sp>
        <p:nvSpPr>
          <p:cNvPr id="10" name="Shape 8"/>
          <p:cNvSpPr/>
          <p:nvPr/>
        </p:nvSpPr>
        <p:spPr>
          <a:xfrm>
            <a:off x="6163056"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1" name="Text 9"/>
          <p:cNvSpPr txBox="1"/>
          <p:nvPr/>
        </p:nvSpPr>
        <p:spPr>
          <a:xfrm>
            <a:off x="6163056"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Comply</a:t>
            </a:r>
            <a:endParaRPr lang="en-US" sz="1500" dirty="0"/>
          </a:p>
        </p:txBody>
      </p:sp>
      <p:sp>
        <p:nvSpPr>
          <p:cNvPr id="12" name="Shape 10"/>
          <p:cNvSpPr/>
          <p:nvPr/>
        </p:nvSpPr>
        <p:spPr>
          <a:xfrm>
            <a:off x="8924544" y="4709160"/>
            <a:ext cx="2542032" cy="777240"/>
          </a:xfrm>
          <a:prstGeom prst="roundRect">
            <a:avLst>
              <a:gd name="adj" fmla="val 9412"/>
            </a:avLst>
          </a:prstGeom>
          <a:solidFill>
            <a:srgbClr val="16161A"/>
          </a:solidFill>
          <a:ln w="12700">
            <a:solidFill>
              <a:srgbClr val="16161A"/>
            </a:solidFill>
            <a:prstDash val="solid"/>
          </a:ln>
        </p:spPr>
        <p:txBody>
          <a:bodyPr/>
          <a:lstStyle/>
          <a:p>
            <a:endParaRPr lang="en-PK"/>
          </a:p>
        </p:txBody>
      </p:sp>
      <p:sp>
        <p:nvSpPr>
          <p:cNvPr id="13" name="Text 11"/>
          <p:cNvSpPr txBox="1"/>
          <p:nvPr/>
        </p:nvSpPr>
        <p:spPr>
          <a:xfrm>
            <a:off x="8924544" y="470916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Resign</a:t>
            </a:r>
            <a:endParaRPr lang="en-US" sz="1500" dirty="0"/>
          </a:p>
        </p:txBody>
      </p:sp>
    </p:spTree>
    <p:extLst>
      <p:ext uri="{BB962C8B-B14F-4D97-AF65-F5344CB8AC3E}">
        <p14:creationId xmlns:p14="http://schemas.microsoft.com/office/powerpoint/2010/main" val="799491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bg>
      <p:bgPr>
        <a:solidFill>
          <a:srgbClr val="16161A"/>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73152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Name the principle</a:t>
            </a:r>
            <a:endParaRPr lang="en-US" sz="3200" dirty="0"/>
          </a:p>
        </p:txBody>
      </p:sp>
      <p:sp>
        <p:nvSpPr>
          <p:cNvPr id="3" name="Text 1"/>
          <p:cNvSpPr txBox="1"/>
          <p:nvPr/>
        </p:nvSpPr>
        <p:spPr>
          <a:xfrm>
            <a:off x="713232" y="1097280"/>
            <a:ext cx="7772400" cy="365760"/>
          </a:xfrm>
          <a:prstGeom prst="rect">
            <a:avLst/>
          </a:prstGeom>
          <a:noFill/>
          <a:ln/>
        </p:spPr>
        <p:txBody>
          <a:bodyPr wrap="square" lIns="0" tIns="0" rIns="0" bIns="0" rtlCol="0" anchor="ctr"/>
          <a:lstStyle/>
          <a:p>
            <a:pPr marL="0" indent="0">
              <a:buNone/>
            </a:pPr>
            <a:r>
              <a:rPr lang="en-US" sz="1500" dirty="0">
                <a:solidFill>
                  <a:srgbClr val="E2707C"/>
                </a:solidFill>
                <a:latin typeface="Calibri" pitchFamily="34" charset="0"/>
                <a:ea typeface="Calibri" pitchFamily="34" charset="-122"/>
                <a:cs typeface="Calibri" pitchFamily="34" charset="-120"/>
              </a:rPr>
              <a:t>Case first this time. You tell me which of the eight it breaks.</a:t>
            </a:r>
            <a:endParaRPr lang="en-US" sz="1500" dirty="0"/>
          </a:p>
        </p:txBody>
      </p:sp>
      <p:sp>
        <p:nvSpPr>
          <p:cNvPr id="4" name="Shape 2"/>
          <p:cNvSpPr/>
          <p:nvPr/>
        </p:nvSpPr>
        <p:spPr>
          <a:xfrm>
            <a:off x="658368" y="1737360"/>
            <a:ext cx="6949440" cy="2788920"/>
          </a:xfrm>
          <a:prstGeom prst="roundRect">
            <a:avLst>
              <a:gd name="adj" fmla="val 1967"/>
            </a:avLst>
          </a:prstGeom>
          <a:solidFill>
            <a:srgbClr val="22222A"/>
          </a:solidFill>
          <a:ln w="12700">
            <a:solidFill>
              <a:srgbClr val="3A3A45"/>
            </a:solidFill>
            <a:prstDash val="solid"/>
          </a:ln>
        </p:spPr>
        <p:txBody>
          <a:bodyPr/>
          <a:lstStyle/>
          <a:p>
            <a:endParaRPr lang="en-PK"/>
          </a:p>
        </p:txBody>
      </p:sp>
      <p:sp>
        <p:nvSpPr>
          <p:cNvPr id="5" name="Text 3"/>
          <p:cNvSpPr txBox="1"/>
          <p:nvPr/>
        </p:nvSpPr>
        <p:spPr>
          <a:xfrm>
            <a:off x="960120" y="2011680"/>
            <a:ext cx="63093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Horizon, in the courtroom</a:t>
            </a:r>
            <a:endParaRPr lang="en-US" sz="2200" dirty="0"/>
          </a:p>
        </p:txBody>
      </p:sp>
      <p:sp>
        <p:nvSpPr>
          <p:cNvPr id="6" name="Text 4"/>
          <p:cNvSpPr txBox="1"/>
          <p:nvPr/>
        </p:nvSpPr>
        <p:spPr>
          <a:xfrm>
            <a:off x="960120" y="2578608"/>
            <a:ext cx="6400800" cy="1737360"/>
          </a:xfrm>
          <a:prstGeom prst="rect">
            <a:avLst/>
          </a:prstGeom>
          <a:noFill/>
          <a:ln/>
        </p:spPr>
        <p:txBody>
          <a:bodyPr wrap="square" lIns="0" tIns="0" rIns="0" bIns="0" rtlCol="0" anchor="ctr"/>
          <a:lstStyle/>
          <a:p>
            <a:pPr marL="0" indent="0">
              <a:lnSpc>
                <a:spcPts val="2400"/>
              </a:lnSpc>
              <a:buNone/>
            </a:pPr>
            <a:r>
              <a:rPr lang="en-US" sz="1600" dirty="0">
                <a:solidFill>
                  <a:srgbClr val="C9C4C4"/>
                </a:solidFill>
                <a:latin typeface="Calibri" pitchFamily="34" charset="0"/>
                <a:ea typeface="Calibri" pitchFamily="34" charset="-122"/>
                <a:cs typeface="Calibri" pitchFamily="34" charset="-120"/>
              </a:rPr>
              <a:t>Technical staff from the software vendor gave evidence in court that the system was reliable, while internal records of known defects existed inside the company. That evidence helped convict people.</a:t>
            </a:r>
            <a:endParaRPr lang="en-US" sz="1600" dirty="0"/>
          </a:p>
        </p:txBody>
      </p:sp>
      <p:sp>
        <p:nvSpPr>
          <p:cNvPr id="7" name="Shape 5"/>
          <p:cNvSpPr/>
          <p:nvPr/>
        </p:nvSpPr>
        <p:spPr>
          <a:xfrm>
            <a:off x="658368" y="4846320"/>
            <a:ext cx="3291840" cy="640080"/>
          </a:xfrm>
          <a:prstGeom prst="roundRect">
            <a:avLst>
              <a:gd name="adj" fmla="val 11429"/>
            </a:avLst>
          </a:prstGeom>
          <a:solidFill>
            <a:srgbClr val="2C2C36"/>
          </a:solidFill>
          <a:ln w="12700">
            <a:solidFill>
              <a:srgbClr val="3A3A45"/>
            </a:solidFill>
            <a:prstDash val="solid"/>
          </a:ln>
        </p:spPr>
        <p:txBody>
          <a:bodyPr/>
          <a:lstStyle/>
          <a:p>
            <a:endParaRPr lang="en-PK"/>
          </a:p>
        </p:txBody>
      </p:sp>
      <p:sp>
        <p:nvSpPr>
          <p:cNvPr id="8" name="Text 6"/>
          <p:cNvSpPr txBox="1"/>
          <p:nvPr/>
        </p:nvSpPr>
        <p:spPr>
          <a:xfrm>
            <a:off x="658368" y="4846320"/>
            <a:ext cx="329184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PUBLIC</a:t>
            </a:r>
            <a:endParaRPr lang="en-US" sz="1500" dirty="0"/>
          </a:p>
        </p:txBody>
      </p:sp>
      <p:sp>
        <p:nvSpPr>
          <p:cNvPr id="9" name="Shape 7"/>
          <p:cNvSpPr/>
          <p:nvPr/>
        </p:nvSpPr>
        <p:spPr>
          <a:xfrm>
            <a:off x="4315968" y="4846320"/>
            <a:ext cx="3291840" cy="640080"/>
          </a:xfrm>
          <a:prstGeom prst="roundRect">
            <a:avLst>
              <a:gd name="adj" fmla="val 11429"/>
            </a:avLst>
          </a:prstGeom>
          <a:solidFill>
            <a:srgbClr val="2C2C36"/>
          </a:solidFill>
          <a:ln w="12700">
            <a:solidFill>
              <a:srgbClr val="3A3A45"/>
            </a:solidFill>
            <a:prstDash val="solid"/>
          </a:ln>
        </p:spPr>
        <p:txBody>
          <a:bodyPr/>
          <a:lstStyle/>
          <a:p>
            <a:endParaRPr lang="en-PK"/>
          </a:p>
        </p:txBody>
      </p:sp>
      <p:sp>
        <p:nvSpPr>
          <p:cNvPr id="10" name="Text 8"/>
          <p:cNvSpPr txBox="1"/>
          <p:nvPr/>
        </p:nvSpPr>
        <p:spPr>
          <a:xfrm>
            <a:off x="4315968" y="4846320"/>
            <a:ext cx="329184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JUDGMENT</a:t>
            </a:r>
            <a:endParaRPr lang="en-US" sz="1500" dirty="0"/>
          </a:p>
        </p:txBody>
      </p:sp>
      <p:sp>
        <p:nvSpPr>
          <p:cNvPr id="11" name="Shape 9"/>
          <p:cNvSpPr/>
          <p:nvPr/>
        </p:nvSpPr>
        <p:spPr>
          <a:xfrm>
            <a:off x="658368" y="5623560"/>
            <a:ext cx="3291840" cy="640080"/>
          </a:xfrm>
          <a:prstGeom prst="roundRect">
            <a:avLst>
              <a:gd name="adj" fmla="val 11429"/>
            </a:avLst>
          </a:prstGeom>
          <a:solidFill>
            <a:srgbClr val="2C2C36"/>
          </a:solidFill>
          <a:ln w="12700">
            <a:solidFill>
              <a:srgbClr val="3A3A45"/>
            </a:solidFill>
            <a:prstDash val="solid"/>
          </a:ln>
        </p:spPr>
        <p:txBody>
          <a:bodyPr/>
          <a:lstStyle/>
          <a:p>
            <a:endParaRPr lang="en-PK"/>
          </a:p>
        </p:txBody>
      </p:sp>
      <p:sp>
        <p:nvSpPr>
          <p:cNvPr id="12" name="Text 10"/>
          <p:cNvSpPr txBox="1"/>
          <p:nvPr/>
        </p:nvSpPr>
        <p:spPr>
          <a:xfrm>
            <a:off x="658368" y="5623560"/>
            <a:ext cx="329184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COLLEAGUES</a:t>
            </a:r>
            <a:endParaRPr lang="en-US" sz="1500" dirty="0"/>
          </a:p>
        </p:txBody>
      </p:sp>
      <p:sp>
        <p:nvSpPr>
          <p:cNvPr id="13" name="Shape 11"/>
          <p:cNvSpPr/>
          <p:nvPr/>
        </p:nvSpPr>
        <p:spPr>
          <a:xfrm>
            <a:off x="4315968" y="5623560"/>
            <a:ext cx="3291840" cy="640080"/>
          </a:xfrm>
          <a:prstGeom prst="roundRect">
            <a:avLst>
              <a:gd name="adj" fmla="val 11429"/>
            </a:avLst>
          </a:prstGeom>
          <a:solidFill>
            <a:srgbClr val="2C2C36"/>
          </a:solidFill>
          <a:ln w="12700">
            <a:solidFill>
              <a:srgbClr val="3A3A45"/>
            </a:solidFill>
            <a:prstDash val="solid"/>
          </a:ln>
        </p:spPr>
        <p:txBody>
          <a:bodyPr/>
          <a:lstStyle/>
          <a:p>
            <a:endParaRPr lang="en-PK"/>
          </a:p>
        </p:txBody>
      </p:sp>
      <p:sp>
        <p:nvSpPr>
          <p:cNvPr id="14" name="Text 12"/>
          <p:cNvSpPr txBox="1"/>
          <p:nvPr/>
        </p:nvSpPr>
        <p:spPr>
          <a:xfrm>
            <a:off x="4315968" y="5623560"/>
            <a:ext cx="329184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MANAGEMENT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6161A"/>
        </a:solidFill>
        <a:effectLst/>
      </p:bgPr>
    </p:bg>
    <p:spTree>
      <p:nvGrpSpPr>
        <p:cNvPr id="1" name="">
          <a:extLst>
            <a:ext uri="{FF2B5EF4-FFF2-40B4-BE49-F238E27FC236}">
              <a16:creationId xmlns:a16="http://schemas.microsoft.com/office/drawing/2014/main" id="{FCBCE606-4EB9-97ED-A8ED-CA1227A89D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CECE83-CEF3-5697-25E2-64648A48836D}"/>
              </a:ext>
            </a:extLst>
          </p:cNvPr>
          <p:cNvSpPr txBox="1"/>
          <p:nvPr/>
        </p:nvSpPr>
        <p:spPr>
          <a:xfrm>
            <a:off x="685800" y="457200"/>
            <a:ext cx="73152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Name the principle</a:t>
            </a:r>
            <a:endParaRPr lang="en-US" sz="3200" dirty="0"/>
          </a:p>
        </p:txBody>
      </p:sp>
      <p:sp>
        <p:nvSpPr>
          <p:cNvPr id="3" name="Text 1">
            <a:extLst>
              <a:ext uri="{FF2B5EF4-FFF2-40B4-BE49-F238E27FC236}">
                <a16:creationId xmlns:a16="http://schemas.microsoft.com/office/drawing/2014/main" id="{AAC34FA2-BCFE-A242-2F2E-45DE66FED9DA}"/>
              </a:ext>
            </a:extLst>
          </p:cNvPr>
          <p:cNvSpPr txBox="1"/>
          <p:nvPr/>
        </p:nvSpPr>
        <p:spPr>
          <a:xfrm>
            <a:off x="713232" y="1097280"/>
            <a:ext cx="7772400" cy="365760"/>
          </a:xfrm>
          <a:prstGeom prst="rect">
            <a:avLst/>
          </a:prstGeom>
          <a:noFill/>
          <a:ln/>
        </p:spPr>
        <p:txBody>
          <a:bodyPr wrap="square" lIns="0" tIns="0" rIns="0" bIns="0" rtlCol="0" anchor="ctr"/>
          <a:lstStyle/>
          <a:p>
            <a:pPr marL="0" indent="0">
              <a:buNone/>
            </a:pPr>
            <a:endParaRPr lang="en-US" sz="1500" dirty="0"/>
          </a:p>
        </p:txBody>
      </p:sp>
      <p:sp>
        <p:nvSpPr>
          <p:cNvPr id="15" name="Shape 13">
            <a:extLst>
              <a:ext uri="{FF2B5EF4-FFF2-40B4-BE49-F238E27FC236}">
                <a16:creationId xmlns:a16="http://schemas.microsoft.com/office/drawing/2014/main" id="{FD458E0F-114E-FB47-1A68-83B520248E46}"/>
              </a:ext>
            </a:extLst>
          </p:cNvPr>
          <p:cNvSpPr/>
          <p:nvPr/>
        </p:nvSpPr>
        <p:spPr>
          <a:xfrm>
            <a:off x="8001000" y="1737360"/>
            <a:ext cx="3566160" cy="4297680"/>
          </a:xfrm>
          <a:prstGeom prst="roundRect">
            <a:avLst>
              <a:gd name="adj" fmla="val 1538"/>
            </a:avLst>
          </a:prstGeom>
          <a:solidFill>
            <a:srgbClr val="990011"/>
          </a:solidFill>
          <a:ln w="12700">
            <a:solidFill>
              <a:srgbClr val="990011"/>
            </a:solidFill>
            <a:prstDash val="solid"/>
          </a:ln>
        </p:spPr>
        <p:txBody>
          <a:bodyPr/>
          <a:lstStyle/>
          <a:p>
            <a:endParaRPr lang="en-PK"/>
          </a:p>
        </p:txBody>
      </p:sp>
      <p:sp>
        <p:nvSpPr>
          <p:cNvPr id="16" name="Text 14">
            <a:extLst>
              <a:ext uri="{FF2B5EF4-FFF2-40B4-BE49-F238E27FC236}">
                <a16:creationId xmlns:a16="http://schemas.microsoft.com/office/drawing/2014/main" id="{D899BA13-8794-EAAA-50FF-0942CE47166A}"/>
              </a:ext>
            </a:extLst>
          </p:cNvPr>
          <p:cNvSpPr txBox="1"/>
          <p:nvPr/>
        </p:nvSpPr>
        <p:spPr>
          <a:xfrm>
            <a:off x="8321040" y="2011680"/>
            <a:ext cx="2926080" cy="274320"/>
          </a:xfrm>
          <a:prstGeom prst="rect">
            <a:avLst/>
          </a:prstGeom>
          <a:noFill/>
          <a:ln/>
        </p:spPr>
        <p:txBody>
          <a:bodyPr wrap="square" lIns="0" tIns="0" rIns="0" bIns="0" rtlCol="0" anchor="ctr"/>
          <a:lstStyle/>
          <a:p>
            <a:pPr marL="0" indent="0">
              <a:buNone/>
            </a:pPr>
            <a:r>
              <a:rPr lang="en-US" sz="1100" b="1" kern="0" spc="200" dirty="0">
                <a:solidFill>
                  <a:srgbClr val="F5C6CB"/>
                </a:solidFill>
                <a:latin typeface="Calibri" pitchFamily="34" charset="0"/>
                <a:ea typeface="Calibri" pitchFamily="34" charset="-122"/>
                <a:cs typeface="Calibri" pitchFamily="34" charset="-120"/>
              </a:rPr>
              <a:t>ANSWER</a:t>
            </a:r>
            <a:endParaRPr lang="en-US" sz="1100" dirty="0"/>
          </a:p>
        </p:txBody>
      </p:sp>
      <p:sp>
        <p:nvSpPr>
          <p:cNvPr id="17" name="Text 15">
            <a:extLst>
              <a:ext uri="{FF2B5EF4-FFF2-40B4-BE49-F238E27FC236}">
                <a16:creationId xmlns:a16="http://schemas.microsoft.com/office/drawing/2014/main" id="{6E8FF2E8-7A13-12BD-4FE9-E2397318C0BC}"/>
              </a:ext>
            </a:extLst>
          </p:cNvPr>
          <p:cNvSpPr txBox="1"/>
          <p:nvPr/>
        </p:nvSpPr>
        <p:spPr>
          <a:xfrm>
            <a:off x="8321040" y="2395728"/>
            <a:ext cx="301752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JUDGMENT</a:t>
            </a:r>
            <a:endParaRPr lang="en-US" sz="2600" dirty="0"/>
          </a:p>
        </p:txBody>
      </p:sp>
      <p:sp>
        <p:nvSpPr>
          <p:cNvPr id="18" name="Text 16">
            <a:extLst>
              <a:ext uri="{FF2B5EF4-FFF2-40B4-BE49-F238E27FC236}">
                <a16:creationId xmlns:a16="http://schemas.microsoft.com/office/drawing/2014/main" id="{D3B8E5B4-5A10-5250-1682-A59777F0B682}"/>
              </a:ext>
            </a:extLst>
          </p:cNvPr>
          <p:cNvSpPr txBox="1"/>
          <p:nvPr/>
        </p:nvSpPr>
        <p:spPr>
          <a:xfrm>
            <a:off x="8321040" y="3063240"/>
            <a:ext cx="3017520" cy="2743200"/>
          </a:xfrm>
          <a:prstGeom prst="rect">
            <a:avLst/>
          </a:prstGeom>
          <a:noFill/>
          <a:ln/>
        </p:spPr>
        <p:txBody>
          <a:bodyPr wrap="square" lIns="0" tIns="0" rIns="0" bIns="0" rtlCol="0" anchor="ctr"/>
          <a:lstStyle/>
          <a:p>
            <a:pPr marL="0" indent="0">
              <a:lnSpc>
                <a:spcPts val="2200"/>
              </a:lnSpc>
              <a:buNone/>
            </a:pPr>
            <a:r>
              <a:rPr lang="en-US" sz="1500" dirty="0">
                <a:solidFill>
                  <a:srgbClr val="FBE3E6"/>
                </a:solidFill>
                <a:latin typeface="Calibri" pitchFamily="34" charset="0"/>
                <a:ea typeface="Calibri" pitchFamily="34" charset="-122"/>
                <a:cs typeface="Calibri" pitchFamily="34" charset="-120"/>
              </a:rPr>
              <a:t>Maintain integrity and independence in your professional judgment. An expert opinion is not a service you provide to whoever is paying.</a:t>
            </a:r>
            <a:endParaRPr lang="en-US" sz="1500" dirty="0"/>
          </a:p>
        </p:txBody>
      </p:sp>
    </p:spTree>
    <p:extLst>
      <p:ext uri="{BB962C8B-B14F-4D97-AF65-F5344CB8AC3E}">
        <p14:creationId xmlns:p14="http://schemas.microsoft.com/office/powerpoint/2010/main" val="3467506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CF6F5"/>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marL="0" indent="0">
              <a:buNone/>
            </a:pPr>
            <a:r>
              <a:rPr lang="en-US" sz="3200" b="1" dirty="0">
                <a:solidFill>
                  <a:srgbClr val="16161A"/>
                </a:solidFill>
                <a:latin typeface="Cambria" pitchFamily="34" charset="0"/>
                <a:ea typeface="Cambria" pitchFamily="34" charset="-122"/>
                <a:cs typeface="Cambria" pitchFamily="34" charset="-120"/>
              </a:rPr>
              <a:t>Why privacy is a requirement, not a preference</a:t>
            </a:r>
            <a:endParaRPr lang="en-US" sz="3200" dirty="0"/>
          </a:p>
        </p:txBody>
      </p:sp>
      <p:sp>
        <p:nvSpPr>
          <p:cNvPr id="3" name="Shape 1"/>
          <p:cNvSpPr/>
          <p:nvPr/>
        </p:nvSpPr>
        <p:spPr>
          <a:xfrm>
            <a:off x="640080" y="1170432"/>
            <a:ext cx="5532120" cy="3108960"/>
          </a:xfrm>
          <a:prstGeom prst="roundRect">
            <a:avLst>
              <a:gd name="adj" fmla="val 1765"/>
            </a:avLst>
          </a:prstGeom>
          <a:solidFill>
            <a:srgbClr val="16161A"/>
          </a:solidFill>
          <a:ln w="12700">
            <a:solidFill>
              <a:srgbClr val="16161A"/>
            </a:solidFill>
            <a:prstDash val="solid"/>
          </a:ln>
        </p:spPr>
        <p:txBody>
          <a:bodyPr/>
          <a:lstStyle/>
          <a:p>
            <a:endParaRPr lang="en-PK"/>
          </a:p>
        </p:txBody>
      </p:sp>
      <p:sp>
        <p:nvSpPr>
          <p:cNvPr id="4" name="Text 2"/>
          <p:cNvSpPr txBox="1"/>
          <p:nvPr/>
        </p:nvSpPr>
        <p:spPr>
          <a:xfrm>
            <a:off x="960120" y="1463040"/>
            <a:ext cx="49377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Vastaamo, Finland, 2020</a:t>
            </a:r>
            <a:endParaRPr lang="en-US" sz="2200" dirty="0"/>
          </a:p>
        </p:txBody>
      </p:sp>
      <p:sp>
        <p:nvSpPr>
          <p:cNvPr id="5" name="Text 3"/>
          <p:cNvSpPr txBox="1"/>
          <p:nvPr/>
        </p:nvSpPr>
        <p:spPr>
          <a:xfrm>
            <a:off x="960120" y="2103120"/>
            <a:ext cx="4937760" cy="2057400"/>
          </a:xfrm>
          <a:prstGeom prst="rect">
            <a:avLst/>
          </a:prstGeom>
          <a:noFill/>
          <a:ln/>
        </p:spPr>
        <p:txBody>
          <a:bodyPr wrap="square" lIns="0" tIns="0" rIns="0" bIns="0" rtlCol="0" anchor="ctr"/>
          <a:lstStyle/>
          <a:p>
            <a:pPr marL="0" indent="0">
              <a:lnSpc>
                <a:spcPts val="2100"/>
              </a:lnSpc>
              <a:buNone/>
            </a:pPr>
            <a:r>
              <a:rPr lang="en-US" sz="1400" dirty="0">
                <a:solidFill>
                  <a:srgbClr val="C9C4C4"/>
                </a:solidFill>
                <a:latin typeface="Calibri" pitchFamily="34" charset="0"/>
                <a:ea typeface="Calibri" pitchFamily="34" charset="-122"/>
                <a:cs typeface="Calibri" pitchFamily="34" charset="-120"/>
              </a:rPr>
              <a:t>A private psychotherapy provider's patient database was breached. The records included session notes.</a:t>
            </a:r>
            <a:endParaRPr lang="en-US" sz="1400" dirty="0"/>
          </a:p>
          <a:p>
            <a:pPr marL="0" indent="0">
              <a:lnSpc>
                <a:spcPts val="2100"/>
              </a:lnSpc>
              <a:buNone/>
            </a:pPr>
            <a:endParaRPr lang="en-US" sz="1400" dirty="0"/>
          </a:p>
          <a:p>
            <a:pPr marL="0" indent="0">
              <a:lnSpc>
                <a:spcPts val="2100"/>
              </a:lnSpc>
              <a:buNone/>
            </a:pPr>
            <a:r>
              <a:rPr lang="en-US" sz="1400" dirty="0">
                <a:solidFill>
                  <a:srgbClr val="C9C4C4"/>
                </a:solidFill>
                <a:latin typeface="Calibri" pitchFamily="34" charset="0"/>
                <a:ea typeface="Calibri" pitchFamily="34" charset="-122"/>
                <a:cs typeface="Calibri" pitchFamily="34" charset="-120"/>
              </a:rPr>
              <a:t>Patients were then contacted individually and threatened with publication of their own notes.</a:t>
            </a:r>
            <a:endParaRPr lang="en-US" sz="1400" dirty="0"/>
          </a:p>
          <a:p>
            <a:pPr marL="0" indent="0">
              <a:lnSpc>
                <a:spcPts val="2100"/>
              </a:lnSpc>
              <a:buNone/>
            </a:pPr>
            <a:endParaRPr lang="en-US" sz="1400" dirty="0"/>
          </a:p>
          <a:p>
            <a:pPr marL="0" indent="0">
              <a:lnSpc>
                <a:spcPts val="2100"/>
              </a:lnSpc>
              <a:buNone/>
            </a:pPr>
            <a:r>
              <a:rPr lang="en-US" sz="1400" dirty="0">
                <a:solidFill>
                  <a:srgbClr val="C9C4C4"/>
                </a:solidFill>
                <a:latin typeface="Calibri" pitchFamily="34" charset="0"/>
                <a:ea typeface="Calibri" pitchFamily="34" charset="-122"/>
                <a:cs typeface="Calibri" pitchFamily="34" charset="-120"/>
              </a:rPr>
              <a:t>The company went bankrupt. A conviction followed in 2024.</a:t>
            </a:r>
            <a:endParaRPr lang="en-US" sz="1400" dirty="0"/>
          </a:p>
        </p:txBody>
      </p:sp>
      <p:sp>
        <p:nvSpPr>
          <p:cNvPr id="6" name="Shape 4"/>
          <p:cNvSpPr/>
          <p:nvPr/>
        </p:nvSpPr>
        <p:spPr>
          <a:xfrm>
            <a:off x="6537960" y="1170432"/>
            <a:ext cx="5001768" cy="3108960"/>
          </a:xfrm>
          <a:prstGeom prst="roundRect">
            <a:avLst>
              <a:gd name="adj" fmla="val 1765"/>
            </a:avLst>
          </a:prstGeom>
          <a:solidFill>
            <a:srgbClr val="F0E7E6"/>
          </a:solidFill>
          <a:ln w="12700">
            <a:solidFill>
              <a:srgbClr val="F0E7E6"/>
            </a:solidFill>
            <a:prstDash val="solid"/>
          </a:ln>
        </p:spPr>
        <p:txBody>
          <a:bodyPr/>
          <a:lstStyle/>
          <a:p>
            <a:endParaRPr lang="en-PK"/>
          </a:p>
        </p:txBody>
      </p:sp>
      <p:sp>
        <p:nvSpPr>
          <p:cNvPr id="7" name="Text 5"/>
          <p:cNvSpPr txBox="1"/>
          <p:nvPr/>
        </p:nvSpPr>
        <p:spPr>
          <a:xfrm>
            <a:off x="6858000" y="1463040"/>
            <a:ext cx="4389120" cy="457200"/>
          </a:xfrm>
          <a:prstGeom prst="rect">
            <a:avLst/>
          </a:prstGeom>
          <a:noFill/>
          <a:ln/>
        </p:spPr>
        <p:txBody>
          <a:bodyPr wrap="square" lIns="0" tIns="0" rIns="0" bIns="0" rtlCol="0" anchor="ctr"/>
          <a:lstStyle/>
          <a:p>
            <a:pPr marL="0" indent="0">
              <a:buNone/>
            </a:pPr>
            <a:r>
              <a:rPr lang="en-US" sz="2200" b="1" dirty="0">
                <a:solidFill>
                  <a:srgbClr val="16161A"/>
                </a:solidFill>
                <a:latin typeface="Cambria" pitchFamily="34" charset="0"/>
                <a:ea typeface="Cambria" pitchFamily="34" charset="-122"/>
                <a:cs typeface="Cambria" pitchFamily="34" charset="-120"/>
              </a:rPr>
              <a:t>The engineering point</a:t>
            </a:r>
            <a:endParaRPr lang="en-US" sz="2200" dirty="0"/>
          </a:p>
        </p:txBody>
      </p:sp>
      <p:sp>
        <p:nvSpPr>
          <p:cNvPr id="8" name="Text 6"/>
          <p:cNvSpPr txBox="1"/>
          <p:nvPr/>
        </p:nvSpPr>
        <p:spPr>
          <a:xfrm>
            <a:off x="6858000" y="2103120"/>
            <a:ext cx="4434840" cy="2057400"/>
          </a:xfrm>
          <a:prstGeom prst="rect">
            <a:avLst/>
          </a:prstGeom>
          <a:noFill/>
          <a:ln/>
        </p:spPr>
        <p:txBody>
          <a:bodyPr wrap="square" lIns="0" tIns="0" rIns="0" bIns="0" rtlCol="0" anchor="ctr"/>
          <a:lstStyle/>
          <a:p>
            <a:pPr marL="0" indent="0">
              <a:lnSpc>
                <a:spcPts val="2100"/>
              </a:lnSpc>
              <a:buNone/>
            </a:pPr>
            <a:r>
              <a:rPr lang="en-US" sz="1400" dirty="0">
                <a:solidFill>
                  <a:srgbClr val="16161A"/>
                </a:solidFill>
                <a:latin typeface="Calibri" pitchFamily="34" charset="0"/>
                <a:ea typeface="Calibri" pitchFamily="34" charset="-122"/>
                <a:cs typeface="Calibri" pitchFamily="34" charset="-120"/>
              </a:rPr>
              <a:t>For most systems, a breach costs money and reputation.</a:t>
            </a:r>
            <a:endParaRPr lang="en-US" sz="1400" dirty="0"/>
          </a:p>
          <a:p>
            <a:pPr marL="0" indent="0">
              <a:lnSpc>
                <a:spcPts val="2100"/>
              </a:lnSpc>
              <a:buNone/>
            </a:pPr>
            <a:endParaRPr lang="en-US" sz="1400" dirty="0"/>
          </a:p>
          <a:p>
            <a:pPr marL="0" indent="0">
              <a:lnSpc>
                <a:spcPts val="2100"/>
              </a:lnSpc>
              <a:buNone/>
            </a:pPr>
            <a:r>
              <a:rPr lang="en-US" sz="1400" dirty="0">
                <a:solidFill>
                  <a:srgbClr val="16161A"/>
                </a:solidFill>
                <a:latin typeface="Calibri" pitchFamily="34" charset="0"/>
                <a:ea typeface="Calibri" pitchFamily="34" charset="-122"/>
                <a:cs typeface="Calibri" pitchFamily="34" charset="-120"/>
              </a:rPr>
              <a:t>Here the data itself is the weapon. No later apology reduces the harm.</a:t>
            </a:r>
            <a:endParaRPr lang="en-US" sz="1400" dirty="0"/>
          </a:p>
          <a:p>
            <a:pPr marL="0" indent="0">
              <a:lnSpc>
                <a:spcPts val="2100"/>
              </a:lnSpc>
              <a:buNone/>
            </a:pPr>
            <a:endParaRPr lang="en-US" sz="1400" dirty="0"/>
          </a:p>
          <a:p>
            <a:pPr marL="0" indent="0">
              <a:lnSpc>
                <a:spcPts val="2100"/>
              </a:lnSpc>
              <a:buNone/>
            </a:pPr>
            <a:r>
              <a:rPr lang="en-US" sz="1400" dirty="0">
                <a:solidFill>
                  <a:srgbClr val="16161A"/>
                </a:solidFill>
                <a:latin typeface="Calibri" pitchFamily="34" charset="0"/>
                <a:ea typeface="Calibri" pitchFamily="34" charset="-122"/>
                <a:cs typeface="Calibri" pitchFamily="34" charset="-120"/>
              </a:rPr>
              <a:t>That is why confidentiality sits in MHC-PMS as a requirement carrying the same weight as availability.</a:t>
            </a:r>
            <a:endParaRPr lang="en-US" sz="1400" dirty="0"/>
          </a:p>
        </p:txBody>
      </p:sp>
      <p:sp>
        <p:nvSpPr>
          <p:cNvPr id="9" name="Shape 7"/>
          <p:cNvSpPr/>
          <p:nvPr/>
        </p:nvSpPr>
        <p:spPr>
          <a:xfrm>
            <a:off x="640080" y="4462272"/>
            <a:ext cx="10899648" cy="1508760"/>
          </a:xfrm>
          <a:prstGeom prst="roundRect">
            <a:avLst>
              <a:gd name="adj" fmla="val 3636"/>
            </a:avLst>
          </a:prstGeom>
          <a:solidFill>
            <a:srgbClr val="990011"/>
          </a:solidFill>
          <a:ln w="12700">
            <a:solidFill>
              <a:srgbClr val="990011"/>
            </a:solidFill>
            <a:prstDash val="solid"/>
          </a:ln>
        </p:spPr>
        <p:txBody>
          <a:bodyPr/>
          <a:lstStyle/>
          <a:p>
            <a:endParaRPr lang="en-PK"/>
          </a:p>
        </p:txBody>
      </p:sp>
      <p:sp>
        <p:nvSpPr>
          <p:cNvPr id="10" name="Text 8"/>
          <p:cNvSpPr txBox="1"/>
          <p:nvPr/>
        </p:nvSpPr>
        <p:spPr>
          <a:xfrm>
            <a:off x="1005840" y="4681728"/>
            <a:ext cx="10149840" cy="274320"/>
          </a:xfrm>
          <a:prstGeom prst="rect">
            <a:avLst/>
          </a:prstGeom>
          <a:noFill/>
          <a:ln/>
        </p:spPr>
        <p:txBody>
          <a:bodyPr wrap="square" lIns="0" tIns="0" rIns="0" bIns="0" rtlCol="0" anchor="ctr"/>
          <a:lstStyle/>
          <a:p>
            <a:pPr marL="0" indent="0">
              <a:buNone/>
            </a:pPr>
            <a:endParaRPr lang="en-US" sz="1100" dirty="0"/>
          </a:p>
        </p:txBody>
      </p:sp>
      <p:sp>
        <p:nvSpPr>
          <p:cNvPr id="11" name="Text 9"/>
          <p:cNvSpPr txBox="1"/>
          <p:nvPr/>
        </p:nvSpPr>
        <p:spPr>
          <a:xfrm>
            <a:off x="1005840" y="5029200"/>
            <a:ext cx="10149840" cy="822960"/>
          </a:xfrm>
          <a:prstGeom prst="rect">
            <a:avLst/>
          </a:prstGeom>
          <a:noFill/>
          <a:ln/>
        </p:spPr>
        <p:txBody>
          <a:bodyPr wrap="square" lIns="0" tIns="0" rIns="0" bIns="0" rtlCol="0" anchor="ctr"/>
          <a:lstStyle/>
          <a:p>
            <a:pPr marL="0" indent="0">
              <a:lnSpc>
                <a:spcPts val="2800"/>
              </a:lnSpc>
              <a:buNone/>
            </a:pPr>
            <a:r>
              <a:rPr lang="en-US" sz="2100" b="1" dirty="0">
                <a:solidFill>
                  <a:srgbClr val="FFFFFF"/>
                </a:solidFill>
                <a:latin typeface="Cambria" pitchFamily="34" charset="0"/>
                <a:ea typeface="Cambria" pitchFamily="34" charset="-122"/>
                <a:cs typeface="Cambria" pitchFamily="34" charset="-120"/>
              </a:rPr>
              <a:t>The system needs offline copies on laptops for rural clinics. Name three requirements that this one decision forces on you.</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bg>
      <p:bgPr>
        <a:solidFill>
          <a:srgbClr val="16161A"/>
        </a:solidFill>
        <a:effectLst/>
      </p:bgPr>
    </p:bg>
    <p:spTree>
      <p:nvGrpSpPr>
        <p:cNvPr id="1" name=""/>
        <p:cNvGrpSpPr/>
        <p:nvPr/>
      </p:nvGrpSpPr>
      <p:grpSpPr>
        <a:xfrm>
          <a:off x="0" y="0"/>
          <a:ext cx="0" cy="0"/>
          <a:chOff x="0" y="0"/>
          <a:chExt cx="0" cy="0"/>
        </a:xfrm>
      </p:grpSpPr>
      <p:sp>
        <p:nvSpPr>
          <p:cNvPr id="2" name="Shape 0"/>
          <p:cNvSpPr/>
          <p:nvPr/>
        </p:nvSpPr>
        <p:spPr>
          <a:xfrm>
            <a:off x="5541264" y="2880360"/>
            <a:ext cx="1097280" cy="1097280"/>
          </a:xfrm>
          <a:prstGeom prst="ellipse">
            <a:avLst/>
          </a:prstGeom>
          <a:ln w="9525">
            <a:solidFill>
              <a:srgbClr val="990011">
                <a:alpha val="55000"/>
              </a:srgbClr>
            </a:solidFill>
            <a:prstDash val="solid"/>
          </a:ln>
        </p:spPr>
        <p:txBody>
          <a:bodyPr/>
          <a:lstStyle/>
          <a:p>
            <a:endParaRPr lang="en-PK"/>
          </a:p>
        </p:txBody>
      </p:sp>
      <p:sp>
        <p:nvSpPr>
          <p:cNvPr id="3" name="Shape 1"/>
          <p:cNvSpPr/>
          <p:nvPr/>
        </p:nvSpPr>
        <p:spPr>
          <a:xfrm>
            <a:off x="5065776" y="2404872"/>
            <a:ext cx="2048256" cy="2048256"/>
          </a:xfrm>
          <a:prstGeom prst="ellipse">
            <a:avLst/>
          </a:prstGeom>
          <a:ln w="9525">
            <a:solidFill>
              <a:srgbClr val="990011">
                <a:alpha val="49000"/>
              </a:srgbClr>
            </a:solidFill>
            <a:prstDash val="solid"/>
          </a:ln>
        </p:spPr>
        <p:txBody>
          <a:bodyPr/>
          <a:lstStyle/>
          <a:p>
            <a:endParaRPr lang="en-PK"/>
          </a:p>
        </p:txBody>
      </p:sp>
      <p:sp>
        <p:nvSpPr>
          <p:cNvPr id="4" name="Shape 2"/>
          <p:cNvSpPr/>
          <p:nvPr/>
        </p:nvSpPr>
        <p:spPr>
          <a:xfrm>
            <a:off x="4590288" y="1929384"/>
            <a:ext cx="2999232" cy="2999232"/>
          </a:xfrm>
          <a:prstGeom prst="ellipse">
            <a:avLst/>
          </a:prstGeom>
          <a:ln w="9525">
            <a:solidFill>
              <a:srgbClr val="990011">
                <a:alpha val="43000"/>
              </a:srgbClr>
            </a:solidFill>
            <a:prstDash val="solid"/>
          </a:ln>
        </p:spPr>
        <p:txBody>
          <a:bodyPr/>
          <a:lstStyle/>
          <a:p>
            <a:endParaRPr lang="en-PK"/>
          </a:p>
        </p:txBody>
      </p:sp>
      <p:sp>
        <p:nvSpPr>
          <p:cNvPr id="5" name="Shape 3"/>
          <p:cNvSpPr/>
          <p:nvPr/>
        </p:nvSpPr>
        <p:spPr>
          <a:xfrm>
            <a:off x="4114800" y="1453896"/>
            <a:ext cx="3950208" cy="3950208"/>
          </a:xfrm>
          <a:prstGeom prst="ellipse">
            <a:avLst/>
          </a:prstGeom>
          <a:ln w="9525">
            <a:solidFill>
              <a:srgbClr val="990011">
                <a:alpha val="37000"/>
              </a:srgbClr>
            </a:solidFill>
            <a:prstDash val="solid"/>
          </a:ln>
        </p:spPr>
        <p:txBody>
          <a:bodyPr/>
          <a:lstStyle/>
          <a:p>
            <a:endParaRPr lang="en-PK"/>
          </a:p>
        </p:txBody>
      </p:sp>
      <p:sp>
        <p:nvSpPr>
          <p:cNvPr id="6" name="Shape 4"/>
          <p:cNvSpPr/>
          <p:nvPr/>
        </p:nvSpPr>
        <p:spPr>
          <a:xfrm>
            <a:off x="3639312" y="978408"/>
            <a:ext cx="4901184" cy="4901184"/>
          </a:xfrm>
          <a:prstGeom prst="ellipse">
            <a:avLst/>
          </a:prstGeom>
          <a:ln w="9525">
            <a:solidFill>
              <a:srgbClr val="990011">
                <a:alpha val="31000"/>
              </a:srgbClr>
            </a:solidFill>
            <a:prstDash val="solid"/>
          </a:ln>
        </p:spPr>
        <p:txBody>
          <a:bodyPr/>
          <a:lstStyle/>
          <a:p>
            <a:endParaRPr lang="en-PK"/>
          </a:p>
        </p:txBody>
      </p:sp>
      <p:sp>
        <p:nvSpPr>
          <p:cNvPr id="7" name="Shape 5"/>
          <p:cNvSpPr/>
          <p:nvPr/>
        </p:nvSpPr>
        <p:spPr>
          <a:xfrm>
            <a:off x="3163824" y="502920"/>
            <a:ext cx="5852160" cy="5852160"/>
          </a:xfrm>
          <a:prstGeom prst="ellipse">
            <a:avLst/>
          </a:prstGeom>
          <a:ln w="9525">
            <a:solidFill>
              <a:srgbClr val="990011">
                <a:alpha val="25000"/>
              </a:srgbClr>
            </a:solidFill>
            <a:prstDash val="solid"/>
          </a:ln>
        </p:spPr>
        <p:txBody>
          <a:bodyPr/>
          <a:lstStyle/>
          <a:p>
            <a:endParaRPr lang="en-PK"/>
          </a:p>
        </p:txBody>
      </p:sp>
      <p:sp>
        <p:nvSpPr>
          <p:cNvPr id="8" name="Shape 6"/>
          <p:cNvSpPr/>
          <p:nvPr/>
        </p:nvSpPr>
        <p:spPr>
          <a:xfrm>
            <a:off x="2688336" y="27432"/>
            <a:ext cx="6803136" cy="6803136"/>
          </a:xfrm>
          <a:prstGeom prst="ellipse">
            <a:avLst/>
          </a:prstGeom>
          <a:ln w="9525">
            <a:solidFill>
              <a:srgbClr val="990011">
                <a:alpha val="19000"/>
              </a:srgbClr>
            </a:solidFill>
            <a:prstDash val="solid"/>
          </a:ln>
        </p:spPr>
        <p:txBody>
          <a:bodyPr/>
          <a:lstStyle/>
          <a:p>
            <a:endParaRPr lang="en-PK"/>
          </a:p>
        </p:txBody>
      </p:sp>
      <p:sp>
        <p:nvSpPr>
          <p:cNvPr id="9" name="Shape 7"/>
          <p:cNvSpPr/>
          <p:nvPr/>
        </p:nvSpPr>
        <p:spPr>
          <a:xfrm>
            <a:off x="2212848" y="-448056"/>
            <a:ext cx="7754112" cy="7754112"/>
          </a:xfrm>
          <a:prstGeom prst="ellipse">
            <a:avLst/>
          </a:prstGeom>
          <a:ln w="9525">
            <a:solidFill>
              <a:srgbClr val="990011">
                <a:alpha val="13000"/>
              </a:srgbClr>
            </a:solidFill>
            <a:prstDash val="solid"/>
          </a:ln>
        </p:spPr>
        <p:txBody>
          <a:bodyPr/>
          <a:lstStyle/>
          <a:p>
            <a:endParaRPr lang="en-PK"/>
          </a:p>
        </p:txBody>
      </p:sp>
      <p:sp>
        <p:nvSpPr>
          <p:cNvPr id="10" name="Text 8"/>
          <p:cNvSpPr txBox="1"/>
          <p:nvPr/>
        </p:nvSpPr>
        <p:spPr>
          <a:xfrm>
            <a:off x="731520" y="685800"/>
            <a:ext cx="10698480" cy="548640"/>
          </a:xfrm>
          <a:prstGeom prst="rect">
            <a:avLst/>
          </a:prstGeom>
          <a:noFill/>
          <a:ln/>
        </p:spPr>
        <p:txBody>
          <a:bodyPr wrap="square" lIns="0" tIns="0" rIns="0" bIns="0" rtlCol="0" anchor="ctr"/>
          <a:lstStyle/>
          <a:p>
            <a:pPr marL="0" indent="0">
              <a:buNone/>
            </a:pPr>
            <a:endParaRPr lang="en-US" sz="1700" dirty="0"/>
          </a:p>
        </p:txBody>
      </p:sp>
      <p:sp>
        <p:nvSpPr>
          <p:cNvPr id="11" name="Shape 9"/>
          <p:cNvSpPr/>
          <p:nvPr/>
        </p:nvSpPr>
        <p:spPr>
          <a:xfrm>
            <a:off x="1463040" y="1508760"/>
            <a:ext cx="9235440" cy="2240280"/>
          </a:xfrm>
          <a:prstGeom prst="roundRect">
            <a:avLst>
              <a:gd name="adj" fmla="val 2449"/>
            </a:avLst>
          </a:prstGeom>
          <a:solidFill>
            <a:srgbClr val="22222A"/>
          </a:solidFill>
          <a:ln w="12700">
            <a:solidFill>
              <a:srgbClr val="3A3A45"/>
            </a:solidFill>
            <a:prstDash val="solid"/>
          </a:ln>
        </p:spPr>
        <p:txBody>
          <a:bodyPr/>
          <a:lstStyle/>
          <a:p>
            <a:endParaRPr lang="en-PK"/>
          </a:p>
        </p:txBody>
      </p:sp>
      <p:sp>
        <p:nvSpPr>
          <p:cNvPr id="12" name="Text 10"/>
          <p:cNvSpPr txBox="1"/>
          <p:nvPr/>
        </p:nvSpPr>
        <p:spPr>
          <a:xfrm>
            <a:off x="1874520" y="1874520"/>
            <a:ext cx="8412480" cy="1554480"/>
          </a:xfrm>
          <a:prstGeom prst="rect">
            <a:avLst/>
          </a:prstGeom>
          <a:noFill/>
          <a:ln/>
        </p:spPr>
        <p:txBody>
          <a:bodyPr wrap="square" lIns="0" tIns="0" rIns="0" bIns="0" rtlCol="0" anchor="ctr"/>
          <a:lstStyle/>
          <a:p>
            <a:pPr marL="0" indent="0">
              <a:lnSpc>
                <a:spcPts val="3400"/>
              </a:lnSpc>
              <a:buNone/>
            </a:pPr>
            <a:r>
              <a:rPr lang="en-US" sz="2500" b="1" dirty="0">
                <a:solidFill>
                  <a:srgbClr val="FFFFFF"/>
                </a:solidFill>
                <a:latin typeface="Cambria" pitchFamily="34" charset="0"/>
                <a:ea typeface="Cambria" pitchFamily="34" charset="-122"/>
                <a:cs typeface="Cambria" pitchFamily="34" charset="-120"/>
              </a:rPr>
              <a:t>You find a bug that will crash the payment system for about 1 user in 10,000. Shipping on time gets your team the bonus. Your lead says ship it.</a:t>
            </a:r>
            <a:endParaRPr lang="en-US" sz="2500" dirty="0"/>
          </a:p>
        </p:txBody>
      </p:sp>
      <p:sp>
        <p:nvSpPr>
          <p:cNvPr id="13" name="Shape 11"/>
          <p:cNvSpPr/>
          <p:nvPr/>
        </p:nvSpPr>
        <p:spPr>
          <a:xfrm>
            <a:off x="731520" y="4069080"/>
            <a:ext cx="2542032" cy="777240"/>
          </a:xfrm>
          <a:prstGeom prst="roundRect">
            <a:avLst>
              <a:gd name="adj" fmla="val 9412"/>
            </a:avLst>
          </a:prstGeom>
          <a:solidFill>
            <a:srgbClr val="2C2C36"/>
          </a:solidFill>
          <a:ln w="12700">
            <a:solidFill>
              <a:srgbClr val="3A3A45"/>
            </a:solidFill>
            <a:prstDash val="solid"/>
          </a:ln>
        </p:spPr>
        <p:txBody>
          <a:bodyPr/>
          <a:lstStyle/>
          <a:p>
            <a:endParaRPr lang="en-PK"/>
          </a:p>
        </p:txBody>
      </p:sp>
      <p:sp>
        <p:nvSpPr>
          <p:cNvPr id="14" name="Text 12"/>
          <p:cNvSpPr txBox="1"/>
          <p:nvPr/>
        </p:nvSpPr>
        <p:spPr>
          <a:xfrm>
            <a:off x="731520" y="406908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Refuse</a:t>
            </a:r>
            <a:endParaRPr lang="en-US" sz="1500" dirty="0"/>
          </a:p>
        </p:txBody>
      </p:sp>
      <p:sp>
        <p:nvSpPr>
          <p:cNvPr id="15" name="Shape 13"/>
          <p:cNvSpPr/>
          <p:nvPr/>
        </p:nvSpPr>
        <p:spPr>
          <a:xfrm>
            <a:off x="3493008" y="4069080"/>
            <a:ext cx="2542032" cy="777240"/>
          </a:xfrm>
          <a:prstGeom prst="roundRect">
            <a:avLst>
              <a:gd name="adj" fmla="val 9412"/>
            </a:avLst>
          </a:prstGeom>
          <a:solidFill>
            <a:srgbClr val="2C2C36"/>
          </a:solidFill>
          <a:ln w="12700">
            <a:solidFill>
              <a:srgbClr val="3A3A45"/>
            </a:solidFill>
            <a:prstDash val="solid"/>
          </a:ln>
        </p:spPr>
        <p:txBody>
          <a:bodyPr/>
          <a:lstStyle/>
          <a:p>
            <a:endParaRPr lang="en-PK"/>
          </a:p>
        </p:txBody>
      </p:sp>
      <p:sp>
        <p:nvSpPr>
          <p:cNvPr id="16" name="Text 14"/>
          <p:cNvSpPr txBox="1"/>
          <p:nvPr/>
        </p:nvSpPr>
        <p:spPr>
          <a:xfrm>
            <a:off x="3493008" y="406908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Object, then comply</a:t>
            </a:r>
            <a:endParaRPr lang="en-US" sz="1500" dirty="0"/>
          </a:p>
        </p:txBody>
      </p:sp>
      <p:sp>
        <p:nvSpPr>
          <p:cNvPr id="17" name="Shape 15"/>
          <p:cNvSpPr/>
          <p:nvPr/>
        </p:nvSpPr>
        <p:spPr>
          <a:xfrm>
            <a:off x="6254496" y="4069080"/>
            <a:ext cx="2542032" cy="777240"/>
          </a:xfrm>
          <a:prstGeom prst="roundRect">
            <a:avLst>
              <a:gd name="adj" fmla="val 9412"/>
            </a:avLst>
          </a:prstGeom>
          <a:solidFill>
            <a:srgbClr val="2C2C36"/>
          </a:solidFill>
          <a:ln w="12700">
            <a:solidFill>
              <a:srgbClr val="3A3A45"/>
            </a:solidFill>
            <a:prstDash val="solid"/>
          </a:ln>
        </p:spPr>
        <p:txBody>
          <a:bodyPr/>
          <a:lstStyle/>
          <a:p>
            <a:endParaRPr lang="en-PK"/>
          </a:p>
        </p:txBody>
      </p:sp>
      <p:sp>
        <p:nvSpPr>
          <p:cNvPr id="18" name="Text 16"/>
          <p:cNvSpPr txBox="1"/>
          <p:nvPr/>
        </p:nvSpPr>
        <p:spPr>
          <a:xfrm>
            <a:off x="6254496" y="406908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Comply</a:t>
            </a:r>
            <a:endParaRPr lang="en-US" sz="1500" dirty="0"/>
          </a:p>
        </p:txBody>
      </p:sp>
      <p:sp>
        <p:nvSpPr>
          <p:cNvPr id="19" name="Shape 17"/>
          <p:cNvSpPr/>
          <p:nvPr/>
        </p:nvSpPr>
        <p:spPr>
          <a:xfrm>
            <a:off x="9015984" y="4069080"/>
            <a:ext cx="2542032" cy="777240"/>
          </a:xfrm>
          <a:prstGeom prst="roundRect">
            <a:avLst>
              <a:gd name="adj" fmla="val 9412"/>
            </a:avLst>
          </a:prstGeom>
          <a:solidFill>
            <a:srgbClr val="2C2C36"/>
          </a:solidFill>
          <a:ln w="12700">
            <a:solidFill>
              <a:srgbClr val="3A3A45"/>
            </a:solidFill>
            <a:prstDash val="solid"/>
          </a:ln>
        </p:spPr>
        <p:txBody>
          <a:bodyPr/>
          <a:lstStyle/>
          <a:p>
            <a:endParaRPr lang="en-PK"/>
          </a:p>
        </p:txBody>
      </p:sp>
      <p:sp>
        <p:nvSpPr>
          <p:cNvPr id="20" name="Text 18"/>
          <p:cNvSpPr txBox="1"/>
          <p:nvPr/>
        </p:nvSpPr>
        <p:spPr>
          <a:xfrm>
            <a:off x="9015984" y="4069080"/>
            <a:ext cx="2542032"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Escalate</a:t>
            </a:r>
            <a:endParaRPr lang="en-US" sz="1500" dirty="0"/>
          </a:p>
        </p:txBody>
      </p:sp>
      <p:sp>
        <p:nvSpPr>
          <p:cNvPr id="21" name="Text 19"/>
          <p:cNvSpPr txBox="1"/>
          <p:nvPr/>
        </p:nvSpPr>
        <p:spPr>
          <a:xfrm>
            <a:off x="731520" y="5257800"/>
            <a:ext cx="10698480" cy="457200"/>
          </a:xfrm>
          <a:prstGeom prst="rect">
            <a:avLst/>
          </a:prstGeom>
          <a:noFill/>
          <a:ln/>
        </p:spPr>
        <p:txBody>
          <a:bodyPr wrap="square" lIns="0" tIns="0" rIns="0" bIns="0" rtlCol="0" anchor="ctr"/>
          <a:lstStyle/>
          <a:p>
            <a:pPr marL="0" indent="0">
              <a:buNone/>
            </a:pP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6161A"/>
        </a:solidFill>
        <a:effectLst/>
      </p:bgPr>
    </p:bg>
    <p:spTree>
      <p:nvGrpSpPr>
        <p:cNvPr id="1" name="">
          <a:extLst>
            <a:ext uri="{FF2B5EF4-FFF2-40B4-BE49-F238E27FC236}">
              <a16:creationId xmlns:a16="http://schemas.microsoft.com/office/drawing/2014/main" id="{8B70F36F-F398-0079-BA29-B54E338F883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FBEC4C-1784-0E95-054D-AF155F7A98E3}"/>
              </a:ext>
            </a:extLst>
          </p:cNvPr>
          <p:cNvSpPr/>
          <p:nvPr/>
        </p:nvSpPr>
        <p:spPr>
          <a:xfrm>
            <a:off x="5541264" y="2880360"/>
            <a:ext cx="1097280" cy="1097280"/>
          </a:xfrm>
          <a:prstGeom prst="ellipse">
            <a:avLst/>
          </a:prstGeom>
          <a:ln w="9525">
            <a:solidFill>
              <a:srgbClr val="990011">
                <a:alpha val="55000"/>
              </a:srgbClr>
            </a:solidFill>
            <a:prstDash val="solid"/>
          </a:ln>
        </p:spPr>
        <p:txBody>
          <a:bodyPr/>
          <a:lstStyle/>
          <a:p>
            <a:endParaRPr lang="en-PK"/>
          </a:p>
        </p:txBody>
      </p:sp>
      <p:sp>
        <p:nvSpPr>
          <p:cNvPr id="3" name="Shape 1">
            <a:extLst>
              <a:ext uri="{FF2B5EF4-FFF2-40B4-BE49-F238E27FC236}">
                <a16:creationId xmlns:a16="http://schemas.microsoft.com/office/drawing/2014/main" id="{42CADEF2-3920-0402-603A-39E973353B8D}"/>
              </a:ext>
            </a:extLst>
          </p:cNvPr>
          <p:cNvSpPr/>
          <p:nvPr/>
        </p:nvSpPr>
        <p:spPr>
          <a:xfrm>
            <a:off x="5065776" y="2404872"/>
            <a:ext cx="2048256" cy="2048256"/>
          </a:xfrm>
          <a:prstGeom prst="ellipse">
            <a:avLst/>
          </a:prstGeom>
          <a:ln w="9525">
            <a:solidFill>
              <a:srgbClr val="990011">
                <a:alpha val="49000"/>
              </a:srgbClr>
            </a:solidFill>
            <a:prstDash val="solid"/>
          </a:ln>
        </p:spPr>
        <p:txBody>
          <a:bodyPr/>
          <a:lstStyle/>
          <a:p>
            <a:endParaRPr lang="en-PK"/>
          </a:p>
        </p:txBody>
      </p:sp>
      <p:sp>
        <p:nvSpPr>
          <p:cNvPr id="4" name="Shape 2">
            <a:extLst>
              <a:ext uri="{FF2B5EF4-FFF2-40B4-BE49-F238E27FC236}">
                <a16:creationId xmlns:a16="http://schemas.microsoft.com/office/drawing/2014/main" id="{9523A431-DB78-EC9A-1216-479426946498}"/>
              </a:ext>
            </a:extLst>
          </p:cNvPr>
          <p:cNvSpPr/>
          <p:nvPr/>
        </p:nvSpPr>
        <p:spPr>
          <a:xfrm>
            <a:off x="4590288" y="1929384"/>
            <a:ext cx="2999232" cy="2999232"/>
          </a:xfrm>
          <a:prstGeom prst="ellipse">
            <a:avLst/>
          </a:prstGeom>
          <a:ln w="9525">
            <a:solidFill>
              <a:srgbClr val="990011">
                <a:alpha val="43000"/>
              </a:srgbClr>
            </a:solidFill>
            <a:prstDash val="solid"/>
          </a:ln>
        </p:spPr>
        <p:txBody>
          <a:bodyPr/>
          <a:lstStyle/>
          <a:p>
            <a:endParaRPr lang="en-PK"/>
          </a:p>
        </p:txBody>
      </p:sp>
      <p:sp>
        <p:nvSpPr>
          <p:cNvPr id="5" name="Shape 3">
            <a:extLst>
              <a:ext uri="{FF2B5EF4-FFF2-40B4-BE49-F238E27FC236}">
                <a16:creationId xmlns:a16="http://schemas.microsoft.com/office/drawing/2014/main" id="{CDEC04FC-6A49-289F-A253-761D74F656B0}"/>
              </a:ext>
            </a:extLst>
          </p:cNvPr>
          <p:cNvSpPr/>
          <p:nvPr/>
        </p:nvSpPr>
        <p:spPr>
          <a:xfrm>
            <a:off x="4114800" y="1453896"/>
            <a:ext cx="3950208" cy="3950208"/>
          </a:xfrm>
          <a:prstGeom prst="ellipse">
            <a:avLst/>
          </a:prstGeom>
          <a:ln w="9525">
            <a:solidFill>
              <a:srgbClr val="990011">
                <a:alpha val="37000"/>
              </a:srgbClr>
            </a:solidFill>
            <a:prstDash val="solid"/>
          </a:ln>
        </p:spPr>
        <p:txBody>
          <a:bodyPr/>
          <a:lstStyle/>
          <a:p>
            <a:endParaRPr lang="en-PK"/>
          </a:p>
        </p:txBody>
      </p:sp>
      <p:sp>
        <p:nvSpPr>
          <p:cNvPr id="6" name="Shape 4">
            <a:extLst>
              <a:ext uri="{FF2B5EF4-FFF2-40B4-BE49-F238E27FC236}">
                <a16:creationId xmlns:a16="http://schemas.microsoft.com/office/drawing/2014/main" id="{DD54CC13-4666-0DE8-0C2D-2104A07A9013}"/>
              </a:ext>
            </a:extLst>
          </p:cNvPr>
          <p:cNvSpPr/>
          <p:nvPr/>
        </p:nvSpPr>
        <p:spPr>
          <a:xfrm>
            <a:off x="3639312" y="978408"/>
            <a:ext cx="4901184" cy="4901184"/>
          </a:xfrm>
          <a:prstGeom prst="ellipse">
            <a:avLst/>
          </a:prstGeom>
          <a:ln w="9525">
            <a:solidFill>
              <a:srgbClr val="990011">
                <a:alpha val="31000"/>
              </a:srgbClr>
            </a:solidFill>
            <a:prstDash val="solid"/>
          </a:ln>
        </p:spPr>
        <p:txBody>
          <a:bodyPr/>
          <a:lstStyle/>
          <a:p>
            <a:endParaRPr lang="en-PK"/>
          </a:p>
        </p:txBody>
      </p:sp>
      <p:sp>
        <p:nvSpPr>
          <p:cNvPr id="7" name="Shape 5">
            <a:extLst>
              <a:ext uri="{FF2B5EF4-FFF2-40B4-BE49-F238E27FC236}">
                <a16:creationId xmlns:a16="http://schemas.microsoft.com/office/drawing/2014/main" id="{277622F0-7C2B-75C3-DBEB-044F4044C753}"/>
              </a:ext>
            </a:extLst>
          </p:cNvPr>
          <p:cNvSpPr/>
          <p:nvPr/>
        </p:nvSpPr>
        <p:spPr>
          <a:xfrm>
            <a:off x="3163824" y="502920"/>
            <a:ext cx="5852160" cy="5852160"/>
          </a:xfrm>
          <a:prstGeom prst="ellipse">
            <a:avLst/>
          </a:prstGeom>
          <a:ln w="9525">
            <a:solidFill>
              <a:srgbClr val="990011">
                <a:alpha val="25000"/>
              </a:srgbClr>
            </a:solidFill>
            <a:prstDash val="solid"/>
          </a:ln>
        </p:spPr>
        <p:txBody>
          <a:bodyPr/>
          <a:lstStyle/>
          <a:p>
            <a:endParaRPr lang="en-PK"/>
          </a:p>
        </p:txBody>
      </p:sp>
      <p:sp>
        <p:nvSpPr>
          <p:cNvPr id="8" name="Shape 6">
            <a:extLst>
              <a:ext uri="{FF2B5EF4-FFF2-40B4-BE49-F238E27FC236}">
                <a16:creationId xmlns:a16="http://schemas.microsoft.com/office/drawing/2014/main" id="{192921EB-C04D-7D6C-EE00-41263E8E4152}"/>
              </a:ext>
            </a:extLst>
          </p:cNvPr>
          <p:cNvSpPr/>
          <p:nvPr/>
        </p:nvSpPr>
        <p:spPr>
          <a:xfrm>
            <a:off x="2688336" y="27432"/>
            <a:ext cx="6803136" cy="6803136"/>
          </a:xfrm>
          <a:prstGeom prst="ellipse">
            <a:avLst/>
          </a:prstGeom>
          <a:ln w="9525">
            <a:solidFill>
              <a:srgbClr val="990011">
                <a:alpha val="19000"/>
              </a:srgbClr>
            </a:solidFill>
            <a:prstDash val="solid"/>
          </a:ln>
        </p:spPr>
        <p:txBody>
          <a:bodyPr/>
          <a:lstStyle/>
          <a:p>
            <a:endParaRPr lang="en-PK"/>
          </a:p>
        </p:txBody>
      </p:sp>
      <p:sp>
        <p:nvSpPr>
          <p:cNvPr id="9" name="Shape 7">
            <a:extLst>
              <a:ext uri="{FF2B5EF4-FFF2-40B4-BE49-F238E27FC236}">
                <a16:creationId xmlns:a16="http://schemas.microsoft.com/office/drawing/2014/main" id="{97E3136D-3E0E-4591-585F-F6D5A7AA641A}"/>
              </a:ext>
            </a:extLst>
          </p:cNvPr>
          <p:cNvSpPr/>
          <p:nvPr/>
        </p:nvSpPr>
        <p:spPr>
          <a:xfrm>
            <a:off x="2212848" y="-448056"/>
            <a:ext cx="7754112" cy="7754112"/>
          </a:xfrm>
          <a:prstGeom prst="ellipse">
            <a:avLst/>
          </a:prstGeom>
          <a:ln w="9525">
            <a:solidFill>
              <a:srgbClr val="990011">
                <a:alpha val="13000"/>
              </a:srgbClr>
            </a:solidFill>
            <a:prstDash val="solid"/>
          </a:ln>
        </p:spPr>
        <p:txBody>
          <a:bodyPr/>
          <a:lstStyle/>
          <a:p>
            <a:endParaRPr lang="en-PK"/>
          </a:p>
        </p:txBody>
      </p:sp>
      <p:sp>
        <p:nvSpPr>
          <p:cNvPr id="10" name="Text 8">
            <a:extLst>
              <a:ext uri="{FF2B5EF4-FFF2-40B4-BE49-F238E27FC236}">
                <a16:creationId xmlns:a16="http://schemas.microsoft.com/office/drawing/2014/main" id="{9E2F5BA1-DA09-953F-00B0-CE947BAE1702}"/>
              </a:ext>
            </a:extLst>
          </p:cNvPr>
          <p:cNvSpPr txBox="1"/>
          <p:nvPr/>
        </p:nvSpPr>
        <p:spPr>
          <a:xfrm>
            <a:off x="731520" y="685800"/>
            <a:ext cx="10698480" cy="548640"/>
          </a:xfrm>
          <a:prstGeom prst="rect">
            <a:avLst/>
          </a:prstGeom>
          <a:noFill/>
          <a:ln/>
        </p:spPr>
        <p:txBody>
          <a:bodyPr wrap="square" lIns="0" tIns="0" rIns="0" bIns="0" rtlCol="0" anchor="ctr"/>
          <a:lstStyle/>
          <a:p>
            <a:pPr marL="0" indent="0">
              <a:buNone/>
            </a:pPr>
            <a:endParaRPr lang="en-US" sz="1700" dirty="0"/>
          </a:p>
        </p:txBody>
      </p:sp>
      <p:sp>
        <p:nvSpPr>
          <p:cNvPr id="11" name="Shape 9">
            <a:extLst>
              <a:ext uri="{FF2B5EF4-FFF2-40B4-BE49-F238E27FC236}">
                <a16:creationId xmlns:a16="http://schemas.microsoft.com/office/drawing/2014/main" id="{54AF0051-9E83-D486-29A5-BD9ADA381113}"/>
              </a:ext>
            </a:extLst>
          </p:cNvPr>
          <p:cNvSpPr/>
          <p:nvPr/>
        </p:nvSpPr>
        <p:spPr>
          <a:xfrm>
            <a:off x="1463040" y="1508760"/>
            <a:ext cx="9235440" cy="2240280"/>
          </a:xfrm>
          <a:prstGeom prst="roundRect">
            <a:avLst>
              <a:gd name="adj" fmla="val 2449"/>
            </a:avLst>
          </a:prstGeom>
          <a:solidFill>
            <a:srgbClr val="22222A"/>
          </a:solidFill>
          <a:ln w="12700">
            <a:solidFill>
              <a:srgbClr val="3A3A45"/>
            </a:solidFill>
            <a:prstDash val="solid"/>
          </a:ln>
        </p:spPr>
        <p:txBody>
          <a:bodyPr/>
          <a:lstStyle/>
          <a:p>
            <a:endParaRPr lang="en-PK"/>
          </a:p>
        </p:txBody>
      </p:sp>
      <p:sp>
        <p:nvSpPr>
          <p:cNvPr id="12" name="Text 10">
            <a:extLst>
              <a:ext uri="{FF2B5EF4-FFF2-40B4-BE49-F238E27FC236}">
                <a16:creationId xmlns:a16="http://schemas.microsoft.com/office/drawing/2014/main" id="{18B38408-BF1E-F1A0-0F27-0D53DC42F57A}"/>
              </a:ext>
            </a:extLst>
          </p:cNvPr>
          <p:cNvSpPr txBox="1"/>
          <p:nvPr/>
        </p:nvSpPr>
        <p:spPr>
          <a:xfrm>
            <a:off x="1874520" y="1874520"/>
            <a:ext cx="8412480" cy="1554480"/>
          </a:xfrm>
          <a:prstGeom prst="rect">
            <a:avLst/>
          </a:prstGeom>
          <a:noFill/>
          <a:ln/>
        </p:spPr>
        <p:txBody>
          <a:bodyPr wrap="square" lIns="0" tIns="0" rIns="0" bIns="0" rtlCol="0" anchor="ctr"/>
          <a:lstStyle/>
          <a:p>
            <a:pPr marL="0" indent="0">
              <a:lnSpc>
                <a:spcPts val="3400"/>
              </a:lnSpc>
              <a:buNone/>
            </a:pPr>
            <a:r>
              <a:rPr lang="en-US" sz="2500" b="1" dirty="0">
                <a:solidFill>
                  <a:srgbClr val="FFFFFF"/>
                </a:solidFill>
                <a:latin typeface="Cambria" pitchFamily="34" charset="0"/>
                <a:ea typeface="Cambria" pitchFamily="34" charset="-122"/>
              </a:rPr>
              <a:t>Any Questions?</a:t>
            </a:r>
            <a:endParaRPr lang="en-US" sz="2500" dirty="0"/>
          </a:p>
        </p:txBody>
      </p:sp>
      <p:sp>
        <p:nvSpPr>
          <p:cNvPr id="21" name="Text 19">
            <a:extLst>
              <a:ext uri="{FF2B5EF4-FFF2-40B4-BE49-F238E27FC236}">
                <a16:creationId xmlns:a16="http://schemas.microsoft.com/office/drawing/2014/main" id="{4C1A54C3-2CCA-F563-49CB-BB6CA7DDD67A}"/>
              </a:ext>
            </a:extLst>
          </p:cNvPr>
          <p:cNvSpPr txBox="1"/>
          <p:nvPr/>
        </p:nvSpPr>
        <p:spPr>
          <a:xfrm>
            <a:off x="731520" y="5257800"/>
            <a:ext cx="10698480" cy="457200"/>
          </a:xfrm>
          <a:prstGeom prst="rect">
            <a:avLst/>
          </a:prstGeom>
          <a:noFill/>
          <a:ln/>
        </p:spPr>
        <p:txBody>
          <a:bodyPr wrap="square" lIns="0" tIns="0" rIns="0" bIns="0" rtlCol="0" anchor="ctr"/>
          <a:lstStyle/>
          <a:p>
            <a:pPr marL="0" indent="0">
              <a:buNone/>
            </a:pPr>
            <a:endParaRPr lang="en-US" sz="1900" dirty="0"/>
          </a:p>
        </p:txBody>
      </p:sp>
    </p:spTree>
    <p:extLst>
      <p:ext uri="{BB962C8B-B14F-4D97-AF65-F5344CB8AC3E}">
        <p14:creationId xmlns:p14="http://schemas.microsoft.com/office/powerpoint/2010/main" val="177760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746BA5DCC9394D8011CD1786C7798C" ma:contentTypeVersion="3" ma:contentTypeDescription="Create a new document." ma:contentTypeScope="" ma:versionID="4272aded7ec7d4c7253a29a16373bcfa">
  <xsd:schema xmlns:xsd="http://www.w3.org/2001/XMLSchema" xmlns:xs="http://www.w3.org/2001/XMLSchema" xmlns:p="http://schemas.microsoft.com/office/2006/metadata/properties" xmlns:ns2="bca22fdb-ae7c-4717-b631-3c9f88a96e59" targetNamespace="http://schemas.microsoft.com/office/2006/metadata/properties" ma:root="true" ma:fieldsID="938043f5702327063dcd06b1f0447230" ns2:_="">
    <xsd:import namespace="bca22fdb-ae7c-4717-b631-3c9f88a96e5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a22fdb-ae7c-4717-b631-3c9f88a96e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2579DD-D7FC-4027-A7AC-48F50DFB87B9}"/>
</file>

<file path=customXml/itemProps2.xml><?xml version="1.0" encoding="utf-8"?>
<ds:datastoreItem xmlns:ds="http://schemas.openxmlformats.org/officeDocument/2006/customXml" ds:itemID="{E2AABEF0-7002-408D-BA5E-BACF48643579}"/>
</file>

<file path=customXml/itemProps3.xml><?xml version="1.0" encoding="utf-8"?>
<ds:datastoreItem xmlns:ds="http://schemas.openxmlformats.org/officeDocument/2006/customXml" ds:itemID="{0FDAD35C-E858-4A95-BE24-6472C15644E0}"/>
</file>

<file path=docProps/app.xml><?xml version="1.0" encoding="utf-8"?>
<Properties xmlns="http://schemas.openxmlformats.org/officeDocument/2006/extended-properties" xmlns:vt="http://schemas.openxmlformats.org/officeDocument/2006/docPropsVTypes">
  <TotalTime>4042</TotalTime>
  <Words>6645</Words>
  <Application>Microsoft Office PowerPoint</Application>
  <PresentationFormat>Widescreen</PresentationFormat>
  <Paragraphs>313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Ethics</dc:title>
  <dc:subject>PptxGenJS Presentation</dc:subject>
  <dc:creator>Israr Ahmad</dc:creator>
  <cp:lastModifiedBy>Israr Ahmad Lecturer FCS</cp:lastModifiedBy>
  <cp:revision>8</cp:revision>
  <dcterms:created xsi:type="dcterms:W3CDTF">2026-09-06T16:56:07Z</dcterms:created>
  <dcterms:modified xsi:type="dcterms:W3CDTF">2026-09-09T12:20:08Z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0x010100D8746BA5DCC9394D8011CD1786C7798C</vt:lpwstr>
  </property>
  <property fmtid="{D5CDD505-2E9C-101B-9397-08002B2CF9AE}" pid="3" name="Order">
    <vt:r8>1100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