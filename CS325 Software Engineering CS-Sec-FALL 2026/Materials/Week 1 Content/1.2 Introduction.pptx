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334" r:id="rId3"/>
    <p:sldId id="260" r:id="rId4"/>
    <p:sldId id="304" r:id="rId5"/>
    <p:sldId id="305" r:id="rId6"/>
    <p:sldId id="263" r:id="rId7"/>
    <p:sldId id="264" r:id="rId8"/>
    <p:sldId id="303" r:id="rId9"/>
    <p:sldId id="306" r:id="rId10"/>
    <p:sldId id="338" r:id="rId11"/>
    <p:sldId id="339" r:id="rId12"/>
    <p:sldId id="340" r:id="rId13"/>
    <p:sldId id="341" r:id="rId14"/>
    <p:sldId id="337" r:id="rId15"/>
    <p:sldId id="336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89500" autoAdjust="0"/>
  </p:normalViewPr>
  <p:slideViewPr>
    <p:cSldViewPr>
      <p:cViewPr varScale="1">
        <p:scale>
          <a:sx n="62" d="100"/>
          <a:sy n="62" d="100"/>
        </p:scale>
        <p:origin x="165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4DA8AF8-5F3D-30E7-DC94-F229B1749C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8D0E6FCD-570D-9C28-B24C-B58A9B09EFC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E4B63E5-89F4-85F5-155C-45736A55B0D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9" name="Rectangle 5">
            <a:extLst>
              <a:ext uri="{FF2B5EF4-FFF2-40B4-BE49-F238E27FC236}">
                <a16:creationId xmlns:a16="http://schemas.microsoft.com/office/drawing/2014/main" id="{8C29E1D9-B644-1E1A-6D0E-382D9B3D5EF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3670" name="Rectangle 6">
            <a:extLst>
              <a:ext uri="{FF2B5EF4-FFF2-40B4-BE49-F238E27FC236}">
                <a16:creationId xmlns:a16="http://schemas.microsoft.com/office/drawing/2014/main" id="{B9DE7556-1FBE-1F50-0A7E-A6D924B15CC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3671" name="Rectangle 7">
            <a:extLst>
              <a:ext uri="{FF2B5EF4-FFF2-40B4-BE49-F238E27FC236}">
                <a16:creationId xmlns:a16="http://schemas.microsoft.com/office/drawing/2014/main" id="{1B1BF505-41F4-C6C2-0FC9-AB5AB90208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34A2D61-8F83-4BDB-B916-1045A4CBF77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614F20BF-3F47-8EA3-83A9-81E7A29A43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612ACB16-960C-A69A-B55A-89CC33854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553B3AE7-D666-43A9-3512-CBC54B22D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24D53B-1E10-4B9E-BB9E-00229E3042FC}" type="slidenum">
              <a:rPr lang="en-GB" altLang="en-US" smtClean="0"/>
              <a:pPr>
                <a:spcBef>
                  <a:spcPct val="0"/>
                </a:spcBef>
              </a:pPr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0E4B7EA1-4EB8-59B3-86EF-87E9DAB99D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46960673-C457-1840-DC55-B057FAFD7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DC941396-44F3-E4BE-095C-2C38D31FC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AF7176-1DED-482E-BB73-6C619419F278}" type="slidenum">
              <a:rPr lang="en-GB" altLang="en-US" smtClean="0"/>
              <a:pPr>
                <a:spcBef>
                  <a:spcPct val="0"/>
                </a:spcBef>
              </a:pPr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6608D7FB-8AED-2938-0AAD-C08E46B56B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3CF33980-BF04-8B4C-2371-3A16B2AD5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65CF339A-D5F8-8A4E-3EFF-3329CE01E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B3AA16C-7767-46C2-81F5-957C5AE45A0D}" type="slidenum">
              <a:rPr lang="en-GB" altLang="en-US" smtClean="0"/>
              <a:pPr>
                <a:spcBef>
                  <a:spcPct val="0"/>
                </a:spcBef>
              </a:pPr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EFA19937-50E7-A3B8-95D5-322050585F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8C0176A8-8767-8810-BA04-0BDC423D6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7E839A7D-6E45-4B9D-C3C1-01F893907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F4108F-CD84-4017-A556-AF2952C6E4DC}" type="slidenum">
              <a:rPr lang="en-GB" altLang="en-US" smtClean="0"/>
              <a:pPr>
                <a:spcBef>
                  <a:spcPct val="0"/>
                </a:spcBef>
              </a:pPr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7084A0BA-4C0D-0D62-B6D8-7DF7055F88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E4F51E2-6F92-8851-9455-E6E66B6B5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AC90AFFB-13DC-CA60-FCAC-529B3AD7E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F664903-0285-421D-A54E-560A1A633294}" type="slidenum">
              <a:rPr lang="en-GB" altLang="en-US" smtClean="0"/>
              <a:pPr>
                <a:spcBef>
                  <a:spcPct val="0"/>
                </a:spcBef>
              </a:pPr>
              <a:t>6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F7AF9068-6D20-3E37-A22B-3F310C6162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AD05DB7C-F49C-58F9-E350-3298FD01F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0D2A695D-6607-B41C-5936-EE8269A2F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C422A9-64C8-452B-836D-2DC6AD408E0D}" type="slidenum">
              <a:rPr lang="en-GB" altLang="en-US" smtClean="0"/>
              <a:pPr>
                <a:spcBef>
                  <a:spcPct val="0"/>
                </a:spcBef>
              </a:pPr>
              <a:t>7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58ED7DB3-B747-484C-48F6-BDC7859700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A3D1EEC8-5CB3-5EDB-C2B6-B520F8E49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09A9A262-E8E4-8A9F-36B3-DB114B96A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8E3073-4689-4CE3-B083-12AF9C954DCE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694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273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943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295400"/>
            <a:ext cx="4495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495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33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843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03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963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621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007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56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381000"/>
            <a:ext cx="22860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81000"/>
            <a:ext cx="67056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518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0" y="1295400"/>
            <a:ext cx="9144000" cy="5105400"/>
          </a:xfrm>
        </p:spPr>
        <p:txBody>
          <a:bodyPr/>
          <a:lstStyle/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25439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1295400"/>
            <a:ext cx="4495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495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630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>
            <a:extLst>
              <a:ext uri="{FF2B5EF4-FFF2-40B4-BE49-F238E27FC236}">
                <a16:creationId xmlns:a16="http://schemas.microsoft.com/office/drawing/2014/main" id="{135F49BB-0D2C-CC1E-118B-CCB5DB49AA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405563"/>
            <a:ext cx="46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7">
            <a:extLst>
              <a:ext uri="{FF2B5EF4-FFF2-40B4-BE49-F238E27FC236}">
                <a16:creationId xmlns:a16="http://schemas.microsoft.com/office/drawing/2014/main" id="{9673BEAF-5B5C-792B-495B-9203675FC7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81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4184A0DA-14E7-4AA3-1BE7-368EE3FC2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295400"/>
            <a:ext cx="9144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Text Box 9">
            <a:extLst>
              <a:ext uri="{FF2B5EF4-FFF2-40B4-BE49-F238E27FC236}">
                <a16:creationId xmlns:a16="http://schemas.microsoft.com/office/drawing/2014/main" id="{E0298B87-03DE-35FA-22A7-219933C9393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52500" y="6477000"/>
            <a:ext cx="7239000" cy="307975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>
            <a:solidFill>
              <a:schemeClr val="accent1">
                <a:lumMod val="2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400" b="1" dirty="0">
                <a:solidFill>
                  <a:schemeClr val="bg1"/>
                </a:solidFill>
              </a:rPr>
              <a:t>Ghulam Ishaq Khan Institute of Engineering Sciences and Technology, Topi</a:t>
            </a:r>
          </a:p>
        </p:txBody>
      </p:sp>
      <p:sp>
        <p:nvSpPr>
          <p:cNvPr id="1030" name="Text Box 10">
            <a:extLst>
              <a:ext uri="{FF2B5EF4-FFF2-40B4-BE49-F238E27FC236}">
                <a16:creationId xmlns:a16="http://schemas.microsoft.com/office/drawing/2014/main" id="{C20E37BB-7CD4-CEC1-36F8-B37610F906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0"/>
            <a:ext cx="9144000" cy="376238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b="1">
                <a:solidFill>
                  <a:schemeClr val="bg1"/>
                </a:solidFill>
              </a:rPr>
              <a:t>Lecture 01: Introduction</a:t>
            </a:r>
          </a:p>
        </p:txBody>
      </p:sp>
      <p:sp>
        <p:nvSpPr>
          <p:cNvPr id="1031" name="Text Box 11">
            <a:extLst>
              <a:ext uri="{FF2B5EF4-FFF2-40B4-BE49-F238E27FC236}">
                <a16:creationId xmlns:a16="http://schemas.microsoft.com/office/drawing/2014/main" id="{3270025B-45D6-9445-D7FF-DFFF334F634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0"/>
            <a:ext cx="5867400" cy="3693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b="1" dirty="0"/>
              <a:t>		          </a:t>
            </a:r>
            <a:r>
              <a:rPr lang="en-US" b="1" dirty="0">
                <a:solidFill>
                  <a:schemeClr val="bg1"/>
                </a:solidFill>
              </a:rPr>
              <a:t>CS325: Software Engineering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huzaifa.shah@giki.edu.p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mazon.com/s/ref=dp_byline_sr_book_1?ie=UTF8&amp;text=Roger+Pressman&amp;search-alias=books&amp;field-author=Roger+Pressman&amp;sort=relevanceran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mazon.com/s/ref=dp_byline_sr_book_2?ie=UTF8&amp;text=Bruce+Maxim&amp;search-alias=books&amp;field-author=Bruce+Maxim&amp;sort=relevancerank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52A8A32-B9AF-9C59-F405-ADB4323B52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590800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en-US" b="1" dirty="0"/>
              <a:t>Software Engineering</a:t>
            </a:r>
            <a:br>
              <a:rPr lang="en-US" altLang="en-US" b="1" dirty="0"/>
            </a:br>
            <a:br>
              <a:rPr lang="en-US" altLang="en-US" b="1" dirty="0"/>
            </a:br>
            <a:endParaRPr lang="en-US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895ADF6-D8CA-38A8-D74F-43C711477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COURSE INFORMATION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BDF3F27-5B2B-72C0-AA28-404967D9D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05800" cy="5257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dirty="0"/>
              <a:t>Instructor: Israr Ahmad</a:t>
            </a:r>
          </a:p>
          <a:p>
            <a:pPr lvl="1" eaLnBrk="1" hangingPunct="1"/>
            <a:r>
              <a:rPr lang="en-US" altLang="en-US" dirty="0"/>
              <a:t>Faculty of Computer Science and Engineering </a:t>
            </a:r>
          </a:p>
          <a:p>
            <a:pPr lvl="1" eaLnBrk="1" hangingPunct="1"/>
            <a:r>
              <a:rPr lang="en-US" altLang="en-US" dirty="0"/>
              <a:t>Email: israr</a:t>
            </a:r>
            <a:r>
              <a:rPr lang="en-US" altLang="en-US" dirty="0">
                <a:hlinkClick r:id="rId3"/>
              </a:rPr>
              <a:t>.ahmad@giki.edu.pk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Office: CS-20, 3</a:t>
            </a:r>
            <a:r>
              <a:rPr lang="en-US" altLang="en-US" baseline="30000" dirty="0"/>
              <a:t>rd</a:t>
            </a:r>
            <a:r>
              <a:rPr lang="en-US" altLang="en-US" dirty="0"/>
              <a:t> floor, </a:t>
            </a:r>
            <a:r>
              <a:rPr lang="en-US" altLang="en-US" dirty="0" err="1"/>
              <a:t>AcB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Office Hours: </a:t>
            </a:r>
            <a:r>
              <a:rPr lang="en-US" altLang="en-US" b="1" dirty="0"/>
              <a:t>Tuesday/Thursday 01:00 PM - 4:00 PM</a:t>
            </a:r>
          </a:p>
          <a:p>
            <a:pPr marL="457200" lvl="1" indent="0">
              <a:buNone/>
            </a:pPr>
            <a:endParaRPr lang="en-US" altLang="en-US" dirty="0"/>
          </a:p>
          <a:p>
            <a:pPr eaLnBrk="1" hangingPunct="1"/>
            <a:r>
              <a:rPr lang="en-US" altLang="en-US" b="1" dirty="0"/>
              <a:t>Prerequisite:</a:t>
            </a:r>
            <a:r>
              <a:rPr lang="en-US" altLang="en-US" dirty="0"/>
              <a:t> </a:t>
            </a:r>
            <a:r>
              <a:rPr lang="en-US" altLang="en-US" sz="2000" dirty="0"/>
              <a:t>CS112</a:t>
            </a:r>
            <a:endParaRPr lang="en-US" altLang="en-US" dirty="0"/>
          </a:p>
          <a:p>
            <a:pPr eaLnBrk="1" hangingPunct="1"/>
            <a:r>
              <a:rPr lang="en-US" altLang="en-US" b="1" dirty="0"/>
              <a:t>Course material</a:t>
            </a:r>
            <a:r>
              <a:rPr lang="en-US" altLang="en-US" dirty="0"/>
              <a:t>: MS Teams/LMS</a:t>
            </a:r>
          </a:p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Teams Code: k5x1wyl</a:t>
            </a:r>
          </a:p>
          <a:p>
            <a:endParaRPr lang="en-US" altLang="en-US" dirty="0"/>
          </a:p>
          <a:p>
            <a:pPr lvl="1" eaLnBrk="1" hangingPunct="1">
              <a:buFontTx/>
              <a:buNone/>
            </a:pPr>
            <a:endParaRPr lang="en-US" altLang="en-US" sz="1200" b="1" dirty="0"/>
          </a:p>
          <a:p>
            <a:pPr eaLnBrk="1" hangingPunct="1">
              <a:buFontTx/>
              <a:buNone/>
            </a:pPr>
            <a:endParaRPr lang="en-US" altLang="en-US" sz="1400" dirty="0"/>
          </a:p>
          <a:p>
            <a:pPr eaLnBrk="1" hangingPunct="1">
              <a:buFontTx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028D889-9BA5-193F-18D8-34BFB2C1C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Books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9346DDD-0E18-EF89-3C83-D28248A9E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u="sng" dirty="0"/>
              <a:t>Textbooks: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Software Engineering (10th Ed.), By Ian Sommerville (2016). ISBN: 9780137586691</a:t>
            </a:r>
          </a:p>
          <a:p>
            <a:pPr marL="514350" lvl="0" indent="-514350">
              <a:buFont typeface="+mj-lt"/>
              <a:buAutoNum type="arabicPeriod"/>
            </a:pP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Software Engineering: A Practitioner's Approach (9th Ed.) By  </a:t>
            </a:r>
            <a:r>
              <a:rPr lang="en-US" dirty="0">
                <a:hlinkClick r:id="rId3"/>
              </a:rPr>
              <a:t>Roger Pressman</a:t>
            </a:r>
            <a:r>
              <a:rPr lang="en-US" dirty="0"/>
              <a:t>, and </a:t>
            </a:r>
            <a:r>
              <a:rPr lang="en-US" dirty="0">
                <a:hlinkClick r:id="rId4"/>
              </a:rPr>
              <a:t>Bruce Maxim</a:t>
            </a:r>
            <a:r>
              <a:rPr lang="en-US" dirty="0"/>
              <a:t> (2019)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		        (uploaded on Teams)</a:t>
            </a:r>
            <a:endParaRPr lang="en-US" altLang="en-US" sz="4800" b="1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4A647C2-C022-1EBE-FA6A-39A938FC2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Dishonesty, Plagiarism in Quizzes, Assignments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7DA70B0-3B7B-FD5D-49D8-4E781F5CF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All individuals involved in any kind of cheating in any exam, quiz, assignment or project will get </a:t>
            </a:r>
            <a:r>
              <a:rPr lang="en-US" altLang="en-US" sz="6000">
                <a:solidFill>
                  <a:srgbClr val="FF0000"/>
                </a:solidFill>
              </a:rPr>
              <a:t>-</a:t>
            </a:r>
            <a:r>
              <a:rPr lang="en-US" altLang="en-US" sz="5400" b="1">
                <a:solidFill>
                  <a:srgbClr val="FF0000"/>
                </a:solidFill>
              </a:rPr>
              <a:t>50%</a:t>
            </a:r>
            <a:r>
              <a:rPr lang="en-US" altLang="en-US"/>
              <a:t>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8E685A5-694A-C4C0-2F46-1E7E0AD9D4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Attendance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B1824FB8-C36C-2DFD-6E40-0F6DB3C49F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8763000" cy="5105400"/>
          </a:xfrm>
        </p:spPr>
        <p:txBody>
          <a:bodyPr/>
          <a:lstStyle/>
          <a:p>
            <a:pPr algn="just"/>
            <a:r>
              <a:rPr lang="en-US" altLang="en-US" dirty="0"/>
              <a:t>Students are required to attend </a:t>
            </a:r>
            <a:r>
              <a:rPr lang="en-US" altLang="en-US" sz="3600" b="1" dirty="0">
                <a:solidFill>
                  <a:srgbClr val="00B050"/>
                </a:solidFill>
              </a:rPr>
              <a:t>100%</a:t>
            </a:r>
            <a:r>
              <a:rPr lang="en-US" altLang="en-US" dirty="0"/>
              <a:t> classes of courses registered and </a:t>
            </a:r>
            <a:r>
              <a:rPr lang="en-US" altLang="en-US" b="1" dirty="0"/>
              <a:t>can not abstain from even a single class</a:t>
            </a:r>
            <a:r>
              <a:rPr lang="en-US" altLang="en-US" dirty="0"/>
              <a:t>.</a:t>
            </a:r>
          </a:p>
          <a:p>
            <a:pPr algn="just"/>
            <a:endParaRPr lang="en-US" altLang="en-US" dirty="0"/>
          </a:p>
          <a:p>
            <a:pPr algn="just">
              <a:buFontTx/>
              <a:buNone/>
            </a:pPr>
            <a:r>
              <a:rPr lang="en-US" altLang="en-US" dirty="0"/>
              <a:t> </a:t>
            </a:r>
          </a:p>
          <a:p>
            <a:pPr algn="just"/>
            <a:r>
              <a:rPr lang="en-US" altLang="en-US" dirty="0"/>
              <a:t>For circumstances beyond their control, students must apply for leave on prescribed Leave Application form.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FD233DD-DA4F-7279-5AB1-E49A23A66B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Tentative</a:t>
            </a:r>
            <a:r>
              <a:rPr lang="en-US" altLang="en-US"/>
              <a:t> Evaluation Breakdown</a:t>
            </a:r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A978757A-AD3A-1311-AD16-8581FCF17662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2133600" y="1905000"/>
          <a:ext cx="4572000" cy="3238531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57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724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strike="noStrike" dirty="0"/>
                        <a:t>Assignments, Quizzes, Project and or, Class Participation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2400" u="none" strike="noStrike" dirty="0"/>
                        <a:t>30</a:t>
                      </a:r>
                      <a:endParaRPr lang="en-US" sz="2400" b="0" i="0" u="none" strike="noStrike" dirty="0">
                        <a:latin typeface="Book Antiqu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1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sz="2400" b="1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Midterm Exam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2400" b="1" u="none" strike="noStrike" dirty="0"/>
                        <a:t>30</a:t>
                      </a:r>
                      <a:endParaRPr lang="en-US" sz="2400" b="1" i="0" u="none" strike="noStrike" dirty="0">
                        <a:latin typeface="Book Antiqu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771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US" sz="2400" b="1" u="none" strike="noStrike" dirty="0"/>
                        <a:t>Final Exam</a:t>
                      </a:r>
                      <a:endParaRPr lang="en-US" sz="2400" b="1" i="0" u="none" strike="noStrike" dirty="0">
                        <a:latin typeface="Book Antiqu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2400" b="1" u="none" strike="noStrike" dirty="0"/>
                        <a:t>40</a:t>
                      </a:r>
                      <a:endParaRPr lang="en-US" sz="2400" b="1" i="0" u="none" strike="noStrike" dirty="0">
                        <a:latin typeface="Book Antiqu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62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US" sz="2400" u="none" strike="noStrike" dirty="0"/>
                        <a:t>Total</a:t>
                      </a:r>
                      <a:endParaRPr lang="en-US" sz="2400" b="0" i="0" u="none" strike="noStrike" dirty="0">
                        <a:latin typeface="Book Antiqu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2400" b="1" u="none" strike="noStrike" dirty="0"/>
                        <a:t>100</a:t>
                      </a:r>
                      <a:endParaRPr lang="en-US" sz="2400" b="1" i="0" u="none" strike="noStrike" dirty="0">
                        <a:latin typeface="Book Antiqu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66C59E4-7791-C06C-43F8-DC2E363ED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Course Execution 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C9A3997-E23B-261C-2B70-371F8363AD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3 lectures of 50 minutes every week</a:t>
            </a:r>
          </a:p>
          <a:p>
            <a:pPr eaLnBrk="1" hangingPunct="1">
              <a:defRPr/>
            </a:pPr>
            <a:r>
              <a:rPr lang="en-US" altLang="en-US" dirty="0"/>
              <a:t>No lab</a:t>
            </a:r>
          </a:p>
          <a:p>
            <a:pPr eaLnBrk="1" hangingPunct="1">
              <a:defRPr/>
            </a:pPr>
            <a:r>
              <a:rPr lang="en-US" altLang="en-US" dirty="0"/>
              <a:t>Course contents will be available at MS Teams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b="1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en-US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55C4125-4FE2-4D81-0388-CF581338BA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Rules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7BCCCA9-4633-07BA-E966-BF4A59494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There is only one rule that will make the rest of the rules</a:t>
            </a:r>
          </a:p>
          <a:p>
            <a:pPr lvl="1" eaLnBrk="1" hangingPunct="1"/>
            <a:r>
              <a:rPr lang="en-US" altLang="en-US"/>
              <a:t>Raise  your hand before asking any question and then WAIT for the permission</a:t>
            </a:r>
          </a:p>
          <a:p>
            <a:pPr lvl="1" eaLnBrk="1" hangingPunct="1"/>
            <a:r>
              <a:rPr lang="en-US" altLang="en-US" sz="2800" b="1">
                <a:solidFill>
                  <a:srgbClr val="FF3300"/>
                </a:solidFill>
              </a:rPr>
              <a:t>Never ever miss a class</a:t>
            </a:r>
          </a:p>
          <a:p>
            <a:pPr lvl="1" eaLnBrk="1" hangingPunct="1"/>
            <a:r>
              <a:rPr lang="en-US" altLang="en-US" sz="2800" b="1">
                <a:solidFill>
                  <a:srgbClr val="FF3300"/>
                </a:solidFill>
              </a:rPr>
              <a:t>Never ever “sleep” in the class</a:t>
            </a:r>
          </a:p>
          <a:p>
            <a:pPr lvl="1" eaLnBrk="1" hangingPunct="1"/>
            <a:r>
              <a:rPr lang="en-US" altLang="en-US"/>
              <a:t>DO NOT use cell phones in the class</a:t>
            </a:r>
          </a:p>
          <a:p>
            <a:pPr lvl="1" eaLnBrk="1" hangingPunct="1"/>
            <a:r>
              <a:rPr lang="en-US" altLang="en-US"/>
              <a:t>Always communicate in the official communication language (i.e., Urdu/English)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F85DA67-63CA-BBE6-793B-6ACCAE9D4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 dirty="0"/>
              <a:t>Motivation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98EA61E-7DDD-870E-3C8D-EE32C4DE0C6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219200"/>
            <a:ext cx="6705600" cy="5105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GB" altLang="en-US" sz="3200" b="1" dirty="0">
                <a:solidFill>
                  <a:srgbClr val="FF0000"/>
                </a:solidFill>
              </a:rPr>
              <a:t>1. What do you expect from this course?</a:t>
            </a:r>
          </a:p>
          <a:p>
            <a:pPr>
              <a:defRPr/>
            </a:pPr>
            <a:endParaRPr lang="en-GB" altLang="en-US" sz="3200" dirty="0"/>
          </a:p>
          <a:p>
            <a:pPr marL="0" indent="0">
              <a:buFontTx/>
              <a:buNone/>
              <a:defRPr/>
            </a:pPr>
            <a:r>
              <a:rPr lang="en-GB" altLang="en-US" sz="3200" b="1" dirty="0">
                <a:solidFill>
                  <a:schemeClr val="accent2">
                    <a:lumMod val="75000"/>
                  </a:schemeClr>
                </a:solidFill>
              </a:rPr>
              <a:t>2.  </a:t>
            </a:r>
            <a:r>
              <a:rPr lang="en-PK" sz="3200" b="1" dirty="0">
                <a:solidFill>
                  <a:schemeClr val="accent2">
                    <a:lumMod val="75000"/>
                  </a:schemeClr>
                </a:solidFill>
              </a:rPr>
              <a:t>What is the difference between a Programmer and a Software Engineer</a:t>
            </a:r>
            <a:r>
              <a:rPr lang="en-GB" altLang="en-US" sz="3200" b="1" dirty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  <a:p>
            <a:pPr>
              <a:defRPr/>
            </a:pPr>
            <a:endParaRPr lang="en-GB" altLang="en-US" sz="3200" dirty="0"/>
          </a:p>
        </p:txBody>
      </p:sp>
      <p:graphicFrame>
        <p:nvGraphicFramePr>
          <p:cNvPr id="20484" name="Object 2">
            <a:extLst>
              <a:ext uri="{FF2B5EF4-FFF2-40B4-BE49-F238E27FC236}">
                <a16:creationId xmlns:a16="http://schemas.microsoft.com/office/drawing/2014/main" id="{22FEA230-6D74-F4F1-9853-B7C3093071F2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43431987"/>
              </p:ext>
            </p:extLst>
          </p:nvPr>
        </p:nvGraphicFramePr>
        <p:xfrm>
          <a:off x="6400800" y="1219200"/>
          <a:ext cx="2895600" cy="403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9202435" imgH="6687483" progId="MSPhotoEd.3">
                  <p:embed/>
                </p:oleObj>
              </mc:Choice>
              <mc:Fallback>
                <p:oleObj name="Photo Editor Photo" r:id="rId2" imgW="9202435" imgH="6687483" progId="MSPhotoEd.3">
                  <p:embed/>
                  <p:pic>
                    <p:nvPicPr>
                      <p:cNvPr id="20484" name="Object 2">
                        <a:extLst>
                          <a:ext uri="{FF2B5EF4-FFF2-40B4-BE49-F238E27FC236}">
                            <a16:creationId xmlns:a16="http://schemas.microsoft.com/office/drawing/2014/main" id="{22FEA230-6D74-F4F1-9853-B7C3093071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219200"/>
                        <a:ext cx="2895600" cy="403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0B673-EE00-C301-00F7-9CE1E36B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 vs Programmer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0A3AD-D879-6E8B-CAA0-AF614E525F5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0" y="1295400"/>
            <a:ext cx="9144000" cy="5105400"/>
          </a:xfrm>
        </p:spPr>
        <p:txBody>
          <a:bodyPr/>
          <a:lstStyle/>
          <a:p>
            <a:pPr marL="0" indent="0">
              <a:buNone/>
            </a:pPr>
            <a:r>
              <a:rPr lang="en-PK" b="1" dirty="0"/>
              <a:t>Scope vs. Lifecycle:</a:t>
            </a:r>
            <a:br>
              <a:rPr lang="en-US" b="1" dirty="0"/>
            </a:br>
            <a:endParaRPr lang="en-PK" dirty="0"/>
          </a:p>
          <a:p>
            <a:pPr marL="0" lvl="0" indent="0">
              <a:buNone/>
            </a:pPr>
            <a:r>
              <a:rPr lang="en-PK" b="1" dirty="0"/>
              <a:t>Programmer:</a:t>
            </a:r>
            <a:r>
              <a:rPr lang="en-PK" dirty="0"/>
              <a:t> Focuses on a single phase: Implementation (writing code). They receive a problem and write the logic to solve it.</a:t>
            </a:r>
            <a:br>
              <a:rPr lang="en-US" dirty="0"/>
            </a:br>
            <a:endParaRPr lang="en-PK" dirty="0"/>
          </a:p>
          <a:p>
            <a:pPr marL="0" lvl="0" indent="0">
              <a:buNone/>
            </a:pPr>
            <a:r>
              <a:rPr lang="en-PK" b="1" dirty="0"/>
              <a:t>Software Engineer:</a:t>
            </a:r>
            <a:r>
              <a:rPr lang="en-PK" dirty="0"/>
              <a:t> Owns the entire Software Development Life Cycle (SDLC). They figure out what the problem actually is (Requirements), design the system (Architecture), write the code, and prove it won't break (Testing/QA).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79189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C9974-B2ED-740E-1530-D9D10154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FBBA-59CD-1EEE-04C7-1F2F502C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 vs Programmer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77BAA-5BD7-432F-1752-4460C5251F3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0" y="1295400"/>
            <a:ext cx="9144000" cy="5105400"/>
          </a:xfrm>
        </p:spPr>
        <p:txBody>
          <a:bodyPr/>
          <a:lstStyle/>
          <a:p>
            <a:pPr marL="0" indent="0">
              <a:buNone/>
            </a:pPr>
            <a:r>
              <a:rPr lang="en-PK" b="1" dirty="0"/>
              <a:t>Isolation vs. Scale:</a:t>
            </a:r>
            <a:br>
              <a:rPr lang="en-US" b="1" dirty="0"/>
            </a:br>
            <a:endParaRPr lang="en-PK" dirty="0"/>
          </a:p>
          <a:p>
            <a:pPr marL="0" lvl="0" indent="0">
              <a:buNone/>
            </a:pPr>
            <a:r>
              <a:rPr lang="en-PK" b="1" dirty="0"/>
              <a:t>Programmer:</a:t>
            </a:r>
            <a:r>
              <a:rPr lang="en-PK" dirty="0"/>
              <a:t> Works in isolation. The goal is to make the code compile and run locally on their own machine.</a:t>
            </a:r>
          </a:p>
          <a:p>
            <a:pPr marL="0" lvl="0" indent="0">
              <a:buNone/>
            </a:pPr>
            <a:br>
              <a:rPr lang="en-US" b="1" dirty="0"/>
            </a:br>
            <a:r>
              <a:rPr lang="en-PK" b="1" dirty="0"/>
              <a:t>Software Engineer:</a:t>
            </a:r>
            <a:r>
              <a:rPr lang="en-PK" dirty="0"/>
              <a:t> Works in a complex ecosystem. The goal is to write code that integrates seamlessly with what 50 other developers are writing, using version control (Git), and deploying to cloud servers.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00271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F759-E6BD-061F-92CE-F6C1C5035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3CBAF-F77B-83C7-17DA-8F9AF92AE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 vs Programmer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48686-0632-7CBC-8784-D5A95017C3D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0" y="1295400"/>
            <a:ext cx="9144000" cy="5105400"/>
          </a:xfrm>
        </p:spPr>
        <p:txBody>
          <a:bodyPr/>
          <a:lstStyle/>
          <a:p>
            <a:pPr marL="0" indent="0">
              <a:buNone/>
            </a:pPr>
            <a:r>
              <a:rPr lang="en-PK" b="1" dirty="0"/>
              <a:t>The Measurement of Success:</a:t>
            </a:r>
            <a:br>
              <a:rPr lang="en-US" b="1" dirty="0"/>
            </a:br>
            <a:endParaRPr lang="en-PK" dirty="0"/>
          </a:p>
          <a:p>
            <a:pPr marL="0" lvl="0" indent="0">
              <a:buNone/>
            </a:pPr>
            <a:r>
              <a:rPr lang="en-PK" b="1" dirty="0"/>
              <a:t>Programmer asks:</a:t>
            </a:r>
            <a:r>
              <a:rPr lang="en-PK" dirty="0"/>
              <a:t> "Does the code work right now?"</a:t>
            </a:r>
          </a:p>
          <a:p>
            <a:pPr marL="0" lvl="0" indent="0">
              <a:buNone/>
            </a:pPr>
            <a:br>
              <a:rPr lang="en-US" b="1" dirty="0"/>
            </a:br>
            <a:r>
              <a:rPr lang="en-PK" b="1" dirty="0"/>
              <a:t>Software Engineer asks:</a:t>
            </a:r>
            <a:r>
              <a:rPr lang="en-PK" dirty="0"/>
              <a:t> "Will this code be readable, maintainable, and secure three years from now when I have left the company and someone else has to fix it?"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97803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27F69-7554-7144-312E-47955897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3FE2-AF6A-287F-6655-267FAF488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 vs Programmer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70F04-38FC-919D-E379-369F95BF6E7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0" y="1295400"/>
            <a:ext cx="9144000" cy="5105400"/>
          </a:xfrm>
        </p:spPr>
        <p:txBody>
          <a:bodyPr/>
          <a:lstStyle/>
          <a:p>
            <a:pPr marL="0" indent="0">
              <a:buNone/>
            </a:pPr>
            <a:r>
              <a:rPr lang="en-PK" b="1" dirty="0"/>
              <a:t>Tools of the Trade:</a:t>
            </a:r>
            <a:br>
              <a:rPr lang="en-US" b="1" dirty="0"/>
            </a:br>
            <a:endParaRPr lang="en-PK" dirty="0"/>
          </a:p>
          <a:p>
            <a:pPr marL="0" lvl="0" indent="0">
              <a:buNone/>
            </a:pPr>
            <a:r>
              <a:rPr lang="en-PK" b="1" dirty="0"/>
              <a:t>Programmer tools:</a:t>
            </a:r>
            <a:r>
              <a:rPr lang="en-PK" dirty="0"/>
              <a:t> IDEs, compilers, stack overflow.</a:t>
            </a:r>
            <a:br>
              <a:rPr lang="en-US" dirty="0"/>
            </a:br>
            <a:endParaRPr lang="en-PK" dirty="0"/>
          </a:p>
          <a:p>
            <a:pPr marL="0" lvl="0" indent="0">
              <a:buNone/>
            </a:pPr>
            <a:r>
              <a:rPr lang="en-PK" b="1" dirty="0"/>
              <a:t>Software Engineer tools:</a:t>
            </a:r>
            <a:r>
              <a:rPr lang="en-PK" dirty="0"/>
              <a:t> Jira, Git, CI/CD pipelines, automated testing frameworks, Docker, and system architecture diagrams.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43853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AD763-B517-305A-D149-03E0E0DC0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8382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SDLC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FBA829-0B24-3663-30B6-4CB9691AE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19300" y="1295400"/>
            <a:ext cx="5105400" cy="5105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7937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1085198B-44E6-C518-B958-580A2B7336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09900"/>
            <a:ext cx="9144000" cy="838200"/>
          </a:xfrm>
        </p:spPr>
        <p:txBody>
          <a:bodyPr/>
          <a:lstStyle/>
          <a:p>
            <a:r>
              <a:rPr lang="en-US" altLang="en-US" dirty="0">
                <a:sym typeface="Wingdings" panose="05000000000000000000" pitchFamily="2" charset="2"/>
              </a:rPr>
              <a:t>Let's Begin </a:t>
            </a: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746BA5DCC9394D8011CD1786C7798C" ma:contentTypeVersion="3" ma:contentTypeDescription="Create a new document." ma:contentTypeScope="" ma:versionID="4272aded7ec7d4c7253a29a16373bcfa">
  <xsd:schema xmlns:xsd="http://www.w3.org/2001/XMLSchema" xmlns:xs="http://www.w3.org/2001/XMLSchema" xmlns:p="http://schemas.microsoft.com/office/2006/metadata/properties" xmlns:ns2="bca22fdb-ae7c-4717-b631-3c9f88a96e59" targetNamespace="http://schemas.microsoft.com/office/2006/metadata/properties" ma:root="true" ma:fieldsID="938043f5702327063dcd06b1f0447230" ns2:_="">
    <xsd:import namespace="bca22fdb-ae7c-4717-b631-3c9f88a96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22fdb-ae7c-4717-b631-3c9f88a96e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352909-E393-42E1-A04D-49A3DD327D0E}"/>
</file>

<file path=customXml/itemProps2.xml><?xml version="1.0" encoding="utf-8"?>
<ds:datastoreItem xmlns:ds="http://schemas.openxmlformats.org/officeDocument/2006/customXml" ds:itemID="{0BFAEDBB-B121-4224-A9B7-439299226DCD}"/>
</file>

<file path=customXml/itemProps3.xml><?xml version="1.0" encoding="utf-8"?>
<ds:datastoreItem xmlns:ds="http://schemas.openxmlformats.org/officeDocument/2006/customXml" ds:itemID="{B5C2325B-3D35-4D56-A743-01549C3163F6}"/>
</file>

<file path=docProps/app.xml><?xml version="1.0" encoding="utf-8"?>
<Properties xmlns="http://schemas.openxmlformats.org/officeDocument/2006/extended-properties" xmlns:vt="http://schemas.openxmlformats.org/officeDocument/2006/docPropsVTypes">
  <TotalTime>8639</TotalTime>
  <Words>573</Words>
  <Application>Microsoft Office PowerPoint</Application>
  <PresentationFormat>On-screen Show (4:3)</PresentationFormat>
  <Paragraphs>74</Paragraphs>
  <Slides>15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 Antiqua</vt:lpstr>
      <vt:lpstr>Wingdings</vt:lpstr>
      <vt:lpstr>Default Design</vt:lpstr>
      <vt:lpstr>Photo Editor Photo</vt:lpstr>
      <vt:lpstr>Software Engineering  </vt:lpstr>
      <vt:lpstr>COURSE INFORMATION</vt:lpstr>
      <vt:lpstr>Books</vt:lpstr>
      <vt:lpstr>Dishonesty, Plagiarism in Quizzes, Assignments</vt:lpstr>
      <vt:lpstr>Attendance</vt:lpstr>
      <vt:lpstr>Tentative Evaluation Breakdown</vt:lpstr>
      <vt:lpstr>Course Execution </vt:lpstr>
      <vt:lpstr>Some Rules</vt:lpstr>
      <vt:lpstr>Motivation</vt:lpstr>
      <vt:lpstr>Software Engineer vs Programmer</vt:lpstr>
      <vt:lpstr>Software Engineer vs Programmer</vt:lpstr>
      <vt:lpstr>Software Engineer vs Programmer</vt:lpstr>
      <vt:lpstr>Software Engineer vs Programmer</vt:lpstr>
      <vt:lpstr>SDLC</vt:lpstr>
      <vt:lpstr>Let's Begin </vt:lpstr>
    </vt:vector>
  </TitlesOfParts>
  <Company>National University, 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Zahid Halim</dc:creator>
  <cp:lastModifiedBy>Israr Ahmad Lecturer FCS</cp:lastModifiedBy>
  <cp:revision>282</cp:revision>
  <dcterms:created xsi:type="dcterms:W3CDTF">2005-01-31T08:28:19Z</dcterms:created>
  <dcterms:modified xsi:type="dcterms:W3CDTF">2026-09-04T15:55:17Z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0x010100D8746BA5DCC9394D8011CD1786C7798C</vt:lpwstr>
  </property>
</Properties>
</file>