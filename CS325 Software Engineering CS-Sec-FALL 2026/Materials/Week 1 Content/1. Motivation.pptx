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0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8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5558" y="2396579"/>
            <a:ext cx="706088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dirty="0">
                <a:solidFill>
                  <a:srgbClr val="38BDF8"/>
                </a:solidFill>
                <a:latin typeface="Outfit ExtraBold"/>
              </a:rPr>
              <a:t>CS325</a:t>
            </a:r>
            <a:r>
              <a:rPr dirty="0"/>
              <a:t>
</a:t>
            </a:r>
            <a:r>
              <a:rPr sz="5400" b="0" i="0" u="none" dirty="0">
                <a:solidFill>
                  <a:srgbClr val="38BDF8"/>
                </a:solidFill>
                <a:latin typeface="Outfit ExtraBold"/>
              </a:rPr>
              <a:t>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49625-5595-236A-137A-0100A70B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D04D63A-2F77-F4A6-B77C-348A11589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88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792346-BE5E-5761-5CFC-3F2DEA5D94CE}"/>
              </a:ext>
            </a:extLst>
          </p:cNvPr>
          <p:cNvSpPr txBox="1"/>
          <p:nvPr/>
        </p:nvSpPr>
        <p:spPr>
          <a:xfrm>
            <a:off x="2565559" y="2396579"/>
            <a:ext cx="7060882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0" i="0" u="none" dirty="0">
                <a:solidFill>
                  <a:srgbClr val="F8FAFC"/>
                </a:solidFill>
                <a:latin typeface="Outfit ExtraBold"/>
              </a:rPr>
              <a:t>Motivation</a:t>
            </a:r>
            <a:r>
              <a:rPr dirty="0"/>
              <a:t>
</a:t>
            </a:r>
            <a:endParaRPr sz="5400" b="0" i="0" u="none" dirty="0">
              <a:solidFill>
                <a:srgbClr val="38BDF8"/>
              </a:solidFill>
              <a:latin typeface="Outfi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1645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71675" y="1724173"/>
            <a:ext cx="8248650" cy="321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0" i="0" u="none">
                <a:solidFill>
                  <a:srgbClr val="F8FAFC"/>
                </a:solidFill>
                <a:latin typeface="Outfit SemiBold"/>
              </a:rPr>
              <a:t>Who here has written a program that perfectly solved a problem, but if you looked at the code 6 months later, you had absolutely no idea how it worked?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175" y="5324326"/>
            <a:ext cx="93916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Computer Science taught you how to talk to the machine. 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Software Engineering will teach you how to build systems for the real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" y="2105173"/>
            <a:ext cx="590550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10500" b="0" i="0" u="none">
                <a:solidFill>
                  <a:srgbClr val="334155"/>
                </a:solidFill>
                <a:latin typeface="Outfit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1775" y="4943328"/>
            <a:ext cx="590550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10500" b="0" i="0" u="none">
                <a:solidFill>
                  <a:srgbClr val="334155"/>
                </a:solidFill>
                <a:latin typeface="Outfit SemiBold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Reality of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00250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5006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Outfit SemiBold"/>
              </a:rPr>
              <a:t>Your First Client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47925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 am the CEO of a modern, high-tech startup. I am hiring this class to design a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"Smart Door"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for our new headquarters.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14725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You have exactly 60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71925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Write down the top 3 essential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467225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What sensors does it use?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962525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How does it integrate with our software?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09775"/>
            <a:ext cx="5219700" cy="3790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9528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4481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9434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60-Second 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7166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71662"/>
            <a:ext cx="55006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Outfit SemiBold"/>
              </a:rPr>
              <a:t>Project Failed.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19337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 forgot to mention</a:t>
            </a:r>
            <a:r>
              <a:rPr lang="en-US"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our startup manufactures highly volatile chemicals. The door you are designing is for the emergency fire exit.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872037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Lesson: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Never assume the context. If you don't elicit constraints, you write flawless code for the wrong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386137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Must be 100% mechanical (No electronics/sparks).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81437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Must open outward instantly via a crash bar.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76737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You anchored your assumptions on the word "Smart".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81187"/>
            <a:ext cx="5219700" cy="3790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367087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62387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57687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Hidden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$125M Disaster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35038"/>
            <a:ext cx="55006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Outfit SemiBold"/>
              </a:rPr>
              <a:t>09:04:52 UTC - Signal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82713"/>
            <a:ext cx="5238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September 23, 1999. NASA is executing a critical, fully autonomous maneuver for the Mars Climate Orbiter.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16796"/>
            <a:ext cx="52387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objective is to dip the probe into the Martian atmosphere to slow down and establish orbit. At exactly 09:04 UTC, the spacecraft goes behind Mars.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986039"/>
            <a:ext cx="523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was never heard from again. It burned up in the atmosphere.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What was the root cause?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549" y="4728120"/>
            <a:ext cx="3212901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39279"/>
            <a:ext cx="5238750" cy="33030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139279"/>
            <a:ext cx="5238750" cy="3303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9750" y="5909220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code executed its instructions perfectly. The math was flawless. The system still destroyed itself due to a failure in Requirements and Quality Assurance.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574" y="4994820"/>
            <a:ext cx="2812851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582" y="1625054"/>
            <a:ext cx="468058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8BDF8"/>
                </a:solidFill>
                <a:latin typeface="Outfit SemiBold"/>
              </a:rPr>
              <a:t>Lockheed Martin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120354"/>
            <a:ext cx="44577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Built the spacecraft and wrote the software calculating thruster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072854"/>
            <a:ext cx="44577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8FAFC"/>
                </a:solidFill>
                <a:latin typeface="Inter"/>
              </a:rPr>
              <a:t>Used </a:t>
            </a:r>
            <a:r>
              <a:rPr sz="1800" b="1" i="0" u="none">
                <a:solidFill>
                  <a:srgbClr val="F8FAFC"/>
                </a:solidFill>
                <a:latin typeface="Inter"/>
              </a:rPr>
              <a:t>English Units</a:t>
            </a:r>
            <a:r>
              <a:t>
</a:t>
            </a:r>
            <a:r>
              <a:rPr sz="1800" b="0" i="0" u="none">
                <a:solidFill>
                  <a:srgbClr val="F8FAFC"/>
                </a:solidFill>
                <a:latin typeface="Inter"/>
              </a:rPr>
              <a:t> (pound-seconds)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832" y="1625054"/>
            <a:ext cx="468058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8BDF8"/>
                </a:solidFill>
                <a:latin typeface="Outfit SemiBold"/>
              </a:rPr>
              <a:t>NASA JPL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2120354"/>
            <a:ext cx="44577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Wrote the navigation software that received the data to guide the probe.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072854"/>
            <a:ext cx="44577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8FAFC"/>
                </a:solidFill>
                <a:latin typeface="Inter"/>
              </a:rPr>
              <a:t>Used </a:t>
            </a:r>
            <a:r>
              <a:rPr sz="1800" b="1" i="0" u="none">
                <a:solidFill>
                  <a:srgbClr val="F8FAFC"/>
                </a:solidFill>
                <a:latin typeface="Inter"/>
              </a:rPr>
              <a:t>Metric Units</a:t>
            </a:r>
            <a:r>
              <a:t>
</a:t>
            </a:r>
            <a:r>
              <a:rPr sz="1800" b="0" i="0" u="none">
                <a:solidFill>
                  <a:srgbClr val="F8FAFC"/>
                </a:solidFill>
                <a:latin typeface="Inter"/>
              </a:rPr>
              <a:t> (newton-seconds)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86779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Root Cause: A Unit Mismatch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4987"/>
            <a:ext cx="3429000" cy="420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804987"/>
            <a:ext cx="3429000" cy="420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804987"/>
            <a:ext cx="3429000" cy="420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2195512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5960" y="3186112"/>
            <a:ext cx="64008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Outfit SemiBold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33787"/>
            <a:ext cx="28384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typical university project lives for 3 weeks. Enterprise software lives for decades. How do you design architecture that survives technological shifts?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195512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55957" y="3186112"/>
            <a:ext cx="6800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Outfit SemiBold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633787"/>
            <a:ext cx="28384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script runs on one laptop. A software system runs across distributed cloud servers handling thousands of concurrent user requests globally.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2195512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80946" y="3186112"/>
            <a:ext cx="8501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Outfit SemiBold"/>
              </a:rP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6337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You aren't coding alone. You will read code written by someone who left years ago, and write code for someone you will never meet.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4550" y="240506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40506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1687" y="240506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Paradigm Shift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316533"/>
            <a:ext cx="9525000" cy="1497210"/>
          </a:xfrm>
          <a:prstGeom prst="roundRect">
            <a:avLst>
              <a:gd name="adj" fmla="val 7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95500" y="1545133"/>
            <a:ext cx="8477250" cy="1040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Code is Not Enough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 brilliant piece of code that is undocumented, untested, and ignores user requirements will fail in this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3042344"/>
            <a:ext cx="9525000" cy="1497210"/>
          </a:xfrm>
          <a:prstGeom prst="roundRect">
            <a:avLst>
              <a:gd name="adj" fmla="val 7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95500" y="3270944"/>
            <a:ext cx="8477250" cy="1040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FYP Standards Apply Today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The documentation and design standards you learn here are exactly what will be demanded of you in your Final Year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768155"/>
            <a:ext cx="9525000" cy="1497210"/>
          </a:xfrm>
          <a:prstGeom prst="roundRect">
            <a:avLst>
              <a:gd name="adj" fmla="val 7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95500" y="4996755"/>
            <a:ext cx="8477250" cy="1040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Communication is Engineering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You will work in teams. If you cannot explain your technical decisions to a non-technical stakeholder, the system will fail.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2804219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3500" y="453003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33500" y="6255841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1927026"/>
            <a:ext cx="33337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3652837"/>
            <a:ext cx="2000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775" y="5378648"/>
            <a:ext cx="333375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64033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Course Expectations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115442"/>
            <a:ext cx="1160145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F8FAFC"/>
                </a:solidFill>
                <a:latin typeface="Outfi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58467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CBD5E1"/>
                </a:solidFill>
                <a:latin typeface="Inter"/>
              </a:rPr>
              <a:t>Welcome to Software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A80A0D-A967-4D90-B6C3-8EECFD9F75B4}"/>
</file>

<file path=customXml/itemProps2.xml><?xml version="1.0" encoding="utf-8"?>
<ds:datastoreItem xmlns:ds="http://schemas.openxmlformats.org/officeDocument/2006/customXml" ds:itemID="{87E330F0-645B-4AB8-A048-6BF5EF585BAA}"/>
</file>

<file path=customXml/itemProps3.xml><?xml version="1.0" encoding="utf-8"?>
<ds:datastoreItem xmlns:ds="http://schemas.openxmlformats.org/officeDocument/2006/customXml" ds:itemID="{813D6A00-35DC-4080-953D-BF82B9D9744F}"/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544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Outfit</vt:lpstr>
      <vt:lpstr>Outfit ExtraBold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Israr Khan</dc:creator>
  <cp:keywords/>
  <dc:description>generated using python-pptx</dc:description>
  <cp:lastModifiedBy>Israr Ahmad Lecturer FCS</cp:lastModifiedBy>
  <cp:revision>3</cp:revision>
  <dcterms:created xsi:type="dcterms:W3CDTF">2013-01-27T09:14:16Z</dcterms:created>
  <dcterms:modified xsi:type="dcterms:W3CDTF">2026-09-01T15:28:38Z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0x010100D8746BA5DCC9394D8011CD1786C7798C</vt:lpwstr>
  </property>
</Properties>
</file>