
<file path=[Content_Types].xml><?xml version="1.0" encoding="utf-8"?>
<Types xmlns="http://schemas.openxmlformats.org/package/2006/content-types"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1"/>
  </p:notesMasterIdLst>
  <p:sldIdLst>
    <p:sldId id="256" r:id="rId5"/>
    <p:sldId id="335" r:id="rId6"/>
    <p:sldId id="305" r:id="rId7"/>
    <p:sldId id="329" r:id="rId8"/>
    <p:sldId id="266" r:id="rId9"/>
    <p:sldId id="307" r:id="rId10"/>
    <p:sldId id="326" r:id="rId11"/>
    <p:sldId id="336" r:id="rId12"/>
    <p:sldId id="309" r:id="rId13"/>
    <p:sldId id="267" r:id="rId14"/>
    <p:sldId id="311" r:id="rId15"/>
    <p:sldId id="340" r:id="rId16"/>
    <p:sldId id="341" r:id="rId17"/>
    <p:sldId id="337" r:id="rId18"/>
    <p:sldId id="339" r:id="rId19"/>
    <p:sldId id="280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89500" autoAdjust="0"/>
  </p:normalViewPr>
  <p:slideViewPr>
    <p:cSldViewPr>
      <p:cViewPr varScale="1">
        <p:scale>
          <a:sx n="62" d="100"/>
          <a:sy n="62" d="100"/>
        </p:scale>
        <p:origin x="162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4DA8AF8-5F3D-30E7-DC94-F229B1749C3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8D0E6FCD-570D-9C28-B24C-B58A9B09EFC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E4B63E5-89F4-85F5-155C-45736A55B0D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9" name="Rectangle 5">
            <a:extLst>
              <a:ext uri="{FF2B5EF4-FFF2-40B4-BE49-F238E27FC236}">
                <a16:creationId xmlns:a16="http://schemas.microsoft.com/office/drawing/2014/main" id="{8C29E1D9-B644-1E1A-6D0E-382D9B3D5EF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13670" name="Rectangle 6">
            <a:extLst>
              <a:ext uri="{FF2B5EF4-FFF2-40B4-BE49-F238E27FC236}">
                <a16:creationId xmlns:a16="http://schemas.microsoft.com/office/drawing/2014/main" id="{B9DE7556-1FBE-1F50-0A7E-A6D924B15CC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3671" name="Rectangle 7">
            <a:extLst>
              <a:ext uri="{FF2B5EF4-FFF2-40B4-BE49-F238E27FC236}">
                <a16:creationId xmlns:a16="http://schemas.microsoft.com/office/drawing/2014/main" id="{1B1BF505-41F4-C6C2-0FC9-AB5AB90208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34A2D61-8F83-4BDB-B916-1045A4CBF77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614F20BF-3F47-8EA3-83A9-81E7A29A43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612ACB16-960C-A69A-B55A-89CC33854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553B3AE7-D666-43A9-3512-CBC54B22D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24D53B-1E10-4B9E-BB9E-00229E3042FC}" type="slidenum">
              <a:rPr lang="en-GB" altLang="en-US" smtClean="0"/>
              <a:pPr>
                <a:spcBef>
                  <a:spcPct val="0"/>
                </a:spcBef>
              </a:pPr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694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273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9437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295400"/>
            <a:ext cx="4495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495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33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7843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03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963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621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007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8567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381000"/>
            <a:ext cx="22860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381000"/>
            <a:ext cx="67056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518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0" y="1295400"/>
            <a:ext cx="9144000" cy="5105400"/>
          </a:xfrm>
        </p:spPr>
        <p:txBody>
          <a:bodyPr/>
          <a:lstStyle/>
          <a:p>
            <a:pPr lv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2543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>
            <a:extLst>
              <a:ext uri="{FF2B5EF4-FFF2-40B4-BE49-F238E27FC236}">
                <a16:creationId xmlns:a16="http://schemas.microsoft.com/office/drawing/2014/main" id="{135F49BB-0D2C-CC1E-118B-CCB5DB49AA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405563"/>
            <a:ext cx="465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7">
            <a:extLst>
              <a:ext uri="{FF2B5EF4-FFF2-40B4-BE49-F238E27FC236}">
                <a16:creationId xmlns:a16="http://schemas.microsoft.com/office/drawing/2014/main" id="{9673BEAF-5B5C-792B-495B-9203675FC7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810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4184A0DA-14E7-4AA3-1BE7-368EE3FC29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295400"/>
            <a:ext cx="9144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Text Box 9">
            <a:extLst>
              <a:ext uri="{FF2B5EF4-FFF2-40B4-BE49-F238E27FC236}">
                <a16:creationId xmlns:a16="http://schemas.microsoft.com/office/drawing/2014/main" id="{E0298B87-03DE-35FA-22A7-219933C9393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52500" y="6477000"/>
            <a:ext cx="7239000" cy="307975"/>
          </a:xfrm>
          <a:prstGeom prst="rect">
            <a:avLst/>
          </a:prstGeom>
          <a:solidFill>
            <a:schemeClr val="accent1">
              <a:lumMod val="10000"/>
            </a:schemeClr>
          </a:solidFill>
          <a:ln w="9525">
            <a:solidFill>
              <a:schemeClr val="accent1">
                <a:lumMod val="2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400" b="1" dirty="0">
                <a:solidFill>
                  <a:schemeClr val="bg1"/>
                </a:solidFill>
              </a:rPr>
              <a:t>Ghulam Ishaq Khan Institute of Engineering Sciences and Technology, Topi</a:t>
            </a:r>
          </a:p>
        </p:txBody>
      </p:sp>
      <p:sp>
        <p:nvSpPr>
          <p:cNvPr id="1030" name="Text Box 10">
            <a:extLst>
              <a:ext uri="{FF2B5EF4-FFF2-40B4-BE49-F238E27FC236}">
                <a16:creationId xmlns:a16="http://schemas.microsoft.com/office/drawing/2014/main" id="{C20E37BB-7CD4-CEC1-36F8-B37610F906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0"/>
            <a:ext cx="9144000" cy="369332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b="1" dirty="0">
                <a:solidFill>
                  <a:schemeClr val="bg1"/>
                </a:solidFill>
              </a:rPr>
              <a:t>Lecture 05: Software Process</a:t>
            </a:r>
          </a:p>
        </p:txBody>
      </p:sp>
      <p:sp>
        <p:nvSpPr>
          <p:cNvPr id="1031" name="Text Box 11">
            <a:extLst>
              <a:ext uri="{FF2B5EF4-FFF2-40B4-BE49-F238E27FC236}">
                <a16:creationId xmlns:a16="http://schemas.microsoft.com/office/drawing/2014/main" id="{3270025B-45D6-9445-D7FF-DFFF334F634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0"/>
            <a:ext cx="5867400" cy="3693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b="1" dirty="0"/>
              <a:t>		          </a:t>
            </a:r>
            <a:r>
              <a:rPr lang="en-US" b="1" dirty="0">
                <a:solidFill>
                  <a:schemeClr val="bg1"/>
                </a:solidFill>
              </a:rPr>
              <a:t>CS325: Software Engineering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d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d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52A8A32-B9AF-9C59-F405-ADB4323B52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590800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en-US" b="1" dirty="0"/>
              <a:t>Software Engineering</a:t>
            </a:r>
            <a:br>
              <a:rPr lang="en-US" altLang="en-US" b="1" dirty="0"/>
            </a:br>
            <a:br>
              <a:rPr lang="en-US" altLang="en-US" b="1" dirty="0"/>
            </a:br>
            <a:br>
              <a:rPr lang="en-US" altLang="en-US" b="1" dirty="0"/>
            </a:br>
            <a:endParaRPr lang="en-US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Chapter 2- Software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endParaRPr lang="en-US" b="1" dirty="0"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Incremental Model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Rather than deliver the system as a single delivery, the </a:t>
            </a:r>
            <a:r>
              <a:rPr lang="en-GB" b="1" dirty="0"/>
              <a:t>development and delivery is broken down into increments </a:t>
            </a:r>
            <a:r>
              <a:rPr lang="en-GB" dirty="0"/>
              <a:t>with each increment delivering part of the required functionality.</a:t>
            </a:r>
          </a:p>
          <a:p>
            <a:endParaRPr lang="en-GB" dirty="0"/>
          </a:p>
          <a:p>
            <a:r>
              <a:rPr lang="en-GB" b="1" dirty="0">
                <a:solidFill>
                  <a:srgbClr val="00B050"/>
                </a:solidFill>
              </a:rPr>
              <a:t>User requirements are prioritised</a:t>
            </a:r>
            <a:r>
              <a:rPr lang="en-GB" dirty="0"/>
              <a:t>, and the highest priority requirements are included in early increments.</a:t>
            </a:r>
          </a:p>
          <a:p>
            <a:endParaRPr lang="en-GB" dirty="0"/>
          </a:p>
          <a:p>
            <a:r>
              <a:rPr lang="en-GB" dirty="0">
                <a:solidFill>
                  <a:srgbClr val="FF0000"/>
                </a:solidFill>
              </a:rPr>
              <a:t>Once the development of an increment is started, the requirements are frozen </a:t>
            </a:r>
            <a:r>
              <a:rPr lang="en-GB" dirty="0"/>
              <a:t>though requirements for later increments can continue to evolve.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Incremental development and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Incremental Development</a:t>
            </a:r>
          </a:p>
          <a:p>
            <a:pPr lvl="1"/>
            <a:r>
              <a:rPr lang="en-US" b="1" dirty="0"/>
              <a:t>Develop</a:t>
            </a:r>
            <a:r>
              <a:rPr lang="en-US" dirty="0"/>
              <a:t> the system in increments and evaluate each increment before proceeding to the development of the next increment;</a:t>
            </a:r>
          </a:p>
          <a:p>
            <a:pPr lvl="1"/>
            <a:r>
              <a:rPr lang="en-US" dirty="0"/>
              <a:t>Normal approach used in agile methods;</a:t>
            </a:r>
          </a:p>
          <a:p>
            <a:pPr lvl="1"/>
            <a:r>
              <a:rPr lang="en-US" dirty="0"/>
              <a:t>Evaluation done by user/customer.</a:t>
            </a:r>
          </a:p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Incremental Delivery</a:t>
            </a:r>
          </a:p>
          <a:p>
            <a:pPr lvl="1"/>
            <a:r>
              <a:rPr lang="en-US" b="1" dirty="0"/>
              <a:t>Deploy</a:t>
            </a:r>
            <a:r>
              <a:rPr lang="en-US" dirty="0"/>
              <a:t> an increment for use by end-users;</a:t>
            </a:r>
          </a:p>
          <a:p>
            <a:pPr lvl="1"/>
            <a:r>
              <a:rPr lang="en-US" b="1" dirty="0"/>
              <a:t>Difficult to implement</a:t>
            </a:r>
            <a:r>
              <a:rPr lang="en-US" dirty="0"/>
              <a:t> for replacement systems as increments have less functionality than the system being replaced.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Incremental delivery </a:t>
            </a:r>
            <a:endParaRPr lang="en-US" b="1" dirty="0"/>
          </a:p>
        </p:txBody>
      </p:sp>
      <p:pic>
        <p:nvPicPr>
          <p:cNvPr id="4" name="Picture 3" descr="2.10 Incremental-delivery.eps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457200" y="2353036"/>
            <a:ext cx="8172017" cy="27672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Incremental delivery advantages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800" dirty="0"/>
              <a:t>Customer value can be delivered with each increment, so system functionality is available earlier.</a:t>
            </a:r>
          </a:p>
          <a:p>
            <a:endParaRPr lang="en-GB" sz="2800" dirty="0"/>
          </a:p>
          <a:p>
            <a:r>
              <a:rPr lang="en-GB" sz="2800" dirty="0"/>
              <a:t>Early increments act as a prototype to help elicit requirements for later increments.</a:t>
            </a:r>
          </a:p>
          <a:p>
            <a:endParaRPr lang="en-GB" sz="2800" dirty="0"/>
          </a:p>
          <a:p>
            <a:r>
              <a:rPr lang="en-GB" sz="2800" dirty="0"/>
              <a:t>Lower risk of overall project failure.</a:t>
            </a:r>
          </a:p>
          <a:p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Incremental delivery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059363"/>
          </a:xfrm>
        </p:spPr>
        <p:txBody>
          <a:bodyPr/>
          <a:lstStyle/>
          <a:p>
            <a:r>
              <a:rPr lang="en-GB" sz="2800" dirty="0"/>
              <a:t>Most systems require a set of basic facilities that are used by different parts of the system. </a:t>
            </a:r>
          </a:p>
          <a:p>
            <a:pPr lvl="1"/>
            <a:r>
              <a:rPr lang="en-GB" sz="2400" dirty="0"/>
              <a:t>As requirements are not defined in detail until an increment is to be implemented, it can be hard to identify common facilities that are needed by all increments. </a:t>
            </a:r>
          </a:p>
          <a:p>
            <a:endParaRPr lang="en-GB" sz="2800" dirty="0"/>
          </a:p>
          <a:p>
            <a:r>
              <a:rPr lang="en-US" sz="2800" dirty="0"/>
              <a:t>You don’t write the </a:t>
            </a:r>
            <a:r>
              <a:rPr lang="en-US" sz="2800" i="1" dirty="0"/>
              <a:t>full</a:t>
            </a:r>
            <a:r>
              <a:rPr lang="en-US" sz="2800" dirty="0"/>
              <a:t> specification at the start</a:t>
            </a:r>
            <a:r>
              <a:rPr lang="en-GB" sz="2800" dirty="0"/>
              <a:t>. </a:t>
            </a:r>
          </a:p>
          <a:p>
            <a:pPr lvl="1"/>
            <a:r>
              <a:rPr lang="en-GB" sz="2400" dirty="0"/>
              <a:t>However, this conflicts with the procurement model of many organizations, where the complete system specification is part of the system development contract. </a:t>
            </a:r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3CF98-EED0-A157-DC6F-E042079DF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DD44C-8108-8A0E-70C5-C4A2A6F5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Incremental delivery problems </a:t>
            </a:r>
            <a:r>
              <a:rPr lang="en-US" b="1" dirty="0" err="1"/>
              <a:t>Cont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95BBF-5C5B-BF34-56AA-70007AB4D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0593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Example</a:t>
            </a:r>
          </a:p>
          <a:p>
            <a:r>
              <a:rPr lang="en-US" dirty="0"/>
              <a:t>Imagine you’re hired to build a university’s </a:t>
            </a:r>
            <a:r>
              <a:rPr lang="en-US" b="1" dirty="0"/>
              <a:t>new student portal</a:t>
            </a:r>
            <a:r>
              <a:rPr lang="en-US" dirty="0"/>
              <a:t>.</a:t>
            </a:r>
          </a:p>
          <a:p>
            <a:r>
              <a:rPr lang="en-US" dirty="0"/>
              <a:t>With </a:t>
            </a:r>
            <a:r>
              <a:rPr lang="en-US" b="1" dirty="0"/>
              <a:t>incremental delivery</a:t>
            </a:r>
            <a:r>
              <a:rPr lang="en-US" dirty="0"/>
              <a:t>, you’d first deliver login + registration, then attendance, then fee management, etc., refining requirements as you go.</a:t>
            </a:r>
          </a:p>
          <a:p>
            <a:r>
              <a:rPr lang="en-US" dirty="0"/>
              <a:t>But the </a:t>
            </a:r>
            <a:r>
              <a:rPr lang="en-US" b="1" dirty="0"/>
              <a:t>university’s contract</a:t>
            </a:r>
            <a:r>
              <a:rPr lang="en-US" dirty="0"/>
              <a:t> says: “We want a </a:t>
            </a:r>
            <a:r>
              <a:rPr lang="en-US" b="1" dirty="0"/>
              <a:t>complete detailed requirement doc upfront</a:t>
            </a:r>
            <a:r>
              <a:rPr lang="en-US" dirty="0"/>
              <a:t> (every single feature, UI design, reports, deadlines).”</a:t>
            </a:r>
          </a:p>
          <a:p>
            <a:r>
              <a:rPr lang="en-US" dirty="0"/>
              <a:t>Now you can’t follow incremental naturally, because the contract locks everything down.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730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Spiral Model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B050"/>
                </a:solidFill>
              </a:rPr>
              <a:t>The Spiral Model is </a:t>
            </a:r>
            <a:r>
              <a:rPr lang="en-US" sz="2800" b="1" dirty="0">
                <a:solidFill>
                  <a:srgbClr val="FF0000"/>
                </a:solidFill>
              </a:rPr>
              <a:t>iterative</a:t>
            </a:r>
            <a:r>
              <a:rPr lang="en-US" sz="2800" b="1" dirty="0">
                <a:solidFill>
                  <a:srgbClr val="00B050"/>
                </a:solidFill>
              </a:rPr>
              <a:t>, </a:t>
            </a:r>
            <a:r>
              <a:rPr lang="en-US" sz="2800" b="1" dirty="0">
                <a:solidFill>
                  <a:srgbClr val="FF0000"/>
                </a:solidFill>
              </a:rPr>
              <a:t>risk-driven</a:t>
            </a:r>
            <a:r>
              <a:rPr lang="en-US" sz="2800" b="1" dirty="0">
                <a:solidFill>
                  <a:srgbClr val="00B050"/>
                </a:solidFill>
              </a:rPr>
              <a:t>, and delivers the system </a:t>
            </a:r>
            <a:r>
              <a:rPr lang="en-US" sz="2800" b="1" dirty="0">
                <a:solidFill>
                  <a:srgbClr val="FF0000"/>
                </a:solidFill>
              </a:rPr>
              <a:t>incrementally.</a:t>
            </a:r>
            <a:r>
              <a:rPr lang="en-US" sz="2800" b="1" dirty="0">
                <a:solidFill>
                  <a:srgbClr val="00B05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Feedback</a:t>
            </a:r>
            <a:r>
              <a:rPr lang="en-US" sz="2800" b="1" dirty="0">
                <a:solidFill>
                  <a:srgbClr val="00B050"/>
                </a:solidFill>
              </a:rPr>
              <a:t> is taken after each </a:t>
            </a:r>
            <a:r>
              <a:rPr lang="en-US" sz="2800" b="1" dirty="0">
                <a:solidFill>
                  <a:srgbClr val="FF0000"/>
                </a:solidFill>
              </a:rPr>
              <a:t>loop</a:t>
            </a:r>
            <a:r>
              <a:rPr lang="en-GB" sz="2800" dirty="0"/>
              <a:t>.</a:t>
            </a:r>
          </a:p>
          <a:p>
            <a:r>
              <a:rPr lang="en-GB" sz="2800" dirty="0"/>
              <a:t>Each loop in the spiral represents a phase in the process. </a:t>
            </a:r>
          </a:p>
          <a:p>
            <a:r>
              <a:rPr lang="en-GB" sz="2800" b="1" dirty="0"/>
              <a:t>No fixed phases</a:t>
            </a:r>
            <a:r>
              <a:rPr lang="en-GB" sz="2800" dirty="0"/>
              <a:t> such as specification or design - loops in the spiral are chosen </a:t>
            </a:r>
            <a:r>
              <a:rPr lang="en-GB" sz="2800" dirty="0">
                <a:solidFill>
                  <a:srgbClr val="FF0000"/>
                </a:solidFill>
              </a:rPr>
              <a:t>depending on what is required</a:t>
            </a:r>
            <a:r>
              <a:rPr lang="en-GB" sz="2800" dirty="0"/>
              <a:t>.</a:t>
            </a:r>
          </a:p>
          <a:p>
            <a:r>
              <a:rPr lang="en-GB" sz="2800" dirty="0">
                <a:solidFill>
                  <a:srgbClr val="00B050"/>
                </a:solidFill>
              </a:rPr>
              <a:t>Risks are explicitly assessed and resolved throughout the process</a:t>
            </a:r>
            <a:r>
              <a:rPr lang="en-GB" sz="28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 Spiral Model of the Software Process </a:t>
            </a:r>
            <a:endParaRPr lang="en-US" b="1" dirty="0"/>
          </a:p>
        </p:txBody>
      </p:sp>
      <p:pic>
        <p:nvPicPr>
          <p:cNvPr id="4" name="Picture 3" descr="2.11 Spiral-model.eps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007471" y="1644649"/>
            <a:ext cx="6986169" cy="47533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Spiral Model Sectors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>
                <a:solidFill>
                  <a:srgbClr val="7030A0"/>
                </a:solidFill>
              </a:rPr>
              <a:t>Objective setting</a:t>
            </a:r>
          </a:p>
          <a:p>
            <a:pPr lvl="1"/>
            <a:r>
              <a:rPr lang="en-US" dirty="0"/>
              <a:t>Decide what to achieve in this cycle (features, requirements, goals).</a:t>
            </a: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b="1" dirty="0">
                <a:solidFill>
                  <a:srgbClr val="7030A0"/>
                </a:solidFill>
              </a:rPr>
              <a:t>Risk Assessment and Reduction</a:t>
            </a:r>
          </a:p>
          <a:p>
            <a:pPr lvl="1"/>
            <a:r>
              <a:rPr lang="en-US" dirty="0"/>
              <a:t>Identify possible risks (technical, cost, schedule, usability). </a:t>
            </a:r>
          </a:p>
          <a:p>
            <a:pPr lvl="1"/>
            <a:r>
              <a:rPr lang="en-US" dirty="0"/>
              <a:t>Try to reduce/eliminate them (e.g., building a prototype to test an idea).</a:t>
            </a: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b="1" dirty="0">
                <a:solidFill>
                  <a:srgbClr val="7030A0"/>
                </a:solidFill>
              </a:rPr>
              <a:t>Development and Validation</a:t>
            </a:r>
          </a:p>
          <a:p>
            <a:pPr lvl="1"/>
            <a:r>
              <a:rPr lang="en-US" dirty="0"/>
              <a:t>Build the selected features (could be design, coding, or prototype). </a:t>
            </a:r>
          </a:p>
          <a:p>
            <a:pPr lvl="1"/>
            <a:r>
              <a:rPr lang="en-US" dirty="0"/>
              <a:t>Test/validate against objectives.</a:t>
            </a: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b="1" dirty="0">
                <a:solidFill>
                  <a:srgbClr val="7030A0"/>
                </a:solidFill>
              </a:rPr>
              <a:t>Planning</a:t>
            </a:r>
          </a:p>
          <a:p>
            <a:pPr lvl="1"/>
            <a:r>
              <a:rPr lang="en-US" dirty="0"/>
              <a:t>Review with stakeholders. Plan next cycle (what’s next in the spiral).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A8483-05CA-95D7-382E-C6FF7B7EA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6E7E-E9C7-0474-631A-C7A317C6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80B21-A979-A6AF-D845-06DEE67CE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Best for large, complex, high-risk projects. </a:t>
            </a:r>
          </a:p>
          <a:p>
            <a:r>
              <a:rPr lang="en-US" sz="2800" dirty="0"/>
              <a:t>Manages risks early and systematically. </a:t>
            </a:r>
          </a:p>
          <a:p>
            <a:r>
              <a:rPr lang="en-US" sz="2800" dirty="0"/>
              <a:t>Allows user feedback at every loop.</a:t>
            </a:r>
          </a:p>
          <a:p>
            <a:r>
              <a:rPr lang="en-US" sz="2800" dirty="0"/>
              <a:t> Flexible → can adapt to changes.</a:t>
            </a:r>
          </a:p>
        </p:txBody>
      </p:sp>
    </p:spTree>
    <p:extLst>
      <p:ext uri="{BB962C8B-B14F-4D97-AF65-F5344CB8AC3E}">
        <p14:creationId xmlns:p14="http://schemas.microsoft.com/office/powerpoint/2010/main" val="62954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601EE-D6A3-A8BE-0495-DDBBA32BE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45319-F535-2426-7A13-89DC37B3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95763-DE63-5491-7343-FDEDBB4E9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Expensive (requires risk analysis experts). </a:t>
            </a:r>
          </a:p>
          <a:p>
            <a:r>
              <a:rPr lang="en-US" sz="2800" dirty="0"/>
              <a:t>Not good for small projects. </a:t>
            </a:r>
          </a:p>
          <a:p>
            <a:r>
              <a:rPr lang="en-US" sz="2800" dirty="0"/>
              <a:t>Can be difficult to manage.</a:t>
            </a:r>
          </a:p>
        </p:txBody>
      </p:sp>
    </p:spTree>
    <p:extLst>
      <p:ext uri="{BB962C8B-B14F-4D97-AF65-F5344CB8AC3E}">
        <p14:creationId xmlns:p14="http://schemas.microsoft.com/office/powerpoint/2010/main" val="381877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287FF-06D5-D321-045C-5F9A615E2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35AB5-7E14-297B-53BF-A81A95B2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Spiral Model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4FC2C-109E-83C0-67CC-4BF00A608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Objective Setting</a:t>
            </a:r>
          </a:p>
          <a:p>
            <a:pPr marL="0" indent="0">
              <a:buNone/>
            </a:pPr>
            <a:r>
              <a:rPr lang="en-US" sz="2200" dirty="0"/>
              <a:t>Build a </a:t>
            </a:r>
            <a:r>
              <a:rPr lang="en-US" sz="2200" b="1" dirty="0"/>
              <a:t>Secure Login Feature</a:t>
            </a:r>
            <a:r>
              <a:rPr lang="en-US" sz="2200" dirty="0"/>
              <a:t> (Username + Password).</a:t>
            </a:r>
          </a:p>
          <a:p>
            <a:pPr marL="0" indent="0">
              <a:buNone/>
            </a:pPr>
            <a:r>
              <a:rPr lang="en-US" sz="2200" dirty="0"/>
              <a:t>Goal: Allow users to safely access their accounts.</a:t>
            </a:r>
          </a:p>
          <a:p>
            <a:r>
              <a:rPr lang="en-US" sz="2800" b="1" dirty="0"/>
              <a:t>Risk Identification and Reduction</a:t>
            </a:r>
          </a:p>
          <a:p>
            <a:pPr marL="0" indent="0">
              <a:buNone/>
            </a:pPr>
            <a:r>
              <a:rPr lang="en-US" sz="2200" dirty="0"/>
              <a:t>Passwords could be </a:t>
            </a:r>
            <a:r>
              <a:rPr lang="en-US" sz="2200" b="1" dirty="0"/>
              <a:t>hacked</a:t>
            </a:r>
            <a:r>
              <a:rPr lang="en-US" sz="2200" dirty="0"/>
              <a:t> (brute force / phishing).</a:t>
            </a:r>
          </a:p>
          <a:p>
            <a:pPr marL="0" indent="0">
              <a:buNone/>
            </a:pPr>
            <a:r>
              <a:rPr lang="en-US" sz="2200" dirty="0"/>
              <a:t>Users may </a:t>
            </a:r>
            <a:r>
              <a:rPr lang="en-US" sz="2200" b="1" dirty="0"/>
              <a:t>forget their passwords</a:t>
            </a:r>
            <a:r>
              <a:rPr lang="en-US" sz="2200" dirty="0"/>
              <a:t>, leading to account lockouts.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Introduce Two-Factor Authentication (OTP on mobile/email). </a:t>
            </a:r>
          </a:p>
          <a:p>
            <a:pPr marL="0" indent="0">
              <a:buNone/>
            </a:pPr>
            <a:r>
              <a:rPr lang="en-US" sz="2200" dirty="0"/>
              <a:t>Add a Password Reset Option with email/phone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41340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F87BB-06E1-7184-9EF6-CCF870A77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22B52-2212-C383-6B6E-E9C41240E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Spiral Model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F407F-E11E-655F-0D48-843E9E7BD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Development + Validation </a:t>
            </a:r>
          </a:p>
          <a:p>
            <a:pPr marL="0" indent="0">
              <a:buNone/>
            </a:pPr>
            <a:r>
              <a:rPr lang="en-US" sz="2200" b="1" dirty="0"/>
              <a:t>Prototype:</a:t>
            </a:r>
            <a:r>
              <a:rPr lang="en-US" sz="2200" dirty="0"/>
              <a:t> Simple login screen (Username + Password + “Forgot Password?” link).</a:t>
            </a:r>
          </a:p>
          <a:p>
            <a:pPr marL="0" indent="0">
              <a:buNone/>
            </a:pPr>
            <a:r>
              <a:rPr lang="en-US" sz="2200" b="1" dirty="0"/>
              <a:t>Validation:</a:t>
            </a:r>
            <a:r>
              <a:rPr lang="en-US" sz="2200" dirty="0"/>
              <a:t> Show it to the client → confirm that login flow matches expectations.</a:t>
            </a:r>
          </a:p>
          <a:p>
            <a:endParaRPr lang="en-US" sz="2200" dirty="0"/>
          </a:p>
          <a:p>
            <a:r>
              <a:rPr lang="en-US" sz="2800" b="1" dirty="0"/>
              <a:t>Planning Next Iteration</a:t>
            </a:r>
          </a:p>
          <a:p>
            <a:pPr marL="0" indent="0">
              <a:buNone/>
            </a:pPr>
            <a:r>
              <a:rPr lang="en-US" sz="2200" dirty="0"/>
              <a:t>Next cycle will add </a:t>
            </a:r>
            <a:r>
              <a:rPr lang="en-US" sz="2200" b="1" dirty="0"/>
              <a:t>Transaction History Module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146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3200" dirty="0"/>
              <a:t>			      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746BA5DCC9394D8011CD1786C7798C" ma:contentTypeVersion="3" ma:contentTypeDescription="Create a new document." ma:contentTypeScope="" ma:versionID="4272aded7ec7d4c7253a29a16373bcfa">
  <xsd:schema xmlns:xsd="http://www.w3.org/2001/XMLSchema" xmlns:xs="http://www.w3.org/2001/XMLSchema" xmlns:p="http://schemas.microsoft.com/office/2006/metadata/properties" xmlns:ns2="bca22fdb-ae7c-4717-b631-3c9f88a96e59" targetNamespace="http://schemas.microsoft.com/office/2006/metadata/properties" ma:root="true" ma:fieldsID="938043f5702327063dcd06b1f0447230" ns2:_="">
    <xsd:import namespace="bca22fdb-ae7c-4717-b631-3c9f88a96e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22fdb-ae7c-4717-b631-3c9f88a96e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2EADAC-0FD8-48B4-9B71-970FF01AACD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3B033BF-954A-4458-9D4A-A7C6FFE3A6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B0A3FC-AF73-42E8-B5F4-CCAE364708D1}"/>
</file>

<file path=docProps/app.xml><?xml version="1.0" encoding="utf-8"?>
<Properties xmlns="http://schemas.openxmlformats.org/officeDocument/2006/extended-properties" xmlns:vt="http://schemas.openxmlformats.org/officeDocument/2006/docPropsVTypes">
  <TotalTime>8113</TotalTime>
  <Words>698</Words>
  <Application>Microsoft Office PowerPoint</Application>
  <PresentationFormat>On-screen Show (4:3)</PresentationFormat>
  <Paragraphs>85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Default Design</vt:lpstr>
      <vt:lpstr>Software Engineering   </vt:lpstr>
      <vt:lpstr>Chapter 2- Software Process</vt:lpstr>
      <vt:lpstr>Incremental Model</vt:lpstr>
      <vt:lpstr>Incremental development and delivery</vt:lpstr>
      <vt:lpstr>Incremental delivery </vt:lpstr>
      <vt:lpstr>Incremental delivery advantages</vt:lpstr>
      <vt:lpstr>Incremental delivery problems</vt:lpstr>
      <vt:lpstr>Incremental delivery problems Cont</vt:lpstr>
      <vt:lpstr>Spiral Model</vt:lpstr>
      <vt:lpstr> Spiral Model of the Software Process </vt:lpstr>
      <vt:lpstr>Spiral Model Sectors</vt:lpstr>
      <vt:lpstr>Advantages</vt:lpstr>
      <vt:lpstr>Disadvantages</vt:lpstr>
      <vt:lpstr>Spiral Model Example</vt:lpstr>
      <vt:lpstr>Spiral Model Example</vt:lpstr>
      <vt:lpstr>PowerPoint Presentation</vt:lpstr>
    </vt:vector>
  </TitlesOfParts>
  <Company>National University, FAST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Zahid Halim</dc:creator>
  <cp:lastModifiedBy>Israr Ahmad Lecturer FCS</cp:lastModifiedBy>
  <cp:revision>596</cp:revision>
  <dcterms:created xsi:type="dcterms:W3CDTF">2005-01-31T08:28:19Z</dcterms:created>
  <dcterms:modified xsi:type="dcterms:W3CDTF">2026-09-26T17:03:39Z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0x010100D8746BA5DCC9394D8011CD1786C7798C</vt:lpwstr>
  </property>
</Properties>
</file>