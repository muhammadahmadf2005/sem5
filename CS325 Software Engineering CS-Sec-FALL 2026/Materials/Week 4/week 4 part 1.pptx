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7" r:id="rId17"/>
    <p:sldId id="278" r:id="rId18"/>
    <p:sldId id="268" r:id="rId19"/>
    <p:sldId id="269" r:id="rId20"/>
    <p:sldId id="272" r:id="rId21"/>
    <p:sldId id="273" r:id="rId22"/>
    <p:sldId id="274" r:id="rId23"/>
    <p:sldId id="276" r:id="rId24"/>
    <p:sldId id="279" r:id="rId2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847"/>
            <a:ext cx="9144000" cy="142240"/>
          </a:xfrm>
          <a:custGeom>
            <a:avLst/>
            <a:gdLst/>
            <a:ahLst/>
            <a:cxnLst/>
            <a:rect l="l" t="t" r="r" b="b"/>
            <a:pathLst>
              <a:path w="9144000" h="142240">
                <a:moveTo>
                  <a:pt x="9144000" y="0"/>
                </a:moveTo>
                <a:lnTo>
                  <a:pt x="0" y="0"/>
                </a:lnTo>
                <a:lnTo>
                  <a:pt x="0" y="91440"/>
                </a:lnTo>
                <a:lnTo>
                  <a:pt x="5410200" y="91440"/>
                </a:lnTo>
                <a:lnTo>
                  <a:pt x="5410200" y="141732"/>
                </a:lnTo>
                <a:lnTo>
                  <a:pt x="9144000" y="141732"/>
                </a:lnTo>
                <a:lnTo>
                  <a:pt x="9144000" y="91440"/>
                </a:lnTo>
                <a:lnTo>
                  <a:pt x="9144000" y="51816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438911"/>
            <a:ext cx="3733800" cy="1798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07152" y="496823"/>
            <a:ext cx="3568065" cy="128270"/>
          </a:xfrm>
          <a:custGeom>
            <a:avLst/>
            <a:gdLst/>
            <a:ahLst/>
            <a:cxnLst/>
            <a:rect l="l" t="t" r="r" b="b"/>
            <a:pathLst>
              <a:path w="3568065" h="128270">
                <a:moveTo>
                  <a:pt x="3064764" y="1524"/>
                </a:moveTo>
                <a:lnTo>
                  <a:pt x="3061716" y="0"/>
                </a:lnTo>
                <a:lnTo>
                  <a:pt x="3048" y="0"/>
                </a:lnTo>
                <a:lnTo>
                  <a:pt x="0" y="1524"/>
                </a:lnTo>
                <a:lnTo>
                  <a:pt x="0" y="4572"/>
                </a:lnTo>
                <a:lnTo>
                  <a:pt x="0" y="25908"/>
                </a:lnTo>
                <a:lnTo>
                  <a:pt x="3048" y="27432"/>
                </a:lnTo>
                <a:lnTo>
                  <a:pt x="3061716" y="27432"/>
                </a:lnTo>
                <a:lnTo>
                  <a:pt x="3064764" y="25908"/>
                </a:lnTo>
                <a:lnTo>
                  <a:pt x="3064764" y="1524"/>
                </a:lnTo>
                <a:close/>
              </a:path>
              <a:path w="3568065" h="128270">
                <a:moveTo>
                  <a:pt x="3567684" y="94488"/>
                </a:moveTo>
                <a:lnTo>
                  <a:pt x="3564636" y="91440"/>
                </a:lnTo>
                <a:lnTo>
                  <a:pt x="1970532" y="91440"/>
                </a:lnTo>
                <a:lnTo>
                  <a:pt x="1967484" y="94488"/>
                </a:lnTo>
                <a:lnTo>
                  <a:pt x="1967484" y="97536"/>
                </a:lnTo>
                <a:lnTo>
                  <a:pt x="1967484" y="124968"/>
                </a:lnTo>
                <a:lnTo>
                  <a:pt x="1970532" y="128016"/>
                </a:lnTo>
                <a:lnTo>
                  <a:pt x="3564636" y="128016"/>
                </a:lnTo>
                <a:lnTo>
                  <a:pt x="3567684" y="124968"/>
                </a:lnTo>
                <a:lnTo>
                  <a:pt x="3567684" y="94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6623" y="583314"/>
            <a:ext cx="75037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847"/>
            <a:ext cx="9144000" cy="142240"/>
          </a:xfrm>
          <a:custGeom>
            <a:avLst/>
            <a:gdLst/>
            <a:ahLst/>
            <a:cxnLst/>
            <a:rect l="l" t="t" r="r" b="b"/>
            <a:pathLst>
              <a:path w="9144000" h="142240">
                <a:moveTo>
                  <a:pt x="9144000" y="0"/>
                </a:moveTo>
                <a:lnTo>
                  <a:pt x="0" y="0"/>
                </a:lnTo>
                <a:lnTo>
                  <a:pt x="0" y="91440"/>
                </a:lnTo>
                <a:lnTo>
                  <a:pt x="5410200" y="91440"/>
                </a:lnTo>
                <a:lnTo>
                  <a:pt x="5410200" y="141732"/>
                </a:lnTo>
                <a:lnTo>
                  <a:pt x="9144000" y="141732"/>
                </a:lnTo>
                <a:lnTo>
                  <a:pt x="9144000" y="91440"/>
                </a:lnTo>
                <a:lnTo>
                  <a:pt x="9144000" y="51816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0200" y="438911"/>
            <a:ext cx="3733800" cy="1798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07152" y="496823"/>
            <a:ext cx="3568065" cy="128270"/>
          </a:xfrm>
          <a:custGeom>
            <a:avLst/>
            <a:gdLst/>
            <a:ahLst/>
            <a:cxnLst/>
            <a:rect l="l" t="t" r="r" b="b"/>
            <a:pathLst>
              <a:path w="3568065" h="128270">
                <a:moveTo>
                  <a:pt x="3064764" y="1524"/>
                </a:moveTo>
                <a:lnTo>
                  <a:pt x="3061716" y="0"/>
                </a:lnTo>
                <a:lnTo>
                  <a:pt x="3048" y="0"/>
                </a:lnTo>
                <a:lnTo>
                  <a:pt x="0" y="1524"/>
                </a:lnTo>
                <a:lnTo>
                  <a:pt x="0" y="4572"/>
                </a:lnTo>
                <a:lnTo>
                  <a:pt x="0" y="25908"/>
                </a:lnTo>
                <a:lnTo>
                  <a:pt x="3048" y="27432"/>
                </a:lnTo>
                <a:lnTo>
                  <a:pt x="3061716" y="27432"/>
                </a:lnTo>
                <a:lnTo>
                  <a:pt x="3064764" y="25908"/>
                </a:lnTo>
                <a:lnTo>
                  <a:pt x="3064764" y="1524"/>
                </a:lnTo>
                <a:close/>
              </a:path>
              <a:path w="3568065" h="128270">
                <a:moveTo>
                  <a:pt x="3567684" y="94488"/>
                </a:moveTo>
                <a:lnTo>
                  <a:pt x="3564636" y="91440"/>
                </a:lnTo>
                <a:lnTo>
                  <a:pt x="1970532" y="91440"/>
                </a:lnTo>
                <a:lnTo>
                  <a:pt x="1967484" y="94488"/>
                </a:lnTo>
                <a:lnTo>
                  <a:pt x="1967484" y="97536"/>
                </a:lnTo>
                <a:lnTo>
                  <a:pt x="1967484" y="124968"/>
                </a:lnTo>
                <a:lnTo>
                  <a:pt x="1970532" y="128016"/>
                </a:lnTo>
                <a:lnTo>
                  <a:pt x="3564636" y="128016"/>
                </a:lnTo>
                <a:lnTo>
                  <a:pt x="3567684" y="124968"/>
                </a:lnTo>
                <a:lnTo>
                  <a:pt x="3567684" y="94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896"/>
                </a:lnTo>
                <a:lnTo>
                  <a:pt x="9144000" y="31089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7847"/>
            <a:ext cx="9144000" cy="142240"/>
          </a:xfrm>
          <a:custGeom>
            <a:avLst/>
            <a:gdLst/>
            <a:ahLst/>
            <a:cxnLst/>
            <a:rect l="l" t="t" r="r" b="b"/>
            <a:pathLst>
              <a:path w="9144000" h="142240">
                <a:moveTo>
                  <a:pt x="9144000" y="0"/>
                </a:moveTo>
                <a:lnTo>
                  <a:pt x="0" y="0"/>
                </a:lnTo>
                <a:lnTo>
                  <a:pt x="0" y="91440"/>
                </a:lnTo>
                <a:lnTo>
                  <a:pt x="5410200" y="91440"/>
                </a:lnTo>
                <a:lnTo>
                  <a:pt x="5410200" y="141732"/>
                </a:lnTo>
                <a:lnTo>
                  <a:pt x="9144000" y="141732"/>
                </a:lnTo>
                <a:lnTo>
                  <a:pt x="9144000" y="91440"/>
                </a:lnTo>
                <a:lnTo>
                  <a:pt x="9144000" y="51816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10200" y="438911"/>
            <a:ext cx="3733800" cy="17983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407152" y="496823"/>
            <a:ext cx="3568065" cy="128270"/>
          </a:xfrm>
          <a:custGeom>
            <a:avLst/>
            <a:gdLst/>
            <a:ahLst/>
            <a:cxnLst/>
            <a:rect l="l" t="t" r="r" b="b"/>
            <a:pathLst>
              <a:path w="3568065" h="128270">
                <a:moveTo>
                  <a:pt x="3064764" y="1524"/>
                </a:moveTo>
                <a:lnTo>
                  <a:pt x="3061716" y="0"/>
                </a:lnTo>
                <a:lnTo>
                  <a:pt x="3048" y="0"/>
                </a:lnTo>
                <a:lnTo>
                  <a:pt x="0" y="1524"/>
                </a:lnTo>
                <a:lnTo>
                  <a:pt x="0" y="4572"/>
                </a:lnTo>
                <a:lnTo>
                  <a:pt x="0" y="25908"/>
                </a:lnTo>
                <a:lnTo>
                  <a:pt x="3048" y="27432"/>
                </a:lnTo>
                <a:lnTo>
                  <a:pt x="3061716" y="27432"/>
                </a:lnTo>
                <a:lnTo>
                  <a:pt x="3064764" y="25908"/>
                </a:lnTo>
                <a:lnTo>
                  <a:pt x="3064764" y="1524"/>
                </a:lnTo>
                <a:close/>
              </a:path>
              <a:path w="3568065" h="128270">
                <a:moveTo>
                  <a:pt x="3567684" y="94488"/>
                </a:moveTo>
                <a:lnTo>
                  <a:pt x="3564636" y="91440"/>
                </a:lnTo>
                <a:lnTo>
                  <a:pt x="1970532" y="91440"/>
                </a:lnTo>
                <a:lnTo>
                  <a:pt x="1967484" y="94488"/>
                </a:lnTo>
                <a:lnTo>
                  <a:pt x="1967484" y="97536"/>
                </a:lnTo>
                <a:lnTo>
                  <a:pt x="1967484" y="124968"/>
                </a:lnTo>
                <a:lnTo>
                  <a:pt x="1970532" y="128016"/>
                </a:lnTo>
                <a:lnTo>
                  <a:pt x="3564636" y="128016"/>
                </a:lnTo>
                <a:lnTo>
                  <a:pt x="3567684" y="124968"/>
                </a:lnTo>
                <a:lnTo>
                  <a:pt x="3567684" y="944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0527" y="513143"/>
            <a:ext cx="8422944" cy="1465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5712" y="2241219"/>
            <a:ext cx="7687309" cy="3730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3427729"/>
          </a:xfrm>
          <a:custGeom>
            <a:avLst/>
            <a:gdLst/>
            <a:ahLst/>
            <a:cxnLst/>
            <a:rect l="l" t="t" r="r" b="b"/>
            <a:pathLst>
              <a:path w="9144000" h="3427729">
                <a:moveTo>
                  <a:pt x="9144000" y="0"/>
                </a:moveTo>
                <a:lnTo>
                  <a:pt x="0" y="0"/>
                </a:lnTo>
                <a:lnTo>
                  <a:pt x="0" y="3427476"/>
                </a:lnTo>
                <a:lnTo>
                  <a:pt x="9144000" y="3427476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915" y="2262651"/>
            <a:ext cx="53467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FFFF"/>
                </a:solidFill>
              </a:rPr>
              <a:t>Software</a:t>
            </a:r>
            <a:r>
              <a:rPr sz="4400" spc="-60" dirty="0">
                <a:solidFill>
                  <a:srgbClr val="FFFFFF"/>
                </a:solidFill>
              </a:rPr>
              <a:t> </a:t>
            </a:r>
            <a:r>
              <a:rPr sz="4400" spc="-10" dirty="0">
                <a:solidFill>
                  <a:srgbClr val="FFFFFF"/>
                </a:solidFill>
              </a:rPr>
              <a:t>Engineering</a:t>
            </a:r>
            <a:endParaRPr sz="4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0" y="3427475"/>
            <a:ext cx="9144000" cy="3426460"/>
            <a:chOff x="0" y="3427475"/>
            <a:chExt cx="9144000" cy="3426460"/>
          </a:xfrm>
        </p:grpSpPr>
        <p:sp>
          <p:nvSpPr>
            <p:cNvPr id="5" name="object 5"/>
            <p:cNvSpPr/>
            <p:nvPr/>
          </p:nvSpPr>
          <p:spPr>
            <a:xfrm>
              <a:off x="0" y="3701795"/>
              <a:ext cx="9144000" cy="3152140"/>
            </a:xfrm>
            <a:custGeom>
              <a:avLst/>
              <a:gdLst/>
              <a:ahLst/>
              <a:cxnLst/>
              <a:rect l="l" t="t" r="r" b="b"/>
              <a:pathLst>
                <a:path w="9144000" h="3152140">
                  <a:moveTo>
                    <a:pt x="0" y="3151631"/>
                  </a:moveTo>
                  <a:lnTo>
                    <a:pt x="9144000" y="315163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1516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3808475"/>
              <a:ext cx="3733800" cy="91440"/>
            </a:xfrm>
            <a:custGeom>
              <a:avLst/>
              <a:gdLst/>
              <a:ahLst/>
              <a:cxnLst/>
              <a:rect l="l" t="t" r="r" b="b"/>
              <a:pathLst>
                <a:path w="3733800" h="91439">
                  <a:moveTo>
                    <a:pt x="373380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3733800" y="91439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10200" y="3895343"/>
              <a:ext cx="3733800" cy="228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163567"/>
              <a:ext cx="1965959" cy="4267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200" y="3960875"/>
              <a:ext cx="3568065" cy="135890"/>
            </a:xfrm>
            <a:custGeom>
              <a:avLst/>
              <a:gdLst/>
              <a:ahLst/>
              <a:cxnLst/>
              <a:rect l="l" t="t" r="r" b="b"/>
              <a:pathLst>
                <a:path w="3568065" h="135889">
                  <a:moveTo>
                    <a:pt x="3064764" y="3048"/>
                  </a:moveTo>
                  <a:lnTo>
                    <a:pt x="3063240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3240" y="27432"/>
                  </a:lnTo>
                  <a:lnTo>
                    <a:pt x="3064764" y="25908"/>
                  </a:lnTo>
                  <a:lnTo>
                    <a:pt x="3064764" y="3048"/>
                  </a:lnTo>
                  <a:close/>
                </a:path>
                <a:path w="3568065" h="135889">
                  <a:moveTo>
                    <a:pt x="3567684" y="102108"/>
                  </a:moveTo>
                  <a:lnTo>
                    <a:pt x="3564636" y="99060"/>
                  </a:lnTo>
                  <a:lnTo>
                    <a:pt x="1970532" y="99060"/>
                  </a:lnTo>
                  <a:lnTo>
                    <a:pt x="1967484" y="102108"/>
                  </a:lnTo>
                  <a:lnTo>
                    <a:pt x="1967484" y="105156"/>
                  </a:lnTo>
                  <a:lnTo>
                    <a:pt x="1967484" y="132588"/>
                  </a:lnTo>
                  <a:lnTo>
                    <a:pt x="1970532" y="135636"/>
                  </a:lnTo>
                  <a:lnTo>
                    <a:pt x="3564636" y="135636"/>
                  </a:lnTo>
                  <a:lnTo>
                    <a:pt x="3567684" y="132588"/>
                  </a:lnTo>
                  <a:lnTo>
                    <a:pt x="3567684" y="102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648455"/>
              <a:ext cx="9144000" cy="2438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3701795"/>
              <a:ext cx="9144000" cy="189230"/>
            </a:xfrm>
            <a:custGeom>
              <a:avLst/>
              <a:gdLst/>
              <a:ahLst/>
              <a:cxnLst/>
              <a:rect l="l" t="t" r="r" b="b"/>
              <a:pathLst>
                <a:path w="9144000" h="189229">
                  <a:moveTo>
                    <a:pt x="9144000" y="0"/>
                  </a:moveTo>
                  <a:lnTo>
                    <a:pt x="6414516" y="0"/>
                  </a:lnTo>
                  <a:lnTo>
                    <a:pt x="0" y="0"/>
                  </a:lnTo>
                  <a:lnTo>
                    <a:pt x="0" y="114300"/>
                  </a:lnTo>
                  <a:lnTo>
                    <a:pt x="6414516" y="114300"/>
                  </a:lnTo>
                  <a:lnTo>
                    <a:pt x="6414516" y="188976"/>
                  </a:lnTo>
                  <a:lnTo>
                    <a:pt x="9144000" y="188976"/>
                  </a:lnTo>
                  <a:lnTo>
                    <a:pt x="9144000" y="1143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427475"/>
              <a:ext cx="9144000" cy="274320"/>
            </a:xfrm>
            <a:custGeom>
              <a:avLst/>
              <a:gdLst/>
              <a:ahLst/>
              <a:cxnLst/>
              <a:rect l="l" t="t" r="r" b="b"/>
              <a:pathLst>
                <a:path w="9144000" h="274320">
                  <a:moveTo>
                    <a:pt x="9144000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9144000" y="2743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5640" y="2231546"/>
            <a:ext cx="3029585" cy="182498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SDLC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Sequential</a:t>
            </a:r>
            <a:r>
              <a:rPr sz="2800" spc="-13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9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Waterfall</a:t>
            </a:r>
            <a:r>
              <a:rPr sz="2600" spc="-150" dirty="0">
                <a:solidFill>
                  <a:srgbClr val="438086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438086"/>
                </a:solidFill>
                <a:latin typeface="Georgia"/>
                <a:cs typeface="Georgia"/>
              </a:rPr>
              <a:t>Model</a:t>
            </a:r>
            <a:endParaRPr sz="26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295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spc="-25" dirty="0">
                <a:solidFill>
                  <a:srgbClr val="438086"/>
                </a:solidFill>
                <a:latin typeface="Georgia"/>
                <a:cs typeface="Georgia"/>
              </a:rPr>
              <a:t>V-</a:t>
            </a:r>
            <a:r>
              <a:rPr sz="2600" spc="-10" dirty="0">
                <a:solidFill>
                  <a:srgbClr val="438086"/>
                </a:solidFill>
                <a:latin typeface="Georgia"/>
                <a:cs typeface="Georgia"/>
              </a:rPr>
              <a:t>Model</a:t>
            </a:r>
            <a:endParaRPr sz="26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03132" y="26910"/>
            <a:ext cx="153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dirty="0"/>
              <a:t>SDLC</a:t>
            </a:r>
            <a:r>
              <a:rPr spc="-12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04503" y="26910"/>
            <a:ext cx="151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5917" y="2227267"/>
            <a:ext cx="6922134" cy="3131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420"/>
              </a:spcBef>
              <a:buClr>
                <a:srgbClr val="A04DA3"/>
              </a:buClr>
              <a:buAutoNum type="arabicPeriod"/>
              <a:tabLst>
                <a:tab pos="584200" algn="l"/>
              </a:tabLst>
            </a:pPr>
            <a:r>
              <a:rPr sz="2800" b="1" dirty="0">
                <a:latin typeface="Times New Roman"/>
                <a:cs typeface="Times New Roman"/>
              </a:rPr>
              <a:t>Sequential</a:t>
            </a:r>
            <a:r>
              <a:rPr sz="2800" b="1" spc="-9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1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spc="-20" dirty="0">
                <a:latin typeface="Times New Roman"/>
                <a:cs typeface="Times New Roman"/>
              </a:rPr>
              <a:t>Waterfall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spc="-130" dirty="0">
                <a:latin typeface="Times New Roman"/>
                <a:cs typeface="Times New Roman"/>
              </a:rPr>
              <a:t>V-</a:t>
            </a:r>
            <a:r>
              <a:rPr sz="2600" spc="-2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  <a:p>
            <a:pPr marL="571500" marR="3463925" indent="-571500" algn="r">
              <a:lnSpc>
                <a:spcPct val="100000"/>
              </a:lnSpc>
              <a:spcBef>
                <a:spcPts val="290"/>
              </a:spcBef>
              <a:buClr>
                <a:srgbClr val="A04DA3"/>
              </a:buClr>
              <a:buAutoNum type="arabicPeriod"/>
              <a:tabLst>
                <a:tab pos="571500" algn="l"/>
              </a:tabLst>
            </a:pPr>
            <a:r>
              <a:rPr sz="2800" b="1" dirty="0">
                <a:latin typeface="Times New Roman"/>
                <a:cs typeface="Times New Roman"/>
              </a:rPr>
              <a:t>Incremental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model</a:t>
            </a:r>
            <a:endParaRPr sz="2800">
              <a:latin typeface="Times New Roman"/>
              <a:cs typeface="Times New Roman"/>
            </a:endParaRPr>
          </a:p>
          <a:p>
            <a:pPr marL="570865" marR="3470910" lvl="1" indent="-570865" algn="r">
              <a:lnSpc>
                <a:spcPct val="100000"/>
              </a:lnSpc>
              <a:spcBef>
                <a:spcPts val="310"/>
              </a:spcBef>
              <a:buClr>
                <a:srgbClr val="438086"/>
              </a:buClr>
              <a:buFont typeface="Wingdings"/>
              <a:buChar char=""/>
              <a:tabLst>
                <a:tab pos="570865" algn="l"/>
              </a:tabLst>
            </a:pPr>
            <a:r>
              <a:rPr sz="2600" dirty="0">
                <a:latin typeface="Times New Roman"/>
                <a:cs typeface="Times New Roman"/>
              </a:rPr>
              <a:t>Incremental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dirty="0">
                <a:latin typeface="Times New Roman"/>
                <a:cs typeface="Times New Roman"/>
              </a:rPr>
              <a:t>Spiral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  <a:p>
            <a:pPr marL="876300" lvl="1" indent="-571500">
              <a:lnSpc>
                <a:spcPct val="100000"/>
              </a:lnSpc>
              <a:spcBef>
                <a:spcPts val="300"/>
              </a:spcBef>
              <a:buClr>
                <a:srgbClr val="438086"/>
              </a:buClr>
              <a:buFont typeface="Wingdings"/>
              <a:buChar char=""/>
              <a:tabLst>
                <a:tab pos="876300" algn="l"/>
              </a:tabLst>
            </a:pPr>
            <a:r>
              <a:rPr sz="2600" dirty="0">
                <a:latin typeface="Times New Roman"/>
                <a:cs typeface="Times New Roman"/>
              </a:rPr>
              <a:t>RAD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(Rapid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application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development)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model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087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95"/>
              </a:spcBef>
            </a:pPr>
            <a:r>
              <a:rPr dirty="0"/>
              <a:t>When</a:t>
            </a:r>
            <a:r>
              <a:rPr spc="-7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30" dirty="0"/>
              <a:t>V-</a:t>
            </a:r>
            <a:r>
              <a:rPr dirty="0"/>
              <a:t>Shaped</a:t>
            </a:r>
            <a:r>
              <a:rPr spc="-80" dirty="0"/>
              <a:t> </a:t>
            </a:r>
            <a:r>
              <a:rPr spc="-10" dirty="0"/>
              <a:t>Model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8605" marR="256540" indent="-256540">
              <a:lnSpc>
                <a:spcPts val="2160"/>
              </a:lnSpc>
              <a:spcBef>
                <a:spcPts val="37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Excellent</a:t>
            </a:r>
            <a:r>
              <a:rPr sz="2000" spc="-50" dirty="0"/>
              <a:t> </a:t>
            </a:r>
            <a:r>
              <a:rPr sz="2000" dirty="0"/>
              <a:t>choice</a:t>
            </a:r>
            <a:r>
              <a:rPr sz="2000" spc="-30" dirty="0"/>
              <a:t> </a:t>
            </a:r>
            <a:r>
              <a:rPr sz="2000" dirty="0"/>
              <a:t>for</a:t>
            </a:r>
            <a:r>
              <a:rPr sz="2000" spc="-45" dirty="0"/>
              <a:t> </a:t>
            </a:r>
            <a:r>
              <a:rPr sz="2000" dirty="0"/>
              <a:t>systems</a:t>
            </a:r>
            <a:r>
              <a:rPr sz="2000" spc="-45" dirty="0"/>
              <a:t> </a:t>
            </a:r>
            <a:r>
              <a:rPr sz="2000" dirty="0"/>
              <a:t>requiring</a:t>
            </a:r>
            <a:r>
              <a:rPr sz="2000" spc="-15" dirty="0"/>
              <a:t> </a:t>
            </a:r>
            <a:r>
              <a:rPr sz="2000" dirty="0"/>
              <a:t>high</a:t>
            </a:r>
            <a:r>
              <a:rPr sz="2000" spc="-25" dirty="0"/>
              <a:t> </a:t>
            </a:r>
            <a:r>
              <a:rPr sz="2000" dirty="0"/>
              <a:t>reliability</a:t>
            </a:r>
            <a:r>
              <a:rPr sz="2000" spc="-30" dirty="0"/>
              <a:t> </a:t>
            </a:r>
            <a:r>
              <a:rPr sz="2000" dirty="0"/>
              <a:t>–</a:t>
            </a:r>
            <a:r>
              <a:rPr sz="2000" spc="-20" dirty="0"/>
              <a:t> </a:t>
            </a:r>
            <a:r>
              <a:rPr sz="2000" spc="-10" dirty="0"/>
              <a:t>hospital </a:t>
            </a:r>
            <a:r>
              <a:rPr sz="2000" dirty="0"/>
              <a:t>patient</a:t>
            </a:r>
            <a:r>
              <a:rPr sz="2000" spc="-60" dirty="0"/>
              <a:t> </a:t>
            </a:r>
            <a:r>
              <a:rPr sz="2000" dirty="0"/>
              <a:t>control</a:t>
            </a:r>
            <a:r>
              <a:rPr sz="2000" spc="-30" dirty="0"/>
              <a:t> </a:t>
            </a:r>
            <a:r>
              <a:rPr sz="2000" spc="-10" dirty="0"/>
              <a:t>applications</a:t>
            </a:r>
            <a:endParaRPr sz="2000"/>
          </a:p>
          <a:p>
            <a:pPr marL="268605" marR="5080" indent="-256540">
              <a:lnSpc>
                <a:spcPts val="216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When</a:t>
            </a:r>
            <a:r>
              <a:rPr sz="2000" spc="-50" dirty="0"/>
              <a:t> </a:t>
            </a:r>
            <a:r>
              <a:rPr sz="2000" dirty="0"/>
              <a:t>it</a:t>
            </a:r>
            <a:r>
              <a:rPr sz="2000" spc="-20" dirty="0"/>
              <a:t> </a:t>
            </a:r>
            <a:r>
              <a:rPr sz="2000" dirty="0"/>
              <a:t>can</a:t>
            </a:r>
            <a:r>
              <a:rPr sz="2000" spc="-10" dirty="0"/>
              <a:t> </a:t>
            </a:r>
            <a:r>
              <a:rPr sz="2000" dirty="0"/>
              <a:t>be</a:t>
            </a:r>
            <a:r>
              <a:rPr sz="2000" spc="-25" dirty="0"/>
              <a:t> </a:t>
            </a:r>
            <a:r>
              <a:rPr sz="2000" dirty="0"/>
              <a:t>modified</a:t>
            </a:r>
            <a:r>
              <a:rPr sz="2000" spc="-20" dirty="0"/>
              <a:t> </a:t>
            </a:r>
            <a:r>
              <a:rPr sz="2000" dirty="0"/>
              <a:t>to</a:t>
            </a:r>
            <a:r>
              <a:rPr sz="2000" spc="-40" dirty="0"/>
              <a:t> </a:t>
            </a:r>
            <a:r>
              <a:rPr sz="2000" dirty="0"/>
              <a:t>handle</a:t>
            </a:r>
            <a:r>
              <a:rPr sz="2000" spc="-25" dirty="0"/>
              <a:t> </a:t>
            </a:r>
            <a:r>
              <a:rPr sz="2000" dirty="0"/>
              <a:t>changing</a:t>
            </a:r>
            <a:r>
              <a:rPr sz="2000" spc="-20" dirty="0"/>
              <a:t> </a:t>
            </a:r>
            <a:r>
              <a:rPr sz="2000" dirty="0"/>
              <a:t>requirements</a:t>
            </a:r>
            <a:r>
              <a:rPr sz="2000" spc="-25" dirty="0"/>
              <a:t> </a:t>
            </a:r>
            <a:r>
              <a:rPr sz="2000" spc="-10" dirty="0"/>
              <a:t>beyond </a:t>
            </a:r>
            <a:r>
              <a:rPr sz="2000" dirty="0"/>
              <a:t>analysis</a:t>
            </a:r>
            <a:r>
              <a:rPr sz="2000" spc="-110" dirty="0"/>
              <a:t> </a:t>
            </a:r>
            <a:r>
              <a:rPr sz="2000" spc="-10" dirty="0"/>
              <a:t>phase</a:t>
            </a:r>
            <a:endParaRPr sz="2000"/>
          </a:p>
          <a:p>
            <a:pPr marL="268605" indent="-255904">
              <a:lnSpc>
                <a:spcPct val="100000"/>
              </a:lnSpc>
              <a:spcBef>
                <a:spcPts val="3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Solution</a:t>
            </a:r>
            <a:r>
              <a:rPr sz="2000" spc="-50" dirty="0"/>
              <a:t> </a:t>
            </a:r>
            <a:r>
              <a:rPr sz="2000" dirty="0"/>
              <a:t>and</a:t>
            </a:r>
            <a:r>
              <a:rPr sz="2000" spc="-15" dirty="0"/>
              <a:t> </a:t>
            </a:r>
            <a:r>
              <a:rPr sz="2000" dirty="0"/>
              <a:t>technology</a:t>
            </a:r>
            <a:r>
              <a:rPr sz="2000" spc="-50" dirty="0"/>
              <a:t> </a:t>
            </a:r>
            <a:r>
              <a:rPr sz="2000" dirty="0"/>
              <a:t>are</a:t>
            </a:r>
            <a:r>
              <a:rPr sz="2000" spc="-30" dirty="0"/>
              <a:t> </a:t>
            </a:r>
            <a:r>
              <a:rPr sz="2000" spc="-20" dirty="0"/>
              <a:t>known</a:t>
            </a:r>
            <a:endParaRPr sz="2000"/>
          </a:p>
          <a:p>
            <a:pPr marL="268605" marR="360680" indent="-256540">
              <a:lnSpc>
                <a:spcPct val="100000"/>
              </a:lnSpc>
              <a:spcBef>
                <a:spcPts val="29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Small</a:t>
            </a:r>
            <a:r>
              <a:rPr sz="2000" spc="-35" dirty="0"/>
              <a:t> </a:t>
            </a:r>
            <a:r>
              <a:rPr sz="2000" dirty="0"/>
              <a:t>to</a:t>
            </a:r>
            <a:r>
              <a:rPr sz="2000" spc="-35" dirty="0"/>
              <a:t> </a:t>
            </a:r>
            <a:r>
              <a:rPr sz="2000" dirty="0"/>
              <a:t>medium</a:t>
            </a:r>
            <a:r>
              <a:rPr sz="2000" spc="-50" dirty="0"/>
              <a:t> </a:t>
            </a:r>
            <a:r>
              <a:rPr sz="2000" dirty="0"/>
              <a:t>sized</a:t>
            </a:r>
            <a:r>
              <a:rPr sz="2000" spc="-35" dirty="0"/>
              <a:t> </a:t>
            </a:r>
            <a:r>
              <a:rPr sz="2000" dirty="0"/>
              <a:t>projects</a:t>
            </a:r>
            <a:r>
              <a:rPr sz="2000" spc="-45" dirty="0"/>
              <a:t> </a:t>
            </a:r>
            <a:r>
              <a:rPr sz="2000" dirty="0"/>
              <a:t>where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30" dirty="0"/>
              <a:t> </a:t>
            </a:r>
            <a:r>
              <a:rPr sz="2000" dirty="0"/>
              <a:t>are</a:t>
            </a:r>
            <a:r>
              <a:rPr sz="2000" spc="-25" dirty="0"/>
              <a:t> </a:t>
            </a:r>
            <a:r>
              <a:rPr sz="2000" spc="-10" dirty="0"/>
              <a:t>clearly </a:t>
            </a:r>
            <a:r>
              <a:rPr sz="2000" dirty="0"/>
              <a:t>defined</a:t>
            </a:r>
            <a:r>
              <a:rPr sz="2000" spc="-55" dirty="0"/>
              <a:t> </a:t>
            </a:r>
            <a:r>
              <a:rPr sz="2000" dirty="0"/>
              <a:t>and</a:t>
            </a:r>
            <a:r>
              <a:rPr sz="2000" spc="-25" dirty="0"/>
              <a:t> </a:t>
            </a:r>
            <a:r>
              <a:rPr sz="2000" spc="-10" dirty="0"/>
              <a:t>fixed.</a:t>
            </a:r>
            <a:endParaRPr sz="2000"/>
          </a:p>
          <a:p>
            <a:pPr marL="268605" marR="136525" indent="-256540">
              <a:lnSpc>
                <a:spcPct val="100000"/>
              </a:lnSpc>
              <a:spcBef>
                <a:spcPts val="30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Sufficient</a:t>
            </a:r>
            <a:r>
              <a:rPr sz="2000" spc="-50" dirty="0"/>
              <a:t> </a:t>
            </a:r>
            <a:r>
              <a:rPr sz="2000" dirty="0"/>
              <a:t>technical</a:t>
            </a:r>
            <a:r>
              <a:rPr sz="2000" spc="-40" dirty="0"/>
              <a:t> </a:t>
            </a:r>
            <a:r>
              <a:rPr sz="2000" dirty="0"/>
              <a:t>resources</a:t>
            </a:r>
            <a:r>
              <a:rPr sz="2000" spc="-35" dirty="0"/>
              <a:t> </a:t>
            </a:r>
            <a:r>
              <a:rPr sz="2000" dirty="0"/>
              <a:t>are</a:t>
            </a:r>
            <a:r>
              <a:rPr sz="2000" spc="-40" dirty="0"/>
              <a:t> </a:t>
            </a:r>
            <a:r>
              <a:rPr sz="2000" dirty="0"/>
              <a:t>available</a:t>
            </a:r>
            <a:r>
              <a:rPr sz="2000" spc="-25" dirty="0"/>
              <a:t> </a:t>
            </a:r>
            <a:r>
              <a:rPr sz="2000" dirty="0"/>
              <a:t>with</a:t>
            </a:r>
            <a:r>
              <a:rPr sz="2000" spc="-55" dirty="0"/>
              <a:t> </a:t>
            </a:r>
            <a:r>
              <a:rPr sz="2000" dirty="0"/>
              <a:t>needed</a:t>
            </a:r>
            <a:r>
              <a:rPr sz="2000" spc="-60" dirty="0"/>
              <a:t> </a:t>
            </a:r>
            <a:r>
              <a:rPr sz="2000" spc="-10" dirty="0"/>
              <a:t>technical expertise.</a:t>
            </a:r>
            <a:endParaRPr sz="2000"/>
          </a:p>
          <a:p>
            <a:pPr marL="268605" indent="-255904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000" dirty="0"/>
              <a:t>High</a:t>
            </a:r>
            <a:r>
              <a:rPr sz="2000" spc="-45" dirty="0"/>
              <a:t> </a:t>
            </a:r>
            <a:r>
              <a:rPr sz="2000" dirty="0"/>
              <a:t>confidence</a:t>
            </a:r>
            <a:r>
              <a:rPr sz="2000" spc="-10" dirty="0"/>
              <a:t> </a:t>
            </a:r>
            <a:r>
              <a:rPr sz="2000" dirty="0"/>
              <a:t>of</a:t>
            </a:r>
            <a:r>
              <a:rPr sz="2000" spc="-20" dirty="0"/>
              <a:t> </a:t>
            </a:r>
            <a:r>
              <a:rPr sz="2000" dirty="0"/>
              <a:t>customer</a:t>
            </a:r>
            <a:r>
              <a:rPr sz="2000" spc="-25" dirty="0"/>
              <a:t> </a:t>
            </a:r>
            <a:r>
              <a:rPr sz="2000" dirty="0"/>
              <a:t>is </a:t>
            </a:r>
            <a:r>
              <a:rPr sz="2000" spc="-10" dirty="0"/>
              <a:t>required.</a:t>
            </a:r>
            <a:endParaRPr sz="2000"/>
          </a:p>
          <a:p>
            <a:pPr marL="559435" marR="30480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</a:tabLst>
            </a:pPr>
            <a:r>
              <a:rPr sz="1800" spc="-50" dirty="0">
                <a:solidFill>
                  <a:srgbClr val="438086"/>
                </a:solidFill>
              </a:rPr>
              <a:t>▫</a:t>
            </a:r>
            <a:r>
              <a:rPr sz="1800" dirty="0">
                <a:solidFill>
                  <a:srgbClr val="438086"/>
                </a:solidFill>
              </a:rPr>
              <a:t>	Since,</a:t>
            </a:r>
            <a:r>
              <a:rPr sz="1800" spc="-45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no</a:t>
            </a:r>
            <a:r>
              <a:rPr sz="1800" spc="-5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prototypes</a:t>
            </a:r>
            <a:r>
              <a:rPr sz="1800" spc="-45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are</a:t>
            </a:r>
            <a:r>
              <a:rPr sz="1800" spc="-5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produced,</a:t>
            </a:r>
            <a:r>
              <a:rPr sz="1800" spc="-15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there</a:t>
            </a:r>
            <a:r>
              <a:rPr sz="1800" spc="-3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is</a:t>
            </a:r>
            <a:r>
              <a:rPr sz="1800" spc="-45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a</a:t>
            </a:r>
            <a:r>
              <a:rPr sz="1800" spc="-5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very</a:t>
            </a:r>
            <a:r>
              <a:rPr sz="1800" spc="-25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high</a:t>
            </a:r>
            <a:r>
              <a:rPr sz="1800" spc="-5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risk</a:t>
            </a:r>
            <a:r>
              <a:rPr sz="1800" spc="-4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involved</a:t>
            </a:r>
            <a:r>
              <a:rPr sz="1800" spc="-25" dirty="0">
                <a:solidFill>
                  <a:srgbClr val="438086"/>
                </a:solidFill>
              </a:rPr>
              <a:t> in </a:t>
            </a:r>
            <a:r>
              <a:rPr sz="1800" dirty="0">
                <a:solidFill>
                  <a:srgbClr val="438086"/>
                </a:solidFill>
              </a:rPr>
              <a:t>meeting</a:t>
            </a:r>
            <a:r>
              <a:rPr sz="1800" spc="-80" dirty="0">
                <a:solidFill>
                  <a:srgbClr val="438086"/>
                </a:solidFill>
              </a:rPr>
              <a:t> </a:t>
            </a:r>
            <a:r>
              <a:rPr sz="1800" dirty="0">
                <a:solidFill>
                  <a:srgbClr val="438086"/>
                </a:solidFill>
              </a:rPr>
              <a:t>customer</a:t>
            </a:r>
            <a:r>
              <a:rPr sz="1800" spc="-65" dirty="0">
                <a:solidFill>
                  <a:srgbClr val="438086"/>
                </a:solidFill>
              </a:rPr>
              <a:t> </a:t>
            </a:r>
            <a:r>
              <a:rPr sz="1800" spc="-10" dirty="0">
                <a:solidFill>
                  <a:srgbClr val="438086"/>
                </a:solidFill>
              </a:rPr>
              <a:t>expectations.</a:t>
            </a:r>
            <a:endParaRPr sz="1800"/>
          </a:p>
        </p:txBody>
      </p:sp>
      <p:sp>
        <p:nvSpPr>
          <p:cNvPr id="11" name="object 11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5436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Waterfall</a:t>
            </a:r>
            <a:r>
              <a:rPr sz="3600" spc="-100" dirty="0"/>
              <a:t> </a:t>
            </a:r>
            <a:r>
              <a:rPr sz="3600" dirty="0"/>
              <a:t>Model</a:t>
            </a:r>
            <a:r>
              <a:rPr sz="3600" spc="-65" dirty="0"/>
              <a:t> </a:t>
            </a:r>
            <a:r>
              <a:rPr sz="3600" dirty="0"/>
              <a:t>Vs.</a:t>
            </a:r>
            <a:r>
              <a:rPr sz="3600" spc="-60" dirty="0"/>
              <a:t> </a:t>
            </a:r>
            <a:r>
              <a:rPr sz="3600" dirty="0"/>
              <a:t>V</a:t>
            </a:r>
            <a:r>
              <a:rPr sz="3600" spc="-50" dirty="0"/>
              <a:t> </a:t>
            </a:r>
            <a:r>
              <a:rPr sz="3600" dirty="0"/>
              <a:t>Shaped</a:t>
            </a:r>
            <a:r>
              <a:rPr sz="3600" spc="-60" dirty="0"/>
              <a:t> </a:t>
            </a:r>
            <a:r>
              <a:rPr sz="3600" spc="-10" dirty="0"/>
              <a:t>Model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710676" y="26910"/>
            <a:ext cx="146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2435351"/>
            <a:ext cx="8193024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0211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265" dirty="0"/>
              <a:t> </a:t>
            </a:r>
            <a:r>
              <a:rPr spc="-10" dirty="0"/>
              <a:t>Scenario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marR="5080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  <a:tab pos="1830070" algn="l"/>
                <a:tab pos="2349500" algn="l"/>
              </a:tabLst>
            </a:pPr>
            <a:r>
              <a:rPr dirty="0"/>
              <a:t>We</a:t>
            </a:r>
            <a:r>
              <a:rPr spc="-95" dirty="0"/>
              <a:t> </a:t>
            </a:r>
            <a:r>
              <a:rPr dirty="0"/>
              <a:t>received</a:t>
            </a:r>
            <a:r>
              <a:rPr spc="-75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dirty="0"/>
              <a:t>requirement</a:t>
            </a:r>
            <a:r>
              <a:rPr spc="-65" dirty="0"/>
              <a:t> </a:t>
            </a:r>
            <a:r>
              <a:rPr dirty="0"/>
              <a:t>specification</a:t>
            </a:r>
            <a:r>
              <a:rPr spc="-55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spc="-50" dirty="0"/>
              <a:t>a 	</a:t>
            </a:r>
            <a:r>
              <a:rPr dirty="0"/>
              <a:t>client</a:t>
            </a:r>
            <a:r>
              <a:rPr spc="-9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developing</a:t>
            </a:r>
            <a:r>
              <a:rPr spc="-5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solution</a:t>
            </a:r>
            <a:r>
              <a:rPr spc="-70" dirty="0"/>
              <a:t> </a:t>
            </a:r>
            <a:r>
              <a:rPr dirty="0"/>
              <a:t>for</a:t>
            </a:r>
            <a:r>
              <a:rPr spc="-45" dirty="0"/>
              <a:t> </a:t>
            </a:r>
            <a:r>
              <a:rPr spc="-10" dirty="0"/>
              <a:t>their 	specified</a:t>
            </a:r>
            <a:r>
              <a:rPr dirty="0"/>
              <a:t>	problem</a:t>
            </a:r>
            <a:r>
              <a:rPr spc="-5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domain</a:t>
            </a:r>
            <a:r>
              <a:rPr spc="-45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have</a:t>
            </a:r>
            <a:r>
              <a:rPr spc="-50" dirty="0"/>
              <a:t> </a:t>
            </a:r>
            <a:r>
              <a:rPr dirty="0"/>
              <a:t>little</a:t>
            </a:r>
            <a:r>
              <a:rPr spc="-45" dirty="0"/>
              <a:t> </a:t>
            </a:r>
            <a:r>
              <a:rPr spc="-25" dirty="0"/>
              <a:t>or 	</a:t>
            </a:r>
            <a:r>
              <a:rPr dirty="0"/>
              <a:t>no</a:t>
            </a:r>
            <a:r>
              <a:rPr spc="-45" dirty="0"/>
              <a:t> </a:t>
            </a:r>
            <a:r>
              <a:rPr spc="-10" dirty="0"/>
              <a:t>expertise</a:t>
            </a:r>
            <a:r>
              <a:rPr dirty="0"/>
              <a:t>	and</a:t>
            </a:r>
            <a:r>
              <a:rPr spc="-90" dirty="0"/>
              <a:t> </a:t>
            </a:r>
            <a:r>
              <a:rPr dirty="0"/>
              <a:t>obviously</a:t>
            </a:r>
            <a:r>
              <a:rPr spc="-85" dirty="0"/>
              <a:t> </a:t>
            </a:r>
            <a:r>
              <a:rPr dirty="0"/>
              <a:t>no</a:t>
            </a:r>
            <a:r>
              <a:rPr spc="-90" dirty="0"/>
              <a:t> </a:t>
            </a:r>
            <a:r>
              <a:rPr dirty="0"/>
              <a:t>experience</a:t>
            </a:r>
            <a:r>
              <a:rPr spc="-75" dirty="0"/>
              <a:t> </a:t>
            </a:r>
            <a:r>
              <a:rPr spc="-25" dirty="0"/>
              <a:t>of 	</a:t>
            </a:r>
            <a:r>
              <a:rPr spc="-10" dirty="0"/>
              <a:t>developing</a:t>
            </a:r>
            <a:r>
              <a:rPr spc="-90" dirty="0"/>
              <a:t> </a:t>
            </a:r>
            <a:r>
              <a:rPr dirty="0"/>
              <a:t>similar</a:t>
            </a:r>
            <a:r>
              <a:rPr spc="-45" dirty="0"/>
              <a:t> </a:t>
            </a:r>
            <a:r>
              <a:rPr spc="-10" dirty="0"/>
              <a:t>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0211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265" dirty="0"/>
              <a:t> </a:t>
            </a:r>
            <a:r>
              <a:rPr spc="-10" dirty="0"/>
              <a:t>Scenario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16848" y="26910"/>
            <a:ext cx="140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7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5640" y="2231546"/>
            <a:ext cx="7918450" cy="38366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Example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A: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“Waterfall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Model”</a:t>
            </a:r>
            <a:endParaRPr sz="2800">
              <a:latin typeface="Georgia"/>
              <a:cs typeface="Georgia"/>
            </a:endParaRPr>
          </a:p>
          <a:p>
            <a:pPr marL="267335" marR="730885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This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not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suitable</a:t>
            </a:r>
            <a:r>
              <a:rPr sz="2800" spc="-3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using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this 	</a:t>
            </a:r>
            <a:r>
              <a:rPr sz="2800" dirty="0">
                <a:latin typeface="Georgia"/>
                <a:cs typeface="Georgia"/>
              </a:rPr>
              <a:t>case.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Because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:</a:t>
            </a:r>
            <a:endParaRPr sz="2800">
              <a:latin typeface="Georgia"/>
              <a:cs typeface="Georgia"/>
            </a:endParaRPr>
          </a:p>
          <a:p>
            <a:pPr marL="559435" marR="374015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Clients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may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not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know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complete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vision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solution</a:t>
            </a:r>
            <a:r>
              <a:rPr sz="2600" spc="-85" dirty="0">
                <a:latin typeface="Georgia"/>
                <a:cs typeface="Georgia"/>
              </a:rPr>
              <a:t> </a:t>
            </a:r>
            <a:r>
              <a:rPr sz="2600" spc="-50" dirty="0">
                <a:latin typeface="Georgia"/>
                <a:cs typeface="Georgia"/>
              </a:rPr>
              <a:t>.</a:t>
            </a:r>
            <a:endParaRPr sz="2600">
              <a:latin typeface="Georgia"/>
              <a:cs typeface="Georgia"/>
            </a:endParaRPr>
          </a:p>
          <a:p>
            <a:pPr marL="559435" marR="5080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  <a:tab pos="49028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No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expertise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experience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on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this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domain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which </a:t>
            </a:r>
            <a:r>
              <a:rPr sz="2600" dirty="0">
                <a:latin typeface="Georgia"/>
                <a:cs typeface="Georgia"/>
              </a:rPr>
              <a:t>reflect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can’t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gather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complete </a:t>
            </a:r>
            <a:r>
              <a:rPr sz="2600" dirty="0">
                <a:latin typeface="Georgia"/>
                <a:cs typeface="Georgia"/>
              </a:rPr>
              <a:t>requirements,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and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that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leads</a:t>
            </a:r>
            <a:r>
              <a:rPr sz="2600" dirty="0">
                <a:latin typeface="Georgia"/>
                <a:cs typeface="Georgia"/>
              </a:rPr>
              <a:t>	for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troubles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due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new </a:t>
            </a:r>
            <a:r>
              <a:rPr sz="2600" spc="-10" dirty="0">
                <a:latin typeface="Georgia"/>
                <a:cs typeface="Georgia"/>
              </a:rPr>
              <a:t>findings</a:t>
            </a:r>
            <a:r>
              <a:rPr sz="2600" spc="-10" dirty="0">
                <a:solidFill>
                  <a:srgbClr val="438086"/>
                </a:solidFill>
                <a:latin typeface="Georgia"/>
                <a:cs typeface="Georgia"/>
              </a:rPr>
              <a:t>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633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265" dirty="0"/>
              <a:t> </a:t>
            </a:r>
            <a:r>
              <a:rPr spc="-10" dirty="0"/>
              <a:t>Scenario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95359" y="26910"/>
            <a:ext cx="161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8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640" y="2231546"/>
            <a:ext cx="7586345" cy="38366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Example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A: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“V”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Model</a:t>
            </a:r>
            <a:endParaRPr sz="2800">
              <a:latin typeface="Georgia"/>
              <a:cs typeface="Georgia"/>
            </a:endParaRPr>
          </a:p>
          <a:p>
            <a:pPr marL="267335" marR="734060" indent="-25527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This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not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suitable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using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this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case 	</a:t>
            </a:r>
            <a:r>
              <a:rPr sz="2800" spc="-10" dirty="0">
                <a:latin typeface="Georgia"/>
                <a:cs typeface="Georgia"/>
              </a:rPr>
              <a:t>because:</a:t>
            </a:r>
            <a:endParaRPr sz="2800">
              <a:latin typeface="Georgia"/>
              <a:cs typeface="Georgia"/>
            </a:endParaRPr>
          </a:p>
          <a:p>
            <a:pPr marL="559435" marR="5080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  <a:tab pos="106108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It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similar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to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“Waterfall”</a:t>
            </a:r>
            <a:r>
              <a:rPr sz="2600" spc="-1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model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except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25" dirty="0">
                <a:latin typeface="Georgia"/>
                <a:cs typeface="Georgia"/>
              </a:rPr>
              <a:t>the </a:t>
            </a:r>
            <a:r>
              <a:rPr sz="2600" dirty="0">
                <a:latin typeface="Georgia"/>
                <a:cs typeface="Georgia"/>
              </a:rPr>
              <a:t>added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test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phases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at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each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level,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so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gathering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will </a:t>
            </a:r>
            <a:r>
              <a:rPr sz="2600" spc="-25" dirty="0">
                <a:latin typeface="Georgia"/>
                <a:cs typeface="Georgia"/>
              </a:rPr>
              <a:t>be</a:t>
            </a:r>
            <a:r>
              <a:rPr sz="2600" dirty="0">
                <a:latin typeface="Georgia"/>
                <a:cs typeface="Georgia"/>
              </a:rPr>
              <a:t>	an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issue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here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spc="-20" dirty="0">
                <a:latin typeface="Georgia"/>
                <a:cs typeface="Georgia"/>
              </a:rPr>
              <a:t>too.</a:t>
            </a:r>
            <a:endParaRPr sz="2600">
              <a:latin typeface="Georgia"/>
              <a:cs typeface="Georgia"/>
            </a:endParaRPr>
          </a:p>
          <a:p>
            <a:pPr marL="559435" marR="5080" indent="-245745">
              <a:lnSpc>
                <a:spcPct val="100000"/>
              </a:lnSpc>
              <a:spcBef>
                <a:spcPts val="305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No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working</a:t>
            </a:r>
            <a:r>
              <a:rPr sz="2600" spc="-6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prototype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will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be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available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because </a:t>
            </a:r>
            <a:r>
              <a:rPr sz="2600" dirty="0">
                <a:latin typeface="Georgia"/>
                <a:cs typeface="Georgia"/>
              </a:rPr>
              <a:t>there</a:t>
            </a:r>
            <a:r>
              <a:rPr sz="2600" spc="-4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is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not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any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incremental/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modular/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iterative approach.</a:t>
            </a:r>
            <a:endParaRPr sz="2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dirty="0"/>
              <a:t>This</a:t>
            </a:r>
            <a:r>
              <a:rPr spc="-6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my</a:t>
            </a:r>
            <a:r>
              <a:rPr spc="-55" dirty="0"/>
              <a:t> </a:t>
            </a:r>
            <a:r>
              <a:rPr spc="-10" dirty="0"/>
              <a:t>Question?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01531" y="26910"/>
            <a:ext cx="154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Georgia"/>
                <a:cs typeface="Georgia"/>
              </a:rPr>
              <a:t>9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5640" y="2306825"/>
            <a:ext cx="7800340" cy="266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5080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We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received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requirement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specification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from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a 	</a:t>
            </a:r>
            <a:r>
              <a:rPr sz="2800" dirty="0">
                <a:latin typeface="Georgia"/>
                <a:cs typeface="Georgia"/>
              </a:rPr>
              <a:t>client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developing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solution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for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their 	</a:t>
            </a:r>
            <a:r>
              <a:rPr sz="2800" dirty="0">
                <a:latin typeface="Georgia"/>
                <a:cs typeface="Georgia"/>
              </a:rPr>
              <a:t>specified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problem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domain.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have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expertise 	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experience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developing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similar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solutions</a:t>
            </a:r>
            <a:endParaRPr sz="2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75"/>
              </a:spcBef>
              <a:buClr>
                <a:srgbClr val="A04DA3"/>
              </a:buClr>
              <a:buFont typeface="Georgia"/>
              <a:buChar char="•"/>
            </a:pPr>
            <a:endParaRPr sz="2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5"/>
              </a:spcBef>
              <a:buClr>
                <a:srgbClr val="A04DA3"/>
              </a:buClr>
              <a:buFont typeface="Georgia"/>
              <a:buChar char="•"/>
              <a:tabLst>
                <a:tab pos="267970" algn="l"/>
              </a:tabLst>
            </a:pPr>
            <a:r>
              <a:rPr sz="2800" b="1" dirty="0">
                <a:latin typeface="Georgia"/>
                <a:cs typeface="Georgia"/>
              </a:rPr>
              <a:t>What</a:t>
            </a:r>
            <a:r>
              <a:rPr sz="2800" b="1" spc="-55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model</a:t>
            </a:r>
            <a:r>
              <a:rPr sz="2800" b="1" spc="-20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we</a:t>
            </a:r>
            <a:r>
              <a:rPr sz="2800" b="1" spc="-40" dirty="0">
                <a:latin typeface="Georgia"/>
                <a:cs typeface="Georgia"/>
              </a:rPr>
              <a:t> </a:t>
            </a:r>
            <a:r>
              <a:rPr sz="2800" b="1" dirty="0">
                <a:latin typeface="Georgia"/>
                <a:cs typeface="Georgia"/>
              </a:rPr>
              <a:t>will</a:t>
            </a:r>
            <a:r>
              <a:rPr sz="2800" b="1" spc="-40" dirty="0">
                <a:latin typeface="Georgia"/>
                <a:cs typeface="Georgia"/>
              </a:rPr>
              <a:t> </a:t>
            </a:r>
            <a:r>
              <a:rPr sz="2800" b="1" spc="-20" dirty="0">
                <a:latin typeface="Georgia"/>
                <a:cs typeface="Georgia"/>
              </a:rPr>
              <a:t>use?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dirty="0"/>
              <a:t>Evolutionary</a:t>
            </a:r>
            <a:r>
              <a:rPr spc="-285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93404" y="26910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Georgia"/>
                <a:cs typeface="Georgia"/>
              </a:rPr>
              <a:t>10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38400" y="2282951"/>
            <a:ext cx="4258056" cy="4282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75" y="734039"/>
            <a:ext cx="6000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Evolutionary</a:t>
            </a:r>
            <a:r>
              <a:rPr spc="-285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5640" y="1717017"/>
            <a:ext cx="7901305" cy="394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127635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spc="-10" dirty="0">
                <a:latin typeface="Georgia"/>
                <a:cs typeface="Georgia"/>
              </a:rPr>
              <a:t>Evolutionary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development</a:t>
            </a:r>
            <a:r>
              <a:rPr sz="2800" spc="-9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iterative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and 	</a:t>
            </a:r>
            <a:r>
              <a:rPr sz="2800" spc="-10" dirty="0">
                <a:latin typeface="Georgia"/>
                <a:cs typeface="Georgia"/>
              </a:rPr>
              <a:t>incremental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approach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software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development.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A04DA3"/>
              </a:buClr>
              <a:buFont typeface="Georgia"/>
              <a:buChar char="•"/>
            </a:pPr>
            <a:endParaRPr sz="28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000"/>
              </a:lnSpc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Instead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of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creating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comprehensive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artifact, 	</a:t>
            </a:r>
            <a:r>
              <a:rPr sz="2800" dirty="0">
                <a:latin typeface="Georgia"/>
                <a:cs typeface="Georgia"/>
              </a:rPr>
              <a:t>such</a:t>
            </a:r>
            <a:r>
              <a:rPr sz="2800" spc="-7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as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requirements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specification,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that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you 	</a:t>
            </a:r>
            <a:r>
              <a:rPr sz="2800" dirty="0">
                <a:latin typeface="Georgia"/>
                <a:cs typeface="Georgia"/>
              </a:rPr>
              <a:t>review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and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accept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before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creating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50" dirty="0">
                <a:latin typeface="Georgia"/>
                <a:cs typeface="Georgia"/>
              </a:rPr>
              <a:t>a 	</a:t>
            </a:r>
            <a:r>
              <a:rPr sz="2800" spc="-10" dirty="0">
                <a:latin typeface="Georgia"/>
                <a:cs typeface="Georgia"/>
              </a:rPr>
              <a:t>comprehensive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design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model,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you</a:t>
            </a:r>
            <a:r>
              <a:rPr sz="2800" spc="-9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instead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evolve 	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10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critical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development</a:t>
            </a:r>
            <a:r>
              <a:rPr sz="2800" spc="-10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artifacts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over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time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in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an 	</a:t>
            </a:r>
            <a:r>
              <a:rPr sz="2800" dirty="0">
                <a:latin typeface="Georgia"/>
                <a:cs typeface="Georgia"/>
              </a:rPr>
              <a:t>iterative</a:t>
            </a:r>
            <a:r>
              <a:rPr sz="2800" spc="-14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manner.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Evolutionary</a:t>
            </a:r>
            <a:r>
              <a:rPr spc="-265" dirty="0"/>
              <a:t> </a:t>
            </a:r>
            <a:r>
              <a:rPr dirty="0"/>
              <a:t>Development</a:t>
            </a:r>
            <a:r>
              <a:rPr spc="-245" dirty="0"/>
              <a:t> </a:t>
            </a:r>
            <a:r>
              <a:rPr spc="-10" dirty="0"/>
              <a:t>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0143" y="2523743"/>
            <a:ext cx="8400415" cy="3813175"/>
            <a:chOff x="390143" y="2523743"/>
            <a:chExt cx="8400415" cy="3813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2927" y="2523743"/>
              <a:ext cx="5745480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143" y="3427475"/>
              <a:ext cx="8400288" cy="290931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07340" y="1711007"/>
            <a:ext cx="839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Develop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initial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implementation,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expose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users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comments,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refine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until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satisfied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D2BB9-614A-371F-DA86-1D54E3365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C8F5C5-A4E8-878B-CD5B-F2963D019B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Prototyping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B4B9199-D44A-754B-B66D-D602F5DD6B90}"/>
              </a:ext>
            </a:extLst>
          </p:cNvPr>
          <p:cNvSpPr txBox="1"/>
          <p:nvPr/>
        </p:nvSpPr>
        <p:spPr>
          <a:xfrm>
            <a:off x="307340" y="1711007"/>
            <a:ext cx="8395335" cy="22801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/>
              <a:t>Instead of directly building the final system we first build a prototype (a rough, incomplete, working model).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Clarify requirements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Georgia"/>
                <a:cs typeface="Georgia"/>
              </a:rPr>
              <a:t>Early feedbacks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Reduce misunderstandings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77448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2EEB-2F6F-5FB2-DCD0-00BD3CE1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A4B61AA-81CF-6524-2B50-6068A09CDAC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Prototyping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5E833CC-75F2-7A51-CF93-8FC50F252A36}"/>
              </a:ext>
            </a:extLst>
          </p:cNvPr>
          <p:cNvSpPr txBox="1"/>
          <p:nvPr/>
        </p:nvSpPr>
        <p:spPr>
          <a:xfrm>
            <a:off x="307340" y="1711007"/>
            <a:ext cx="8395335" cy="38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b="1" dirty="0"/>
              <a:t>When to use</a:t>
            </a:r>
            <a:r>
              <a:rPr lang="en-US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Requirements are not clear or are changing frequently.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Users don’t know exactly what they want until they “see something”.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Best for projects with high user interaction (websites, apps, customer-facing systems).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Deals with Fuzzy Requirements.</a:t>
            </a:r>
          </a:p>
          <a:p>
            <a:pPr lvl="1"/>
            <a:r>
              <a:rPr lang="en-US" sz="2400" dirty="0"/>
              <a:t>	</a:t>
            </a:r>
            <a:r>
              <a:rPr lang="en-US" sz="2400" dirty="0" err="1"/>
              <a:t>e.g</a:t>
            </a:r>
            <a:r>
              <a:rPr lang="en-US" sz="2400" dirty="0"/>
              <a:t>: </a:t>
            </a:r>
            <a:r>
              <a:rPr lang="en-US" sz="1500" dirty="0"/>
              <a:t>“We need something user-friendly.” </a:t>
            </a:r>
            <a:br>
              <a:rPr lang="en-US" sz="1500" dirty="0"/>
            </a:br>
            <a:r>
              <a:rPr lang="en-US" sz="1500" dirty="0"/>
              <a:t>	            “Make it fast and modern.” “</a:t>
            </a:r>
            <a:br>
              <a:rPr lang="en-US" sz="1500" dirty="0"/>
            </a:br>
            <a:r>
              <a:rPr lang="en-US" sz="1500" dirty="0"/>
              <a:t>                               I’ll know it when I see it.”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24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07954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5208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b="1" spc="-10" dirty="0">
                <a:latin typeface="Trebuchet MS"/>
                <a:cs typeface="Trebuchet MS"/>
              </a:rPr>
              <a:t>Prototyping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655" y="2173223"/>
            <a:ext cx="5276088" cy="43708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898" y="810163"/>
            <a:ext cx="7346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Evolutionary</a:t>
            </a:r>
            <a:r>
              <a:rPr spc="-270" dirty="0"/>
              <a:t> </a:t>
            </a:r>
            <a:r>
              <a:rPr dirty="0"/>
              <a:t>development</a:t>
            </a:r>
            <a:r>
              <a:rPr spc="-254" dirty="0"/>
              <a:t> </a:t>
            </a:r>
            <a:r>
              <a:rPr spc="-10" dirty="0"/>
              <a:t>types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2359151"/>
            <a:ext cx="9144000" cy="4494530"/>
            <a:chOff x="0" y="2359151"/>
            <a:chExt cx="9144000" cy="44945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98591" y="2359151"/>
              <a:ext cx="3584448" cy="10668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427475"/>
              <a:ext cx="9144000" cy="3426460"/>
            </a:xfrm>
            <a:custGeom>
              <a:avLst/>
              <a:gdLst/>
              <a:ahLst/>
              <a:cxnLst/>
              <a:rect l="l" t="t" r="r" b="b"/>
              <a:pathLst>
                <a:path w="9144000" h="3426459">
                  <a:moveTo>
                    <a:pt x="9144000" y="0"/>
                  </a:moveTo>
                  <a:lnTo>
                    <a:pt x="0" y="0"/>
                  </a:lnTo>
                  <a:lnTo>
                    <a:pt x="0" y="3425952"/>
                  </a:lnTo>
                  <a:lnTo>
                    <a:pt x="9144000" y="342595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8468" y="1622615"/>
            <a:ext cx="5205095" cy="49757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446405" indent="-2565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Georgia"/>
                <a:cs typeface="Georgia"/>
              </a:rPr>
              <a:t>There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two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types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evolutionary development:</a:t>
            </a:r>
            <a:endParaRPr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400" dirty="0">
              <a:latin typeface="Georgia"/>
              <a:cs typeface="Georgia"/>
            </a:endParaRPr>
          </a:p>
          <a:p>
            <a:pPr marL="268605" indent="-255904">
              <a:buClr>
                <a:srgbClr val="A04DA3"/>
              </a:buClr>
              <a:buFont typeface="Georgia"/>
              <a:buChar char="•"/>
              <a:tabLst>
                <a:tab pos="268605" algn="l"/>
              </a:tabLst>
            </a:pPr>
            <a:r>
              <a:rPr sz="2400" b="1" dirty="0">
                <a:latin typeface="Georgia"/>
                <a:cs typeface="Georgia"/>
              </a:rPr>
              <a:t>Exploratory</a:t>
            </a:r>
            <a:r>
              <a:rPr sz="2400" b="1" spc="-30" dirty="0">
                <a:latin typeface="Georgia"/>
                <a:cs typeface="Georgia"/>
              </a:rPr>
              <a:t> </a:t>
            </a:r>
            <a:r>
              <a:rPr lang="en-US" sz="2400" b="1" spc="-10" dirty="0">
                <a:latin typeface="Georgia"/>
                <a:cs typeface="Georgia"/>
              </a:rPr>
              <a:t>prototyping</a:t>
            </a:r>
            <a:endParaRPr sz="24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15"/>
              </a:spcBef>
              <a:tabLst>
                <a:tab pos="559435" algn="l"/>
              </a:tabLst>
            </a:pPr>
            <a:r>
              <a:rPr sz="18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18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1800" dirty="0">
                <a:latin typeface="Georgia"/>
                <a:cs typeface="Georgia"/>
              </a:rPr>
              <a:t>Start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with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that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are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well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defined</a:t>
            </a:r>
            <a:endParaRPr sz="1800" dirty="0">
              <a:latin typeface="Georgia"/>
              <a:cs typeface="Georgia"/>
            </a:endParaRPr>
          </a:p>
          <a:p>
            <a:pPr marL="559435" marR="314325" indent="-245745">
              <a:lnSpc>
                <a:spcPct val="100000"/>
              </a:lnSpc>
              <a:spcBef>
                <a:spcPts val="295"/>
              </a:spcBef>
              <a:tabLst>
                <a:tab pos="559435" algn="l"/>
              </a:tabLst>
            </a:pPr>
            <a:r>
              <a:rPr sz="18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18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1800" dirty="0">
                <a:latin typeface="Georgia"/>
                <a:cs typeface="Georgia"/>
              </a:rPr>
              <a:t>Add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new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features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when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customers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propose </a:t>
            </a:r>
            <a:r>
              <a:rPr sz="1800" dirty="0">
                <a:latin typeface="Georgia"/>
                <a:cs typeface="Georgia"/>
              </a:rPr>
              <a:t>new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endParaRPr sz="1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8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buClr>
                <a:srgbClr val="A04DA3"/>
              </a:buClr>
              <a:buFont typeface="Georgia"/>
              <a:buChar char="•"/>
              <a:tabLst>
                <a:tab pos="268605" algn="l"/>
              </a:tabLst>
            </a:pPr>
            <a:r>
              <a:rPr sz="2400" b="1" spc="-25" dirty="0">
                <a:latin typeface="Georgia"/>
                <a:cs typeface="Georgia"/>
              </a:rPr>
              <a:t>Throw-</a:t>
            </a:r>
            <a:r>
              <a:rPr sz="2400" b="1" dirty="0">
                <a:latin typeface="Georgia"/>
                <a:cs typeface="Georgia"/>
              </a:rPr>
              <a:t>away</a:t>
            </a:r>
            <a:r>
              <a:rPr sz="2400" b="1" spc="2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prototyping</a:t>
            </a:r>
            <a:endParaRPr sz="2400" dirty="0">
              <a:latin typeface="Georgia"/>
              <a:cs typeface="Georgia"/>
            </a:endParaRPr>
          </a:p>
          <a:p>
            <a:pPr marL="559435" marR="5080" indent="-245745">
              <a:lnSpc>
                <a:spcPct val="100000"/>
              </a:lnSpc>
              <a:spcBef>
                <a:spcPts val="310"/>
              </a:spcBef>
              <a:tabLst>
                <a:tab pos="559435" algn="l"/>
              </a:tabLst>
            </a:pPr>
            <a:r>
              <a:rPr sz="18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18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1800" dirty="0">
                <a:latin typeface="Georgia"/>
                <a:cs typeface="Georgia"/>
              </a:rPr>
              <a:t>Objective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understand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customer</a:t>
            </a:r>
            <a:r>
              <a:rPr sz="1800" spc="-10" dirty="0">
                <a:latin typeface="Times New Roman"/>
                <a:cs typeface="Times New Roman"/>
              </a:rPr>
              <a:t>’</a:t>
            </a:r>
            <a:r>
              <a:rPr sz="1800" spc="-10" dirty="0">
                <a:latin typeface="Georgia"/>
                <a:cs typeface="Georgia"/>
              </a:rPr>
              <a:t>s requirements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(i.e.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they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often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don</a:t>
            </a:r>
            <a:r>
              <a:rPr sz="1800" dirty="0">
                <a:latin typeface="Times New Roman"/>
                <a:cs typeface="Times New Roman"/>
              </a:rPr>
              <a:t>’</a:t>
            </a:r>
            <a:r>
              <a:rPr sz="1800" dirty="0">
                <a:latin typeface="Georgia"/>
                <a:cs typeface="Georgia"/>
              </a:rPr>
              <a:t>t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know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20" dirty="0">
                <a:latin typeface="Georgia"/>
                <a:cs typeface="Georgia"/>
              </a:rPr>
              <a:t>what </a:t>
            </a:r>
            <a:r>
              <a:rPr sz="1800" dirty="0">
                <a:latin typeface="Georgia"/>
                <a:cs typeface="Georgia"/>
              </a:rPr>
              <a:t>they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want,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hence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poor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start)</a:t>
            </a:r>
            <a:endParaRPr sz="1800" dirty="0">
              <a:latin typeface="Georgia"/>
              <a:cs typeface="Georgia"/>
            </a:endParaRPr>
          </a:p>
          <a:p>
            <a:pPr marL="559435" marR="340995" indent="-245745" algn="just">
              <a:lnSpc>
                <a:spcPct val="100000"/>
              </a:lnSpc>
              <a:spcBef>
                <a:spcPts val="305"/>
              </a:spcBef>
            </a:pPr>
            <a:r>
              <a:rPr sz="180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1800" spc="165" dirty="0">
                <a:solidFill>
                  <a:srgbClr val="438086"/>
                </a:solidFill>
                <a:latin typeface="Georgia"/>
                <a:cs typeface="Georgia"/>
              </a:rPr>
              <a:t>  </a:t>
            </a:r>
            <a:r>
              <a:rPr sz="1800" dirty="0">
                <a:latin typeface="Georgia"/>
                <a:cs typeface="Georgia"/>
              </a:rPr>
              <a:t>Use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means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such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as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prototyping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focus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on </a:t>
            </a:r>
            <a:r>
              <a:rPr sz="1800" dirty="0">
                <a:latin typeface="Georgia"/>
                <a:cs typeface="Georgia"/>
              </a:rPr>
              <a:t>poorly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understood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requirements,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redefine requirements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as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you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progress</a:t>
            </a:r>
            <a:endParaRPr sz="1800" dirty="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01055" y="3427475"/>
            <a:ext cx="3743325" cy="2918460"/>
            <a:chOff x="5401055" y="3427475"/>
            <a:chExt cx="3743325" cy="291846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4999" y="4797551"/>
              <a:ext cx="3429000" cy="15483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1055" y="3427475"/>
              <a:ext cx="3742944" cy="9799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65759"/>
            <a:ext cx="9144000" cy="8229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624840"/>
            <a:chOff x="0" y="0"/>
            <a:chExt cx="9144000" cy="6248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896"/>
                  </a:lnTo>
                  <a:lnTo>
                    <a:pt x="9144000" y="31089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07847"/>
              <a:ext cx="9144000" cy="142240"/>
            </a:xfrm>
            <a:custGeom>
              <a:avLst/>
              <a:gdLst/>
              <a:ahLst/>
              <a:cxnLst/>
              <a:rect l="l" t="t" r="r" b="b"/>
              <a:pathLst>
                <a:path w="9144000" h="142240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1732"/>
                  </a:lnTo>
                  <a:lnTo>
                    <a:pt x="9144000" y="141732"/>
                  </a:lnTo>
                  <a:lnTo>
                    <a:pt x="9144000" y="91440"/>
                  </a:lnTo>
                  <a:lnTo>
                    <a:pt x="9144000" y="5181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200" y="438911"/>
              <a:ext cx="3733800" cy="1798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407152" y="496823"/>
              <a:ext cx="3568065" cy="128270"/>
            </a:xfrm>
            <a:custGeom>
              <a:avLst/>
              <a:gdLst/>
              <a:ahLst/>
              <a:cxnLst/>
              <a:rect l="l" t="t" r="r" b="b"/>
              <a:pathLst>
                <a:path w="3568065" h="128270">
                  <a:moveTo>
                    <a:pt x="3064764" y="1524"/>
                  </a:moveTo>
                  <a:lnTo>
                    <a:pt x="3061716" y="0"/>
                  </a:lnTo>
                  <a:lnTo>
                    <a:pt x="3048" y="0"/>
                  </a:lnTo>
                  <a:lnTo>
                    <a:pt x="0" y="1524"/>
                  </a:lnTo>
                  <a:lnTo>
                    <a:pt x="0" y="4572"/>
                  </a:lnTo>
                  <a:lnTo>
                    <a:pt x="0" y="25908"/>
                  </a:lnTo>
                  <a:lnTo>
                    <a:pt x="3048" y="27432"/>
                  </a:lnTo>
                  <a:lnTo>
                    <a:pt x="3061716" y="27432"/>
                  </a:lnTo>
                  <a:lnTo>
                    <a:pt x="3064764" y="25908"/>
                  </a:lnTo>
                  <a:lnTo>
                    <a:pt x="3064764" y="1524"/>
                  </a:lnTo>
                  <a:close/>
                </a:path>
                <a:path w="3568065" h="128270">
                  <a:moveTo>
                    <a:pt x="3567684" y="94488"/>
                  </a:moveTo>
                  <a:lnTo>
                    <a:pt x="3564636" y="91440"/>
                  </a:lnTo>
                  <a:lnTo>
                    <a:pt x="1970532" y="91440"/>
                  </a:lnTo>
                  <a:lnTo>
                    <a:pt x="1967484" y="94488"/>
                  </a:lnTo>
                  <a:lnTo>
                    <a:pt x="1967484" y="97536"/>
                  </a:lnTo>
                  <a:lnTo>
                    <a:pt x="1967484" y="124968"/>
                  </a:lnTo>
                  <a:lnTo>
                    <a:pt x="1970532" y="128016"/>
                  </a:lnTo>
                  <a:lnTo>
                    <a:pt x="3564636" y="128016"/>
                  </a:lnTo>
                  <a:lnTo>
                    <a:pt x="3567684" y="124968"/>
                  </a:lnTo>
                  <a:lnTo>
                    <a:pt x="3567684" y="944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72728" y="0"/>
              <a:ext cx="268224" cy="618743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59775" y="734039"/>
            <a:ext cx="6047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Problems</a:t>
            </a:r>
            <a:r>
              <a:rPr spc="-235" dirty="0"/>
              <a:t> </a:t>
            </a:r>
            <a:r>
              <a:rPr dirty="0"/>
              <a:t>and</a:t>
            </a:r>
            <a:r>
              <a:rPr spc="-300" dirty="0"/>
              <a:t> </a:t>
            </a:r>
            <a:r>
              <a:rPr spc="-10" dirty="0"/>
              <a:t>Applicability</a:t>
            </a:r>
          </a:p>
        </p:txBody>
      </p:sp>
      <p:sp>
        <p:nvSpPr>
          <p:cNvPr id="10" name="object 10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45640" y="1807875"/>
            <a:ext cx="7769225" cy="359842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42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Applicability</a:t>
            </a:r>
            <a:endParaRPr sz="28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10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For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small</a:t>
            </a:r>
            <a:r>
              <a:rPr sz="2600" spc="-1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or</a:t>
            </a:r>
            <a:r>
              <a:rPr sz="2600" spc="-10" dirty="0">
                <a:latin typeface="Georgia"/>
                <a:cs typeface="Georgia"/>
              </a:rPr>
              <a:t> medium-</a:t>
            </a:r>
            <a:r>
              <a:rPr sz="2600" dirty="0">
                <a:latin typeface="Georgia"/>
                <a:cs typeface="Georgia"/>
              </a:rPr>
              <a:t>size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systems</a:t>
            </a:r>
            <a:endParaRPr sz="26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0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For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parts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large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systems</a:t>
            </a:r>
            <a:r>
              <a:rPr sz="2600" spc="-5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(e.g.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the</a:t>
            </a:r>
            <a:r>
              <a:rPr sz="2600" spc="-3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user</a:t>
            </a:r>
            <a:r>
              <a:rPr sz="2600" spc="-25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interface)</a:t>
            </a:r>
            <a:endParaRPr sz="26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26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Problems</a:t>
            </a:r>
            <a:endParaRPr sz="2800" dirty="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09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Systems</a:t>
            </a:r>
            <a:r>
              <a:rPr sz="2600" spc="-6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are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often</a:t>
            </a:r>
            <a:r>
              <a:rPr sz="2600" spc="-3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poorly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structured</a:t>
            </a:r>
            <a:endParaRPr sz="2600" dirty="0">
              <a:latin typeface="Georgia"/>
              <a:cs typeface="Georgia"/>
            </a:endParaRPr>
          </a:p>
          <a:p>
            <a:pPr marL="559435" marR="1358265" indent="-245745">
              <a:lnSpc>
                <a:spcPct val="100000"/>
              </a:lnSpc>
              <a:spcBef>
                <a:spcPts val="300"/>
              </a:spcBef>
              <a:tabLst>
                <a:tab pos="559435" algn="l"/>
              </a:tabLst>
            </a:pPr>
            <a:r>
              <a:rPr sz="2600" spc="-50" dirty="0">
                <a:solidFill>
                  <a:srgbClr val="438086"/>
                </a:solidFill>
                <a:latin typeface="Georgia"/>
                <a:cs typeface="Georgia"/>
              </a:rPr>
              <a:t>▫</a:t>
            </a:r>
            <a:r>
              <a:rPr sz="2600" dirty="0">
                <a:solidFill>
                  <a:srgbClr val="438086"/>
                </a:solidFill>
                <a:latin typeface="Georgia"/>
                <a:cs typeface="Georgia"/>
              </a:rPr>
              <a:t>	</a:t>
            </a:r>
            <a:r>
              <a:rPr sz="2600" dirty="0">
                <a:latin typeface="Georgia"/>
                <a:cs typeface="Georgia"/>
              </a:rPr>
              <a:t>Special</a:t>
            </a:r>
            <a:r>
              <a:rPr sz="2600" spc="-8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skills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(e.g.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in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languages</a:t>
            </a:r>
            <a:r>
              <a:rPr sz="2600" spc="-4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for</a:t>
            </a:r>
            <a:r>
              <a:rPr sz="2600" spc="-5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rapid </a:t>
            </a:r>
            <a:r>
              <a:rPr sz="2600" dirty="0">
                <a:latin typeface="Georgia"/>
                <a:cs typeface="Georgia"/>
              </a:rPr>
              <a:t>prototyping)</a:t>
            </a:r>
            <a:r>
              <a:rPr sz="2600" spc="-70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may</a:t>
            </a:r>
            <a:r>
              <a:rPr sz="2600" spc="-5" dirty="0">
                <a:latin typeface="Georgia"/>
                <a:cs typeface="Georgia"/>
              </a:rPr>
              <a:t> </a:t>
            </a:r>
            <a:r>
              <a:rPr sz="2600" dirty="0">
                <a:latin typeface="Georgia"/>
                <a:cs typeface="Georgia"/>
              </a:rPr>
              <a:t>be</a:t>
            </a:r>
            <a:r>
              <a:rPr sz="2600" spc="-20" dirty="0">
                <a:latin typeface="Georgia"/>
                <a:cs typeface="Georgia"/>
              </a:rPr>
              <a:t> </a:t>
            </a:r>
            <a:r>
              <a:rPr sz="2600" spc="-10" dirty="0">
                <a:latin typeface="Georgia"/>
                <a:cs typeface="Georgia"/>
              </a:rPr>
              <a:t>required</a:t>
            </a:r>
            <a:endParaRPr sz="26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692" y="551090"/>
            <a:ext cx="83997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Advantages</a:t>
            </a:r>
            <a:r>
              <a:rPr sz="3600" spc="-45" dirty="0"/>
              <a:t> </a:t>
            </a:r>
            <a:r>
              <a:rPr sz="3600" dirty="0"/>
              <a:t>of</a:t>
            </a:r>
            <a:r>
              <a:rPr sz="3600" spc="-20" dirty="0"/>
              <a:t> </a:t>
            </a:r>
            <a:r>
              <a:rPr sz="3600" dirty="0"/>
              <a:t>evolutionary</a:t>
            </a:r>
            <a:r>
              <a:rPr sz="3600" spc="-40" dirty="0"/>
              <a:t> </a:t>
            </a:r>
            <a:r>
              <a:rPr sz="3600" spc="-10" dirty="0"/>
              <a:t>development model: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69544" y="1928862"/>
            <a:ext cx="8087995" cy="3149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8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1800" dirty="0">
                <a:latin typeface="Georgia"/>
                <a:cs typeface="Georgia"/>
              </a:rPr>
              <a:t>Happier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customers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since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you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help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them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define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endParaRPr sz="18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8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1800" dirty="0">
                <a:latin typeface="Georgia"/>
                <a:cs typeface="Georgia"/>
              </a:rPr>
              <a:t>Flexibility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modifying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endParaRPr sz="18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8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1800" dirty="0">
                <a:latin typeface="Georgia"/>
                <a:cs typeface="Georgia"/>
              </a:rPr>
              <a:t>Prototypes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are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very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visual,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hence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no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ambiguities</a:t>
            </a:r>
            <a:endParaRPr sz="180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8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1800" dirty="0">
                <a:latin typeface="Georgia"/>
                <a:cs typeface="Georgia"/>
              </a:rPr>
              <a:t>Specifications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can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developed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incrementally</a:t>
            </a:r>
            <a:endParaRPr lang="en-US" sz="1800" spc="-10" dirty="0">
              <a:latin typeface="Georgia"/>
              <a:cs typeface="Georgia"/>
            </a:endParaRPr>
          </a:p>
          <a:p>
            <a:pPr marL="268605" indent="-255904">
              <a:lnSpc>
                <a:spcPct val="100000"/>
              </a:lnSpc>
              <a:spcBef>
                <a:spcPts val="8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endParaRPr sz="1800" dirty="0">
              <a:latin typeface="Georgia"/>
              <a:cs typeface="Georgia"/>
            </a:endParaRPr>
          </a:p>
          <a:p>
            <a:pPr marL="268605" marR="5080" indent="-256540">
              <a:lnSpc>
                <a:spcPct val="10000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1800" dirty="0">
                <a:latin typeface="Georgia"/>
                <a:cs typeface="Georgia"/>
              </a:rPr>
              <a:t>This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model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very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appropriate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for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research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projects.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For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example,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develop </a:t>
            </a:r>
            <a:r>
              <a:rPr sz="1800" dirty="0">
                <a:latin typeface="Georgia"/>
                <a:cs typeface="Georgia"/>
              </a:rPr>
              <a:t>software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for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automatic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speech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recognition,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small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vocabulary </a:t>
            </a:r>
            <a:r>
              <a:rPr sz="1800" dirty="0">
                <a:latin typeface="Georgia"/>
                <a:cs typeface="Georgia"/>
              </a:rPr>
              <a:t>can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taken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system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developed.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After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achieving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success,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vocabulary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can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be </a:t>
            </a:r>
            <a:r>
              <a:rPr sz="1800" spc="-10" dirty="0">
                <a:latin typeface="Georgia"/>
                <a:cs typeface="Georgia"/>
              </a:rPr>
              <a:t>increased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in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stages.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This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approach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better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than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starting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development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an </a:t>
            </a:r>
            <a:r>
              <a:rPr sz="1800" spc="-10" dirty="0">
                <a:latin typeface="Georgia"/>
                <a:cs typeface="Georgia"/>
              </a:rPr>
              <a:t>unlimited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vocabulary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speech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recognition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system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directly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(and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after</a:t>
            </a:r>
            <a:r>
              <a:rPr sz="1800" spc="-6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two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years, </a:t>
            </a:r>
            <a:r>
              <a:rPr sz="1800" dirty="0">
                <a:latin typeface="Georgia"/>
                <a:cs typeface="Georgia"/>
              </a:rPr>
              <a:t>realizing</a:t>
            </a:r>
            <a:r>
              <a:rPr sz="1800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that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it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3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very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difficult!).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Disadvantages</a:t>
            </a:r>
            <a:r>
              <a:rPr sz="3600" spc="-65" dirty="0"/>
              <a:t> </a:t>
            </a:r>
            <a:r>
              <a:rPr sz="3600" dirty="0"/>
              <a:t>of</a:t>
            </a:r>
            <a:r>
              <a:rPr sz="3600" spc="-25" dirty="0"/>
              <a:t> </a:t>
            </a:r>
            <a:r>
              <a:rPr sz="3600" spc="-10" dirty="0"/>
              <a:t>evolutionary </a:t>
            </a:r>
            <a:r>
              <a:rPr sz="3600" dirty="0"/>
              <a:t>development</a:t>
            </a:r>
            <a:r>
              <a:rPr sz="3600" spc="-80" dirty="0"/>
              <a:t> </a:t>
            </a:r>
            <a:r>
              <a:rPr sz="3600" spc="-10" dirty="0"/>
              <a:t>model:</a:t>
            </a:r>
            <a:endParaRPr sz="3600"/>
          </a:p>
        </p:txBody>
      </p:sp>
      <p:sp>
        <p:nvSpPr>
          <p:cNvPr id="4" name="object 4"/>
          <p:cNvSpPr/>
          <p:nvPr/>
        </p:nvSpPr>
        <p:spPr>
          <a:xfrm>
            <a:off x="0" y="3427475"/>
            <a:ext cx="9144000" cy="3426460"/>
          </a:xfrm>
          <a:custGeom>
            <a:avLst/>
            <a:gdLst/>
            <a:ahLst/>
            <a:cxnLst/>
            <a:rect l="l" t="t" r="r" b="b"/>
            <a:pathLst>
              <a:path w="9144000" h="3426459">
                <a:moveTo>
                  <a:pt x="9144000" y="0"/>
                </a:moveTo>
                <a:lnTo>
                  <a:pt x="0" y="0"/>
                </a:lnTo>
                <a:lnTo>
                  <a:pt x="0" y="3425952"/>
                </a:lnTo>
                <a:lnTo>
                  <a:pt x="9144000" y="342595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21985" y="2154491"/>
            <a:ext cx="7327265" cy="215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7335" marR="324485" indent="-255270">
              <a:lnSpc>
                <a:spcPct val="100000"/>
              </a:lnSpc>
              <a:spcBef>
                <a:spcPts val="9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Because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project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open-</a:t>
            </a:r>
            <a:r>
              <a:rPr sz="2800" dirty="0">
                <a:latin typeface="Georgia"/>
                <a:cs typeface="Georgia"/>
              </a:rPr>
              <a:t>ended,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no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time 	</a:t>
            </a:r>
            <a:r>
              <a:rPr sz="2800" dirty="0">
                <a:latin typeface="Georgia"/>
                <a:cs typeface="Georgia"/>
              </a:rPr>
              <a:t>frame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can</a:t>
            </a:r>
            <a:r>
              <a:rPr sz="2800" spc="-5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be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20" dirty="0">
                <a:latin typeface="Georgia"/>
                <a:cs typeface="Georgia"/>
              </a:rPr>
              <a:t>set.</a:t>
            </a:r>
            <a:endParaRPr sz="2800" dirty="0">
              <a:latin typeface="Georgia"/>
              <a:cs typeface="Georgia"/>
            </a:endParaRPr>
          </a:p>
          <a:p>
            <a:pPr marL="267970" indent="-255270">
              <a:lnSpc>
                <a:spcPts val="3340"/>
              </a:lnSpc>
              <a:spcBef>
                <a:spcPts val="300"/>
              </a:spcBef>
              <a:buClr>
                <a:srgbClr val="A04DA3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Project</a:t>
            </a:r>
            <a:r>
              <a:rPr sz="2800" spc="-85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monitoring</a:t>
            </a:r>
            <a:r>
              <a:rPr sz="2800" spc="-6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is</a:t>
            </a:r>
            <a:r>
              <a:rPr sz="2800" spc="-8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difficult.</a:t>
            </a:r>
            <a:endParaRPr sz="2800" dirty="0">
              <a:latin typeface="Georgia"/>
              <a:cs typeface="Georgia"/>
            </a:endParaRPr>
          </a:p>
          <a:p>
            <a:pPr marL="267335" marR="5080" indent="-255270">
              <a:lnSpc>
                <a:spcPts val="3030"/>
              </a:lnSpc>
              <a:spcBef>
                <a:spcPts val="355"/>
              </a:spcBef>
              <a:buClr>
                <a:srgbClr val="A04DA3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Hard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trace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“process”</a:t>
            </a:r>
            <a:r>
              <a:rPr sz="2800" spc="-3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due</a:t>
            </a:r>
            <a:r>
              <a:rPr sz="2800" spc="-4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the</a:t>
            </a:r>
            <a:r>
              <a:rPr sz="2800" spc="-55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ad-hoc 	</a:t>
            </a:r>
            <a:r>
              <a:rPr sz="2800" spc="-10" dirty="0">
                <a:latin typeface="Georgia"/>
                <a:cs typeface="Georgia"/>
              </a:rPr>
              <a:t>nature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</a:t>
            </a:r>
            <a:r>
              <a:rPr spc="-185" dirty="0"/>
              <a:t> </a:t>
            </a:r>
            <a:r>
              <a:rPr dirty="0"/>
              <a:t>while</a:t>
            </a:r>
            <a:r>
              <a:rPr spc="-180" dirty="0"/>
              <a:t> </a:t>
            </a:r>
            <a:r>
              <a:rPr dirty="0"/>
              <a:t>designing</a:t>
            </a:r>
            <a:r>
              <a:rPr spc="-15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104" y="2359151"/>
            <a:ext cx="859840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B8BCC-1916-FEB9-0BB9-0AC450E5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2BEBACE-F849-09C6-BE9F-A5544C1C0C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72728" y="0"/>
            <a:ext cx="268224" cy="61874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7DC6405-CB64-8B5E-047A-A27147917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4600" y="2080327"/>
            <a:ext cx="8422944" cy="2697346"/>
          </a:xfrm>
          <a:prstGeom prst="rect">
            <a:avLst/>
          </a:prstGeom>
        </p:spPr>
        <p:txBody>
          <a:bodyPr vert="horz" wrap="square" lIns="0" tIns="842459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Incremental </a:t>
            </a:r>
            <a:br>
              <a:rPr lang="en-US" spc="-10" dirty="0"/>
            </a:br>
            <a:r>
              <a:rPr lang="en-US" spc="-10" dirty="0"/>
              <a:t>    Model</a:t>
            </a:r>
            <a:br>
              <a:rPr lang="en-US" spc="-10" dirty="0"/>
            </a:b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368483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024F8C-11AC-41E9-8487-571113270E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DF3618-4D37-46DC-BA72-B78CAFCA0962}"/>
</file>

<file path=customXml/itemProps3.xml><?xml version="1.0" encoding="utf-8"?>
<ds:datastoreItem xmlns:ds="http://schemas.openxmlformats.org/officeDocument/2006/customXml" ds:itemID="{522DC395-D11E-42FD-8FEA-D402BC7DE2D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6732</TotalTime>
  <Words>828</Words>
  <Application>Microsoft Office PowerPoint</Application>
  <PresentationFormat>On-screen Show (4:3)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Georgia</vt:lpstr>
      <vt:lpstr>Times New Roman</vt:lpstr>
      <vt:lpstr>Trebuchet MS</vt:lpstr>
      <vt:lpstr>Wingdings</vt:lpstr>
      <vt:lpstr>Office Theme</vt:lpstr>
      <vt:lpstr>Software Engineering</vt:lpstr>
      <vt:lpstr>Outline</vt:lpstr>
      <vt:lpstr>SDLC Models</vt:lpstr>
      <vt:lpstr>When to use the V-Shaped Model</vt:lpstr>
      <vt:lpstr>Waterfall Model Vs. V Shaped Model</vt:lpstr>
      <vt:lpstr>Problem Scenario</vt:lpstr>
      <vt:lpstr>Problem Scenario</vt:lpstr>
      <vt:lpstr>Problem Scenario</vt:lpstr>
      <vt:lpstr>This is my Question?</vt:lpstr>
      <vt:lpstr>Evolutionary Development</vt:lpstr>
      <vt:lpstr>Evolutionary Development</vt:lpstr>
      <vt:lpstr>Evolutionary Development Model</vt:lpstr>
      <vt:lpstr>Prototyping</vt:lpstr>
      <vt:lpstr>Prototyping</vt:lpstr>
      <vt:lpstr>Prototyping</vt:lpstr>
      <vt:lpstr>Evolutionary development types</vt:lpstr>
      <vt:lpstr>Problems and Applicability</vt:lpstr>
      <vt:lpstr>Advantages of evolutionary development model:</vt:lpstr>
      <vt:lpstr>Disadvantages of evolutionary development model:</vt:lpstr>
      <vt:lpstr>Problem while designing prototype</vt:lpstr>
      <vt:lpstr>Incremental      Model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Israr Khan</dc:creator>
  <cp:lastModifiedBy>Israr Ahmad Lecturer FCS</cp:lastModifiedBy>
  <cp:revision>7</cp:revision>
  <dcterms:created xsi:type="dcterms:W3CDTF">2025-09-17T01:59:06Z</dcterms:created>
  <dcterms:modified xsi:type="dcterms:W3CDTF">2026-09-26T17:02:45Z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2014-09-23T00:00:00Z</vt:filetime>
  </property>
  <property fmtid="{D5CDD505-2E9C-101B-9397-08002B2CF9AE}" pid="3" name="LastSaved">
    <vt:filetime>2025-09-17T00:00:00Z</vt:filetime>
  </property>
  <property fmtid="{D5CDD505-2E9C-101B-9397-08002B2CF9AE}" pid="4" name="Producer">
    <vt:lpwstr>Foxit Reader PDF Printer Version 6.0.3.0513</vt:lpwstr>
  </property>
  <property fmtid="{D5CDD505-2E9C-101B-9397-08002B2CF9AE}" pid="5" name="ContentTypeId">
    <vt:lpwstr>0x010100D8746BA5DCC9394D8011CD1786C7798C</vt:lpwstr>
  </property>
</Properties>
</file>